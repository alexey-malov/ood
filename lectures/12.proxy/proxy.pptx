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73"/>
  </p:notesMasterIdLst>
  <p:sldIdLst>
    <p:sldId id="320" r:id="rId2"/>
    <p:sldId id="257" r:id="rId3"/>
    <p:sldId id="258" r:id="rId4"/>
    <p:sldId id="324" r:id="rId5"/>
    <p:sldId id="283" r:id="rId6"/>
    <p:sldId id="321" r:id="rId7"/>
    <p:sldId id="260" r:id="rId8"/>
    <p:sldId id="261" r:id="rId9"/>
    <p:sldId id="263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88" r:id="rId22"/>
    <p:sldId id="274" r:id="rId23"/>
    <p:sldId id="275" r:id="rId24"/>
    <p:sldId id="276" r:id="rId25"/>
    <p:sldId id="277" r:id="rId26"/>
    <p:sldId id="278" r:id="rId27"/>
    <p:sldId id="325" r:id="rId28"/>
    <p:sldId id="326" r:id="rId29"/>
    <p:sldId id="327" r:id="rId30"/>
    <p:sldId id="328" r:id="rId31"/>
    <p:sldId id="329" r:id="rId32"/>
    <p:sldId id="330" r:id="rId33"/>
    <p:sldId id="331" r:id="rId34"/>
    <p:sldId id="322" r:id="rId35"/>
    <p:sldId id="281" r:id="rId36"/>
    <p:sldId id="282" r:id="rId37"/>
    <p:sldId id="299" r:id="rId38"/>
    <p:sldId id="290" r:id="rId39"/>
    <p:sldId id="291" r:id="rId40"/>
    <p:sldId id="289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32" r:id="rId58"/>
    <p:sldId id="334" r:id="rId59"/>
    <p:sldId id="333" r:id="rId60"/>
    <p:sldId id="335" r:id="rId61"/>
    <p:sldId id="336" r:id="rId62"/>
    <p:sldId id="337" r:id="rId63"/>
    <p:sldId id="338" r:id="rId64"/>
    <p:sldId id="339" r:id="rId65"/>
    <p:sldId id="340" r:id="rId66"/>
    <p:sldId id="342" r:id="rId67"/>
    <p:sldId id="343" r:id="rId68"/>
    <p:sldId id="344" r:id="rId69"/>
    <p:sldId id="345" r:id="rId70"/>
    <p:sldId id="323" r:id="rId71"/>
    <p:sldId id="341" r:id="rId72"/>
  </p:sldIdLst>
  <p:sldSz cx="12192000" cy="6858000"/>
  <p:notesSz cx="6858000" cy="9144000"/>
  <p:custDataLst>
    <p:tags r:id="rId7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Что такое Proxy" id="{2362F489-7BD7-459F-A1A7-24BB60B1C768}">
          <p14:sldIdLst>
            <p14:sldId id="320"/>
            <p14:sldId id="257"/>
            <p14:sldId id="258"/>
          </p14:sldIdLst>
        </p14:section>
        <p14:section name="Виды Proxy" id="{6277743C-71CC-41FE-9BAE-7987E14450B9}">
          <p14:sldIdLst>
            <p14:sldId id="324"/>
            <p14:sldId id="283"/>
          </p14:sldIdLst>
        </p14:section>
        <p14:section name="Virtual Proxy" id="{994FB3A4-A08D-44D1-A45B-3574430A34E1}">
          <p14:sldIdLst>
            <p14:sldId id="321"/>
            <p14:sldId id="260"/>
            <p14:sldId id="261"/>
            <p14:sldId id="263"/>
            <p14:sldId id="262"/>
            <p14:sldId id="264"/>
            <p14:sldId id="265"/>
            <p14:sldId id="266"/>
            <p14:sldId id="267"/>
            <p14:sldId id="268"/>
          </p14:sldIdLst>
        </p14:section>
        <p14:section name="Remote Proxy" id="{12D777D2-8001-4E33-8139-8A365C45FDC4}">
          <p14:sldIdLst>
            <p14:sldId id="269"/>
            <p14:sldId id="270"/>
            <p14:sldId id="271"/>
            <p14:sldId id="272"/>
            <p14:sldId id="273"/>
            <p14:sldId id="288"/>
            <p14:sldId id="274"/>
            <p14:sldId id="275"/>
            <p14:sldId id="276"/>
            <p14:sldId id="277"/>
            <p14:sldId id="278"/>
            <p14:sldId id="325"/>
            <p14:sldId id="326"/>
            <p14:sldId id="327"/>
            <p14:sldId id="328"/>
            <p14:sldId id="329"/>
          </p14:sldIdLst>
        </p14:section>
        <p14:section name="Smart Proxy + CoW" id="{C99161AD-0239-46E8-B323-91DACCD8481B}">
          <p14:sldIdLst>
            <p14:sldId id="330"/>
            <p14:sldId id="331"/>
            <p14:sldId id="322"/>
            <p14:sldId id="281"/>
            <p14:sldId id="282"/>
            <p14:sldId id="299"/>
            <p14:sldId id="290"/>
            <p14:sldId id="291"/>
            <p14:sldId id="289"/>
            <p14:sldId id="292"/>
            <p14:sldId id="293"/>
            <p14:sldId id="294"/>
            <p14:sldId id="295"/>
            <p14:sldId id="296"/>
            <p14:sldId id="297"/>
            <p14:sldId id="298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32"/>
          </p14:sldIdLst>
        </p14:section>
        <p14:section name="Protection Proxy" id="{C10F43A1-49EC-49B6-B8A6-031A5B528777}">
          <p14:sldIdLst>
            <p14:sldId id="334"/>
            <p14:sldId id="333"/>
            <p14:sldId id="335"/>
            <p14:sldId id="336"/>
            <p14:sldId id="337"/>
            <p14:sldId id="338"/>
            <p14:sldId id="339"/>
            <p14:sldId id="340"/>
          </p14:sldIdLst>
        </p14:section>
        <p14:section name="Сравнение с декоратором" id="{2B7E4C22-C555-42C9-86F4-66DD6AB62F99}">
          <p14:sldIdLst>
            <p14:sldId id="342"/>
            <p14:sldId id="343"/>
            <p14:sldId id="344"/>
            <p14:sldId id="345"/>
          </p14:sldIdLst>
        </p14:section>
        <p14:section name="Резюме" id="{C31631F5-DAB2-4AED-B2C9-D72796A55F89}">
          <p14:sldIdLst>
            <p14:sldId id="323"/>
            <p14:sldId id="34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D0378"/>
    <a:srgbClr val="DFEE4C"/>
    <a:srgbClr val="DEEBF7"/>
    <a:srgbClr val="AFB1FB"/>
    <a:srgbClr val="CA266C"/>
    <a:srgbClr val="FAFA00"/>
    <a:srgbClr val="FFFF00"/>
    <a:srgbClr val="5DFFFF"/>
    <a:srgbClr val="F391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50" autoAdjust="0"/>
    <p:restoredTop sz="73801" autoAdjust="0"/>
  </p:normalViewPr>
  <p:slideViewPr>
    <p:cSldViewPr>
      <p:cViewPr varScale="1">
        <p:scale>
          <a:sx n="70" d="100"/>
          <a:sy n="70" d="100"/>
        </p:scale>
        <p:origin x="1434" y="28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127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gs" Target="tags/tag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memory/shared_ptr/use_count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74335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Заместитель — это такой объект, который «притворяется» другим объектом.</a:t>
            </a:r>
            <a:br>
              <a:rPr lang="ru-RU" dirty="0"/>
            </a:br>
            <a:r>
              <a:rPr lang="ru-RU" dirty="0"/>
              <a:t>Клиент работает с ним так, как будто это настоящий объект, но на самом деле под капотом он либо перенаправляет вызовы, либо что-то делает дополнительно.</a:t>
            </a:r>
          </a:p>
          <a:p>
            <a:r>
              <a:rPr lang="ru-RU" dirty="0"/>
              <a:t>Хорошая метафора: </a:t>
            </a:r>
            <a:r>
              <a:rPr lang="ru-RU" b="1" dirty="0"/>
              <a:t>банковская карта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Вы платите картой, но реально операции выполняются над вашим счётом в банке. Карта — это удобный посредник, «представитель» вашего счёта.</a:t>
            </a:r>
            <a:endParaRPr lang="en-US" dirty="0"/>
          </a:p>
          <a:p>
            <a:endParaRPr lang="en-US" dirty="0"/>
          </a:p>
          <a:p>
            <a:r>
              <a:rPr lang="ru-RU" dirty="0"/>
              <a:t>Ключевая идея: клиент не знает и не обязан знать, что перед ним — заместитель.</a:t>
            </a:r>
            <a:br>
              <a:rPr lang="ru-RU" dirty="0"/>
            </a:br>
            <a:r>
              <a:rPr lang="ru-RU" dirty="0"/>
              <a:t>Он вызывает методы интерфейса, а </a:t>
            </a:r>
            <a:r>
              <a:rPr lang="ru-RU" dirty="0" err="1"/>
              <a:t>Proxy</a:t>
            </a:r>
            <a:r>
              <a:rPr lang="ru-RU" dirty="0"/>
              <a:t> решает: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когда реально обратиться к настоящему объекту,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именно это сделать,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нужно ли вообще до него «достучаться»,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нужно ли предварительно проверить права, </a:t>
            </a:r>
            <a:r>
              <a:rPr lang="ru-RU" dirty="0" err="1"/>
              <a:t>закэшировать</a:t>
            </a:r>
            <a:r>
              <a:rPr lang="ru-RU" dirty="0"/>
              <a:t> результат, записать лог и т.д.</a:t>
            </a:r>
          </a:p>
          <a:p>
            <a:r>
              <a:rPr lang="ru-RU" dirty="0"/>
              <a:t>То есть </a:t>
            </a:r>
            <a:r>
              <a:rPr lang="ru-RU" dirty="0" err="1"/>
              <a:t>Proxy</a:t>
            </a:r>
            <a:r>
              <a:rPr lang="ru-RU" dirty="0"/>
              <a:t> контролирует «проход» к реальному объекту.</a:t>
            </a:r>
          </a:p>
          <a:p>
            <a:endParaRPr lang="en-US" dirty="0"/>
          </a:p>
          <a:p>
            <a:r>
              <a:rPr lang="ru-RU" dirty="0"/>
              <a:t>Важно подчеркнуть: </a:t>
            </a:r>
            <a:r>
              <a:rPr lang="ru-RU" b="1" dirty="0"/>
              <a:t>интерфейс для клиента не меняется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И </a:t>
            </a:r>
            <a:r>
              <a:rPr lang="ru-RU" dirty="0" err="1"/>
              <a:t>Proxy</a:t>
            </a:r>
            <a:r>
              <a:rPr lang="ru-RU" dirty="0"/>
              <a:t>, и реальный объект обычно реализуют один и тот же интерфейс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ISubject</a:t>
            </a:r>
            <a:r>
              <a:rPr lang="ru-RU" dirty="0"/>
              <a:t> или подобный. Клиенту всё равно, с кем он работает — с </a:t>
            </a:r>
            <a:r>
              <a:rPr lang="ru-RU" dirty="0" err="1"/>
              <a:t>Proxy</a:t>
            </a:r>
            <a:r>
              <a:rPr lang="ru-RU" dirty="0"/>
              <a:t> или с </a:t>
            </a:r>
            <a:r>
              <a:rPr lang="ru-RU" dirty="0" err="1"/>
              <a:t>RealSubject</a:t>
            </a:r>
            <a:r>
              <a:rPr lang="ru-RU" dirty="0"/>
              <a:t>. Это и есть «уровень косвенности»: между клиентом и реальным объектом появляется ещё один слой, но внешне это не видно.</a:t>
            </a:r>
          </a:p>
          <a:p>
            <a:r>
              <a:rPr lang="ru-RU" dirty="0"/>
              <a:t>За счёт этого: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легко подменять один объект другим,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легко внедрять доп. поведение без переписывания клиентского кода.</a:t>
            </a:r>
          </a:p>
          <a:p>
            <a:endParaRPr lang="en-US" dirty="0"/>
          </a:p>
          <a:p>
            <a:r>
              <a:rPr lang="ru-RU" dirty="0" err="1"/>
              <a:t>Proxy</a:t>
            </a:r>
            <a:r>
              <a:rPr lang="ru-RU" dirty="0"/>
              <a:t> можно использовать для разных задач: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Ленивая загрузка (Virtual </a:t>
            </a:r>
            <a:r>
              <a:rPr lang="ru-RU" b="1" dirty="0" err="1"/>
              <a:t>Proxy</a:t>
            </a:r>
            <a:r>
              <a:rPr lang="ru-RU" b="1" dirty="0"/>
              <a:t>)</a:t>
            </a:r>
            <a:r>
              <a:rPr lang="ru-RU" dirty="0"/>
              <a:t> — реальный объект создаётся только тогда, когда он действительно нужен. Например, тяжёлое изображение грузим только при первом показе.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Удалённый доступ (Remote </a:t>
            </a:r>
            <a:r>
              <a:rPr lang="ru-RU" b="1" dirty="0" err="1"/>
              <a:t>Proxy</a:t>
            </a:r>
            <a:r>
              <a:rPr lang="ru-RU" b="1" dirty="0"/>
              <a:t>)</a:t>
            </a:r>
            <a:r>
              <a:rPr lang="ru-RU" dirty="0"/>
              <a:t> — объект находится на другом компьютере или в другом процессе, но мы работаем с ним так, как будто он локальный.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Контроль прав доступа (Protection </a:t>
            </a:r>
            <a:r>
              <a:rPr lang="ru-RU" b="1" dirty="0" err="1"/>
              <a:t>Proxy</a:t>
            </a:r>
            <a:r>
              <a:rPr lang="ru-RU" b="1" dirty="0"/>
              <a:t>)</a:t>
            </a:r>
            <a:r>
              <a:rPr lang="ru-RU" dirty="0"/>
              <a:t> — </a:t>
            </a:r>
            <a:r>
              <a:rPr lang="ru-RU" dirty="0" err="1"/>
              <a:t>Proxy</a:t>
            </a:r>
            <a:r>
              <a:rPr lang="ru-RU" dirty="0"/>
              <a:t> проверяет, можно ли клиенту вызывать тот или иной метод.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Дополнительные действия (Smart </a:t>
            </a:r>
            <a:r>
              <a:rPr lang="ru-RU" b="1" dirty="0" err="1"/>
              <a:t>Proxy</a:t>
            </a:r>
            <a:r>
              <a:rPr lang="ru-RU" b="1" dirty="0"/>
              <a:t>)</a:t>
            </a:r>
            <a:r>
              <a:rPr lang="ru-RU" dirty="0"/>
              <a:t> — подсчитывание ссылок, логирование, блокировки, </a:t>
            </a:r>
            <a:r>
              <a:rPr lang="ru-RU" dirty="0" err="1"/>
              <a:t>Copy-on-Write</a:t>
            </a:r>
            <a:r>
              <a:rPr lang="ru-RU" dirty="0"/>
              <a:t> и другие «умные» штуки вокруг обращения к объекту.</a:t>
            </a:r>
          </a:p>
          <a:p>
            <a:r>
              <a:rPr lang="ru-RU" dirty="0"/>
              <a:t>Важно, что во всех этих случаях </a:t>
            </a:r>
            <a:r>
              <a:rPr lang="ru-RU" b="1" dirty="0"/>
              <a:t>идея одна и та же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/>
              <a:t>мы вставляем между клиентом и реальным объектом ещё один объект — замещающий, управляющий доступом и добавляющий полезное поведение.</a:t>
            </a:r>
          </a:p>
          <a:p>
            <a:endParaRPr lang="en-US" dirty="0"/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68293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5170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Теперь, когда мы познакомились с общим определением паттерна </a:t>
            </a:r>
            <a:r>
              <a:rPr lang="ru-RU" dirty="0" err="1"/>
              <a:t>Proxy</a:t>
            </a:r>
            <a:r>
              <a:rPr lang="ru-RU" dirty="0"/>
              <a:t>, важно понять, что этот паттерн бывает разных видов. На самом деле «Заместитель» — это не одно фиксированное решение, а целое семейство приемов, основанных на идее подмены реального объекта другим, управляющим доступом.</a:t>
            </a:r>
          </a:p>
          <a:p>
            <a:r>
              <a:rPr lang="ru-RU" dirty="0"/>
              <a:t>Мы рассмотрим четыре основных разновидности </a:t>
            </a:r>
            <a:r>
              <a:rPr lang="ru-RU" dirty="0" err="1"/>
              <a:t>Proxy</a:t>
            </a:r>
            <a:r>
              <a:rPr lang="ru-RU" dirty="0"/>
              <a:t>. Они встречаются в реальной практике чаще всего.</a:t>
            </a:r>
          </a:p>
          <a:p>
            <a:endParaRPr lang="ru-RU" dirty="0"/>
          </a:p>
          <a:p>
            <a:r>
              <a:rPr lang="ru-RU" dirty="0"/>
              <a:t>Первая разновидность — </a:t>
            </a:r>
            <a:r>
              <a:rPr lang="ru-RU" b="1" dirty="0"/>
              <a:t>Remote </a:t>
            </a:r>
            <a:r>
              <a:rPr lang="ru-RU" b="1" dirty="0" err="1"/>
              <a:t>Proxy</a:t>
            </a:r>
            <a:r>
              <a:rPr lang="ru-RU" dirty="0"/>
              <a:t>.</a:t>
            </a:r>
          </a:p>
          <a:p>
            <a:r>
              <a:rPr lang="ru-RU" dirty="0"/>
              <a:t>Этот </a:t>
            </a:r>
            <a:r>
              <a:rPr lang="ru-RU" dirty="0" err="1"/>
              <a:t>Proxy</a:t>
            </a:r>
            <a:r>
              <a:rPr lang="ru-RU" dirty="0"/>
              <a:t> позволяет клиенту работать с объектом, который физически находится </a:t>
            </a:r>
            <a:r>
              <a:rPr lang="ru-RU" b="1" dirty="0"/>
              <a:t>в другом адресном пространстве</a:t>
            </a:r>
            <a:r>
              <a:rPr lang="ru-RU" dirty="0"/>
              <a:t>, 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 другом процессе,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 другой программе,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 удалённом компьютере,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даже на сервере где-то в облаке.</a:t>
            </a:r>
          </a:p>
          <a:p>
            <a:r>
              <a:rPr lang="ru-RU" dirty="0"/>
              <a:t>Ключевая идея: для клиента всё выглядит </a:t>
            </a:r>
            <a:r>
              <a:rPr lang="ru-RU" b="1" dirty="0"/>
              <a:t>как обычный объект</a:t>
            </a:r>
            <a:r>
              <a:rPr lang="ru-RU" dirty="0"/>
              <a:t>, он вызывает методы, но фактически </a:t>
            </a:r>
            <a:r>
              <a:rPr lang="ru-RU" dirty="0" err="1"/>
              <a:t>Proxy</a:t>
            </a:r>
            <a:r>
              <a:rPr lang="ru-RU" dirty="0"/>
              <a:t> отправляет запросы через сеть или IPC, получает ответы и возвращает их обратно.</a:t>
            </a:r>
          </a:p>
          <a:p>
            <a:r>
              <a:rPr lang="ru-RU" dirty="0"/>
              <a:t>Классические примеры:</a:t>
            </a:r>
            <a:br>
              <a:rPr lang="ru-RU" dirty="0"/>
            </a:br>
            <a:r>
              <a:rPr lang="ru-RU" dirty="0"/>
              <a:t>Java RMI, </a:t>
            </a:r>
            <a:r>
              <a:rPr lang="ru-RU" dirty="0" err="1"/>
              <a:t>gRPC</a:t>
            </a:r>
            <a:r>
              <a:rPr lang="ru-RU" dirty="0"/>
              <a:t>, COM/DCOM, CORBA, распределённые объекты.</a:t>
            </a:r>
          </a:p>
          <a:p>
            <a:endParaRPr lang="ru-RU" dirty="0"/>
          </a:p>
          <a:p>
            <a:r>
              <a:rPr lang="ru-RU" dirty="0"/>
              <a:t>Следующий вид — </a:t>
            </a:r>
            <a:r>
              <a:rPr lang="ru-RU" b="1" dirty="0"/>
              <a:t>Virtual </a:t>
            </a:r>
            <a:r>
              <a:rPr lang="ru-RU" b="1" dirty="0" err="1"/>
              <a:t>Proxy</a:t>
            </a:r>
            <a:r>
              <a:rPr lang="ru-RU" dirty="0"/>
              <a:t>.</a:t>
            </a:r>
          </a:p>
          <a:p>
            <a:r>
              <a:rPr lang="ru-RU" dirty="0"/>
              <a:t>Этот заместитель откладывает создание «тяжёлого» объекта до тех пор, пока он действительно не понадобится. Это позволяет экономить память, быстродействие и сокращать время инициализации программы.</a:t>
            </a:r>
          </a:p>
          <a:p>
            <a:r>
              <a:rPr lang="ru-RU" dirty="0"/>
              <a:t>Типичные примеры: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загрузка больших изображений или текстур по запросу,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инициализация сложных моделей или машинного обучения только при использовании,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ленивое открытие соединений.</a:t>
            </a:r>
          </a:p>
          <a:p>
            <a:r>
              <a:rPr lang="ru-RU" dirty="0"/>
              <a:t>Помимо откладывания создания объект может выполняться частичная подмена поведения — например, показываться «заглушка» или индикатор загрузки.</a:t>
            </a:r>
          </a:p>
          <a:p>
            <a:endParaRPr lang="ru-RU" dirty="0"/>
          </a:p>
          <a:p>
            <a:r>
              <a:rPr lang="ru-RU" dirty="0"/>
              <a:t>Protection </a:t>
            </a:r>
            <a:r>
              <a:rPr lang="ru-RU" dirty="0" err="1"/>
              <a:t>Proxy</a:t>
            </a:r>
            <a:r>
              <a:rPr lang="ru-RU" dirty="0"/>
              <a:t> — это разновидность, которая управляет </a:t>
            </a:r>
            <a:r>
              <a:rPr lang="ru-RU" b="1" dirty="0"/>
              <a:t>доступом</a:t>
            </a:r>
            <a:r>
              <a:rPr lang="ru-RU" dirty="0"/>
              <a:t>.</a:t>
            </a:r>
          </a:p>
          <a:p>
            <a:r>
              <a:rPr lang="ru-RU" dirty="0"/>
              <a:t>Он контролирует, может ли клиент: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вызывать тот или иной метод,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модифицировать объект,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получать чувствительную информацию.</a:t>
            </a:r>
          </a:p>
          <a:p>
            <a:r>
              <a:rPr lang="ru-RU" dirty="0"/>
              <a:t>Это похоже на </a:t>
            </a:r>
            <a:r>
              <a:rPr lang="ru-RU" b="1" dirty="0"/>
              <a:t>фильтр доступа</a:t>
            </a:r>
            <a:r>
              <a:rPr lang="ru-RU" dirty="0"/>
              <a:t>, встроенный прямо в объектный интерфейс.</a:t>
            </a:r>
          </a:p>
          <a:p>
            <a:r>
              <a:rPr lang="ru-RU" dirty="0"/>
              <a:t>Примеры:</a:t>
            </a:r>
          </a:p>
          <a:p>
            <a:r>
              <a:rPr lang="ru-RU" dirty="0"/>
              <a:t>разрешение отдельных операций только администраторам,</a:t>
            </a:r>
          </a:p>
          <a:p>
            <a:r>
              <a:rPr lang="ru-RU" dirty="0"/>
              <a:t>предотвращение опасных вызовов из </a:t>
            </a:r>
            <a:r>
              <a:rPr lang="ru-RU" dirty="0" err="1"/>
              <a:t>недоверенного</a:t>
            </a:r>
            <a:r>
              <a:rPr lang="ru-RU" dirty="0"/>
              <a:t> контекста,</a:t>
            </a:r>
          </a:p>
          <a:p>
            <a:r>
              <a:rPr lang="ru-RU" dirty="0"/>
              <a:t>проверка прав, ограничение ввода.</a:t>
            </a:r>
          </a:p>
          <a:p>
            <a:endParaRPr lang="ru-RU" dirty="0"/>
          </a:p>
          <a:p>
            <a:r>
              <a:rPr lang="ru-RU" dirty="0"/>
              <a:t>Последний тип — </a:t>
            </a:r>
            <a:r>
              <a:rPr lang="ru-RU" b="1" dirty="0"/>
              <a:t>Smart </a:t>
            </a:r>
            <a:r>
              <a:rPr lang="ru-RU" b="1" dirty="0" err="1"/>
              <a:t>Proxy</a:t>
            </a:r>
            <a:r>
              <a:rPr lang="ru-RU" dirty="0"/>
              <a:t>, или «умный указатель».</a:t>
            </a:r>
          </a:p>
          <a:p>
            <a:r>
              <a:rPr lang="ru-RU" dirty="0"/>
              <a:t>Это </a:t>
            </a:r>
            <a:r>
              <a:rPr lang="ru-RU" dirty="0" err="1"/>
              <a:t>Proxy</a:t>
            </a:r>
            <a:r>
              <a:rPr lang="ru-RU" dirty="0"/>
              <a:t>, который добавляет дополнительную логику при каждом обращении к реальному объекту. В отличие от других видов, Smart </a:t>
            </a:r>
            <a:r>
              <a:rPr lang="ru-RU" dirty="0" err="1"/>
              <a:t>Proxy</a:t>
            </a:r>
            <a:r>
              <a:rPr lang="ru-RU" dirty="0"/>
              <a:t> чаще всего используется для </a:t>
            </a:r>
            <a:r>
              <a:rPr lang="ru-RU" b="1" dirty="0"/>
              <a:t>оптимизаций и управления ресурсами</a:t>
            </a:r>
            <a:r>
              <a:rPr lang="ru-RU" dirty="0"/>
              <a:t>.</a:t>
            </a:r>
          </a:p>
          <a:p>
            <a:r>
              <a:rPr lang="ru-RU" dirty="0"/>
              <a:t>Что он может делать: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подсчёт ссылок</a:t>
            </a:r>
            <a:r>
              <a:rPr lang="ru-RU" dirty="0"/>
              <a:t> и автоматическое освобождение ресурсов,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 err="1"/>
              <a:t>Copy-on-Write</a:t>
            </a:r>
            <a:r>
              <a:rPr lang="ru-RU" dirty="0"/>
              <a:t> — создание копии только при попытке модификации,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ленивое выделение объектов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блокировка / синхронизация</a:t>
            </a:r>
            <a:r>
              <a:rPr lang="ru-RU" dirty="0"/>
              <a:t> при конкурентном доступе,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логирование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кэширование</a:t>
            </a:r>
            <a:r>
              <a:rPr lang="ru-RU" dirty="0"/>
              <a:t>.</a:t>
            </a:r>
          </a:p>
          <a:p>
            <a:r>
              <a:rPr lang="ru-RU" dirty="0"/>
              <a:t>По сути, это «умная оболочка», которая добавляет полезное поведение, сохраняя интерфейс исходного объекта.</a:t>
            </a:r>
          </a:p>
          <a:p>
            <a:endParaRPr lang="ru-RU" dirty="0"/>
          </a:p>
          <a:p>
            <a:r>
              <a:rPr lang="ru-RU" dirty="0"/>
              <a:t>Это четыре основных вида </a:t>
            </a:r>
            <a:r>
              <a:rPr lang="ru-RU" dirty="0" err="1"/>
              <a:t>Proxy</a:t>
            </a:r>
            <a:r>
              <a:rPr lang="ru-RU" dirty="0"/>
              <a:t>. Они различаются по задачам, но объединены одной идеей — вставить объект-посредник, который контролирует доступ к реальному объекту и добавляет необходимое поведение. Дальше мы разберём каждую разновидность подробнее, начиная с Virtual </a:t>
            </a:r>
            <a:r>
              <a:rPr lang="ru-RU" dirty="0" err="1"/>
              <a:t>Proxy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10363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8666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Сейчас мы обсуждаем Virtual </a:t>
            </a:r>
            <a:r>
              <a:rPr lang="ru-RU" dirty="0" err="1"/>
              <a:t>Proxy</a:t>
            </a:r>
            <a:r>
              <a:rPr lang="ru-RU" dirty="0"/>
              <a:t> — одну из самых распространённых разновидностей паттерна «Заместитель».</a:t>
            </a:r>
          </a:p>
          <a:p>
            <a:r>
              <a:rPr lang="ru-RU" dirty="0"/>
              <a:t>Виртуальный заместитель нужен в тех ситуациях, когда настоящий объект </a:t>
            </a:r>
            <a:r>
              <a:rPr lang="ru-RU" b="1" dirty="0"/>
              <a:t>слишком дорогой для немедленного создания</a:t>
            </a:r>
            <a:r>
              <a:rPr lang="ru-RU" dirty="0"/>
              <a:t>. Это могут быть: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большие изображения,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тяжёлые модели данных,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объекты, загружаемые из сети или с диска,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вычислительно сложные структуры.</a:t>
            </a:r>
          </a:p>
          <a:p>
            <a:r>
              <a:rPr lang="ru-RU" dirty="0"/>
              <a:t>Представьте себе графический редактор: если мы на старте загрузим все изображения в полном размере, программа может запускаться секунды или даже минуты. Поэтому нам нужен механизм </a:t>
            </a:r>
            <a:r>
              <a:rPr lang="ru-RU" i="1" dirty="0"/>
              <a:t>отложенной инициализации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Используется для объектов, создание которых сопряжено с большими затратами</a:t>
            </a:r>
          </a:p>
          <a:p>
            <a:endParaRPr lang="en-US" dirty="0"/>
          </a:p>
          <a:p>
            <a:r>
              <a:rPr lang="ru-RU" dirty="0"/>
              <a:t>То есть сам объект существует в виде «обещания»: он </a:t>
            </a:r>
            <a:r>
              <a:rPr lang="ru-RU" i="1" dirty="0"/>
              <a:t>будет</a:t>
            </a:r>
            <a:r>
              <a:rPr lang="ru-RU" dirty="0"/>
              <a:t>, но </a:t>
            </a:r>
            <a:r>
              <a:rPr lang="ru-RU" i="1" dirty="0"/>
              <a:t>пока не нужен — мы его не создаём</a:t>
            </a:r>
            <a:r>
              <a:rPr lang="ru-RU" dirty="0"/>
              <a:t>.</a:t>
            </a:r>
          </a:p>
          <a:p>
            <a:r>
              <a:rPr lang="ru-RU" dirty="0"/>
              <a:t>Вместо этого клиент получает </a:t>
            </a:r>
            <a:r>
              <a:rPr lang="ru-RU" dirty="0" err="1"/>
              <a:t>Proxy</a:t>
            </a:r>
            <a:r>
              <a:rPr lang="ru-RU" dirty="0"/>
              <a:t>-объект — лёгкую оболочку, которая:</a:t>
            </a:r>
          </a:p>
          <a:p>
            <a:r>
              <a:rPr lang="ru-RU" dirty="0"/>
              <a:t>хранит параметры, необходимые для будущего создания (например, путь к файлу),</a:t>
            </a:r>
          </a:p>
          <a:p>
            <a:r>
              <a:rPr lang="ru-RU" dirty="0"/>
              <a:t>может возвращать базовую информацию («размер картинки», «имя ресурса»),</a:t>
            </a:r>
          </a:p>
          <a:p>
            <a:r>
              <a:rPr lang="ru-RU" dirty="0"/>
              <a:t>принимает вызовы клиента и решает, нужно ли уже создать реальный объект.</a:t>
            </a:r>
          </a:p>
          <a:p>
            <a:endParaRPr lang="en-US" dirty="0"/>
          </a:p>
          <a:p>
            <a:r>
              <a:rPr lang="ru-RU" dirty="0"/>
              <a:t>Создание часто откладывается до момента непосредственного использования</a:t>
            </a:r>
            <a:endParaRPr lang="en-US" dirty="0"/>
          </a:p>
          <a:p>
            <a:r>
              <a:rPr lang="ru-RU" dirty="0"/>
              <a:t>Это ключевой механизм: </a:t>
            </a:r>
            <a:r>
              <a:rPr lang="ru-RU" b="1" dirty="0" err="1"/>
              <a:t>lazy</a:t>
            </a:r>
            <a:r>
              <a:rPr lang="ru-RU" b="1" dirty="0"/>
              <a:t> </a:t>
            </a:r>
            <a:r>
              <a:rPr lang="ru-RU" b="1" dirty="0" err="1"/>
              <a:t>loading</a:t>
            </a:r>
            <a:r>
              <a:rPr lang="ru-RU" dirty="0"/>
              <a:t>.</a:t>
            </a:r>
          </a:p>
          <a:p>
            <a:r>
              <a:rPr lang="ru-RU" dirty="0" err="1"/>
              <a:t>Proxy</a:t>
            </a:r>
            <a:r>
              <a:rPr lang="ru-RU" dirty="0"/>
              <a:t> создаётся сразу, а реальный объект — только когда клиент впервые вызывает метод, который требует реальных данных. 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первый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первая попытка прочитать пиксели,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первый запрос к тяжёлой структуре.</a:t>
            </a:r>
          </a:p>
          <a:p>
            <a:r>
              <a:rPr lang="ru-RU" dirty="0"/>
              <a:t>До этого момента система не тратит ни память, ни процессорное время на загрузку.</a:t>
            </a:r>
          </a:p>
          <a:p>
            <a:endParaRPr lang="en-US" dirty="0"/>
          </a:p>
          <a:p>
            <a:r>
              <a:rPr lang="ru-RU" dirty="0"/>
              <a:t>Заместитель выполняет функции суррогатного представителя объекта до и во время его создания</a:t>
            </a:r>
            <a:endParaRPr lang="en-US" dirty="0"/>
          </a:p>
          <a:p>
            <a:r>
              <a:rPr lang="ru-RU" dirty="0"/>
              <a:t>Это значит, что </a:t>
            </a:r>
            <a:r>
              <a:rPr lang="ru-RU" dirty="0" err="1"/>
              <a:t>Proxy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полностью реализует тот же интерфейс, что и настоящий объект,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подменяет его в клиентском коде,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может выдавать временные результаты (например, «загрузка…»),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может работать асинхронно: запустить создание и при этом продолжать принимать запросы,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может сообщить об ошибке (например, если файл не загрузился).</a:t>
            </a:r>
          </a:p>
          <a:p>
            <a:r>
              <a:rPr lang="ru-RU" dirty="0"/>
              <a:t>Клиенту не нужно заботиться о том, создан объект или ещё нет — он работает так же, как если бы объект уже существовал.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1508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68127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06297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9193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264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33037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95825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74862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08667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91171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2197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97702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Переходим к ещё одному важному варианту паттерна </a:t>
            </a:r>
            <a:r>
              <a:rPr lang="ru-RU" dirty="0" err="1"/>
              <a:t>Proxy</a:t>
            </a:r>
            <a:r>
              <a:rPr lang="ru-RU" dirty="0"/>
              <a:t> — </a:t>
            </a:r>
            <a:r>
              <a:rPr lang="ru-RU" b="1" dirty="0"/>
              <a:t>Remote </a:t>
            </a:r>
            <a:r>
              <a:rPr lang="ru-RU" b="1" dirty="0" err="1"/>
              <a:t>Proxy</a:t>
            </a:r>
            <a:r>
              <a:rPr lang="ru-RU" dirty="0"/>
              <a:t>, или удалённый заместитель. Чтобы интуитивно понять его назначение, рассмотрим пример с «управляемыми утками».</a:t>
            </a:r>
          </a:p>
          <a:p>
            <a:endParaRPr lang="ru-RU" dirty="0"/>
          </a:p>
          <a:p>
            <a:r>
              <a:rPr lang="ru-RU" i="1" dirty="0"/>
              <a:t>«Клиентский код располагается на одном компьютере, код управления утками – на другом».</a:t>
            </a:r>
            <a:endParaRPr lang="ru-RU" dirty="0"/>
          </a:p>
          <a:p>
            <a:r>
              <a:rPr lang="ru-RU" dirty="0"/>
              <a:t>Реальную «утку» можно представить как удалённый объект: возможно, она живёт в отдельном процессе, а может — вообще на другом устройстве.</a:t>
            </a:r>
            <a:br>
              <a:rPr lang="ru-RU" dirty="0"/>
            </a:br>
            <a:r>
              <a:rPr lang="ru-RU" dirty="0"/>
              <a:t>Наш клиентский код, который хочет вызывать методы вроде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Quack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находится в другом месте.</a:t>
            </a:r>
          </a:p>
          <a:p>
            <a:r>
              <a:rPr lang="ru-RU" dirty="0"/>
              <a:t>Это уже </a:t>
            </a:r>
            <a:r>
              <a:rPr lang="ru-RU" b="1" dirty="0"/>
              <a:t>распределённая система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Клиент-серверное взаимодействие должно остаться прозрачным для клиента</a:t>
            </a:r>
          </a:p>
          <a:p>
            <a:r>
              <a:rPr lang="ru-RU" dirty="0"/>
              <a:t>Клиент не должен знать: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отправляются сообщения,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 каком формате </a:t>
            </a:r>
            <a:r>
              <a:rPr lang="ru-RU" dirty="0" err="1"/>
              <a:t>сериализуются</a:t>
            </a:r>
            <a:r>
              <a:rPr lang="ru-RU" dirty="0"/>
              <a:t> параметры,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что вызов выполняется удалённо,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что между клиентом и объектом лежит сеть или IPC.</a:t>
            </a:r>
          </a:p>
          <a:p>
            <a:r>
              <a:rPr lang="ru-RU" dirty="0"/>
              <a:t>Его задача — просто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duck.Fly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И всё должно работать «как будто объект находится рядом».</a:t>
            </a:r>
          </a:p>
          <a:p>
            <a:r>
              <a:rPr lang="ru-RU" dirty="0"/>
              <a:t>Это важное свойство: </a:t>
            </a:r>
            <a:r>
              <a:rPr lang="ru-RU" b="1" dirty="0" err="1"/>
              <a:t>Proxy</a:t>
            </a:r>
            <a:r>
              <a:rPr lang="ru-RU" b="1" dirty="0"/>
              <a:t> скрывает </a:t>
            </a:r>
            <a:r>
              <a:rPr lang="ru-RU" b="1" dirty="0" err="1"/>
              <a:t>распределённость</a:t>
            </a:r>
            <a:r>
              <a:rPr lang="ru-RU" b="1" dirty="0"/>
              <a:t> системы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Remote </a:t>
            </a:r>
            <a:r>
              <a:rPr lang="ru-RU" dirty="0" err="1"/>
              <a:t>Proxy</a:t>
            </a:r>
            <a:r>
              <a:rPr lang="ru-RU" dirty="0"/>
              <a:t> делает вид, что объект реально находится здесь, в текущем адресном пространстве. Он полностью повторяет интерфейс объекта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IDuck</a:t>
            </a:r>
            <a:r>
              <a:rPr lang="ru-RU" dirty="0"/>
              <a:t>), но под капотом отправляет запросы на сервер.</a:t>
            </a:r>
          </a:p>
          <a:p>
            <a:r>
              <a:rPr lang="ru-RU" dirty="0"/>
              <a:t>То есть клиент пишет: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duck.Fly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(Direction::North, 10);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И не подозревает, что на самом деле: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формируется сообщение,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оно отправляется по каналу связи,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сервер его получает,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Stub</a:t>
            </a:r>
            <a:r>
              <a:rPr lang="ru-RU" dirty="0"/>
              <a:t> вызывает реальный метод утки.</a:t>
            </a:r>
          </a:p>
          <a:p>
            <a:endParaRPr lang="ru-RU" dirty="0"/>
          </a:p>
          <a:p>
            <a:r>
              <a:rPr lang="ru-RU" i="1" dirty="0"/>
              <a:t>«Решение – Удалённый заместитель».</a:t>
            </a:r>
            <a:endParaRPr lang="ru-RU" dirty="0"/>
          </a:p>
          <a:p>
            <a:r>
              <a:rPr lang="ru-RU" dirty="0"/>
              <a:t>Remote </a:t>
            </a:r>
            <a:r>
              <a:rPr lang="ru-RU" dirty="0" err="1"/>
              <a:t>Proxy</a:t>
            </a:r>
            <a:r>
              <a:rPr lang="ru-RU" dirty="0"/>
              <a:t> обеспечивает: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локальную видимость</a:t>
            </a:r>
            <a:r>
              <a:rPr lang="ru-RU" dirty="0"/>
              <a:t> объекта,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удалённое выполнение операций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прозрачную работу клиентского кода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изоляцию сетевого слоя,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возможность подменять транспорт (TCP, UDP, </a:t>
            </a:r>
            <a:r>
              <a:rPr lang="ru-RU" dirty="0" err="1"/>
              <a:t>shared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 и т.д.) без изменения логики клиента.</a:t>
            </a:r>
          </a:p>
          <a:p>
            <a:r>
              <a:rPr lang="ru-RU" dirty="0"/>
              <a:t>Фактически, это классический RPC-подход:</a:t>
            </a:r>
            <a:br>
              <a:rPr lang="ru-RU" dirty="0"/>
            </a:br>
            <a:r>
              <a:rPr lang="ru-RU" dirty="0"/>
              <a:t>приложение вызывает методы словно локальные, а выполняются они дистанционно.</a:t>
            </a:r>
          </a:p>
          <a:p>
            <a:endParaRPr lang="ru-RU" dirty="0"/>
          </a:p>
          <a:p>
            <a:r>
              <a:rPr lang="ru-RU" dirty="0"/>
              <a:t>Дальше мы разберём архитектуру удалённого </a:t>
            </a:r>
            <a:r>
              <a:rPr lang="ru-RU" dirty="0" err="1"/>
              <a:t>Proxy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/>
              <a:t>как клиентский </a:t>
            </a:r>
            <a:r>
              <a:rPr lang="ru-RU" dirty="0" err="1"/>
              <a:t>Proxy</a:t>
            </a:r>
            <a:r>
              <a:rPr lang="ru-RU" dirty="0"/>
              <a:t> отправляет сообщения и как серверный </a:t>
            </a:r>
            <a:r>
              <a:rPr lang="ru-RU" dirty="0" err="1"/>
              <a:t>Stub</a:t>
            </a:r>
            <a:r>
              <a:rPr lang="ru-RU" dirty="0"/>
              <a:t> обрабатывает эти вызовы и вызывает методы настоящей утки.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00142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23920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60660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18088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7575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53851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38791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2379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нашем учебном примере мы использовали </a:t>
            </a:r>
            <a:r>
              <a:rPr lang="ru-RU" dirty="0" err="1"/>
              <a:t>MockPipe</a:t>
            </a:r>
            <a:r>
              <a:rPr lang="ru-RU" dirty="0"/>
              <a:t> — упрощённую модель коммуникации между клиентом и сервером. Это было сделано для демонстрации идеи Remote </a:t>
            </a:r>
            <a:r>
              <a:rPr lang="ru-RU" dirty="0" err="1"/>
              <a:t>Proxy</a:t>
            </a:r>
            <a:r>
              <a:rPr lang="ru-RU" dirty="0"/>
              <a:t> в чистом виде.</a:t>
            </a:r>
          </a:p>
          <a:p>
            <a:r>
              <a:rPr lang="ru-RU" dirty="0"/>
              <a:t>Но в реальных промышленных системах разработчики </a:t>
            </a:r>
            <a:r>
              <a:rPr lang="ru-RU" b="1" dirty="0"/>
              <a:t>не пишут собственные каналы связи вручную</a:t>
            </a:r>
            <a:r>
              <a:rPr lang="ru-RU" dirty="0"/>
              <a:t> — для этого существуют специальные платформенные технологии. И </a:t>
            </a:r>
            <a:r>
              <a:rPr lang="ru-RU" dirty="0" err="1"/>
              <a:t>Proxy</a:t>
            </a:r>
            <a:r>
              <a:rPr lang="ru-RU" dirty="0"/>
              <a:t> в них работает практически «магически».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534035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40771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Что может делать Smart </a:t>
            </a:r>
            <a:r>
              <a:rPr lang="ru-RU" b="1" dirty="0" err="1"/>
              <a:t>Proxy</a:t>
            </a:r>
            <a:endParaRPr lang="ru-RU" b="1" dirty="0"/>
          </a:p>
          <a:p>
            <a:r>
              <a:rPr lang="ru-RU" dirty="0"/>
              <a:t>Основная идея:</a:t>
            </a:r>
          </a:p>
          <a:p>
            <a:r>
              <a:rPr lang="ru-RU" i="1" dirty="0"/>
              <a:t>Smart </a:t>
            </a:r>
            <a:r>
              <a:rPr lang="ru-RU" i="1" dirty="0" err="1"/>
              <a:t>Proxy</a:t>
            </a:r>
            <a:r>
              <a:rPr lang="ru-RU" i="1" dirty="0"/>
              <a:t> перехватывает вызовы и дополняет их полезной логикой: до, после или вместо обращения к реальному объекту.</a:t>
            </a:r>
            <a:endParaRPr lang="ru-RU" dirty="0"/>
          </a:p>
          <a:p>
            <a:r>
              <a:rPr lang="ru-RU" dirty="0"/>
              <a:t>Такой </a:t>
            </a:r>
            <a:r>
              <a:rPr lang="ru-RU" dirty="0" err="1"/>
              <a:t>Proxy</a:t>
            </a:r>
            <a:r>
              <a:rPr lang="ru-RU" dirty="0"/>
              <a:t> может: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вести подсчёт ссылок (как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автоматически освобождать ресурс,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создавать объект только при записи (как в </a:t>
            </a:r>
            <a:r>
              <a:rPr lang="ru-RU" dirty="0" err="1"/>
              <a:t>CoW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обеспечивать </a:t>
            </a:r>
            <a:r>
              <a:rPr lang="ru-RU" dirty="0" err="1"/>
              <a:t>потокобезопасность</a:t>
            </a:r>
            <a:r>
              <a:rPr lang="ru-RU" dirty="0"/>
              <a:t> — например, блокировать мьютекс при доступе,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вести логирование,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кэшировать результат,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проверять состояние или инварианты.</a:t>
            </a:r>
          </a:p>
          <a:p>
            <a:r>
              <a:rPr lang="ru-RU" dirty="0"/>
              <a:t>То есть Smart </a:t>
            </a:r>
            <a:r>
              <a:rPr lang="ru-RU" dirty="0" err="1"/>
              <a:t>Proxy</a:t>
            </a:r>
            <a:r>
              <a:rPr lang="ru-RU" dirty="0"/>
              <a:t> — это способ </a:t>
            </a:r>
            <a:r>
              <a:rPr lang="ru-RU" b="1" dirty="0"/>
              <a:t>встроить в работу объекта вспомогательные механизмы</a:t>
            </a:r>
            <a:r>
              <a:rPr lang="ru-RU" dirty="0"/>
              <a:t>, не изменяя сам объект и не усложняя код клиента.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5303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86180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Сейчас мы будем разбирать </a:t>
            </a:r>
            <a:r>
              <a:rPr lang="ru-RU" dirty="0" err="1"/>
              <a:t>Copy-on-Write</a:t>
            </a:r>
            <a:r>
              <a:rPr lang="ru-RU" dirty="0"/>
              <a:t>, и важно понимать структуру:</a:t>
            </a:r>
          </a:p>
          <a:p>
            <a:r>
              <a:rPr lang="ru-RU" dirty="0"/>
              <a:t>несколько объектов могут делить общую «начинку»</a:t>
            </a:r>
          </a:p>
          <a:p>
            <a:r>
              <a:rPr lang="ru-RU" dirty="0"/>
              <a:t>и только если один из них начинает </a:t>
            </a:r>
            <a:r>
              <a:rPr lang="ru-RU" b="1" dirty="0"/>
              <a:t>менять данные</a:t>
            </a:r>
            <a:r>
              <a:rPr lang="ru-RU" dirty="0"/>
              <a:t>, </a:t>
            </a:r>
            <a:r>
              <a:rPr lang="ru-RU" dirty="0" err="1"/>
              <a:t>Proxy</a:t>
            </a:r>
            <a:r>
              <a:rPr lang="ru-RU" dirty="0"/>
              <a:t> перехватывает запись</a:t>
            </a:r>
          </a:p>
          <a:p>
            <a:r>
              <a:rPr lang="ru-RU" dirty="0"/>
              <a:t>и создаёт </a:t>
            </a:r>
            <a:r>
              <a:rPr lang="ru-RU" b="1" dirty="0"/>
              <a:t>свою собственную копию</a:t>
            </a:r>
            <a:endParaRPr lang="ru-RU" dirty="0"/>
          </a:p>
          <a:p>
            <a:r>
              <a:rPr lang="ru-RU" dirty="0"/>
              <a:t>Клиент при этом вызывает обычные методы, ничего не подозревая.</a:t>
            </a:r>
            <a:br>
              <a:rPr lang="ru-RU" dirty="0"/>
            </a:br>
            <a:r>
              <a:rPr lang="ru-RU" dirty="0"/>
              <a:t>Дополнительное поведение (создать копию?) решает </a:t>
            </a:r>
            <a:r>
              <a:rPr lang="ru-RU" dirty="0" err="1"/>
              <a:t>Proxy</a:t>
            </a:r>
            <a:r>
              <a:rPr lang="ru-RU" dirty="0"/>
              <a:t>.</a:t>
            </a:r>
          </a:p>
          <a:p>
            <a:r>
              <a:rPr lang="ru-RU" dirty="0"/>
              <a:t>То есть </a:t>
            </a:r>
            <a:r>
              <a:rPr lang="ru-RU" dirty="0" err="1"/>
              <a:t>CoW</a:t>
            </a:r>
            <a:r>
              <a:rPr lang="ru-RU" dirty="0"/>
              <a:t> — это не просто оптимизация, а </a:t>
            </a:r>
            <a:r>
              <a:rPr lang="ru-RU" b="1" dirty="0"/>
              <a:t>смарт-поведение</a:t>
            </a:r>
            <a:r>
              <a:rPr lang="ru-RU" dirty="0"/>
              <a:t>, встроенное между клиентом и реальными данными.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787852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37618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296625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17393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оптимизацию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Copy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для компактного хранения изображений в графическом редакторе.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Представьте, что вы разрабатываете графический редактор наподобие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Paint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В этой программе пользователь может рисовать на растре различные графические примитивы: линии, окружности, прямоугольники, изменять цвета отдельных пикселей.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0281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Растровое изображение — двумерный массив пикселей размером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MxN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29916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 из обязательных функций любого графического редактора — возможность отмены изменений. Для этого редактор должен сохранять предыдущие версии изображения, чтобы в любой момент можно было переключиться на одну из них. И здесь начинаются сложности.</a:t>
            </a:r>
          </a:p>
          <a:p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Паттерн «Команда» не очень удобен для манипуляции растровым изображением. Для действия «нарисовать окружность»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антидействием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«Восстановить пиксели, которые были под окружностью». Слишком трудоёмко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больше размеры картинки, тем больше памяти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памяти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она занимает. Например, иконка 32x32 пикселя с глубиной цвета в 32 бита будет занимать 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32*32*(32/8)=409632∗32∗(32/8)=4096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байт, или 4 килобайта. А фотография размером 4000x3000 пикселей и глубиной цвета 32 бита — уже 48 мегабайт. Если после каждой правки сохранять копию изображения целиком, никакой памяти не хватит!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888765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этом случае поможет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Copy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Воспользуемся тем, что в подобных редакторах большинство действий пользователя изменяют лишь небольшую часть изображения. Например, рисование карандашом или кистью изменяет всего лишь сотни или даже десятки пикселей.</a:t>
            </a:r>
          </a:p>
          <a:p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Разобьём всё изображение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тайлы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прямоугольные кусочки (а чаще, квадратные) фиксированного размера. Каждый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хранить небольшую часть целого изображения.</a:t>
            </a:r>
          </a:p>
          <a:p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Размеры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должны быть слишком маленькими, чтобы накладные расходы, связанные с ним, были незначительными по сравнению с размерами самого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Большое изображение, составленное из слишком маленьких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тайлов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будет использовать много памяти для хранения служебной информации. Слишком большим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тоже не должен быть, так как память выделяется целыми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тайлами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что может быть расточительно.</a:t>
            </a:r>
          </a:p>
          <a:p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Типичный размер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от 8x8 до 64x64 пикселей. При глубине цвета в 32 бита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занимать от 1 до 16 килобайт, а служебные данные — несколько десятков байт.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41224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размеры изображения не кратны размерам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количество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тайлов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 горизонтали и вертикали округляют вверх и часть области граничных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тайлов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используют. Например, если используются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тайлы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4x4, изображение размером 14x11 пикселей потребует 4x3=12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тайлов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Похожим образом поступают с кафельной плиткой: размеры стены округляют вверх до целого числа плиток, а потом лишние части плитки отрезают.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55087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Изображение должно хранить каждый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оптимизацией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Copy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Тогда копия изображения будет использовать те же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тайлы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что и оригинал. И только при изменении пикселей изображения будут создаваться модифицированные копии затронутых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тайлов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Copy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экономить память даже при хранении единственного изображения, если все его пиксели одного цвета. А этом случае всю поверхность изображения можно замостить копией одного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77143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работу с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тайловым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изображением.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Создадим img_2, копию картинки img_1, и нарисуем внутри img_2 вертикальный отрезок. На основе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T1 будут созданы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тайлы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T2 и T3. Остальные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тайлы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изображении img_2 будут использовать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T1.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61408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Скопируем img_2 в img_3, где нарисуем диагональный отрезок. Будут созданы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тайлы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T4 на основе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T2,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T5 на основе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T1,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T6 на основе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T1.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11602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Нарисуем в </a:t>
            </a:r>
            <a:r>
              <a:rPr lang="ru-RU" dirty="0"/>
              <a:t>img_3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ещё один диагональный отрезок.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ru-RU" dirty="0"/>
              <a:t>T6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будет модифицирован без создания его копии, так как он используется в единственном экземпляре.</a:t>
            </a:r>
          </a:p>
          <a:p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результате в программе получилось 3 изображения размером 16x12 пикселей, использующие всего 6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тайлов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4x4. Даже на таком простом примере можно видеть, как мы сэкономили память в 6 раз. При большем количестве похожих копий можно достичь экономии в десятки и даже сотни раз!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873960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оптимизацию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Copy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было просто применять, создадим умный указатель </a:t>
            </a:r>
            <a:r>
              <a:rPr lang="ru-RU" dirty="0" err="1"/>
              <a:t>CoW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Copy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 Внутри он будет хранить </a:t>
            </a:r>
            <a:r>
              <a:rPr lang="ru-RU" dirty="0" err="1"/>
              <a:t>shared_ptr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За счёт этого все копии </a:t>
            </a:r>
            <a:r>
              <a:rPr lang="ru-RU" dirty="0" err="1"/>
              <a:t>CoW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будут использовать один и тот же экземпляр данных.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этом классе 3 конструктора: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конструктор по умолчанию;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конструктор, создающий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СoW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-объект путём копирования переданного значения;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конструктор, создающий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CoW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-объект путём перемещения переданного значения.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Конструктор копирования и операцию присваивания писать не нужно, так как с их генерированием справится компилятор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891688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шагом добавим в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CoW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операции `*` и `-&gt;`. Они предоставят доступ к данным в режиме чтения: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48877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Проверим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CoW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 действии. Положим внутрь строку и убедимся, что обе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CoW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-копии используют одну и ту же строку: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016915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Доступ на запись устроен хитрее. Добавим метод </a:t>
            </a:r>
            <a:r>
              <a:rPr lang="ru-RU" dirty="0" err="1"/>
              <a:t>Write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В нём удостоверимся, что текущий указатель — единственный владелец данных. Для этого воспользуемся методом </a:t>
            </a:r>
            <a:r>
              <a:rPr lang="ru-RU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https://en.cppreference.com/w/cpp/memory/shared_ptr/use_count"/>
              </a:rPr>
              <a:t>shared_ptr</a:t>
            </a:r>
            <a:r>
              <a:rPr lang="ru-RU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https://en.cppreference.com/w/cpp/memory/shared_ptr/use_count"/>
              </a:rPr>
              <a:t>::</a:t>
            </a:r>
            <a:r>
              <a:rPr lang="ru-RU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https://en.cppreference.com/w/cpp/memory/shared_ptr/use_count"/>
              </a:rPr>
              <a:t>use_count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Если кроме текущего указателя на данные ссылается кто-то ещё, создадим копию и будем использовать её. В самом конце вызовем переданную нам функцию и передадим туда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неконстантную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ссылку на текущую копию объекта: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547208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изменить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CoW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-объект, вызовем метод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В него передадим лямбда-функцию и внутри неё изменим значение объекта.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240417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Этот способ удобен, когда над объектом нужно проделать несколько модифицирующих операций. Но чаще всего требуется вызвать лишь один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неконстантный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метод класса или изменить одно из полей. В этом случае эта конструкция будет громоздкой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Подумаем, как сделать это более лаконично.</a:t>
            </a:r>
            <a:b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было бы добавить в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CoW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метод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без параметров, который бы вернул ссылку на объект: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Тогда изменение объекта сократилось бы до одной строки: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Однако за этой простотой кроется опасность. Пользователь класса может сохранить ссылку, возвращённую методом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Затем использует эту ссылку для модификации данных, когда объект уже не будет единоличным владельцем.</a:t>
            </a:r>
          </a:p>
          <a:p>
            <a:b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30865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 данных объекта, полученных у </a:t>
            </a:r>
            <a:r>
              <a:rPr lang="ru-RU" dirty="0"/>
              <a:t>s1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привело к изменению данных объекта </a:t>
            </a:r>
            <a:r>
              <a:rPr lang="ru-RU" dirty="0"/>
              <a:t>s2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Отданная наружу ссылка позволила изменить данные в обход механизмов логики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Copy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381870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защититься от этого, нужно возвращать пользователю не ссылку, а специальный прокси-объект с операциями </a:t>
            </a:r>
            <a:r>
              <a:rPr lang="ru-RU" dirty="0"/>
              <a:t>*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и </a:t>
            </a:r>
            <a:r>
              <a:rPr lang="ru-RU" dirty="0"/>
              <a:t>-&gt;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защититься от многократного использования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WriteProxy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здесь используется перегрузка операций `*` и `-&gt;` для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rvalue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и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lvalue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-ссылок. У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rvalue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-ссылок на `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WriteProxy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эти операции есть, а у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lvalue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-ссылок они удалены. Поэтому такой код компилироваться не будет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6935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одиночные модификации объекта можно выполнить без использования лямбда-функций: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40969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уже познакомились с Virtual </a:t>
            </a:r>
            <a:r>
              <a:rPr lang="ru-RU" dirty="0" err="1"/>
              <a:t>Proxy</a:t>
            </a:r>
            <a:r>
              <a:rPr lang="ru-RU" dirty="0"/>
              <a:t> и Remote </a:t>
            </a:r>
            <a:r>
              <a:rPr lang="ru-RU" dirty="0" err="1"/>
              <a:t>Proxy</a:t>
            </a:r>
            <a:r>
              <a:rPr lang="ru-RU" dirty="0"/>
              <a:t>. Следующий важный представитель семейства — </a:t>
            </a:r>
            <a:r>
              <a:rPr lang="ru-RU" b="1" dirty="0"/>
              <a:t>Protection </a:t>
            </a:r>
            <a:r>
              <a:rPr lang="ru-RU" b="1" dirty="0" err="1"/>
              <a:t>Proxy</a:t>
            </a:r>
            <a:r>
              <a:rPr lang="ru-RU" dirty="0"/>
              <a:t>, или «защищающий заместитель».</a:t>
            </a:r>
          </a:p>
          <a:p>
            <a:r>
              <a:rPr lang="ru-RU" dirty="0"/>
              <a:t>Если Virtual </a:t>
            </a:r>
            <a:r>
              <a:rPr lang="ru-RU" dirty="0" err="1"/>
              <a:t>Proxy</a:t>
            </a:r>
            <a:r>
              <a:rPr lang="ru-RU" dirty="0"/>
              <a:t> управляет временем создания объекта, а Remote </a:t>
            </a:r>
            <a:r>
              <a:rPr lang="ru-RU" dirty="0" err="1"/>
              <a:t>Proxy</a:t>
            </a:r>
            <a:r>
              <a:rPr lang="ru-RU" dirty="0"/>
              <a:t> скрывает </a:t>
            </a:r>
            <a:r>
              <a:rPr lang="ru-RU" dirty="0" err="1"/>
              <a:t>распределённость</a:t>
            </a:r>
            <a:r>
              <a:rPr lang="ru-RU" dirty="0"/>
              <a:t>, то Protection </a:t>
            </a:r>
            <a:r>
              <a:rPr lang="ru-RU" dirty="0" err="1"/>
              <a:t>Proxy</a:t>
            </a:r>
            <a:r>
              <a:rPr lang="ru-RU" dirty="0"/>
              <a:t> контролирует </a:t>
            </a:r>
            <a:r>
              <a:rPr lang="ru-RU" b="1" dirty="0"/>
              <a:t>право доступа</a:t>
            </a:r>
            <a:r>
              <a:rPr lang="ru-RU" dirty="0"/>
              <a:t> к объекту.</a:t>
            </a:r>
          </a:p>
          <a:p>
            <a:endParaRPr lang="en-US" dirty="0"/>
          </a:p>
          <a:p>
            <a:r>
              <a:rPr lang="ru-RU" dirty="0"/>
              <a:t>Основная идея:</a:t>
            </a:r>
          </a:p>
          <a:p>
            <a:r>
              <a:rPr lang="ru-RU" i="1" dirty="0"/>
              <a:t>Перед вызовом реального метода </a:t>
            </a:r>
            <a:r>
              <a:rPr lang="ru-RU" i="1" dirty="0" err="1"/>
              <a:t>Proxy</a:t>
            </a:r>
            <a:r>
              <a:rPr lang="ru-RU" i="1" dirty="0"/>
              <a:t> выполняет проверки: можно ли клиенту выполнять эту операцию.</a:t>
            </a:r>
            <a:endParaRPr lang="ru-RU" dirty="0"/>
          </a:p>
          <a:p>
            <a:r>
              <a:rPr lang="ru-RU" dirty="0"/>
              <a:t>Этот вид </a:t>
            </a:r>
            <a:r>
              <a:rPr lang="ru-RU" dirty="0" err="1"/>
              <a:t>Proxy</a:t>
            </a:r>
            <a:r>
              <a:rPr lang="ru-RU" dirty="0"/>
              <a:t> особенно важен, когда: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объект предоставляет </a:t>
            </a:r>
            <a:r>
              <a:rPr lang="ru-RU" b="1" dirty="0"/>
              <a:t>критично важные функции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объект работает с </a:t>
            </a:r>
            <a:r>
              <a:rPr lang="ru-RU" b="1" dirty="0"/>
              <a:t>конфиденциальными данными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 разных пользователей разные уровни доступа,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нужно предотвратить неправильное или опасное использование объекта.</a:t>
            </a:r>
          </a:p>
          <a:p>
            <a:r>
              <a:rPr lang="ru-RU" dirty="0"/>
              <a:t>Например, если у объекта есть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DeleteAll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который удаляет всю базу данных, явно не стоит позволять любому пользователю вызывать его напрямую.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ru-RU" b="1" dirty="0"/>
              <a:t>Как работает Protection </a:t>
            </a:r>
            <a:r>
              <a:rPr lang="ru-RU" b="1" dirty="0" err="1"/>
              <a:t>Proxy</a:t>
            </a:r>
            <a:endParaRPr lang="ru-RU" b="1" dirty="0"/>
          </a:p>
          <a:p>
            <a:r>
              <a:rPr lang="ru-RU" dirty="0"/>
              <a:t>Protection </a:t>
            </a:r>
            <a:r>
              <a:rPr lang="ru-RU" dirty="0" err="1"/>
              <a:t>Proxy</a:t>
            </a:r>
            <a:r>
              <a:rPr lang="ru-RU" dirty="0"/>
              <a:t> реализует тот же интерфейс, что и реальный объект, но добавляет логику: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проверку прав пользователя,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проверку параметров,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фильтр вызовов,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блокировку опасных методов,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логирование попыток доступа.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условия не выполняются: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вызывается исключение,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метод просто не выполняется.</a:t>
            </a:r>
          </a:p>
          <a:p>
            <a:r>
              <a:rPr lang="ru-RU" dirty="0"/>
              <a:t>Реальный объект остаётся чистым, простым и безопасным — вся «охрана» находится в </a:t>
            </a:r>
            <a:r>
              <a:rPr lang="ru-RU" dirty="0" err="1"/>
              <a:t>Proxy</a:t>
            </a:r>
            <a:r>
              <a:rPr lang="ru-RU" dirty="0"/>
              <a:t>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983227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Примеры из практики</a:t>
            </a:r>
          </a:p>
          <a:p>
            <a:r>
              <a:rPr lang="ru-RU" dirty="0"/>
              <a:t>Protection </a:t>
            </a:r>
            <a:r>
              <a:rPr lang="ru-RU" dirty="0" err="1"/>
              <a:t>Proxy</a:t>
            </a:r>
            <a:r>
              <a:rPr lang="ru-RU" dirty="0"/>
              <a:t> используется не только в учебных задачах. Это распространённая техника:</a:t>
            </a:r>
          </a:p>
          <a:p>
            <a:r>
              <a:rPr lang="ru-RU" dirty="0"/>
              <a:t>В API: проверки токенов, ролей, полномочий.</a:t>
            </a:r>
          </a:p>
          <a:p>
            <a:r>
              <a:rPr lang="ru-RU" dirty="0"/>
              <a:t>В больших программах с плагинами: </a:t>
            </a:r>
            <a:r>
              <a:rPr lang="ru-RU" dirty="0" err="1"/>
              <a:t>Proxy</a:t>
            </a:r>
            <a:r>
              <a:rPr lang="ru-RU" dirty="0"/>
              <a:t> </a:t>
            </a:r>
            <a:r>
              <a:rPr lang="ru-RU" dirty="0" err="1"/>
              <a:t>недоверённых</a:t>
            </a:r>
            <a:r>
              <a:rPr lang="ru-RU" dirty="0"/>
              <a:t> модулей ограничивает их возможности.</a:t>
            </a:r>
          </a:p>
          <a:p>
            <a:r>
              <a:rPr lang="ru-RU" dirty="0"/>
              <a:t>В играх и движках: моды или скрипты получают ограниченный интерфейс.</a:t>
            </a:r>
          </a:p>
          <a:p>
            <a:r>
              <a:rPr lang="ru-RU" dirty="0"/>
              <a:t>В приложениях: предоставление разных уровней доступа (гость, пользователь, админ).</a:t>
            </a:r>
          </a:p>
          <a:p>
            <a:r>
              <a:rPr lang="ru-RU" dirty="0"/>
              <a:t>В системах безопасности: </a:t>
            </a:r>
            <a:r>
              <a:rPr lang="ru-RU" dirty="0" err="1"/>
              <a:t>sandboxing</a:t>
            </a:r>
            <a:r>
              <a:rPr lang="ru-RU" dirty="0"/>
              <a:t>.</a:t>
            </a:r>
          </a:p>
          <a:p>
            <a:r>
              <a:rPr lang="ru-RU" dirty="0"/>
              <a:t>Во всех этих случаях </a:t>
            </a:r>
            <a:r>
              <a:rPr lang="ru-RU" dirty="0" err="1"/>
              <a:t>Proxy</a:t>
            </a:r>
            <a:r>
              <a:rPr lang="ru-RU" dirty="0"/>
              <a:t> выступает как </a:t>
            </a:r>
            <a:r>
              <a:rPr lang="ru-RU" b="1" dirty="0"/>
              <a:t>защитный барьер</a:t>
            </a:r>
            <a:r>
              <a:rPr lang="ru-RU" dirty="0"/>
              <a:t>, который позволяет безопасно использовать чувствительные объекты.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703768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874282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Декоратор и Прокси часто путают — и неудивительно, потому что оба паттерна внешне очень похожи: они реализуют один интерфейс, оборачивают объект и передают ему вызовы. Но их назначение принципиально разное.</a:t>
            </a:r>
          </a:p>
          <a:p>
            <a:endParaRPr lang="ru-RU" dirty="0"/>
          </a:p>
          <a:p>
            <a:r>
              <a:rPr lang="ru-RU" dirty="0"/>
              <a:t>У декоратора и прокси действительно много общего: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они оборачивают объект в оболочку,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реализуют тот же интерфейс,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могут прозрачно подменять объект для клиентского кода.</a:t>
            </a:r>
          </a:p>
          <a:p>
            <a:r>
              <a:rPr lang="ru-RU" dirty="0"/>
              <a:t>Поэтому на уровне структуры они похожи, и отличить их по UML-схеме довольно сложно.</a:t>
            </a:r>
          </a:p>
          <a:p>
            <a:endParaRPr lang="ru-RU" dirty="0"/>
          </a:p>
          <a:p>
            <a:r>
              <a:rPr lang="ru-RU" b="1" dirty="0"/>
              <a:t>Главное отличие — </a:t>
            </a:r>
            <a:r>
              <a:rPr lang="ru-RU" b="1" i="1" dirty="0"/>
              <a:t>цель</a:t>
            </a:r>
            <a:endParaRPr lang="ru-RU" b="1" dirty="0"/>
          </a:p>
          <a:p>
            <a:r>
              <a:rPr lang="ru-RU" b="1" dirty="0" err="1"/>
              <a:t>Proxy</a:t>
            </a:r>
            <a:r>
              <a:rPr lang="ru-RU" b="1" dirty="0"/>
              <a:t> управляет доступом.</a:t>
            </a:r>
          </a:p>
          <a:p>
            <a:r>
              <a:rPr lang="ru-RU" dirty="0"/>
              <a:t>Он решает задачи: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ленивая загрузка (Virtual </a:t>
            </a:r>
            <a:r>
              <a:rPr lang="ru-RU" dirty="0" err="1"/>
              <a:t>Proxy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контроль доступа (Protection </a:t>
            </a:r>
            <a:r>
              <a:rPr lang="ru-RU" dirty="0" err="1"/>
              <a:t>Proxy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удалённые вызовы (Remote </a:t>
            </a:r>
            <a:r>
              <a:rPr lang="ru-RU" dirty="0" err="1"/>
              <a:t>Proxy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оптимизация памяти и ресурсов (Smart </a:t>
            </a:r>
            <a:r>
              <a:rPr lang="ru-RU" dirty="0" err="1"/>
              <a:t>Proxy</a:t>
            </a:r>
            <a:r>
              <a:rPr lang="ru-RU" dirty="0"/>
              <a:t>, </a:t>
            </a:r>
            <a:r>
              <a:rPr lang="ru-RU" dirty="0" err="1"/>
              <a:t>CoW</a:t>
            </a:r>
            <a:r>
              <a:rPr lang="ru-RU" dirty="0"/>
              <a:t>).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 err="1"/>
              <a:t>Proxy</a:t>
            </a:r>
            <a:r>
              <a:rPr lang="ru-RU" dirty="0"/>
              <a:t> не меняет поведение объекта. Он лишь решает </a:t>
            </a:r>
            <a:r>
              <a:rPr lang="ru-RU" i="1" dirty="0"/>
              <a:t>когда</a:t>
            </a:r>
            <a:r>
              <a:rPr lang="ru-RU" dirty="0"/>
              <a:t>, </a:t>
            </a:r>
            <a:r>
              <a:rPr lang="ru-RU" i="1" dirty="0"/>
              <a:t>как</a:t>
            </a:r>
            <a:r>
              <a:rPr lang="ru-RU" dirty="0"/>
              <a:t> и </a:t>
            </a:r>
            <a:r>
              <a:rPr lang="ru-RU" i="1" dirty="0"/>
              <a:t>можно ли</a:t>
            </a:r>
            <a:r>
              <a:rPr lang="ru-RU" dirty="0"/>
              <a:t> к объекту обратиться.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b="1" dirty="0" err="1"/>
              <a:t>Decorator</a:t>
            </a:r>
            <a:r>
              <a:rPr lang="ru-RU" b="1" dirty="0"/>
              <a:t> добавляет поведение.</a:t>
            </a:r>
          </a:p>
          <a:p>
            <a:r>
              <a:rPr lang="ru-RU" dirty="0"/>
              <a:t>Это паттерн про расширение возможностей: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добавление логирования,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добавление форматирования,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расширение функциональности,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включение/выключение фич на лету.</a:t>
            </a:r>
          </a:p>
          <a:p>
            <a:r>
              <a:rPr lang="ru-RU" dirty="0"/>
              <a:t>Декоратор </a:t>
            </a:r>
            <a:r>
              <a:rPr lang="ru-RU" i="1" dirty="0"/>
              <a:t>меняет</a:t>
            </a:r>
            <a:r>
              <a:rPr lang="ru-RU" dirty="0"/>
              <a:t> или </a:t>
            </a:r>
            <a:r>
              <a:rPr lang="ru-RU" i="1" dirty="0"/>
              <a:t>расширяет</a:t>
            </a:r>
            <a:r>
              <a:rPr lang="ru-RU" dirty="0"/>
              <a:t> то, что делает объект, в то время как </a:t>
            </a:r>
            <a:r>
              <a:rPr lang="ru-RU" dirty="0" err="1"/>
              <a:t>Proxy</a:t>
            </a:r>
            <a:r>
              <a:rPr lang="ru-RU" dirty="0"/>
              <a:t> сохраняет семантику поведения объекта.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876732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Кэширование — интересный пример, потому что его можно реализовать и через </a:t>
            </a:r>
            <a:r>
              <a:rPr lang="ru-RU" dirty="0" err="1"/>
              <a:t>Proxy</a:t>
            </a:r>
            <a:r>
              <a:rPr lang="ru-RU" dirty="0"/>
              <a:t>, и через </a:t>
            </a:r>
            <a:r>
              <a:rPr lang="ru-RU" dirty="0" err="1"/>
              <a:t>Decorator</a:t>
            </a:r>
            <a:r>
              <a:rPr lang="ru-RU" dirty="0"/>
              <a:t>. Всё зависит от </a:t>
            </a:r>
            <a:r>
              <a:rPr lang="ru-RU" i="1" dirty="0"/>
              <a:t>намерения</a:t>
            </a:r>
            <a:r>
              <a:rPr lang="ru-RU" dirty="0"/>
              <a:t>.</a:t>
            </a:r>
            <a:endParaRPr lang="en-US" dirty="0"/>
          </a:p>
          <a:p>
            <a:endParaRPr lang="en-US" dirty="0"/>
          </a:p>
          <a:p>
            <a:r>
              <a:rPr lang="ru-RU" b="1" dirty="0"/>
              <a:t>Когда кэширование — </a:t>
            </a:r>
            <a:r>
              <a:rPr lang="ru-RU" b="1" dirty="0" err="1"/>
              <a:t>Proxy</a:t>
            </a:r>
            <a:r>
              <a:rPr lang="ru-RU" b="1" dirty="0"/>
              <a:t>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мы хотим, чтобы клиент даже не подозревал о существовании кэша —</a:t>
            </a:r>
            <a:br>
              <a:rPr lang="ru-RU" dirty="0"/>
            </a:br>
            <a:r>
              <a:rPr lang="ru-RU" dirty="0"/>
              <a:t>он просто вызывает метод, а </a:t>
            </a:r>
            <a:r>
              <a:rPr lang="ru-RU" dirty="0" err="1"/>
              <a:t>Proxy</a:t>
            </a:r>
            <a:r>
              <a:rPr lang="ru-RU" dirty="0"/>
              <a:t> решает: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вычислять результат или взять из кэша,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запрашивать объект или нет,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обращаться к тяжёлому ресурсу или вернуть уже готовые данные.</a:t>
            </a:r>
          </a:p>
          <a:p>
            <a:r>
              <a:rPr lang="ru-RU" dirty="0"/>
              <a:t>Объект при этом выглядит для клиента обычным, поведение не расширяется —</a:t>
            </a:r>
            <a:r>
              <a:rPr lang="en-US" dirty="0"/>
              <a:t> </a:t>
            </a:r>
            <a:r>
              <a:rPr lang="ru-RU" dirty="0"/>
              <a:t>мы лишь </a:t>
            </a:r>
            <a:r>
              <a:rPr lang="ru-RU" b="1" dirty="0"/>
              <a:t>управляем доступом</a:t>
            </a:r>
            <a:r>
              <a:rPr lang="ru-RU" dirty="0"/>
              <a:t> к ресурсу и делаем это более эффективно.</a:t>
            </a:r>
          </a:p>
          <a:p>
            <a:r>
              <a:rPr lang="ru-RU" dirty="0"/>
              <a:t>Это классический </a:t>
            </a:r>
            <a:r>
              <a:rPr lang="ru-RU" b="1" dirty="0"/>
              <a:t>Smart </a:t>
            </a:r>
            <a:r>
              <a:rPr lang="ru-RU" b="1" dirty="0" err="1"/>
              <a:t>Proxy</a:t>
            </a:r>
            <a:r>
              <a:rPr lang="ru-RU" dirty="0"/>
              <a:t>:</a:t>
            </a:r>
            <a:r>
              <a:rPr lang="en-US" dirty="0"/>
              <a:t> </a:t>
            </a:r>
            <a:r>
              <a:rPr lang="ru-RU" dirty="0"/>
              <a:t>так же, как </a:t>
            </a:r>
            <a:r>
              <a:rPr lang="ru-RU" dirty="0" err="1"/>
              <a:t>Copy-on-Write</a:t>
            </a:r>
            <a:r>
              <a:rPr lang="ru-RU" dirty="0"/>
              <a:t> или ленивое выделение.</a:t>
            </a:r>
          </a:p>
          <a:p>
            <a:endParaRPr lang="en-US" dirty="0"/>
          </a:p>
          <a:p>
            <a:r>
              <a:rPr lang="ru-RU" dirty="0"/>
              <a:t>Если кэширование — </a:t>
            </a:r>
            <a:r>
              <a:rPr lang="ru-RU" i="1" dirty="0"/>
              <a:t>функциональное расширение</a:t>
            </a:r>
            <a:r>
              <a:rPr lang="ru-RU" dirty="0"/>
              <a:t>, а клиент осознанно использует новую возможность — это </a:t>
            </a:r>
            <a:r>
              <a:rPr lang="ru-RU" dirty="0" err="1"/>
              <a:t>Decorator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клиент «подключает» декоратор кэширования,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вид «поведения» объекта становится шире,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мы говорим: «Этот объект теперь умеет кэшировать свои результаты».</a:t>
            </a:r>
          </a:p>
          <a:p>
            <a:r>
              <a:rPr lang="ru-RU" dirty="0" err="1"/>
              <a:t>Decorator</a:t>
            </a:r>
            <a:r>
              <a:rPr lang="ru-RU" dirty="0"/>
              <a:t> — это про </a:t>
            </a:r>
            <a:r>
              <a:rPr lang="ru-RU" b="1" dirty="0"/>
              <a:t>наращивание возможностей</a:t>
            </a:r>
            <a:r>
              <a:rPr lang="ru-RU" dirty="0"/>
              <a:t>, а не про контроль доступа.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513978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нам нужно оптимизировать тяжёлые операции, такие как конвертация мультимедийных файлов. Конвертация может занимать секунды или минуты — поэтому повторять её заново каждый раз бессмысленно.</a:t>
            </a:r>
            <a:br>
              <a:rPr lang="ru-RU" dirty="0"/>
            </a:br>
            <a:r>
              <a:rPr lang="ru-RU" dirty="0"/>
              <a:t>Но мы хотим, чтобы клиентский код не усложнялся и продолжал работать через один и тот же интерфейс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IMediaConverter</a:t>
            </a:r>
            <a:r>
              <a:rPr lang="ru-RU" dirty="0"/>
              <a:t>.</a:t>
            </a:r>
          </a:p>
          <a:p>
            <a:r>
              <a:rPr lang="ru-RU" dirty="0"/>
              <a:t>И здесь отлично подходит </a:t>
            </a:r>
            <a:r>
              <a:rPr lang="ru-RU" b="1" dirty="0"/>
              <a:t>Smart </a:t>
            </a:r>
            <a:r>
              <a:rPr lang="ru-RU" b="1" dirty="0" err="1"/>
              <a:t>Proxy</a:t>
            </a:r>
            <a:r>
              <a:rPr lang="ru-RU" dirty="0"/>
              <a:t>, реализующий кэширование.</a:t>
            </a:r>
          </a:p>
          <a:p>
            <a:endParaRPr lang="en-US" dirty="0"/>
          </a:p>
          <a:p>
            <a:r>
              <a:rPr lang="ru-RU" b="1" dirty="0"/>
              <a:t>Почему это </a:t>
            </a:r>
            <a:r>
              <a:rPr lang="ru-RU" b="1" dirty="0" err="1"/>
              <a:t>Proxy</a:t>
            </a:r>
            <a:r>
              <a:rPr lang="ru-RU" b="1" dirty="0"/>
              <a:t>?</a:t>
            </a:r>
          </a:p>
          <a:p>
            <a:r>
              <a:rPr lang="ru-RU" dirty="0"/>
              <a:t>Заметьте:</a:t>
            </a:r>
          </a:p>
          <a:p>
            <a:r>
              <a:rPr lang="ru-RU" dirty="0"/>
              <a:t>Клиент ничего не знает о кэше.</a:t>
            </a:r>
          </a:p>
          <a:p>
            <a:r>
              <a:rPr lang="ru-RU" dirty="0"/>
              <a:t>Он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Convert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ровно так же, как и раньше.</a:t>
            </a:r>
          </a:p>
          <a:p>
            <a:r>
              <a:rPr lang="ru-RU" dirty="0"/>
              <a:t>Поведение метода не меняется: на выходе тот же файл.</a:t>
            </a:r>
          </a:p>
          <a:p>
            <a:r>
              <a:rPr lang="ru-RU" dirty="0" err="1"/>
              <a:t>Proxy</a:t>
            </a:r>
            <a:r>
              <a:rPr lang="ru-RU" dirty="0"/>
              <a:t> контролирует, </a:t>
            </a:r>
            <a:r>
              <a:rPr lang="ru-RU" b="1" dirty="0"/>
              <a:t>обращаться ли к реальному объекту</a:t>
            </a:r>
            <a:r>
              <a:rPr lang="ru-RU" dirty="0"/>
              <a:t>, или вернуть кэш.</a:t>
            </a:r>
          </a:p>
          <a:p>
            <a:r>
              <a:rPr lang="ru-RU" dirty="0"/>
              <a:t>Мы не добавляем клиенту новый функционал — мы </a:t>
            </a:r>
            <a:r>
              <a:rPr lang="ru-RU" i="1" dirty="0"/>
              <a:t>оптимизируем доступ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отличительная черта </a:t>
            </a:r>
            <a:r>
              <a:rPr lang="ru-RU" dirty="0" err="1"/>
              <a:t>Proxy</a:t>
            </a:r>
            <a:r>
              <a:rPr lang="ru-RU" dirty="0"/>
              <a:t>, а не </a:t>
            </a:r>
            <a:r>
              <a:rPr lang="ru-RU" dirty="0" err="1"/>
              <a:t>Decorator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b="1" dirty="0"/>
              <a:t>Как работает </a:t>
            </a:r>
            <a:r>
              <a:rPr lang="ru-RU" b="1" dirty="0" err="1"/>
              <a:t>Caching</a:t>
            </a:r>
            <a:r>
              <a:rPr lang="ru-RU" b="1" dirty="0"/>
              <a:t> </a:t>
            </a:r>
            <a:r>
              <a:rPr lang="ru-RU" b="1" dirty="0" err="1"/>
              <a:t>Proxy</a:t>
            </a:r>
            <a:endParaRPr lang="ru-RU" b="1" dirty="0"/>
          </a:p>
          <a:p>
            <a:r>
              <a:rPr lang="ru-RU" dirty="0"/>
              <a:t>Клиент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Convert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r>
              <a:rPr lang="ru-RU" dirty="0" err="1"/>
              <a:t>Proxy</a:t>
            </a:r>
            <a:r>
              <a:rPr lang="ru-RU" dirty="0"/>
              <a:t> проверяет, есть ли результат в кэше.</a:t>
            </a:r>
          </a:p>
          <a:p>
            <a:r>
              <a:rPr lang="ru-RU" dirty="0"/>
              <a:t>Если есть — копирует файл и мгновенно отдаёт результат.</a:t>
            </a:r>
          </a:p>
          <a:p>
            <a:r>
              <a:rPr lang="ru-RU" dirty="0"/>
              <a:t>Если нет — вызывает реальный конвертер.</a:t>
            </a:r>
          </a:p>
          <a:p>
            <a:r>
              <a:rPr lang="ru-RU" dirty="0"/>
              <a:t>После выполнения измеряет время.</a:t>
            </a:r>
          </a:p>
          <a:p>
            <a:r>
              <a:rPr lang="ru-RU" dirty="0"/>
              <a:t>Если операция была дорогой — помещает результат в кэш.</a:t>
            </a:r>
          </a:p>
          <a:p>
            <a:r>
              <a:rPr lang="ru-RU" dirty="0"/>
              <a:t>Клиенту всё это абсолютно прозрачно.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937121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подошли к завершению лекции. Сегодня мы посмотрели на паттерн </a:t>
            </a:r>
            <a:r>
              <a:rPr lang="ru-RU" dirty="0" err="1"/>
              <a:t>Proxy</a:t>
            </a:r>
            <a:r>
              <a:rPr lang="ru-RU" dirty="0"/>
              <a:t> не как на один конкретный приём, а как на целое семейство подходов для управления доступом к объектам.</a:t>
            </a:r>
          </a:p>
          <a:p>
            <a:r>
              <a:rPr lang="ru-RU" dirty="0" err="1"/>
              <a:t>Proxy</a:t>
            </a:r>
            <a:r>
              <a:rPr lang="ru-RU" dirty="0"/>
              <a:t> — это простой, но очень мощный инструмент. Он позволяет вставить дополнительное поведение между клиентом и объектом, не нарушая архитектуру системы и не заставляя клиента знать о внутренней сложности.</a:t>
            </a:r>
          </a:p>
          <a:p>
            <a:endParaRPr lang="ru-RU" dirty="0"/>
          </a:p>
          <a:p>
            <a:r>
              <a:rPr lang="ru-RU" b="1" dirty="0"/>
              <a:t>Что важно запомнить</a:t>
            </a:r>
          </a:p>
          <a:p>
            <a:r>
              <a:rPr lang="ru-RU" dirty="0"/>
              <a:t>У </a:t>
            </a:r>
            <a:r>
              <a:rPr lang="ru-RU" dirty="0" err="1"/>
              <a:t>Proxy</a:t>
            </a:r>
            <a:r>
              <a:rPr lang="ru-RU" dirty="0"/>
              <a:t> </a:t>
            </a:r>
            <a:r>
              <a:rPr lang="ru-RU" b="1" dirty="0"/>
              <a:t>тот же интерфейс</a:t>
            </a:r>
            <a:r>
              <a:rPr lang="ru-RU" dirty="0"/>
              <a:t>, что и у реального объекта.</a:t>
            </a:r>
            <a:br>
              <a:rPr lang="ru-RU" dirty="0"/>
            </a:br>
            <a:r>
              <a:rPr lang="ru-RU" dirty="0"/>
              <a:t>Клиент не должен замечать подмены.</a:t>
            </a:r>
          </a:p>
          <a:p>
            <a:r>
              <a:rPr lang="ru-RU" dirty="0" err="1"/>
              <a:t>Proxy</a:t>
            </a:r>
            <a:r>
              <a:rPr lang="ru-RU" dirty="0"/>
              <a:t> решает вопросы </a:t>
            </a:r>
            <a:r>
              <a:rPr lang="ru-RU" b="1" dirty="0"/>
              <a:t>доступа</a:t>
            </a:r>
            <a:r>
              <a:rPr lang="ru-RU" dirty="0"/>
              <a:t>, </a:t>
            </a:r>
            <a:r>
              <a:rPr lang="ru-RU" b="1" dirty="0"/>
              <a:t>создания</a:t>
            </a:r>
            <a:r>
              <a:rPr lang="ru-RU" dirty="0"/>
              <a:t>, </a:t>
            </a:r>
            <a:r>
              <a:rPr lang="ru-RU" b="1" dirty="0"/>
              <a:t>расположения</a:t>
            </a:r>
            <a:r>
              <a:rPr lang="ru-RU" dirty="0"/>
              <a:t>, </a:t>
            </a:r>
            <a:r>
              <a:rPr lang="ru-RU" b="1" dirty="0"/>
              <a:t>безопасности</a:t>
            </a:r>
            <a:r>
              <a:rPr lang="ru-RU" dirty="0"/>
              <a:t>, </a:t>
            </a:r>
            <a:r>
              <a:rPr lang="ru-RU" b="1" dirty="0"/>
              <a:t>оптимизации</a:t>
            </a:r>
            <a:r>
              <a:rPr lang="ru-RU" dirty="0"/>
              <a:t>, </a:t>
            </a:r>
            <a:r>
              <a:rPr lang="ru-RU" b="1" dirty="0"/>
              <a:t>синхронизации</a:t>
            </a:r>
            <a:r>
              <a:rPr lang="ru-RU" dirty="0"/>
              <a:t> — всё зависит от того, какой вид вы используете.</a:t>
            </a:r>
          </a:p>
          <a:p>
            <a:r>
              <a:rPr lang="ru-RU" dirty="0"/>
              <a:t>Во всех примерах — от загрузки изображений до RPC и </a:t>
            </a:r>
            <a:r>
              <a:rPr lang="ru-RU" dirty="0" err="1"/>
              <a:t>Copy-on-Write</a:t>
            </a:r>
            <a:r>
              <a:rPr lang="ru-RU" dirty="0"/>
              <a:t> — </a:t>
            </a:r>
            <a:r>
              <a:rPr lang="ru-RU" dirty="0" err="1"/>
              <a:t>Proxy</a:t>
            </a:r>
            <a:r>
              <a:rPr lang="ru-RU" dirty="0"/>
              <a:t> позволял нам </a:t>
            </a:r>
            <a:r>
              <a:rPr lang="ru-RU" b="1" dirty="0"/>
              <a:t>изолировать сложные механизмы</a:t>
            </a:r>
            <a:r>
              <a:rPr lang="ru-RU" dirty="0"/>
              <a:t> от клиентского кода.</a:t>
            </a:r>
          </a:p>
          <a:p>
            <a:endParaRPr lang="ru-RU" dirty="0"/>
          </a:p>
          <a:p>
            <a:r>
              <a:rPr lang="ru-RU" b="1" dirty="0"/>
              <a:t>Смысл использования </a:t>
            </a:r>
            <a:r>
              <a:rPr lang="ru-RU" b="1" dirty="0" err="1"/>
              <a:t>Proxy</a:t>
            </a:r>
            <a:endParaRPr lang="ru-RU" b="1" dirty="0"/>
          </a:p>
          <a:p>
            <a:r>
              <a:rPr lang="ru-RU" dirty="0"/>
              <a:t>Главная ценность </a:t>
            </a:r>
            <a:r>
              <a:rPr lang="ru-RU" dirty="0" err="1"/>
              <a:t>Proxy</a:t>
            </a:r>
            <a:r>
              <a:rPr lang="ru-RU" dirty="0"/>
              <a:t>:</a:t>
            </a:r>
          </a:p>
          <a:p>
            <a:r>
              <a:rPr lang="ru-RU" i="1" dirty="0"/>
              <a:t>Он позволяет управлять тем, как клиент получает доступ к объекту, не изменяя сам объект и не усложняя код клиента.</a:t>
            </a:r>
            <a:endParaRPr lang="ru-RU" dirty="0"/>
          </a:p>
          <a:p>
            <a:endParaRPr lang="ru-RU" dirty="0"/>
          </a:p>
          <a:p>
            <a:r>
              <a:rPr lang="ru-RU" b="1" dirty="0"/>
              <a:t>Практическое применение</a:t>
            </a:r>
          </a:p>
          <a:p>
            <a:r>
              <a:rPr lang="en-US" dirty="0"/>
              <a:t>Proxy — </a:t>
            </a:r>
            <a:r>
              <a:rPr lang="ru-RU" dirty="0"/>
              <a:t>не теоретический паттерн. Его вариации встречаются повсюду: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lazy loading </a:t>
            </a:r>
            <a:r>
              <a:rPr lang="ru-RU" dirty="0"/>
              <a:t>в </a:t>
            </a:r>
            <a:r>
              <a:rPr lang="en-US" dirty="0"/>
              <a:t>UI </a:t>
            </a:r>
            <a:r>
              <a:rPr lang="ru-RU" dirty="0"/>
              <a:t>и </a:t>
            </a:r>
            <a:r>
              <a:rPr lang="en-US" dirty="0"/>
              <a:t>WPF,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удалённые вызовы (</a:t>
            </a:r>
            <a:r>
              <a:rPr lang="en-US" dirty="0" err="1"/>
              <a:t>gRPC</a:t>
            </a:r>
            <a:r>
              <a:rPr lang="en-US" dirty="0"/>
              <a:t>, RMI, COM/DCOM, CORBA),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умные указатели в </a:t>
            </a:r>
            <a:r>
              <a:rPr lang="en-US" dirty="0"/>
              <a:t>C++ 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weak_ptr</a:t>
            </a:r>
            <a:r>
              <a:rPr lang="en-US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кэширование, логирование, контроль доступа, </a:t>
            </a:r>
            <a:r>
              <a:rPr lang="en-US" dirty="0"/>
              <a:t>sandboxing,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оптимизации памяти (</a:t>
            </a:r>
            <a:r>
              <a:rPr lang="en-US" dirty="0"/>
              <a:t>Copy-on-Write </a:t>
            </a:r>
            <a:r>
              <a:rPr lang="ru-RU" dirty="0"/>
              <a:t>в редакторах, строках, контейнерах).</a:t>
            </a:r>
          </a:p>
          <a:p>
            <a:endParaRPr lang="ru-RU" dirty="0"/>
          </a:p>
          <a:p>
            <a:r>
              <a:rPr lang="ru-RU" dirty="0"/>
              <a:t>Понимание </a:t>
            </a:r>
            <a:r>
              <a:rPr lang="ru-RU" dirty="0" err="1"/>
              <a:t>Proxy</a:t>
            </a:r>
            <a:r>
              <a:rPr lang="ru-RU" dirty="0"/>
              <a:t> помогает проектировать системы, которые: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легче расширять,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проще сопровождать,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надёжнее работают,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экономнее расходуют ресурсы.</a:t>
            </a:r>
          </a:p>
          <a:p>
            <a:r>
              <a:rPr lang="ru-RU" dirty="0"/>
              <a:t>Это один из тех паттернов, который стоит знать в практическом программировании.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0963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4B582-8A87-4A8B-83A1-48A0033DDC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5BE4A8-B31D-4A80-9D60-9493AF2F1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77A5F3-BE1F-4337-AC0D-2356FC725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A99020-355C-4D46-AB81-212B17233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659104-3D1B-4E84-B876-0B160FBBB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6544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92C43-8E8A-428B-865B-BE08425A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BD0F5-2E32-4885-B46F-99F766154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9D2C56-41A7-48C1-BC92-755891AB9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C1758-5E80-4F40-8216-F18E2BEC6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42C86F-14D1-436A-BF27-2D4B8317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81527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A06B8-45E5-4D09-9186-903F790C6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6226B8-BF47-43C1-B827-3552B22A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5E5A6-17F2-4589-BD2F-F4B633806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06C93-649E-4C27-A1DF-144A6AEAB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EB6C1-BB9B-4380-B95F-D53EEB8F2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7367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E5926-58E8-4167-A9DE-7DB52D5CB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D8CC4-38EF-448C-99F2-F0114BDB9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91338-BA4A-4539-B5CE-228413C12A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C83FC0-1EF1-4709-8DEA-F95FC3EF6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88E4E-52ED-44C7-842E-04C361C00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6CC996-FD2C-4499-A365-55AA48E86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4223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42059-D61A-4FBD-823B-903D7E944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CA380-5F54-4EF7-BAD8-43C4839846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66E1B-1CED-4B38-B1A5-9A86892330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3ED9A5-AFC7-4A21-90C0-CF62D9DC56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7391EF-D066-4713-9F86-3FE7CB695C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157675-BF36-41C5-950D-21A64695E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FFD067-129F-463F-8833-994CF5216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99C574-1DDF-4A89-B6E6-8B133AF74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0163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0809-0137-4B73-BE2F-74CE0116A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E85E1A-4555-4D8C-A9D5-E9ED0454E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1F2D9F-3261-4CAE-8F10-B5357C8BB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D3609B-7BA2-41F6-95EE-0D7EF570F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721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EAFD44-1B42-4885-AFA3-77CA1D999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11BB31-D7E8-4513-8693-755F2B2C9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C66AD-DE55-453E-ADCB-D53ECAAEB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7507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D865F-2856-421D-8266-CAED28AC6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C6B1B-D808-4FA4-AC32-811AC8587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0162B4-ED4F-421F-BF75-B34BCBE9A8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C6CB0B-3E88-4AE1-8F35-D647B0D8D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28BEC8-C5EA-41E3-8145-3DEBDA59E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1EC281-90C9-4C04-BE07-BD287C47D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7166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D8BAA-B669-4EC2-A7AC-426D0699F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C3564C-3986-4A77-AD2A-6FBAE95C31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DA5473-F208-439A-9BBE-6FF2B60FAE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9E3C04-8D3C-4B64-972C-872F972E9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D8E4D-C2F5-4C2E-9ED8-1B8F5E2C9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CE3EBE-2D8E-4480-AA60-0B24831F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3904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AF99E-9334-41EE-8EDD-918A949B2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8C14D9-59CF-4918-9655-05C04EC556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6A80B-C87A-4C3A-9EC2-1B7728914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1FD77-C102-4B93-B439-49F13EA0A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C0BED2-AF3B-490F-AF36-6DE6C19D5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799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B99006-7F57-45E8-B4C7-3D776FFEA0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9014D1-CAEE-441D-A7DF-B22F67A424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79B859-6F82-4EFF-9FBF-48CBE33B8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104DB-D477-43AC-ACBC-6F7417D5E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0ECEC-FA0A-4669-BF9B-3F82D08EF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985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D7A18D-87FB-429C-91CF-FEEEFB6DC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D8D50D-13C0-41F6-8295-7AD5F92A5D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E2CE1D-B15C-4BE8-8A5A-5E6B425E2C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90F9C9-AB92-4E86-B698-DEC9BF4350FF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85929A-AD29-462D-9940-3B55100471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BB6E64-10FA-45B0-B5AD-1DF8CB0603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5934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gif"/><Relationship Id="rId4" Type="http://schemas.openxmlformats.org/officeDocument/2006/relationships/image" Target="../media/image3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ru-RU" dirty="0"/>
              <a:t>Паттерн</a:t>
            </a:r>
            <a:r>
              <a:rPr lang="en-US" dirty="0"/>
              <a:t> </a:t>
            </a:r>
            <a:r>
              <a:rPr lang="ru-RU" dirty="0"/>
              <a:t> «Заместитель»</a:t>
            </a:r>
            <a:r>
              <a:rPr lang="en-US" dirty="0"/>
              <a:t> (Proxy)</a:t>
            </a:r>
            <a:endParaRPr lang="ru-RU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772D782-E290-A0A8-631C-8A24D47099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3050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 «Заместитель» (</a:t>
            </a:r>
            <a:r>
              <a:rPr lang="en-US" dirty="0"/>
              <a:t>Proxy)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Заместитель — это объект-«представитель» другого объекта</a:t>
            </a:r>
          </a:p>
          <a:p>
            <a:r>
              <a:rPr lang="ru-RU" dirty="0"/>
              <a:t>Перехватывает обращения клиента и управляет доступом к реальному объекту</a:t>
            </a:r>
          </a:p>
          <a:p>
            <a:r>
              <a:rPr lang="ru-RU" dirty="0"/>
              <a:t>Добавляет уровень косвенности без изменения интерфейса</a:t>
            </a:r>
          </a:p>
          <a:p>
            <a:r>
              <a:rPr lang="ru-RU" dirty="0"/>
              <a:t>Позволяет реализовать:</a:t>
            </a:r>
          </a:p>
          <a:p>
            <a:pPr lvl="1"/>
            <a:r>
              <a:rPr lang="ru-RU" dirty="0"/>
              <a:t>ленивую (отложенную) загрузку,</a:t>
            </a:r>
          </a:p>
          <a:p>
            <a:pPr lvl="1"/>
            <a:r>
              <a:rPr lang="ru-RU" dirty="0"/>
              <a:t>удалённый доступ,</a:t>
            </a:r>
          </a:p>
          <a:p>
            <a:pPr lvl="1"/>
            <a:r>
              <a:rPr lang="ru-RU" dirty="0"/>
              <a:t>контроль прав доступа,</a:t>
            </a:r>
          </a:p>
          <a:p>
            <a:pPr lvl="1"/>
            <a:r>
              <a:rPr lang="ru-RU" dirty="0"/>
              <a:t>дополнительные действия при работе с объектом</a:t>
            </a:r>
          </a:p>
        </p:txBody>
      </p:sp>
    </p:spTree>
    <p:extLst>
      <p:ext uri="{BB962C8B-B14F-4D97-AF65-F5344CB8AC3E}">
        <p14:creationId xmlns:p14="http://schemas.microsoft.com/office/powerpoint/2010/main" val="40164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паттерна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0131" y="2385180"/>
            <a:ext cx="5579611" cy="2949665"/>
          </a:xfrm>
          <a:prstGeom prst="rect">
            <a:avLst/>
          </a:prstGeom>
        </p:spPr>
      </p:pic>
      <p:grpSp>
        <p:nvGrpSpPr>
          <p:cNvPr id="17" name="Группа 16"/>
          <p:cNvGrpSpPr/>
          <p:nvPr/>
        </p:nvGrpSpPr>
        <p:grpSpPr>
          <a:xfrm>
            <a:off x="6862120" y="1628801"/>
            <a:ext cx="4706487" cy="1169551"/>
            <a:chOff x="5338119" y="1628800"/>
            <a:chExt cx="4706487" cy="1169551"/>
          </a:xfrm>
        </p:grpSpPr>
        <p:sp>
          <p:nvSpPr>
            <p:cNvPr id="6" name="TextBox 5"/>
            <p:cNvSpPr txBox="1"/>
            <p:nvPr/>
          </p:nvSpPr>
          <p:spPr>
            <a:xfrm>
              <a:off x="6012159" y="1628800"/>
              <a:ext cx="4032447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400" dirty="0"/>
                <a:t>И</a:t>
              </a:r>
              <a:r>
                <a:rPr lang="en-US" sz="1400" dirty="0"/>
                <a:t> Proxy </a:t>
              </a:r>
              <a:r>
                <a:rPr lang="ru-RU" sz="1400" dirty="0"/>
                <a:t>и </a:t>
              </a:r>
              <a:r>
                <a:rPr lang="en-US" sz="1400" dirty="0" err="1"/>
                <a:t>RealSubject</a:t>
              </a:r>
              <a:r>
                <a:rPr lang="en-US" sz="1400" dirty="0"/>
                <a:t> </a:t>
              </a:r>
              <a:r>
                <a:rPr lang="ru-RU" sz="1400" dirty="0"/>
                <a:t>реализуют интерфейс </a:t>
              </a:r>
              <a:r>
                <a:rPr lang="en-US" sz="1400" dirty="0"/>
                <a:t>Subject.</a:t>
              </a:r>
              <a:endParaRPr lang="ru-RU" sz="1400" dirty="0"/>
            </a:p>
            <a:p>
              <a:r>
                <a:rPr lang="ru-RU" sz="1400" dirty="0"/>
                <a:t>Это позволяет клиентам работать с заместителем </a:t>
              </a:r>
              <a:r>
                <a:rPr lang="en-US" sz="1400" dirty="0"/>
                <a:t>Proxy</a:t>
              </a:r>
              <a:r>
                <a:rPr lang="ru-RU" sz="1400" dirty="0"/>
                <a:t> точно так же, как с реальным объектом </a:t>
              </a:r>
              <a:r>
                <a:rPr lang="en-US" sz="1400" dirty="0" err="1"/>
                <a:t>RealSubject</a:t>
              </a:r>
              <a:endParaRPr lang="ru-RU" sz="1400" dirty="0"/>
            </a:p>
          </p:txBody>
        </p:sp>
        <p:sp>
          <p:nvSpPr>
            <p:cNvPr id="10" name="Полилиния 9"/>
            <p:cNvSpPr/>
            <p:nvPr/>
          </p:nvSpPr>
          <p:spPr>
            <a:xfrm>
              <a:off x="5338119" y="1804086"/>
              <a:ext cx="593124" cy="296563"/>
            </a:xfrm>
            <a:custGeom>
              <a:avLst/>
              <a:gdLst>
                <a:gd name="connsiteX0" fmla="*/ 593124 w 593124"/>
                <a:gd name="connsiteY0" fmla="*/ 0 h 296563"/>
                <a:gd name="connsiteX1" fmla="*/ 247135 w 593124"/>
                <a:gd name="connsiteY1" fmla="*/ 135925 h 296563"/>
                <a:gd name="connsiteX2" fmla="*/ 0 w 593124"/>
                <a:gd name="connsiteY2" fmla="*/ 296563 h 296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93124" h="296563">
                  <a:moveTo>
                    <a:pt x="593124" y="0"/>
                  </a:moveTo>
                  <a:cubicBezTo>
                    <a:pt x="469556" y="43249"/>
                    <a:pt x="345989" y="86498"/>
                    <a:pt x="247135" y="135925"/>
                  </a:cubicBezTo>
                  <a:cubicBezTo>
                    <a:pt x="148281" y="185352"/>
                    <a:pt x="74140" y="240957"/>
                    <a:pt x="0" y="296563"/>
                  </a:cubicBez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536160" y="4856206"/>
            <a:ext cx="3024336" cy="1430205"/>
            <a:chOff x="6012160" y="4856205"/>
            <a:chExt cx="3024336" cy="143020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5547746"/>
              <a:ext cx="302433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Proxy </a:t>
              </a:r>
              <a:r>
                <a:rPr lang="ru-RU" sz="1400" dirty="0"/>
                <a:t>хранит ссылку на </a:t>
              </a:r>
              <a:r>
                <a:rPr lang="en-US" sz="1400" dirty="0"/>
                <a:t>Subject</a:t>
              </a:r>
              <a:r>
                <a:rPr lang="ru-RU" sz="1400" dirty="0"/>
                <a:t>, чтобы передавать запросы </a:t>
              </a:r>
              <a:r>
                <a:rPr lang="en-US" sz="1400" dirty="0"/>
                <a:t>Subject</a:t>
              </a:r>
              <a:r>
                <a:rPr lang="ru-RU" sz="1400" dirty="0"/>
                <a:t> по мере надобности</a:t>
              </a:r>
            </a:p>
          </p:txBody>
        </p:sp>
        <p:sp>
          <p:nvSpPr>
            <p:cNvPr id="11" name="Полилиния 10"/>
            <p:cNvSpPr/>
            <p:nvPr/>
          </p:nvSpPr>
          <p:spPr>
            <a:xfrm>
              <a:off x="7179276" y="4856205"/>
              <a:ext cx="704335" cy="667265"/>
            </a:xfrm>
            <a:custGeom>
              <a:avLst/>
              <a:gdLst>
                <a:gd name="connsiteX0" fmla="*/ 704335 w 704335"/>
                <a:gd name="connsiteY0" fmla="*/ 667265 h 667265"/>
                <a:gd name="connsiteX1" fmla="*/ 469556 w 704335"/>
                <a:gd name="connsiteY1" fmla="*/ 222422 h 667265"/>
                <a:gd name="connsiteX2" fmla="*/ 0 w 704335"/>
                <a:gd name="connsiteY2" fmla="*/ 0 h 667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04335" h="667265">
                  <a:moveTo>
                    <a:pt x="704335" y="667265"/>
                  </a:moveTo>
                  <a:cubicBezTo>
                    <a:pt x="645640" y="500449"/>
                    <a:pt x="586945" y="333633"/>
                    <a:pt x="469556" y="222422"/>
                  </a:cubicBezTo>
                  <a:cubicBezTo>
                    <a:pt x="352167" y="111211"/>
                    <a:pt x="176083" y="55605"/>
                    <a:pt x="0" y="0"/>
                  </a:cubicBez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" name="Группа 18"/>
          <p:cNvGrpSpPr/>
          <p:nvPr/>
        </p:nvGrpSpPr>
        <p:grpSpPr>
          <a:xfrm>
            <a:off x="4871864" y="5362048"/>
            <a:ext cx="2448272" cy="961488"/>
            <a:chOff x="3347864" y="5362048"/>
            <a:chExt cx="2448272" cy="961488"/>
          </a:xfrm>
        </p:grpSpPr>
        <p:sp>
          <p:nvSpPr>
            <p:cNvPr id="8" name="TextBox 7"/>
            <p:cNvSpPr txBox="1"/>
            <p:nvPr/>
          </p:nvSpPr>
          <p:spPr>
            <a:xfrm>
              <a:off x="3347864" y="5584872"/>
              <a:ext cx="244827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400" dirty="0"/>
                <a:t>Заместитель часто создает экземпляры или управляет созданием </a:t>
              </a:r>
              <a:r>
                <a:rPr lang="en-US" sz="1400" dirty="0" err="1"/>
                <a:t>RealSubject</a:t>
              </a:r>
              <a:endParaRPr lang="ru-RU" sz="1400" dirty="0"/>
            </a:p>
          </p:txBody>
        </p:sp>
        <p:sp>
          <p:nvSpPr>
            <p:cNvPr id="12" name="Полилиния 11"/>
            <p:cNvSpPr/>
            <p:nvPr/>
          </p:nvSpPr>
          <p:spPr>
            <a:xfrm>
              <a:off x="3995936" y="5362048"/>
              <a:ext cx="1482811" cy="185698"/>
            </a:xfrm>
            <a:custGeom>
              <a:avLst/>
              <a:gdLst>
                <a:gd name="connsiteX0" fmla="*/ 1482811 w 1482811"/>
                <a:gd name="connsiteY0" fmla="*/ 0 h 185698"/>
                <a:gd name="connsiteX1" fmla="*/ 951470 w 1482811"/>
                <a:gd name="connsiteY1" fmla="*/ 185351 h 185698"/>
                <a:gd name="connsiteX2" fmla="*/ 0 w 1482811"/>
                <a:gd name="connsiteY2" fmla="*/ 37070 h 185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82811" h="185698">
                  <a:moveTo>
                    <a:pt x="1482811" y="0"/>
                  </a:moveTo>
                  <a:cubicBezTo>
                    <a:pt x="1340708" y="89586"/>
                    <a:pt x="1198605" y="179173"/>
                    <a:pt x="951470" y="185351"/>
                  </a:cubicBezTo>
                  <a:cubicBezTo>
                    <a:pt x="704335" y="191529"/>
                    <a:pt x="352167" y="114299"/>
                    <a:pt x="0" y="37070"/>
                  </a:cubicBez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20" name="Группа 19"/>
          <p:cNvGrpSpPr/>
          <p:nvPr/>
        </p:nvGrpSpPr>
        <p:grpSpPr>
          <a:xfrm>
            <a:off x="1775520" y="4893277"/>
            <a:ext cx="2448272" cy="1608577"/>
            <a:chOff x="251520" y="4893276"/>
            <a:chExt cx="2448272" cy="1608577"/>
          </a:xfrm>
        </p:grpSpPr>
        <p:sp>
          <p:nvSpPr>
            <p:cNvPr id="9" name="TextBox 8"/>
            <p:cNvSpPr txBox="1"/>
            <p:nvPr/>
          </p:nvSpPr>
          <p:spPr>
            <a:xfrm>
              <a:off x="251520" y="5547746"/>
              <a:ext cx="244827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err="1"/>
                <a:t>RealSubject</a:t>
              </a:r>
              <a:r>
                <a:rPr lang="en-US" sz="1400" dirty="0"/>
                <a:t> – </a:t>
              </a:r>
              <a:r>
                <a:rPr lang="ru-RU" sz="1400" dirty="0"/>
                <a:t>объект, выполняющий фактическую работу</a:t>
              </a:r>
              <a:r>
                <a:rPr lang="en-US" sz="1400" dirty="0"/>
                <a:t>; </a:t>
              </a:r>
              <a:r>
                <a:rPr lang="ru-RU" sz="1400" dirty="0"/>
                <a:t>заместитель управляет доступом к нему</a:t>
              </a:r>
            </a:p>
          </p:txBody>
        </p:sp>
        <p:sp>
          <p:nvSpPr>
            <p:cNvPr id="13" name="Полилиния 12"/>
            <p:cNvSpPr/>
            <p:nvPr/>
          </p:nvSpPr>
          <p:spPr>
            <a:xfrm>
              <a:off x="1581665" y="4893276"/>
              <a:ext cx="902043" cy="593124"/>
            </a:xfrm>
            <a:custGeom>
              <a:avLst/>
              <a:gdLst>
                <a:gd name="connsiteX0" fmla="*/ 0 w 902043"/>
                <a:gd name="connsiteY0" fmla="*/ 593124 h 593124"/>
                <a:gd name="connsiteX1" fmla="*/ 247135 w 902043"/>
                <a:gd name="connsiteY1" fmla="*/ 197708 h 593124"/>
                <a:gd name="connsiteX2" fmla="*/ 902043 w 902043"/>
                <a:gd name="connsiteY2" fmla="*/ 0 h 593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02043" h="593124">
                  <a:moveTo>
                    <a:pt x="0" y="593124"/>
                  </a:moveTo>
                  <a:cubicBezTo>
                    <a:pt x="48397" y="444843"/>
                    <a:pt x="96795" y="296562"/>
                    <a:pt x="247135" y="197708"/>
                  </a:cubicBezTo>
                  <a:cubicBezTo>
                    <a:pt x="397475" y="98854"/>
                    <a:pt x="649759" y="49427"/>
                    <a:pt x="902043" y="0"/>
                  </a:cubicBez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1775520" y="1583036"/>
            <a:ext cx="2952328" cy="1123095"/>
            <a:chOff x="251520" y="1583035"/>
            <a:chExt cx="2952328" cy="1123095"/>
          </a:xfrm>
        </p:grpSpPr>
        <p:sp>
          <p:nvSpPr>
            <p:cNvPr id="14" name="TextBox 13"/>
            <p:cNvSpPr txBox="1"/>
            <p:nvPr/>
          </p:nvSpPr>
          <p:spPr>
            <a:xfrm>
              <a:off x="251520" y="1583035"/>
              <a:ext cx="29523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400" dirty="0"/>
                <a:t>Клиент взаимодействует с объектом через интерфейс </a:t>
              </a:r>
              <a:r>
                <a:rPr lang="en-US" sz="1400" dirty="0"/>
                <a:t>Subject</a:t>
              </a:r>
              <a:endParaRPr lang="ru-RU" sz="1400" dirty="0"/>
            </a:p>
          </p:txBody>
        </p:sp>
        <p:sp>
          <p:nvSpPr>
            <p:cNvPr id="15" name="Полилиния 14"/>
            <p:cNvSpPr/>
            <p:nvPr/>
          </p:nvSpPr>
          <p:spPr>
            <a:xfrm>
              <a:off x="399064" y="2162432"/>
              <a:ext cx="428839" cy="543698"/>
            </a:xfrm>
            <a:custGeom>
              <a:avLst/>
              <a:gdLst>
                <a:gd name="connsiteX0" fmla="*/ 95206 w 428839"/>
                <a:gd name="connsiteY0" fmla="*/ 0 h 543698"/>
                <a:gd name="connsiteX1" fmla="*/ 21066 w 428839"/>
                <a:gd name="connsiteY1" fmla="*/ 345990 h 543698"/>
                <a:gd name="connsiteX2" fmla="*/ 428839 w 428839"/>
                <a:gd name="connsiteY2" fmla="*/ 543698 h 543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8839" h="543698">
                  <a:moveTo>
                    <a:pt x="95206" y="0"/>
                  </a:moveTo>
                  <a:cubicBezTo>
                    <a:pt x="30333" y="127687"/>
                    <a:pt x="-34539" y="255374"/>
                    <a:pt x="21066" y="345990"/>
                  </a:cubicBezTo>
                  <a:cubicBezTo>
                    <a:pt x="76671" y="436606"/>
                    <a:pt x="252755" y="490152"/>
                    <a:pt x="428839" y="543698"/>
                  </a:cubicBez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2958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A56FE60-4A58-6F36-FCCF-1D81A7A2B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</a:t>
            </a:r>
            <a:r>
              <a:rPr lang="en-US" dirty="0"/>
              <a:t>Proxy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9A92FF-DE1B-EDF5-F09B-7E1ADE07A5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180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Разновидности паттерна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Удаленный заместитель (</a:t>
            </a:r>
            <a:r>
              <a:rPr lang="en-US" dirty="0"/>
              <a:t>Remote Proxy)</a:t>
            </a:r>
            <a:endParaRPr lang="ru-RU" dirty="0"/>
          </a:p>
          <a:p>
            <a:pPr lvl="1"/>
            <a:r>
              <a:rPr lang="ru-RU" dirty="0"/>
              <a:t>Работает как локальный представитель объекта, находящегося в другом процессе или на другом компьютере.</a:t>
            </a:r>
            <a:endParaRPr lang="en-US" dirty="0"/>
          </a:p>
          <a:p>
            <a:r>
              <a:rPr lang="ru-RU" dirty="0"/>
              <a:t>Виртуальный заместитель</a:t>
            </a:r>
            <a:r>
              <a:rPr lang="en-US" dirty="0"/>
              <a:t> (Virtual Proxy)</a:t>
            </a:r>
            <a:endParaRPr lang="ru-RU" dirty="0"/>
          </a:p>
          <a:p>
            <a:pPr lvl="1"/>
            <a:r>
              <a:rPr lang="ru-RU" dirty="0"/>
              <a:t>Откладывает создание или загрузку «тяжёлого» объекта до момента первого реального использования.</a:t>
            </a:r>
          </a:p>
          <a:p>
            <a:r>
              <a:rPr lang="ru-RU" dirty="0"/>
              <a:t>Защищающий заместитель</a:t>
            </a:r>
            <a:r>
              <a:rPr lang="en-US" dirty="0"/>
              <a:t> (Protection Proxy)</a:t>
            </a:r>
            <a:endParaRPr lang="ru-RU" dirty="0"/>
          </a:p>
          <a:p>
            <a:pPr lvl="1"/>
            <a:r>
              <a:rPr lang="ru-RU" dirty="0"/>
              <a:t>Контролирует доступ к объекту: проверяет права, ограничивает операции, фильтрует вызовы</a:t>
            </a:r>
          </a:p>
          <a:p>
            <a:r>
              <a:rPr lang="ru-RU" dirty="0"/>
              <a:t>Умный указатель</a:t>
            </a:r>
            <a:r>
              <a:rPr lang="en-US" dirty="0"/>
              <a:t> (Smart Proxy)</a:t>
            </a:r>
            <a:endParaRPr lang="ru-RU" dirty="0"/>
          </a:p>
          <a:p>
            <a:pPr lvl="1"/>
            <a:r>
              <a:rPr lang="ru-RU" dirty="0"/>
              <a:t>Добавляет логическое поведение при доступе к объекту: подсчёт ссылок</a:t>
            </a:r>
            <a:r>
              <a:rPr lang="en-US" dirty="0"/>
              <a:t>, Copy-on-Write, </a:t>
            </a:r>
            <a:r>
              <a:rPr lang="ru-RU" dirty="0"/>
              <a:t>блокировка или синхронизация при обращении, ленивое выделение ресурсов</a:t>
            </a:r>
          </a:p>
        </p:txBody>
      </p:sp>
    </p:spTree>
    <p:extLst>
      <p:ext uri="{BB962C8B-B14F-4D97-AF65-F5344CB8AC3E}">
        <p14:creationId xmlns:p14="http://schemas.microsoft.com/office/powerpoint/2010/main" val="3793454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1CDF27-54FD-42B0-B96A-732DBEF82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Виртуальный заместитель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8721FF-B344-429B-9BA6-FAD7498A62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(Virtual Proxy)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0604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Виртуальный заместитель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Используется для объектов, создание которых </a:t>
            </a:r>
            <a:r>
              <a:rPr lang="ru-RU" b="1" dirty="0"/>
              <a:t>дорого</a:t>
            </a:r>
            <a:br>
              <a:rPr lang="ru-RU" dirty="0"/>
            </a:br>
            <a:r>
              <a:rPr lang="ru-RU" dirty="0"/>
              <a:t>(большие изображения, сложные модели, медленные загрузки)</a:t>
            </a:r>
          </a:p>
          <a:p>
            <a:r>
              <a:rPr lang="ru-RU" dirty="0"/>
              <a:t>Реальный объект создаётся </a:t>
            </a:r>
            <a:r>
              <a:rPr lang="ru-RU" b="1" dirty="0"/>
              <a:t>только при первом обращении</a:t>
            </a:r>
            <a:endParaRPr lang="ru-RU" dirty="0"/>
          </a:p>
          <a:p>
            <a:pPr lvl="1"/>
            <a:r>
              <a:rPr lang="ru-RU" dirty="0"/>
              <a:t>экономия времени запуска и ресурсов</a:t>
            </a:r>
          </a:p>
          <a:p>
            <a:r>
              <a:rPr lang="ru-RU" dirty="0" err="1"/>
              <a:t>Proxy</a:t>
            </a:r>
            <a:r>
              <a:rPr lang="ru-RU" dirty="0"/>
              <a:t> выступает </a:t>
            </a:r>
            <a:r>
              <a:rPr lang="ru-RU" b="1" dirty="0"/>
              <a:t>временным представителем</a:t>
            </a:r>
            <a:r>
              <a:rPr lang="ru-RU" dirty="0"/>
              <a:t>, пока настоящий объект:</a:t>
            </a:r>
          </a:p>
          <a:p>
            <a:pPr lvl="1"/>
            <a:r>
              <a:rPr lang="ru-RU" dirty="0"/>
              <a:t>ещё не создан,</a:t>
            </a:r>
          </a:p>
          <a:p>
            <a:pPr lvl="1"/>
            <a:r>
              <a:rPr lang="ru-RU" dirty="0"/>
              <a:t>создаётся асинхронно,</a:t>
            </a:r>
          </a:p>
          <a:p>
            <a:pPr lvl="1"/>
            <a:r>
              <a:rPr lang="ru-RU" dirty="0"/>
              <a:t>либо пока данные загружаются</a:t>
            </a:r>
          </a:p>
          <a:p>
            <a:r>
              <a:rPr lang="ru-RU" dirty="0"/>
              <a:t>Может предоставлять </a:t>
            </a:r>
            <a:r>
              <a:rPr lang="ru-RU" i="1" dirty="0"/>
              <a:t>заглушку</a:t>
            </a:r>
            <a:r>
              <a:rPr lang="ru-RU" dirty="0"/>
              <a:t>, </a:t>
            </a:r>
            <a:r>
              <a:rPr lang="ru-RU" i="1" dirty="0"/>
              <a:t>индикатор загрузки</a:t>
            </a:r>
            <a:r>
              <a:rPr lang="ru-RU" dirty="0"/>
              <a:t> или </a:t>
            </a:r>
            <a:r>
              <a:rPr lang="ru-RU" i="1" dirty="0"/>
              <a:t>частичную информацию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61672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5760" y="476672"/>
            <a:ext cx="4176464" cy="5906396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921" y="3212976"/>
            <a:ext cx="1183798" cy="1625120"/>
          </a:xfrm>
          <a:prstGeom prst="rect">
            <a:avLst/>
          </a:prstGeom>
        </p:spPr>
      </p:pic>
      <p:pic>
        <p:nvPicPr>
          <p:cNvPr id="1026" name="Picture 2" descr="http://preloaders.net/preloaders/712/Floating%20rays.gif"/>
          <p:cNvPicPr>
            <a:picLocks noChangeAspect="1" noChangeArrowheads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9565" y="3137757"/>
            <a:ext cx="808854" cy="808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4631" y="3426614"/>
            <a:ext cx="438723" cy="273903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7"/>
          <a:srcRect t="5190" b="3963"/>
          <a:stretch/>
        </p:blipFill>
        <p:spPr>
          <a:xfrm>
            <a:off x="4655840" y="2735472"/>
            <a:ext cx="2736302" cy="1656184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4367808" y="878848"/>
            <a:ext cx="3312368" cy="1813864"/>
          </a:xfrm>
          <a:prstGeom prst="rect">
            <a:avLst/>
          </a:prstGeom>
          <a:solidFill>
            <a:srgbClr val="DFEE4C">
              <a:alpha val="56078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Callout: Line 1">
            <a:extLst>
              <a:ext uri="{FF2B5EF4-FFF2-40B4-BE49-F238E27FC236}">
                <a16:creationId xmlns:a16="http://schemas.microsoft.com/office/drawing/2014/main" id="{9AC57835-122B-4643-9670-E069FC5ECA28}"/>
              </a:ext>
            </a:extLst>
          </p:cNvPr>
          <p:cNvSpPr/>
          <p:nvPr/>
        </p:nvSpPr>
        <p:spPr>
          <a:xfrm>
            <a:off x="8826921" y="620688"/>
            <a:ext cx="2669679" cy="1625120"/>
          </a:xfrm>
          <a:prstGeom prst="borderCallout1">
            <a:avLst>
              <a:gd name="adj1" fmla="val 32817"/>
              <a:gd name="adj2" fmla="val -3100"/>
              <a:gd name="adj3" fmla="val 68737"/>
              <a:gd name="adj4" fmla="val -45945"/>
            </a:avLst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Видимая область</a:t>
            </a:r>
          </a:p>
        </p:txBody>
      </p:sp>
    </p:spTree>
    <p:extLst>
      <p:ext uri="{BB962C8B-B14F-4D97-AF65-F5344CB8AC3E}">
        <p14:creationId xmlns:p14="http://schemas.microsoft.com/office/powerpoint/2010/main" val="2319848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3.33333E-6 L -3.88889E-6 0.25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-4.81481E-6 L 0.08855 -0.06643 C 0.1073 -0.08125 0.13507 -0.08888 0.16407 -0.08888 C 0.19705 -0.08888 0.22344 -0.08125 0.24219 -0.06643 L 0.33091 -4.81481E-6 " pathEditMode="relative" rAng="0" ptsTypes="AAAAA">
                                      <p:cBhvr>
                                        <p:cTn id="23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545" y="-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37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3091 -4.81481E-6 L 0.24219 0.03727 C 0.22292 0.04584 0.19532 0.0507 0.16615 0.0507 C 0.13351 0.0507 0.1073 0.04584 0.08802 0.03727 L 0.00018 -4.81481E-6 " pathEditMode="relative" rAng="0" ptsTypes="AAAAA">
                                      <p:cBhvr>
                                        <p:cTn id="2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545" y="2523"/>
                                    </p:animMotion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51584" y="1690688"/>
            <a:ext cx="7488832" cy="5074266"/>
          </a:xfrm>
          <a:prstGeom prst="rect">
            <a:avLst/>
          </a:prstGeom>
        </p:spPr>
      </p:pic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Виртуальный заместитель </a:t>
            </a:r>
            <a:r>
              <a:rPr lang="en-US" dirty="0" err="1"/>
              <a:t>ImageProxy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7622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551384" y="1595021"/>
            <a:ext cx="44196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Size()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Size(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: width(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), height(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width = 0;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height = 0;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};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IImage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virtual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GetSize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0;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virtual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Draw()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0;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virtual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~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IImage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};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6096000" y="1595021"/>
            <a:ext cx="5656708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Image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: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IImage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Image(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vector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uint8_t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data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Декодируем изображение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Draw()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override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"Drawing an image\n"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GetSize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override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private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m_size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Прочие данные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/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};</a:t>
            </a:r>
            <a:endParaRPr lang="ru-RU" sz="1600" dirty="0">
              <a:solidFill>
                <a:prstClr val="black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Реальное 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21041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Асинхронная загрузка изображения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335360" y="1694407"/>
            <a:ext cx="1152128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Выполняет загрузку URL-а. Уведомляет об окончании загрузки, вызывая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callback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LoadImageFromURL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url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function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unique_ptr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IImage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&gt;)&gt;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callback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"Loading image from URL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url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url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ios_base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::binary);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strm.seekg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(0,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ios_base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::end);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size 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strm.tellg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strm.seekg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(0,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ios_base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::beg);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vector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uint8_t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buf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size_t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&gt;(size));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(size &gt; 0 &amp;&amp;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strm.read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reinterpret_cast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*&gt;(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buf.data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()), size))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callback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make_unique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Image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buf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}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callback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nullptr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5526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991544" y="44625"/>
            <a:ext cx="8208912" cy="68634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ImageProxy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: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IImage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20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20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struct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Impl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r>
              <a:rPr lang="ru-RU" sz="20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… 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};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ImageProxy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&amp;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&amp; </a:t>
            </a:r>
            <a:r>
              <a:rPr lang="en-US" sz="20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url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: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m_impl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make_shared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Impl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&gt;(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url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))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20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GetSize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override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m_impl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GetSize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Draw()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override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m_impl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Draw();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shared_ptr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Impl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m_impl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20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};</a:t>
            </a:r>
            <a:endParaRPr lang="ru-RU" sz="20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514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343472" y="335845"/>
            <a:ext cx="9144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enable_shared_from_this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url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: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,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m_url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url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GetSize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m_image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предполагаем, что размеры одинаковые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m_image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-&gt;</a:t>
            </a:r>
            <a:r>
              <a:rPr lang="ru-RU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GetSize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en-US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Draw()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...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m_url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mutable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m_loadingError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mutable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m_isLoading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mutable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unique_ptr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IImage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m_image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5245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551384" y="225415"/>
            <a:ext cx="11377264" cy="6894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Draw() 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ru-RU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{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(!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m_image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&amp;&amp; !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m_isLoading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&amp;&amp; !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m_loadingError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{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m_isLoading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true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weakSelf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weak_from_this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захватываем слабую ссылку на текущий объект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LoadImageFromURL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m_url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[=](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&amp;&amp; </a:t>
            </a:r>
            <a:r>
              <a:rPr lang="en-US" sz="17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image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{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callback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будет вызван асинхронно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strongSelf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weakSelf.lock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())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Этот объект ещё жив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?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 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m_isLoading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false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 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m_image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move(</a:t>
            </a:r>
            <a:r>
              <a:rPr lang="en-US" sz="17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image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 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m_loadingError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!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m_image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  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m_loadingError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   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"Image loading has failed\n"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  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else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   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"Image has been loaded successfully\n"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});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}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r>
              <a:rPr lang="ru-RU" sz="17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ru-RU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m_image</a:t>
            </a:r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m_image</a:t>
            </a:r>
            <a:r>
              <a:rPr lang="en-US" sz="17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Draw();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else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m_isLoading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"Drawing a loading indicator\n"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else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m_loadingError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r>
              <a:rPr lang="en-US" sz="17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"Drawing 'broken image' icon\n"</a:t>
            </a: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7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ru-RU" sz="17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}</a:t>
            </a:r>
            <a:endParaRPr lang="ru-RU" sz="1700" dirty="0"/>
          </a:p>
        </p:txBody>
      </p:sp>
    </p:spTree>
    <p:extLst>
      <p:ext uri="{BB962C8B-B14F-4D97-AF65-F5344CB8AC3E}">
        <p14:creationId xmlns:p14="http://schemas.microsoft.com/office/powerpoint/2010/main" val="390190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524000" y="1484784"/>
            <a:ext cx="8964488" cy="3635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WorkWithImage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IImage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image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size 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image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.GetSize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"Image size:"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size.width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"x"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size.height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image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.Draw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main()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ImageProxy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({30, 30},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"img1.png"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WorkWithImage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img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5699956" y="5660448"/>
            <a:ext cx="4572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 err="1">
                <a:latin typeface="Consolas" panose="020B0609020204030204" pitchFamily="49" charset="0"/>
                <a:cs typeface="Consolas" panose="020B0609020204030204" pitchFamily="49" charset="0"/>
              </a:rPr>
              <a:t>Image</a:t>
            </a:r>
            <a:r>
              <a:rPr lang="ru-RU" dirty="0">
                <a:latin typeface="Consolas" panose="020B0609020204030204" pitchFamily="49" charset="0"/>
                <a:cs typeface="Consolas" panose="020B0609020204030204" pitchFamily="49" charset="0"/>
              </a:rPr>
              <a:t> size:30x30</a:t>
            </a:r>
          </a:p>
          <a:p>
            <a:r>
              <a:rPr lang="ru-RU" dirty="0" err="1">
                <a:latin typeface="Consolas" panose="020B0609020204030204" pitchFamily="49" charset="0"/>
                <a:cs typeface="Consolas" panose="020B0609020204030204" pitchFamily="49" charset="0"/>
              </a:rPr>
              <a:t>Loading</a:t>
            </a:r>
            <a:r>
              <a:rPr lang="ru-RU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  <a:cs typeface="Consolas" panose="020B0609020204030204" pitchFamily="49" charset="0"/>
              </a:rPr>
              <a:t>image</a:t>
            </a:r>
            <a:r>
              <a:rPr lang="ru-RU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  <a:cs typeface="Consolas" panose="020B0609020204030204" pitchFamily="49" charset="0"/>
              </a:rPr>
              <a:t>from</a:t>
            </a:r>
            <a:r>
              <a:rPr lang="ru-RU" dirty="0">
                <a:latin typeface="Consolas" panose="020B0609020204030204" pitchFamily="49" charset="0"/>
                <a:cs typeface="Consolas" panose="020B0609020204030204" pitchFamily="49" charset="0"/>
              </a:rPr>
              <a:t> URL img1.png</a:t>
            </a:r>
          </a:p>
          <a:p>
            <a:r>
              <a:rPr lang="ru-RU" dirty="0" err="1">
                <a:latin typeface="Consolas" panose="020B0609020204030204" pitchFamily="49" charset="0"/>
                <a:cs typeface="Consolas" panose="020B0609020204030204" pitchFamily="49" charset="0"/>
              </a:rPr>
              <a:t>Image</a:t>
            </a:r>
            <a:r>
              <a:rPr lang="ru-RU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  <a:cs typeface="Consolas" panose="020B0609020204030204" pitchFamily="49" charset="0"/>
              </a:rPr>
              <a:t>has</a:t>
            </a:r>
            <a:r>
              <a:rPr lang="ru-RU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  <a:cs typeface="Consolas" panose="020B0609020204030204" pitchFamily="49" charset="0"/>
              </a:rPr>
              <a:t>been</a:t>
            </a:r>
            <a:r>
              <a:rPr lang="ru-RU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  <a:cs typeface="Consolas" panose="020B0609020204030204" pitchFamily="49" charset="0"/>
              </a:rPr>
              <a:t>loaded</a:t>
            </a:r>
            <a:r>
              <a:rPr lang="ru-RU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  <a:cs typeface="Consolas" panose="020B0609020204030204" pitchFamily="49" charset="0"/>
              </a:rPr>
              <a:t>successfully</a:t>
            </a:r>
            <a:endParaRPr lang="ru-RU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ru-RU" dirty="0" err="1">
                <a:latin typeface="Consolas" panose="020B0609020204030204" pitchFamily="49" charset="0"/>
                <a:cs typeface="Consolas" panose="020B0609020204030204" pitchFamily="49" charset="0"/>
              </a:rPr>
              <a:t>Drawing</a:t>
            </a:r>
            <a:r>
              <a:rPr lang="ru-RU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  <a:cs typeface="Consolas" panose="020B0609020204030204" pitchFamily="49" charset="0"/>
              </a:rPr>
              <a:t>an</a:t>
            </a:r>
            <a:r>
              <a:rPr lang="ru-RU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  <a:cs typeface="Consolas" panose="020B0609020204030204" pitchFamily="49" charset="0"/>
              </a:rPr>
              <a:t>image</a:t>
            </a:r>
            <a:endParaRPr lang="ru-RU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Виртуальный заместитель в действии</a:t>
            </a:r>
          </a:p>
        </p:txBody>
      </p:sp>
    </p:spTree>
    <p:extLst>
      <p:ext uri="{BB962C8B-B14F-4D97-AF65-F5344CB8AC3E}">
        <p14:creationId xmlns:p14="http://schemas.microsoft.com/office/powerpoint/2010/main" val="3710072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Удаленный заместитель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(</a:t>
            </a:r>
            <a:r>
              <a:rPr lang="en-US" dirty="0"/>
              <a:t>Remote proxy)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582394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271464" y="1690688"/>
            <a:ext cx="9145016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ru-RU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North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South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East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IDuck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Fly(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distance) = 0;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Quack(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text) = 0;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GetTotalDistance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~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IDuck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PlayWithDuck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IDuck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duck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duck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.Quack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duck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.Fly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North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10);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duck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.Fly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East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5);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"Total fly distance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duck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.GetTotalFlyDistance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"km\n"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Утки</a:t>
            </a:r>
          </a:p>
        </p:txBody>
      </p:sp>
    </p:spTree>
    <p:extLst>
      <p:ext uri="{BB962C8B-B14F-4D97-AF65-F5344CB8AC3E}">
        <p14:creationId xmlns:p14="http://schemas.microsoft.com/office/powerpoint/2010/main" val="2031144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39416" y="58846"/>
            <a:ext cx="10945216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East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?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"east"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(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North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?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"north"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(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2F4F4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South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?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"south"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"west"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endParaRPr lang="en-US" sz="1600" dirty="0">
              <a:solidFill>
                <a:srgbClr val="0000FF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Duck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IDuck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Quack(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text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"Quack 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Quack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text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</a:p>
          <a:p>
            <a:pPr lvl="0"/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Fly(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distance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"I am flying {} {} km.</a:t>
            </a:r>
            <a:r>
              <a:rPr lang="ru-RU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),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distance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m_totalDistance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distance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</a:p>
          <a:p>
            <a:pPr lvl="0"/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GetTotalDistance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m_totalDistance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m_totalDistance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45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Удаленное управление утками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Клиентский код и «реальная» утка работают </a:t>
            </a:r>
            <a:r>
              <a:rPr lang="ru-RU" b="1" dirty="0"/>
              <a:t>в разных процессах или на разных компьютерах</a:t>
            </a:r>
            <a:endParaRPr lang="ru-RU" dirty="0"/>
          </a:p>
          <a:p>
            <a:r>
              <a:rPr lang="ru-RU" dirty="0"/>
              <a:t>Клиент должен управлять уткой </a:t>
            </a:r>
            <a:r>
              <a:rPr lang="ru-RU" b="1" dirty="0"/>
              <a:t>так, будто она локальная</a:t>
            </a:r>
            <a:endParaRPr lang="ru-RU" dirty="0"/>
          </a:p>
          <a:p>
            <a:r>
              <a:rPr lang="ru-RU" dirty="0" err="1"/>
              <a:t>Proxy</a:t>
            </a:r>
            <a:r>
              <a:rPr lang="ru-RU" dirty="0"/>
              <a:t> перехватывает вызовы клиента и передаёт их по сети или в другой процесс</a:t>
            </a:r>
          </a:p>
          <a:p>
            <a:r>
              <a:rPr lang="ru-RU" dirty="0" err="1"/>
              <a:t>Stub</a:t>
            </a:r>
            <a:r>
              <a:rPr lang="ru-RU" dirty="0"/>
              <a:t> получает запросы и вызывает методы реального объекта</a:t>
            </a:r>
          </a:p>
          <a:p>
            <a:r>
              <a:rPr lang="ru-RU" dirty="0"/>
              <a:t>Такое решение скрывает </a:t>
            </a:r>
            <a:r>
              <a:rPr lang="ru-RU" dirty="0" err="1"/>
              <a:t>распределённость</a:t>
            </a:r>
            <a:r>
              <a:rPr lang="ru-RU" dirty="0"/>
              <a:t> системы и упрощает код клиента</a:t>
            </a:r>
          </a:p>
        </p:txBody>
      </p:sp>
    </p:spTree>
    <p:extLst>
      <p:ext uri="{BB962C8B-B14F-4D97-AF65-F5344CB8AC3E}">
        <p14:creationId xmlns:p14="http://schemas.microsoft.com/office/powerpoint/2010/main" val="2619972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8779" y="1595905"/>
            <a:ext cx="8997702" cy="519000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85585D9-BB13-41FD-BA33-A62AF98EE542}"/>
              </a:ext>
            </a:extLst>
          </p:cNvPr>
          <p:cNvSpPr txBox="1"/>
          <p:nvPr/>
        </p:nvSpPr>
        <p:spPr>
          <a:xfrm>
            <a:off x="4679126" y="1250082"/>
            <a:ext cx="4392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Интерфейс </a:t>
            </a:r>
            <a:r>
              <a:rPr lang="en-US" dirty="0" err="1"/>
              <a:t>IDuck</a:t>
            </a:r>
            <a:r>
              <a:rPr lang="en-US" dirty="0"/>
              <a:t> </a:t>
            </a:r>
            <a:r>
              <a:rPr lang="ru-RU" dirty="0"/>
              <a:t>используется клиентом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7B5BB-952B-460E-A051-D68CAE6E055B}"/>
              </a:ext>
            </a:extLst>
          </p:cNvPr>
          <p:cNvSpPr txBox="1"/>
          <p:nvPr/>
        </p:nvSpPr>
        <p:spPr>
          <a:xfrm>
            <a:off x="8544273" y="3000064"/>
            <a:ext cx="2809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Реальная</a:t>
            </a:r>
            <a:r>
              <a:rPr lang="en-US" dirty="0"/>
              <a:t> </a:t>
            </a:r>
            <a:r>
              <a:rPr lang="ru-RU" dirty="0"/>
              <a:t>утка создаётся в серверном приложении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259345-D85B-44CC-A91C-A6A64128877F}"/>
              </a:ext>
            </a:extLst>
          </p:cNvPr>
          <p:cNvSpPr txBox="1"/>
          <p:nvPr/>
        </p:nvSpPr>
        <p:spPr>
          <a:xfrm>
            <a:off x="2495600" y="2751329"/>
            <a:ext cx="2592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 стороне клиента создаётся удалённый заместитель утки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7E7FC8-E33F-4584-AE5B-B2683934AB46}"/>
              </a:ext>
            </a:extLst>
          </p:cNvPr>
          <p:cNvSpPr txBox="1"/>
          <p:nvPr/>
        </p:nvSpPr>
        <p:spPr>
          <a:xfrm>
            <a:off x="1991544" y="5938490"/>
            <a:ext cx="3240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Канал для отправки запросов от клиента к серверу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38F01B-4232-4B0E-9569-3C9B6DD97171}"/>
              </a:ext>
            </a:extLst>
          </p:cNvPr>
          <p:cNvSpPr txBox="1"/>
          <p:nvPr/>
        </p:nvSpPr>
        <p:spPr>
          <a:xfrm>
            <a:off x="7964028" y="5733256"/>
            <a:ext cx="22682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Канал для обработки клиентских запросов</a:t>
            </a:r>
          </a:p>
        </p:txBody>
      </p:sp>
    </p:spTree>
    <p:extLst>
      <p:ext uri="{BB962C8B-B14F-4D97-AF65-F5344CB8AC3E}">
        <p14:creationId xmlns:p14="http://schemas.microsoft.com/office/powerpoint/2010/main" val="3530186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7" grpId="0"/>
      <p:bldP spid="8" grpId="0"/>
      <p:bldP spid="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Канал для обмена данными между процессами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4000" y="2276873"/>
            <a:ext cx="9108504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IInputPipe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MessageHandler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function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data)&gt;;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RegisterMessageReceiver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url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                              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MessageHandler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handler) = 0;</a:t>
            </a: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UnregisterMessageReceiver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url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= 0;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~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IInputPipe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IOutputPipe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SendMessage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url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data) = 0;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~IOutputPipe() = 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394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524000" y="1"/>
            <a:ext cx="9144000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DuckStub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public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QUACK_METHOD_ID;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FLY_METHOD_ID;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GET_TOTAL_FLY_DISTANCE_METHOD_ID;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DuckStub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IInputPipe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 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pipe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&amp; 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: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m_pipe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pipe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::placeholders;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m_pipe.RegisterMessageReceiver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GetURL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QUACK_METHOD_ID), 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bind(&amp;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DuckStub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HandleQuack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_1));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m_pipe.RegisterMessageReceiver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GetURL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FLY_METHOD_ID),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bind(&amp;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DuckStub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HandleFly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_1));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m_pipe.RegisterMessageReceiver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GetURL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GET_TOTAL_FLY_DISTANCE_METHOD_ID), 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bind(&amp;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DuckStub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HandleGetTotalDistance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_1));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ru-RU" sz="15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~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DuckStub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m_pipe.UnregisterMessageReceiver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GetURL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QUACK_METHOD_ID));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m_pipe.UnregisterMessageReceiver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GetURL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FLY_METHOD_ID));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m_pipe.UnregisterMessageReceiver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GetURL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GET_TOTAL_FLY_DISTANCE_METHOD_ID));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ru-RU" sz="15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GetURL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&amp; </a:t>
            </a:r>
            <a:r>
              <a:rPr lang="en-US" sz="1500" dirty="0" err="1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objectId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&amp; </a:t>
            </a:r>
            <a:r>
              <a:rPr lang="en-US" sz="1500" dirty="0" err="1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methodName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msg:DuckStub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objectId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"/"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methodName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endParaRPr lang="ru-RU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469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83432" y="1"/>
            <a:ext cx="10585176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HandleQuack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m_duck.Quack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endParaRPr lang="ru-RU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HandleFly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istringstream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direction;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distance;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direction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distance)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m_duck.Fly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StringToDirection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(direction), distance);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invalid_argument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"Invalid data"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endParaRPr lang="ru-RU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HandleGetTotalDistance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(!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.empty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invalid_argument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"Not data is expected"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to_string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m_duck.GetTotalDistance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0274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23392" y="476672"/>
            <a:ext cx="10873208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Direction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StringToDirection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direction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direction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"east"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?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Direction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: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direction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"west"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?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Direction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West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: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direction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"south"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?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Direction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South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: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direction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"north"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?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Direction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North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: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invalid_argument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"unknown direction"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Duck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m_duck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IInputPipe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m_pipe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DuckStub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::QUACK_METHOD_ID =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"Quack"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DuckStub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::FLY_METHOD_ID =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"Fly"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DuckStub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::GET_TOTAL_FLY_DISTANCE_METHOD_ID =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GetTotalFlyDistance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09716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63352" y="0"/>
            <a:ext cx="11928648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DuckProxy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IDuck</a:t>
            </a:r>
            <a:r>
              <a:rPr lang="ru-RU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DuckProxy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IOutputPipe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pipe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m_pipe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pipe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Quack(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text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m_pipe.SendMessage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GetMethodURL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CDuckStub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::QUACK_METHOD_ID),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text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Fly(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distance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m_pipe.SendMessage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GetMethodURL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CDuckStub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::FLY_METHOD_ID),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direction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to_string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distance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GetTotalDistance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stoi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m_pipe.SendMessage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GetMethodURL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CDuckStub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::GET_TOTAL_FLY_DISTANCE_METHOD_ID),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solidFill>
                <a:srgbClr val="0000FF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GetMethodURL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methodName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CDuckStub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GetURL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methodName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IOutputPipe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m_pipe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6001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5360" y="18628"/>
            <a:ext cx="1185664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MockPipe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IInputPipe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IOutputPipe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RegisterMessageReceiver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url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MessageHandler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handler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result 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m_receivers.emplace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url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handler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(!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result.second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throw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invalid_argument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"Message receiver has already been registered"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UnregisterMessageReceiver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url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m_receivers.erase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url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SendMessage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url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data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m_receivers.at(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url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data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MessageHandler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m_receivers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MockPipe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pipe;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DuckStub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stub(pipe,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"duck1"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DuckProxy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proxy(pipe,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"duck1"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PlayWithDuck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(proxy);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391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9ACE7-FB4B-01E6-D420-096CD7948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Удалённые заместители в реальных системах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C3274D-71FD-1E36-1FF0-9847470AD7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В реальных приложениях взаимодействие клиента и сервера обеспечивают специализированные инфраструктуры</a:t>
            </a:r>
            <a:br>
              <a:rPr lang="ru-RU" dirty="0"/>
            </a:br>
            <a:r>
              <a:rPr lang="ru-RU" dirty="0"/>
              <a:t>(COM/DCOM, CORBA, Java RMI и др.)</a:t>
            </a:r>
          </a:p>
          <a:p>
            <a:r>
              <a:rPr lang="ru-RU" dirty="0"/>
              <a:t>Эти технологии автоматически:</a:t>
            </a:r>
          </a:p>
          <a:p>
            <a:pPr lvl="1"/>
            <a:r>
              <a:rPr lang="ru-RU" dirty="0"/>
              <a:t>генерируют </a:t>
            </a:r>
            <a:r>
              <a:rPr lang="ru-RU" dirty="0" err="1"/>
              <a:t>Proxy</a:t>
            </a:r>
            <a:r>
              <a:rPr lang="ru-RU" dirty="0"/>
              <a:t> (клиентский “</a:t>
            </a:r>
            <a:r>
              <a:rPr lang="ru-RU" dirty="0" err="1"/>
              <a:t>stub</a:t>
            </a:r>
            <a:r>
              <a:rPr lang="ru-RU" dirty="0"/>
              <a:t>”),</a:t>
            </a:r>
          </a:p>
          <a:p>
            <a:pPr lvl="1"/>
            <a:r>
              <a:rPr lang="ru-RU" dirty="0"/>
              <a:t> создают Server </a:t>
            </a:r>
            <a:r>
              <a:rPr lang="ru-RU" dirty="0" err="1"/>
              <a:t>Stub</a:t>
            </a:r>
            <a:r>
              <a:rPr lang="ru-RU" dirty="0"/>
              <a:t> (скелет),</a:t>
            </a:r>
          </a:p>
          <a:p>
            <a:pPr lvl="1"/>
            <a:r>
              <a:rPr lang="ru-RU" dirty="0"/>
              <a:t>занимаются сериализацией параметров,</a:t>
            </a:r>
          </a:p>
          <a:p>
            <a:pPr lvl="1"/>
            <a:r>
              <a:rPr lang="ru-RU" dirty="0"/>
              <a:t>передают вызовы по сети или IPC,</a:t>
            </a:r>
          </a:p>
          <a:p>
            <a:pPr lvl="1"/>
            <a:r>
              <a:rPr lang="ru-RU" dirty="0"/>
              <a:t>обрабатывают ответы и ошибки</a:t>
            </a:r>
          </a:p>
          <a:p>
            <a:r>
              <a:rPr lang="ru-RU" dirty="0"/>
              <a:t>Разработчику чаще всего не нужно вручную писать канал передачи данных</a:t>
            </a:r>
          </a:p>
          <a:p>
            <a:pPr lvl="1"/>
            <a:r>
              <a:rPr lang="ru-RU" dirty="0" err="1"/>
              <a:t>Proxy</a:t>
            </a:r>
            <a:r>
              <a:rPr lang="ru-RU" dirty="0"/>
              <a:t> создаётся средствами платформы</a:t>
            </a:r>
          </a:p>
          <a:p>
            <a:r>
              <a:rPr lang="ru-RU" dirty="0" err="1"/>
              <a:t>Proxy</a:t>
            </a:r>
            <a:r>
              <a:rPr lang="ru-RU" dirty="0"/>
              <a:t> в таких системах выглядит как обычный объект</a:t>
            </a:r>
            <a:br>
              <a:rPr lang="ru-RU" dirty="0"/>
            </a:br>
            <a:r>
              <a:rPr lang="ru-RU" dirty="0"/>
              <a:t>(методы вызываются локально, а работают удалённо)</a:t>
            </a:r>
          </a:p>
        </p:txBody>
      </p:sp>
    </p:spTree>
    <p:extLst>
      <p:ext uri="{BB962C8B-B14F-4D97-AF65-F5344CB8AC3E}">
        <p14:creationId xmlns:p14="http://schemas.microsoft.com/office/powerpoint/2010/main" val="29946800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8B4A-F9FE-FC16-F639-8ACFACAD5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Component</a:t>
            </a:r>
            <a:r>
              <a:rPr lang="ru-RU" dirty="0"/>
              <a:t> Object Model / </a:t>
            </a:r>
            <a:r>
              <a:rPr lang="ru-RU" dirty="0" err="1"/>
              <a:t>Distributed</a:t>
            </a:r>
            <a:r>
              <a:rPr lang="ru-RU" dirty="0"/>
              <a:t> COM (Windows)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1D4FA-B08E-458A-DB1D-F509DF2F66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Основаны на описании интерфейсов в IDL (Interface Definition Language)</a:t>
            </a:r>
          </a:p>
          <a:p>
            <a:r>
              <a:rPr lang="ru-RU" dirty="0"/>
              <a:t>Автоматически генерируют:</a:t>
            </a:r>
          </a:p>
          <a:p>
            <a:pPr lvl="1"/>
            <a:r>
              <a:rPr lang="ru-RU" dirty="0"/>
              <a:t>клиентский </a:t>
            </a:r>
            <a:r>
              <a:rPr lang="ru-RU" dirty="0" err="1"/>
              <a:t>Proxy</a:t>
            </a:r>
            <a:r>
              <a:rPr lang="ru-RU" dirty="0"/>
              <a:t> (</a:t>
            </a:r>
            <a:r>
              <a:rPr lang="ru-RU" dirty="0" err="1"/>
              <a:t>Stub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серверный </a:t>
            </a:r>
            <a:r>
              <a:rPr lang="ru-RU" dirty="0" err="1"/>
              <a:t>Skeleton</a:t>
            </a:r>
            <a:r>
              <a:rPr lang="ru-RU" dirty="0"/>
              <a:t> (Server </a:t>
            </a:r>
            <a:r>
              <a:rPr lang="ru-RU" dirty="0" err="1"/>
              <a:t>Stub</a:t>
            </a:r>
            <a:r>
              <a:rPr lang="ru-RU" dirty="0"/>
              <a:t>)</a:t>
            </a:r>
          </a:p>
          <a:p>
            <a:r>
              <a:rPr lang="ru-RU" dirty="0"/>
              <a:t>Обеспечивают сериализацию параметров (</a:t>
            </a:r>
            <a:r>
              <a:rPr lang="ru-RU" dirty="0" err="1"/>
              <a:t>marshalling</a:t>
            </a:r>
            <a:r>
              <a:rPr lang="ru-RU" dirty="0"/>
              <a:t>) и передачу вызовов через RPC-стек Windows</a:t>
            </a:r>
          </a:p>
          <a:p>
            <a:r>
              <a:rPr lang="ru-RU" dirty="0"/>
              <a:t>Позволяют объекту жить в другом процессе или на другом компьютере</a:t>
            </a:r>
          </a:p>
          <a:p>
            <a:pPr lvl="1"/>
            <a:r>
              <a:rPr lang="ru-RU" dirty="0"/>
              <a:t>клиент работает с ним как с локальным COM-объектом</a:t>
            </a:r>
          </a:p>
          <a:p>
            <a:r>
              <a:rPr lang="ru-RU" dirty="0"/>
              <a:t>Предоставляют рефлексию, фабрики объектов и управление временем жизни</a:t>
            </a:r>
          </a:p>
          <a:p>
            <a:r>
              <a:rPr lang="ru-RU" dirty="0"/>
              <a:t>Ранний промышленный пример классического Remote </a:t>
            </a:r>
            <a:r>
              <a:rPr lang="ru-RU" dirty="0" err="1"/>
              <a:t>Proxy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43244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57E6F-BFCE-6169-5B90-79CC26F25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CORBA (Common Object Request Broker Architecture)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152EA-F8D2-5FBD-BAA0-09398BABD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Кроссплатформенная и независимая от языка технология распределённых объектов</a:t>
            </a:r>
          </a:p>
          <a:p>
            <a:r>
              <a:rPr lang="ru-RU" dirty="0"/>
              <a:t>Интерфейсы описываются в CORBA IDL → генерация </a:t>
            </a:r>
            <a:r>
              <a:rPr lang="ru-RU" dirty="0" err="1"/>
              <a:t>Proxy</a:t>
            </a:r>
            <a:r>
              <a:rPr lang="ru-RU" dirty="0"/>
              <a:t> и </a:t>
            </a:r>
            <a:r>
              <a:rPr lang="ru-RU" dirty="0" err="1"/>
              <a:t>Skeleton</a:t>
            </a:r>
            <a:r>
              <a:rPr lang="ru-RU" dirty="0"/>
              <a:t> для выбранного языка</a:t>
            </a:r>
          </a:p>
          <a:p>
            <a:r>
              <a:rPr lang="ru-RU" dirty="0"/>
              <a:t>ORB (Object </a:t>
            </a:r>
            <a:r>
              <a:rPr lang="ru-RU" dirty="0" err="1"/>
              <a:t>Request</a:t>
            </a:r>
            <a:r>
              <a:rPr lang="ru-RU" dirty="0"/>
              <a:t> </a:t>
            </a:r>
            <a:r>
              <a:rPr lang="ru-RU" dirty="0" err="1"/>
              <a:t>Broker</a:t>
            </a:r>
            <a:r>
              <a:rPr lang="ru-RU" dirty="0"/>
              <a:t>) обеспечивает:</a:t>
            </a:r>
          </a:p>
          <a:p>
            <a:pPr lvl="1"/>
            <a:r>
              <a:rPr lang="ru-RU" dirty="0"/>
              <a:t>передачу вызовов через сеть</a:t>
            </a:r>
          </a:p>
          <a:p>
            <a:pPr lvl="1"/>
            <a:r>
              <a:rPr lang="ru-RU" dirty="0" err="1"/>
              <a:t>маршаллинг</a:t>
            </a:r>
            <a:r>
              <a:rPr lang="ru-RU" dirty="0"/>
              <a:t>/</a:t>
            </a:r>
            <a:r>
              <a:rPr lang="ru-RU" dirty="0" err="1"/>
              <a:t>анмаршаллинг</a:t>
            </a:r>
            <a:endParaRPr lang="ru-RU" dirty="0"/>
          </a:p>
          <a:p>
            <a:pPr lvl="1"/>
            <a:r>
              <a:rPr lang="ru-RU" dirty="0"/>
              <a:t>поиск и разрешение адресов удалённых объектов</a:t>
            </a:r>
          </a:p>
          <a:p>
            <a:r>
              <a:rPr lang="ru-RU" dirty="0"/>
              <a:t>Использует IIOP (Internet Inter-ORB Protocol) как транспорт</a:t>
            </a:r>
          </a:p>
          <a:p>
            <a:r>
              <a:rPr lang="ru-RU" dirty="0"/>
              <a:t>Может объединять объекты на разных платформах и разных языках</a:t>
            </a:r>
          </a:p>
          <a:p>
            <a:r>
              <a:rPr lang="ru-RU" dirty="0"/>
              <a:t>Один из первых универсальных стандартов для систем распределённых объектов</a:t>
            </a:r>
            <a:br>
              <a:rPr lang="ru-RU" dirty="0"/>
            </a:br>
            <a:r>
              <a:rPr lang="ru-RU" dirty="0"/>
              <a:t>→ классический Remote </a:t>
            </a:r>
            <a:r>
              <a:rPr lang="ru-RU" dirty="0" err="1"/>
              <a:t>Proxy</a:t>
            </a:r>
            <a:r>
              <a:rPr lang="ru-RU" dirty="0"/>
              <a:t> «по учебнику»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8470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8F74A-20CD-1ACA-D85A-132FFF016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RMI (Remote Method Invocation)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C2A5C-7069-FF0C-4DA6-1E20B88B7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Позволяет вызывать методы удалённых объектов так же, как локальных</a:t>
            </a:r>
          </a:p>
          <a:p>
            <a:r>
              <a:rPr lang="ru-RU" dirty="0"/>
              <a:t>Опирается на Java-интерфейсы и сериализацию объектов Java</a:t>
            </a:r>
          </a:p>
          <a:p>
            <a:r>
              <a:rPr lang="ru-RU" dirty="0"/>
              <a:t>Генерирует:</a:t>
            </a:r>
          </a:p>
          <a:p>
            <a:pPr lvl="1"/>
            <a:r>
              <a:rPr lang="ru-RU" dirty="0"/>
              <a:t>клиентский </a:t>
            </a:r>
            <a:r>
              <a:rPr lang="ru-RU" dirty="0" err="1"/>
              <a:t>Stub</a:t>
            </a:r>
            <a:r>
              <a:rPr lang="ru-RU" dirty="0"/>
              <a:t> (</a:t>
            </a:r>
            <a:r>
              <a:rPr lang="ru-RU" dirty="0" err="1"/>
              <a:t>Proxy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серверный </a:t>
            </a:r>
            <a:r>
              <a:rPr lang="ru-RU" dirty="0" err="1"/>
              <a:t>Skeleton</a:t>
            </a:r>
            <a:endParaRPr lang="ru-RU" dirty="0"/>
          </a:p>
          <a:p>
            <a:r>
              <a:rPr lang="ru-RU" dirty="0"/>
              <a:t>Передача аргументов и результатов — через встроенную Java-сериализацию</a:t>
            </a:r>
          </a:p>
          <a:p>
            <a:r>
              <a:rPr lang="ru-RU" dirty="0"/>
              <a:t>Требует нахождения удалённых объектов через RMI </a:t>
            </a:r>
            <a:r>
              <a:rPr lang="ru-RU" dirty="0" err="1"/>
              <a:t>Registry</a:t>
            </a:r>
            <a:endParaRPr lang="ru-RU" dirty="0"/>
          </a:p>
          <a:p>
            <a:r>
              <a:rPr lang="ru-RU" dirty="0"/>
              <a:t>Обеспечивает </a:t>
            </a:r>
            <a:r>
              <a:rPr lang="ru-RU" dirty="0" err="1"/>
              <a:t>типобезопасность</a:t>
            </a:r>
            <a:r>
              <a:rPr lang="ru-RU" dirty="0"/>
              <a:t> и единый язык без IDL</a:t>
            </a:r>
          </a:p>
          <a:p>
            <a:r>
              <a:rPr lang="ru-RU" dirty="0"/>
              <a:t>Подходит для распределённых систем, где все части написаны на Java</a:t>
            </a:r>
          </a:p>
        </p:txBody>
      </p:sp>
    </p:spTree>
    <p:extLst>
      <p:ext uri="{BB962C8B-B14F-4D97-AF65-F5344CB8AC3E}">
        <p14:creationId xmlns:p14="http://schemas.microsoft.com/office/powerpoint/2010/main" val="38575874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5AF10-1892-EB09-1EB4-E4F954E8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Google Remote Procedure Call (</a:t>
            </a:r>
            <a:r>
              <a:rPr lang="en-US" dirty="0" err="1"/>
              <a:t>gRPC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2060A-F586-7571-16DF-22EFE0DD2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ru-RU" dirty="0"/>
              <a:t>Использует Protocol </a:t>
            </a:r>
            <a:r>
              <a:rPr lang="ru-RU" dirty="0" err="1"/>
              <a:t>Buffers</a:t>
            </a:r>
            <a:r>
              <a:rPr lang="ru-RU" dirty="0"/>
              <a:t> (</a:t>
            </a:r>
            <a:r>
              <a:rPr lang="ru-RU" dirty="0" err="1"/>
              <a:t>protobuf</a:t>
            </a:r>
            <a:r>
              <a:rPr lang="ru-RU" dirty="0"/>
              <a:t>) как IDL и формат сериализации</a:t>
            </a:r>
            <a:br>
              <a:rPr lang="ru-RU" dirty="0"/>
            </a:br>
            <a:r>
              <a:rPr lang="ru-RU" dirty="0"/>
              <a:t>→ компактный, быстрый, язык-независимый</a:t>
            </a:r>
          </a:p>
          <a:p>
            <a:r>
              <a:rPr lang="ru-RU" dirty="0"/>
              <a:t>Генерирует:</a:t>
            </a:r>
          </a:p>
          <a:p>
            <a:pPr lvl="1"/>
            <a:r>
              <a:rPr lang="ru-RU" dirty="0"/>
              <a:t>клиентские </a:t>
            </a:r>
            <a:r>
              <a:rPr lang="ru-RU" dirty="0" err="1"/>
              <a:t>Stub</a:t>
            </a:r>
            <a:r>
              <a:rPr lang="ru-RU" dirty="0"/>
              <a:t>-объекты (</a:t>
            </a:r>
            <a:r>
              <a:rPr lang="ru-RU" dirty="0" err="1"/>
              <a:t>Proxy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серверные </a:t>
            </a:r>
            <a:r>
              <a:rPr lang="ru-RU" dirty="0" err="1"/>
              <a:t>Skeleton’ы</a:t>
            </a:r>
            <a:r>
              <a:rPr lang="ru-RU" dirty="0"/>
              <a:t> (</a:t>
            </a:r>
            <a:r>
              <a:rPr lang="ru-RU" dirty="0" err="1"/>
              <a:t>service</a:t>
            </a:r>
            <a:r>
              <a:rPr lang="ru-RU" dirty="0"/>
              <a:t> </a:t>
            </a:r>
            <a:r>
              <a:rPr lang="ru-RU" dirty="0" err="1"/>
              <a:t>handlers</a:t>
            </a:r>
            <a:r>
              <a:rPr lang="ru-RU" dirty="0"/>
              <a:t>)</a:t>
            </a:r>
          </a:p>
          <a:p>
            <a:r>
              <a:rPr lang="ru-RU" dirty="0"/>
              <a:t>Работает поверх HTTP/2</a:t>
            </a:r>
            <a:br>
              <a:rPr lang="ru-RU" dirty="0"/>
            </a:br>
            <a:r>
              <a:rPr lang="ru-RU" dirty="0"/>
              <a:t>→ поддержка потоков, двунаправленной связи и асинхронного взаимодействия</a:t>
            </a:r>
          </a:p>
          <a:p>
            <a:r>
              <a:rPr lang="ru-RU" dirty="0"/>
              <a:t>Поддерживает множество языков: C++, Go, Java, Python, </a:t>
            </a:r>
            <a:r>
              <a:rPr lang="ru-RU" dirty="0" err="1"/>
              <a:t>Rust</a:t>
            </a:r>
            <a:r>
              <a:rPr lang="ru-RU" dirty="0"/>
              <a:t>, C#, </a:t>
            </a:r>
            <a:r>
              <a:rPr lang="ru-RU" dirty="0" err="1"/>
              <a:t>Kotlin</a:t>
            </a:r>
            <a:r>
              <a:rPr lang="ru-RU" dirty="0"/>
              <a:t> и др.</a:t>
            </a:r>
          </a:p>
          <a:p>
            <a:r>
              <a:rPr lang="ru-RU" dirty="0"/>
              <a:t>Позволяет легко строить микросервисные архитектуры и высоконагруженные системы</a:t>
            </a:r>
          </a:p>
          <a:p>
            <a:r>
              <a:rPr lang="ru-RU" dirty="0"/>
              <a:t>Практическая и современная реализация Remote </a:t>
            </a:r>
            <a:r>
              <a:rPr lang="ru-RU" dirty="0" err="1"/>
              <a:t>Proxy</a:t>
            </a:r>
            <a:r>
              <a:rPr lang="ru-RU" dirty="0"/>
              <a:t> в индустрии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6839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48E153-8D97-9069-6D26-FF0A52C13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880774" cy="2852737"/>
          </a:xfrm>
        </p:spPr>
        <p:txBody>
          <a:bodyPr/>
          <a:lstStyle/>
          <a:p>
            <a:r>
              <a:rPr lang="en-US" dirty="0"/>
              <a:t>Smart Proxy (</a:t>
            </a:r>
            <a:r>
              <a:rPr lang="ru-RU" dirty="0"/>
              <a:t>Умный заместитель)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916A61A-C792-05BA-3E03-D39F9FADC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8664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941DEF-FFFF-F6C1-D898-46950FC12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 Proxy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090001-3D2B-6F77-F64D-055B55A746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Добавляет </a:t>
            </a:r>
            <a:r>
              <a:rPr lang="ru-RU" b="1" dirty="0"/>
              <a:t>дополнительное поведение</a:t>
            </a:r>
            <a:r>
              <a:rPr lang="ru-RU" dirty="0"/>
              <a:t> при обращении к объекту</a:t>
            </a:r>
          </a:p>
          <a:p>
            <a:r>
              <a:rPr lang="ru-RU" dirty="0"/>
              <a:t>Может перехватывать:</a:t>
            </a:r>
            <a:r>
              <a:rPr lang="en-US" dirty="0"/>
              <a:t> </a:t>
            </a:r>
            <a:r>
              <a:rPr lang="ru-RU" dirty="0"/>
              <a:t>чтение,</a:t>
            </a:r>
            <a:r>
              <a:rPr lang="en-US" dirty="0"/>
              <a:t> </a:t>
            </a:r>
            <a:r>
              <a:rPr lang="ru-RU" dirty="0"/>
              <a:t>запись,</a:t>
            </a:r>
            <a:r>
              <a:rPr lang="en-US" dirty="0"/>
              <a:t> </a:t>
            </a:r>
            <a:r>
              <a:rPr lang="ru-RU" dirty="0"/>
              <a:t>создание и уничтожение объекта.</a:t>
            </a:r>
          </a:p>
          <a:p>
            <a:r>
              <a:rPr lang="ru-RU" dirty="0"/>
              <a:t>Типичные возможности Smart </a:t>
            </a:r>
            <a:r>
              <a:rPr lang="ru-RU" dirty="0" err="1"/>
              <a:t>Proxy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/>
              <a:t>• подсчёт ссылок и управление временем жизни</a:t>
            </a:r>
            <a:br>
              <a:rPr lang="ru-RU" dirty="0"/>
            </a:br>
            <a:r>
              <a:rPr lang="ru-RU" dirty="0"/>
              <a:t>• </a:t>
            </a:r>
            <a:r>
              <a:rPr lang="ru-RU" dirty="0" err="1"/>
              <a:t>Copy-on-Write</a:t>
            </a:r>
            <a:r>
              <a:rPr lang="ru-RU" dirty="0"/>
              <a:t> (создание копии при модификации)</a:t>
            </a:r>
            <a:br>
              <a:rPr lang="ru-RU" dirty="0"/>
            </a:br>
            <a:r>
              <a:rPr lang="ru-RU" dirty="0"/>
              <a:t>• ленивое выделение ресурсов</a:t>
            </a:r>
            <a:br>
              <a:rPr lang="ru-RU" dirty="0"/>
            </a:br>
            <a:r>
              <a:rPr lang="ru-RU" dirty="0"/>
              <a:t>• синхронизация при многопоточном доступе</a:t>
            </a:r>
            <a:br>
              <a:rPr lang="ru-RU" dirty="0"/>
            </a:br>
            <a:r>
              <a:rPr lang="ru-RU" dirty="0"/>
              <a:t>• логирование, кэширование, контроль состояний</a:t>
            </a:r>
          </a:p>
          <a:p>
            <a:r>
              <a:rPr lang="ru-RU" dirty="0"/>
              <a:t>Клиентский код работает так же, как с обычным объектом</a:t>
            </a:r>
            <a:br>
              <a:rPr lang="ru-RU" dirty="0"/>
            </a:br>
            <a:r>
              <a:rPr lang="ru-RU" dirty="0"/>
              <a:t>→ Всё дополнительное поведение скрыто внутри </a:t>
            </a:r>
            <a:r>
              <a:rPr lang="ru-RU" dirty="0" err="1"/>
              <a:t>Proxy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1069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6B4A56F-94A9-4A96-AC5E-01D58F3C5A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-7897"/>
            <a:ext cx="12206038" cy="6865897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EFE2E65-BD3E-4181-AEE1-31AC747DD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676" y="1709738"/>
            <a:ext cx="11245948" cy="2852737"/>
          </a:xfrm>
        </p:spPr>
        <p:txBody>
          <a:bodyPr>
            <a:normAutofit/>
          </a:bodyPr>
          <a:lstStyle/>
          <a:p>
            <a:r>
              <a:rPr lang="en-US" sz="8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mpact" panose="020B0806030902050204" pitchFamily="34" charset="0"/>
              </a:rPr>
              <a:t>Copy on Write</a:t>
            </a:r>
            <a:endParaRPr lang="ru-RU" sz="8800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CD15AF-F688-4BBF-A82D-C244C5F23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92389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Оптимизация </a:t>
            </a:r>
            <a:r>
              <a:rPr lang="en-US" dirty="0"/>
              <a:t>Copy-on-write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Копирование большого и сложного объекта – очень дорогая операция</a:t>
            </a:r>
          </a:p>
          <a:p>
            <a:pPr lvl="1"/>
            <a:r>
              <a:rPr lang="ru-RU" dirty="0"/>
              <a:t>Если объект не изменяется, все его копии идентичны</a:t>
            </a:r>
          </a:p>
          <a:p>
            <a:pPr lvl="1"/>
            <a:r>
              <a:rPr lang="ru-RU" dirty="0"/>
              <a:t>Копирование можно отложить до момента действительной модификации объекта</a:t>
            </a:r>
          </a:p>
          <a:p>
            <a:r>
              <a:rPr lang="en-US" dirty="0"/>
              <a:t>Proxy</a:t>
            </a:r>
            <a:r>
              <a:rPr lang="ru-RU" dirty="0"/>
              <a:t> ведет подсчет ссылок на объект</a:t>
            </a:r>
          </a:p>
          <a:p>
            <a:pPr lvl="1"/>
            <a:r>
              <a:rPr lang="ru-RU" dirty="0"/>
              <a:t>Копирование </a:t>
            </a:r>
            <a:r>
              <a:rPr lang="en-US" dirty="0"/>
              <a:t>proxy </a:t>
            </a:r>
            <a:r>
              <a:rPr lang="ru-RU" dirty="0"/>
              <a:t>увеличивает счетчик ссылок, разрушение - уменьшает</a:t>
            </a:r>
          </a:p>
          <a:p>
            <a:pPr lvl="1"/>
            <a:r>
              <a:rPr lang="ru-RU" dirty="0"/>
              <a:t>Выполняя операцию, изменяющую субъект, счетчик ссылок которого </a:t>
            </a:r>
            <a:r>
              <a:rPr lang="en-US" dirty="0"/>
              <a:t>&gt; 1</a:t>
            </a:r>
            <a:r>
              <a:rPr lang="ru-RU" dirty="0"/>
              <a:t>, заместитель копирует объект и уменьшает счетчик ссылок на оригинал</a:t>
            </a:r>
          </a:p>
          <a:p>
            <a:pPr lvl="1"/>
            <a:r>
              <a:rPr lang="ru-RU" dirty="0"/>
              <a:t>Если счетчик обнулился – объект удаляется</a:t>
            </a:r>
          </a:p>
        </p:txBody>
      </p:sp>
    </p:spTree>
    <p:extLst>
      <p:ext uri="{BB962C8B-B14F-4D97-AF65-F5344CB8AC3E}">
        <p14:creationId xmlns:p14="http://schemas.microsoft.com/office/powerpoint/2010/main" val="139600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Copy-on-write </a:t>
            </a:r>
            <a:r>
              <a:rPr lang="ru-RU" dirty="0"/>
              <a:t>в действии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7096132" y="2000240"/>
            <a:ext cx="2643206" cy="150019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Subject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4667240" y="2285992"/>
            <a:ext cx="1285884" cy="85725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Proxy</a:t>
            </a:r>
            <a:endParaRPr lang="ru-RU" dirty="0"/>
          </a:p>
        </p:txBody>
      </p:sp>
      <p:cxnSp>
        <p:nvCxnSpPr>
          <p:cNvPr id="7" name="Прямая со стрелкой 6"/>
          <p:cNvCxnSpPr>
            <a:stCxn id="5" idx="3"/>
            <a:endCxn id="4" idx="1"/>
          </p:cNvCxnSpPr>
          <p:nvPr/>
        </p:nvCxnSpPr>
        <p:spPr>
          <a:xfrm>
            <a:off x="5953124" y="2714621"/>
            <a:ext cx="1143008" cy="35719"/>
          </a:xfrm>
          <a:prstGeom prst="straightConnector1">
            <a:avLst/>
          </a:prstGeom>
          <a:ln w="28575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Прямоугольник 8"/>
          <p:cNvSpPr/>
          <p:nvPr/>
        </p:nvSpPr>
        <p:spPr>
          <a:xfrm>
            <a:off x="4667240" y="4357694"/>
            <a:ext cx="1285884" cy="85725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Proxy</a:t>
            </a:r>
            <a:endParaRPr lang="ru-RU" dirty="0"/>
          </a:p>
        </p:txBody>
      </p:sp>
      <p:cxnSp>
        <p:nvCxnSpPr>
          <p:cNvPr id="10" name="Прямая со стрелкой 9"/>
          <p:cNvCxnSpPr>
            <a:stCxn id="9" idx="3"/>
            <a:endCxn id="4" idx="1"/>
          </p:cNvCxnSpPr>
          <p:nvPr/>
        </p:nvCxnSpPr>
        <p:spPr>
          <a:xfrm flipV="1">
            <a:off x="5953124" y="2750340"/>
            <a:ext cx="1143008" cy="2035983"/>
          </a:xfrm>
          <a:prstGeom prst="straightConnector1">
            <a:avLst/>
          </a:prstGeom>
          <a:ln w="28575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Прямоугольник 19"/>
          <p:cNvSpPr/>
          <p:nvPr/>
        </p:nvSpPr>
        <p:spPr>
          <a:xfrm>
            <a:off x="1881158" y="3071810"/>
            <a:ext cx="1071538" cy="71438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  <a:endParaRPr lang="ru-RU" dirty="0"/>
          </a:p>
        </p:txBody>
      </p:sp>
      <p:sp>
        <p:nvSpPr>
          <p:cNvPr id="31" name="Прямоугольник 30"/>
          <p:cNvSpPr/>
          <p:nvPr/>
        </p:nvSpPr>
        <p:spPr>
          <a:xfrm>
            <a:off x="4667240" y="2285992"/>
            <a:ext cx="1285884" cy="85725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Proxy</a:t>
            </a:r>
            <a:endParaRPr lang="ru-RU" dirty="0"/>
          </a:p>
        </p:txBody>
      </p:sp>
      <p:sp>
        <p:nvSpPr>
          <p:cNvPr id="21" name="Прямоугольник 20"/>
          <p:cNvSpPr/>
          <p:nvPr/>
        </p:nvSpPr>
        <p:spPr>
          <a:xfrm>
            <a:off x="2952728" y="3214686"/>
            <a:ext cx="785818" cy="4286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Copy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6810380" y="2000240"/>
            <a:ext cx="285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6810380" y="2000240"/>
            <a:ext cx="285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  <a:endParaRPr lang="ru-RU" dirty="0"/>
          </a:p>
        </p:txBody>
      </p:sp>
      <p:sp>
        <p:nvSpPr>
          <p:cNvPr id="41" name="Прямоугольник 40"/>
          <p:cNvSpPr/>
          <p:nvPr/>
        </p:nvSpPr>
        <p:spPr>
          <a:xfrm>
            <a:off x="2952728" y="3214686"/>
            <a:ext cx="1000132" cy="4286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Modify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7096132" y="2000240"/>
            <a:ext cx="2643206" cy="150019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Subject</a:t>
            </a:r>
            <a:endParaRPr lang="ru-RU" dirty="0"/>
          </a:p>
        </p:txBody>
      </p:sp>
      <p:sp>
        <p:nvSpPr>
          <p:cNvPr id="45" name="Прямоугольник 44"/>
          <p:cNvSpPr/>
          <p:nvPr/>
        </p:nvSpPr>
        <p:spPr>
          <a:xfrm>
            <a:off x="7096132" y="4000504"/>
            <a:ext cx="2643206" cy="150019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Subject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810380" y="4000504"/>
            <a:ext cx="285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cxnSp>
        <p:nvCxnSpPr>
          <p:cNvPr id="51" name="Прямая со стрелкой 50"/>
          <p:cNvCxnSpPr>
            <a:stCxn id="9" idx="3"/>
            <a:endCxn id="45" idx="1"/>
          </p:cNvCxnSpPr>
          <p:nvPr/>
        </p:nvCxnSpPr>
        <p:spPr>
          <a:xfrm flipV="1">
            <a:off x="5953124" y="4750604"/>
            <a:ext cx="1143008" cy="35719"/>
          </a:xfrm>
          <a:prstGeom prst="straightConnector1">
            <a:avLst/>
          </a:prstGeom>
          <a:ln w="28575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Прямоугольник 53"/>
          <p:cNvSpPr/>
          <p:nvPr/>
        </p:nvSpPr>
        <p:spPr>
          <a:xfrm>
            <a:off x="5524496" y="4643446"/>
            <a:ext cx="1000132" cy="4286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Modify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2559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56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1.96532E-6 L 0.1434 -0.09433 " pathEditMode="relative" rAng="0" ptsTypes="AA">
                                      <p:cBhvr>
                                        <p:cTn id="1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2" y="-4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27746E-6 L -0.00069 0.30335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2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56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1.96532E-6 L 0.13159 0.20971 " pathEditMode="relative" rAng="0" ptsTypes="AA">
                                      <p:cBhvr>
                                        <p:cTn id="40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6" y="10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4.07407E-6 L -0.00174 0.28912 " pathEditMode="relative" rAng="0" ptsTypes="AA">
                                      <p:cBhvr>
                                        <p:cTn id="50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" y="144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000"/>
                            </p:stCondLst>
                            <p:childTnLst>
                              <p:par>
                                <p:cTn id="6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56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3.33333E-6 L 0.14948 -0.00811 " pathEditMode="relative" rAng="0" ptsTypes="AA">
                                      <p:cBhvr>
                                        <p:cTn id="78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5" y="-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31" grpId="0" animBg="1"/>
      <p:bldP spid="31" grpId="1" animBg="1"/>
      <p:bldP spid="21" grpId="0" animBg="1"/>
      <p:bldP spid="21" grpId="1" animBg="1"/>
      <p:bldP spid="21" grpId="2" animBg="1"/>
      <p:bldP spid="38" grpId="0"/>
      <p:bldP spid="38" grpId="1"/>
      <p:bldP spid="40" grpId="0"/>
      <p:bldP spid="40" grpId="1"/>
      <p:bldP spid="41" grpId="0" animBg="1"/>
      <p:bldP spid="41" grpId="1" animBg="1"/>
      <p:bldP spid="41" grpId="2" animBg="1"/>
      <p:bldP spid="42" grpId="0" animBg="1"/>
      <p:bldP spid="42" grpId="1" animBg="1"/>
      <p:bldP spid="42" grpId="2" animBg="1"/>
      <p:bldP spid="45" grpId="0" animBg="1"/>
      <p:bldP spid="50" grpId="0"/>
      <p:bldP spid="54" grpId="0" animBg="1"/>
      <p:bldP spid="54" grpId="1" animBg="1"/>
      <p:bldP spid="54" grpId="2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46977-83EC-4489-A983-FDDE61F71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 on Write Proxy</a:t>
            </a:r>
            <a:endParaRPr lang="ru-RU" dirty="0"/>
          </a:p>
        </p:txBody>
      </p:sp>
      <p:pic>
        <p:nvPicPr>
          <p:cNvPr id="8196" name="Picture 4">
            <a:extLst>
              <a:ext uri="{FF2B5EF4-FFF2-40B4-BE49-F238E27FC236}">
                <a16:creationId xmlns:a16="http://schemas.microsoft.com/office/drawing/2014/main" id="{CAFEEEA3-21EC-4AD8-95F4-0FDA6DF34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50414" y="1556792"/>
            <a:ext cx="10603386" cy="5115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257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5EA679-2039-474D-9926-B8DF158C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</a:t>
            </a:r>
            <a:r>
              <a:rPr lang="en-US" dirty="0"/>
              <a:t>Copy on Write </a:t>
            </a:r>
            <a:r>
              <a:rPr lang="ru-RU" dirty="0"/>
              <a:t>в графическом редакторе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D44B0C-01A6-4E03-831E-2D6AE1902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78136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C4A3714-7462-4B7A-A563-31F259842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Растровый графический редактор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4A3C73-ED46-44D3-8D24-3C4C47F5A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7648" y="1666510"/>
            <a:ext cx="6480720" cy="503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4311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3BB71-5132-4061-A0BE-AD9099EF7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Растровое изображение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42E7F8B-08FB-4494-A56E-495006A00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5721" y="2564905"/>
            <a:ext cx="4466161" cy="3484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09948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635D5-C530-43A4-AEF4-853698902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Отмена и повтор действий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4241CD-C6BD-4C11-8F03-D21579185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8520" y="1675657"/>
            <a:ext cx="5719188" cy="44489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C45E9C-7964-477F-B67B-7A31EEF68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0920" y="1828057"/>
            <a:ext cx="5719188" cy="44489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DADE7E-98A1-40A1-8A31-A4C2CF48E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3320" y="1980457"/>
            <a:ext cx="5719188" cy="44489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DC3831-52C3-4245-A128-4DB02651B1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5720" y="2132857"/>
            <a:ext cx="5719188" cy="4448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859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BBF11-2C2E-49D9-BBBB-057CD71CC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Изображение в виде </a:t>
            </a:r>
            <a:r>
              <a:rPr lang="ru-RU" dirty="0" err="1"/>
              <a:t>тайлов</a:t>
            </a:r>
            <a:endParaRPr lang="ru-RU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6316CC7-A4A8-41BC-A7E4-9D3C803B2E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7688" y="2060848"/>
            <a:ext cx="5328592" cy="4071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87782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46615-75B5-49CD-93BD-2EB3950FF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Изображеине</a:t>
            </a:r>
            <a:r>
              <a:rPr lang="ru-RU" dirty="0"/>
              <a:t> размером, не кратным размеру </a:t>
            </a:r>
            <a:r>
              <a:rPr lang="ru-RU" dirty="0" err="1"/>
              <a:t>тайла</a:t>
            </a:r>
            <a:endParaRPr lang="ru-RU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F37E9358-13A5-48FD-A05B-BF873EA953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4678" y="1728841"/>
            <a:ext cx="5845618" cy="4567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51340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C1C0D-E42A-4D93-BAE1-7478BAF78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Изображение со сплошной заливкой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6D3307F-D67E-42DD-A5A2-41FA59631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8358" y="2492896"/>
            <a:ext cx="8032442" cy="3168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474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5246E92C-84F3-47F0-AF14-A29D13461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8782" y="548680"/>
            <a:ext cx="7374438" cy="576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22035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F205EE8C-EAB1-47B6-8FBD-7B417041E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4516" y="116633"/>
            <a:ext cx="5422970" cy="6624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8572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>
            <a:extLst>
              <a:ext uri="{FF2B5EF4-FFF2-40B4-BE49-F238E27FC236}">
                <a16:creationId xmlns:a16="http://schemas.microsoft.com/office/drawing/2014/main" id="{DBBC30B6-DEB6-4D2C-9356-15DFAB63FB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9698" y="86316"/>
            <a:ext cx="5472606" cy="6685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54843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434D4F5-9AC6-4AE2-8620-7D3F8C4A2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Каркас </a:t>
            </a:r>
            <a:r>
              <a:rPr lang="en-US" dirty="0" err="1"/>
              <a:t>CoW</a:t>
            </a:r>
            <a:r>
              <a:rPr lang="en-US" dirty="0"/>
              <a:t>-</a:t>
            </a:r>
            <a:r>
              <a:rPr lang="ru-RU" dirty="0"/>
              <a:t>обёртки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8A2371-AD2E-409D-8DEC-51E0B205C0B5}"/>
              </a:ext>
            </a:extLst>
          </p:cNvPr>
          <p:cNvSpPr/>
          <p:nvPr/>
        </p:nvSpPr>
        <p:spPr>
          <a:xfrm>
            <a:off x="1222912" y="1556792"/>
            <a:ext cx="948160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CoW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Конструируем значение по умолчанию.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CoW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: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make_shared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&gt;())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Создаём значение за счёт перемещения его из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CoW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&amp;&amp;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: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make_shared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move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))) {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Копируем значение из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CoW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: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make_shared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{ }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shared_ptr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&lt;Value&gt;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75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3902BF2-C18C-4A41-8DFD-1DCBDF280F97}"/>
              </a:ext>
            </a:extLst>
          </p:cNvPr>
          <p:cNvSpPr/>
          <p:nvPr/>
        </p:nvSpPr>
        <p:spPr>
          <a:xfrm>
            <a:off x="1524000" y="476673"/>
            <a:ext cx="9144000" cy="47705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CoW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...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Оператор разыменования служит для чтения значения.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operator</a:t>
            </a:r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assert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Оператор -&gt; служит для чтения полей и вызова константных методов.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operator-&gt;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assert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alue</a:t>
            </a:r>
            <a:r>
              <a:rPr lang="de-DE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...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163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D8D414-5043-4C32-B144-1AEF1EB058A9}"/>
              </a:ext>
            </a:extLst>
          </p:cNvPr>
          <p:cNvSpPr/>
          <p:nvPr/>
        </p:nvSpPr>
        <p:spPr>
          <a:xfrm>
            <a:off x="1847528" y="188640"/>
            <a:ext cx="8712968" cy="4680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literals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CoW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s1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CoW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 s2{s1};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Для доступа к значению используем операцию разыменования.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*s1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*s2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Для вызова константных методов служит стрелочка.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size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Оба указателя ссылаются на одну и ту же строку в памяти.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(&amp;*s1 == &amp;*s2);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&amp;*s1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&amp;*s2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709D69-DF52-4BD6-8643-0364C66CC29A}"/>
              </a:ext>
            </a:extLst>
          </p:cNvPr>
          <p:cNvSpPr/>
          <p:nvPr/>
        </p:nvSpPr>
        <p:spPr>
          <a:xfrm>
            <a:off x="3575720" y="5229200"/>
            <a:ext cx="4572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it-IT" dirty="0">
                <a:solidFill>
                  <a:srgbClr val="3B3B3B"/>
                </a:solidFill>
                <a:latin typeface="Consolas" panose="020B0609020204030204" pitchFamily="49" charset="0"/>
              </a:rPr>
              <a:t>Hello, Hello</a:t>
            </a:r>
          </a:p>
          <a:p>
            <a:r>
              <a:rPr lang="it-IT" dirty="0">
                <a:solidFill>
                  <a:srgbClr val="3B3B3B"/>
                </a:solidFill>
                <a:latin typeface="Consolas" panose="020B0609020204030204" pitchFamily="49" charset="0"/>
              </a:rPr>
              <a:t>5</a:t>
            </a:r>
          </a:p>
          <a:p>
            <a:r>
              <a:rPr lang="it-IT" dirty="0">
                <a:solidFill>
                  <a:srgbClr val="3B3B3B"/>
                </a:solidFill>
                <a:latin typeface="Consolas" panose="020B0609020204030204" pitchFamily="49" charset="0"/>
              </a:rPr>
              <a:t>000001B0C3ED5A30, 000001B0C3ED5A30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912E5C-753A-AA56-6827-DE2864D6C67B}"/>
              </a:ext>
            </a:extLst>
          </p:cNvPr>
          <p:cNvSpPr/>
          <p:nvPr/>
        </p:nvSpPr>
        <p:spPr>
          <a:xfrm>
            <a:off x="9696400" y="4653136"/>
            <a:ext cx="1224136" cy="360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Hello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A2F2AD-5AC1-7760-74AC-22F2F876130B}"/>
              </a:ext>
            </a:extLst>
          </p:cNvPr>
          <p:cNvSpPr/>
          <p:nvPr/>
        </p:nvSpPr>
        <p:spPr>
          <a:xfrm>
            <a:off x="8616280" y="6152530"/>
            <a:ext cx="1440160" cy="360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CoW</a:t>
            </a:r>
            <a:r>
              <a:rPr lang="en-US" dirty="0"/>
              <a:t>&lt;string&gt;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7E00CA-6EE9-BE8E-64C9-3EC13FB52605}"/>
              </a:ext>
            </a:extLst>
          </p:cNvPr>
          <p:cNvSpPr/>
          <p:nvPr/>
        </p:nvSpPr>
        <p:spPr>
          <a:xfrm>
            <a:off x="10496656" y="6152530"/>
            <a:ext cx="1440160" cy="360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CoW</a:t>
            </a:r>
            <a:r>
              <a:rPr lang="en-US" dirty="0"/>
              <a:t>&lt;string&gt;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E42C3BA-6695-ED70-95DC-C8AABF077C33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10668508" y="5021560"/>
            <a:ext cx="548228" cy="1130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B604C7E-0523-8B1B-8B19-8D5B9986AF9F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9336360" y="5021560"/>
            <a:ext cx="755868" cy="1130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4459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CE6D88-CA88-43FE-9F82-C06EE304AC2A}"/>
              </a:ext>
            </a:extLst>
          </p:cNvPr>
          <p:cNvSpPr/>
          <p:nvPr/>
        </p:nvSpPr>
        <p:spPr>
          <a:xfrm>
            <a:off x="767408" y="-1"/>
            <a:ext cx="10657184" cy="61247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CoW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...</a:t>
            </a:r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    // Write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принимает функцию, в которую </a:t>
            </a:r>
            <a:r>
              <a:rPr lang="de-DE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CoW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передаст</a:t>
            </a:r>
          </a:p>
          <a:p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неконстантную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ссылку на хранящееся значение.</a:t>
            </a:r>
            <a:endParaRPr lang="ru-RU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ModifierFn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Write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ModifierFn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&amp;&amp;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modify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EnsureUnique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Теперь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m_</a:t>
            </a:r>
            <a:r>
              <a:rPr lang="de-DE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 —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единственный владелец данных.</a:t>
            </a:r>
            <a:endParaRPr lang="ru-RU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forward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ModifierFn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modify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)(*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m_value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Удостоверяемся, что текущий объект единолично владеет данными.</a:t>
            </a:r>
            <a:endParaRPr lang="ru-RU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    // Если это не так, создаём копию и будем ссылаться на неё.</a:t>
            </a:r>
            <a:endParaRPr lang="ru-RU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EnsureUnique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assert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m_value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4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use_count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() &gt; 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            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Кроме нас на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m_</a:t>
            </a:r>
            <a:r>
              <a:rPr lang="de-DE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ссылается кто-то ещё, копируем содержимое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m_</a:t>
            </a:r>
            <a:r>
              <a:rPr lang="de-DE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m_value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make_shared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&gt;(*</a:t>
            </a:r>
            <a:r>
              <a:rPr lang="de-DE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m_value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}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...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588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ACC539F-EBAD-4BF2-9C43-59FF7F0144C2}"/>
              </a:ext>
            </a:extLst>
          </p:cNvPr>
          <p:cNvSpPr/>
          <p:nvPr/>
        </p:nvSpPr>
        <p:spPr>
          <a:xfrm>
            <a:off x="407260" y="116632"/>
            <a:ext cx="90010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literals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CoW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s1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CoW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 s2{s1};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*s1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*s2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Write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([](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Внутри этой функции можно изменить значение,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    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содержащееся в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s2.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+=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'!'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});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Теперь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s2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содержит строку "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World!".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*s1 &lt;&lt;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&lt;&lt; *s2 &lt;&lt;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Hello">
            <a:extLst>
              <a:ext uri="{FF2B5EF4-FFF2-40B4-BE49-F238E27FC236}">
                <a16:creationId xmlns:a16="http://schemas.microsoft.com/office/drawing/2014/main" id="{E60026BF-C9A3-0231-AADE-6695CDB75BCD}"/>
              </a:ext>
            </a:extLst>
          </p:cNvPr>
          <p:cNvSpPr/>
          <p:nvPr/>
        </p:nvSpPr>
        <p:spPr>
          <a:xfrm>
            <a:off x="8710603" y="4660704"/>
            <a:ext cx="1224136" cy="360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Hello</a:t>
            </a:r>
          </a:p>
        </p:txBody>
      </p:sp>
      <p:sp>
        <p:nvSpPr>
          <p:cNvPr id="4" name="Cow1">
            <a:extLst>
              <a:ext uri="{FF2B5EF4-FFF2-40B4-BE49-F238E27FC236}">
                <a16:creationId xmlns:a16="http://schemas.microsoft.com/office/drawing/2014/main" id="{6428AB83-C9EB-2A5B-AC11-78234B03DFF5}"/>
              </a:ext>
            </a:extLst>
          </p:cNvPr>
          <p:cNvSpPr/>
          <p:nvPr/>
        </p:nvSpPr>
        <p:spPr>
          <a:xfrm>
            <a:off x="8616280" y="6152530"/>
            <a:ext cx="1440160" cy="360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CoW</a:t>
            </a:r>
            <a:r>
              <a:rPr lang="en-US" dirty="0"/>
              <a:t>&lt;string&gt;</a:t>
            </a:r>
          </a:p>
        </p:txBody>
      </p:sp>
      <p:sp>
        <p:nvSpPr>
          <p:cNvPr id="5" name="Cow2">
            <a:extLst>
              <a:ext uri="{FF2B5EF4-FFF2-40B4-BE49-F238E27FC236}">
                <a16:creationId xmlns:a16="http://schemas.microsoft.com/office/drawing/2014/main" id="{8088B65B-9122-CFE4-5F25-678B55004D66}"/>
              </a:ext>
            </a:extLst>
          </p:cNvPr>
          <p:cNvSpPr/>
          <p:nvPr/>
        </p:nvSpPr>
        <p:spPr>
          <a:xfrm>
            <a:off x="10584447" y="6152530"/>
            <a:ext cx="1440160" cy="360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CoW</a:t>
            </a:r>
            <a:r>
              <a:rPr lang="en-US" dirty="0"/>
              <a:t>&lt;string&gt;</a:t>
            </a:r>
          </a:p>
        </p:txBody>
      </p:sp>
      <p:cxnSp>
        <p:nvCxnSpPr>
          <p:cNvPr id="6" name="Hello-Arrow2">
            <a:extLst>
              <a:ext uri="{FF2B5EF4-FFF2-40B4-BE49-F238E27FC236}">
                <a16:creationId xmlns:a16="http://schemas.microsoft.com/office/drawing/2014/main" id="{BA5F5E30-21F6-C5BB-BD89-842D7A94CB81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9730185" y="5020744"/>
            <a:ext cx="1574342" cy="11317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Hello-Arrow1">
            <a:extLst>
              <a:ext uri="{FF2B5EF4-FFF2-40B4-BE49-F238E27FC236}">
                <a16:creationId xmlns:a16="http://schemas.microsoft.com/office/drawing/2014/main" id="{D442F4F9-CF95-F446-3972-5CF3D1BB6E44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9322671" y="5020744"/>
            <a:ext cx="13689" cy="11317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Hello - Copy">
            <a:extLst>
              <a:ext uri="{FF2B5EF4-FFF2-40B4-BE49-F238E27FC236}">
                <a16:creationId xmlns:a16="http://schemas.microsoft.com/office/drawing/2014/main" id="{54AD8E13-7B58-228A-3F2E-41DC6ABDF272}"/>
              </a:ext>
            </a:extLst>
          </p:cNvPr>
          <p:cNvSpPr/>
          <p:nvPr/>
        </p:nvSpPr>
        <p:spPr>
          <a:xfrm>
            <a:off x="8710603" y="4655868"/>
            <a:ext cx="1224136" cy="360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Hello</a:t>
            </a:r>
          </a:p>
        </p:txBody>
      </p:sp>
      <p:sp>
        <p:nvSpPr>
          <p:cNvPr id="12" name="World">
            <a:extLst>
              <a:ext uri="{FF2B5EF4-FFF2-40B4-BE49-F238E27FC236}">
                <a16:creationId xmlns:a16="http://schemas.microsoft.com/office/drawing/2014/main" id="{33A1DC59-C0C2-6868-4F75-B9690FF30F58}"/>
              </a:ext>
            </a:extLst>
          </p:cNvPr>
          <p:cNvSpPr/>
          <p:nvPr/>
        </p:nvSpPr>
        <p:spPr>
          <a:xfrm>
            <a:off x="10692459" y="4655868"/>
            <a:ext cx="1224136" cy="360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World</a:t>
            </a:r>
          </a:p>
        </p:txBody>
      </p:sp>
      <p:sp>
        <p:nvSpPr>
          <p:cNvPr id="13" name="World !">
            <a:extLst>
              <a:ext uri="{FF2B5EF4-FFF2-40B4-BE49-F238E27FC236}">
                <a16:creationId xmlns:a16="http://schemas.microsoft.com/office/drawing/2014/main" id="{DD6B1AA9-05D4-FE99-5703-5387757FB399}"/>
              </a:ext>
            </a:extLst>
          </p:cNvPr>
          <p:cNvSpPr/>
          <p:nvPr/>
        </p:nvSpPr>
        <p:spPr>
          <a:xfrm>
            <a:off x="10692459" y="4655868"/>
            <a:ext cx="1224136" cy="360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World!</a:t>
            </a:r>
          </a:p>
        </p:txBody>
      </p:sp>
      <p:cxnSp>
        <p:nvCxnSpPr>
          <p:cNvPr id="15" name="Hello-Copy-Arrow">
            <a:extLst>
              <a:ext uri="{FF2B5EF4-FFF2-40B4-BE49-F238E27FC236}">
                <a16:creationId xmlns:a16="http://schemas.microsoft.com/office/drawing/2014/main" id="{92C2CB22-B649-8BDF-2B86-2CB546EDF349}"/>
              </a:ext>
            </a:extLst>
          </p:cNvPr>
          <p:cNvCxnSpPr>
            <a:cxnSpLocks/>
            <a:stCxn id="5" idx="0"/>
            <a:endCxn id="13" idx="2"/>
          </p:cNvCxnSpPr>
          <p:nvPr/>
        </p:nvCxnSpPr>
        <p:spPr>
          <a:xfrm flipV="1">
            <a:off x="11304527" y="5015908"/>
            <a:ext cx="0" cy="11366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0444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2.59259E-6 L 0.04362 0.04005 C 0.05261 0.04908 0.06628 0.05394 0.0806 0.05394 C 0.09688 0.05394 0.1099 0.04908 0.11888 0.04005 L 0.16263 -2.59259E-6 " pathEditMode="relative" rAng="0" ptsTypes="AAAAA">
                                      <p:cBhvr>
                                        <p:cTn id="2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125" y="268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8519E9A-E238-4696-B122-DC59FCD51099}"/>
              </a:ext>
            </a:extLst>
          </p:cNvPr>
          <p:cNvSpPr/>
          <p:nvPr/>
        </p:nvSpPr>
        <p:spPr>
          <a:xfrm>
            <a:off x="1775520" y="116632"/>
            <a:ext cx="4572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Write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([](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clear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});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5FF3FC-D040-4661-83BA-A60221C052CB}"/>
              </a:ext>
            </a:extLst>
          </p:cNvPr>
          <p:cNvSpPr/>
          <p:nvPr/>
        </p:nvSpPr>
        <p:spPr>
          <a:xfrm>
            <a:off x="1735928" y="1498264"/>
            <a:ext cx="4572000" cy="313932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67F99"/>
                </a:solidFill>
                <a:latin typeface="Consolas" panose="020B0609020204030204" pitchFamily="49" charset="0"/>
              </a:rPr>
              <a:t>CoW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...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Write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EnsureUnique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...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8B1ED6-7FF3-40A8-94F6-AF901A6F6F21}"/>
              </a:ext>
            </a:extLst>
          </p:cNvPr>
          <p:cNvSpPr/>
          <p:nvPr/>
        </p:nvSpPr>
        <p:spPr>
          <a:xfrm>
            <a:off x="1768482" y="5013176"/>
            <a:ext cx="25907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Write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clear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2966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4B4B34-2EFE-4FB0-86A3-E1C6185FC48E}"/>
              </a:ext>
            </a:extLst>
          </p:cNvPr>
          <p:cNvSpPr/>
          <p:nvPr/>
        </p:nvSpPr>
        <p:spPr>
          <a:xfrm>
            <a:off x="1765276" y="1549241"/>
            <a:ext cx="5508104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267F99"/>
                </a:solidFill>
                <a:latin typeface="Consolas" panose="020B0609020204030204" pitchFamily="49" charset="0"/>
              </a:rPr>
              <a:t>CoW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s1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data =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Write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 err="1">
                <a:solidFill>
                  <a:srgbClr val="267F99"/>
                </a:solidFill>
                <a:latin typeface="Consolas" panose="020B0609020204030204" pitchFamily="49" charset="0"/>
              </a:rPr>
              <a:t>CoW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s2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 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"Hi"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267F99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&lt;&lt; *s1 &lt;&lt;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&lt;&lt; *s2;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C42CEA-2E96-4C8B-8E4C-0DE4E85D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выведет эта программа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42C027-204A-4F31-A0FB-C082DC734905}"/>
              </a:ext>
            </a:extLst>
          </p:cNvPr>
          <p:cNvSpPr/>
          <p:nvPr/>
        </p:nvSpPr>
        <p:spPr>
          <a:xfrm>
            <a:off x="1775520" y="4581129"/>
            <a:ext cx="4572000" cy="2062103"/>
          </a:xfrm>
          <a:prstGeom prst="rect">
            <a:avLst/>
          </a:prstGeom>
        </p:spPr>
        <p:txBody>
          <a:bodyPr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sz="3200" dirty="0">
                <a:solidFill>
                  <a:srgbClr val="800000"/>
                </a:solidFill>
                <a:latin typeface="Consolas" panose="020B0609020204030204" pitchFamily="49" charset="0"/>
              </a:rPr>
              <a:t>Hello Hi</a:t>
            </a:r>
            <a:endParaRPr lang="de-DE" sz="3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DE" sz="3200" dirty="0">
                <a:solidFill>
                  <a:srgbClr val="800000"/>
                </a:solidFill>
                <a:latin typeface="Consolas" panose="020B0609020204030204" pitchFamily="49" charset="0"/>
              </a:rPr>
              <a:t>Hello </a:t>
            </a:r>
            <a:r>
              <a:rPr lang="de-DE" sz="3200" dirty="0" err="1">
                <a:solidFill>
                  <a:srgbClr val="800000"/>
                </a:solidFill>
                <a:latin typeface="Consolas" panose="020B0609020204030204" pitchFamily="49" charset="0"/>
              </a:rPr>
              <a:t>Hello</a:t>
            </a:r>
            <a:endParaRPr lang="de-DE" sz="3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DE" sz="3200" dirty="0">
                <a:solidFill>
                  <a:srgbClr val="800000"/>
                </a:solidFill>
                <a:latin typeface="Consolas" panose="020B0609020204030204" pitchFamily="49" charset="0"/>
              </a:rPr>
              <a:t>Hi Hello</a:t>
            </a:r>
            <a:endParaRPr lang="de-DE" sz="3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DE" sz="3200" dirty="0">
                <a:solidFill>
                  <a:srgbClr val="800000"/>
                </a:solidFill>
                <a:latin typeface="Consolas" panose="020B0609020204030204" pitchFamily="49" charset="0"/>
              </a:rPr>
              <a:t>Hi </a:t>
            </a:r>
            <a:r>
              <a:rPr lang="de-DE" sz="3200" dirty="0" err="1">
                <a:solidFill>
                  <a:srgbClr val="800000"/>
                </a:solidFill>
                <a:latin typeface="Consolas" panose="020B0609020204030204" pitchFamily="49" charset="0"/>
              </a:rPr>
              <a:t>Hi</a:t>
            </a:r>
            <a:endParaRPr lang="de-DE" sz="32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694A33-D5E7-4E1F-87F9-E34451DCD481}"/>
              </a:ext>
            </a:extLst>
          </p:cNvPr>
          <p:cNvSpPr/>
          <p:nvPr/>
        </p:nvSpPr>
        <p:spPr>
          <a:xfrm>
            <a:off x="2164854" y="6067167"/>
            <a:ext cx="1728192" cy="57606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55D8594-EC5D-BB7B-DDB5-0D5B51B3A483}"/>
              </a:ext>
            </a:extLst>
          </p:cNvPr>
          <p:cNvGrpSpPr/>
          <p:nvPr/>
        </p:nvGrpSpPr>
        <p:grpSpPr>
          <a:xfrm>
            <a:off x="7049852" y="4617132"/>
            <a:ext cx="3493274" cy="1702063"/>
            <a:chOff x="7049852" y="4617132"/>
            <a:chExt cx="3493274" cy="170206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2BF9F19-808B-D775-4A6B-E2D2B80E71B3}"/>
                </a:ext>
              </a:extLst>
            </p:cNvPr>
            <p:cNvSpPr/>
            <p:nvPr/>
          </p:nvSpPr>
          <p:spPr>
            <a:xfrm>
              <a:off x="8472264" y="4617132"/>
              <a:ext cx="720080" cy="5040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s1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1B37BAB-E094-D8BC-DD85-B8B41B95A05D}"/>
                </a:ext>
              </a:extLst>
            </p:cNvPr>
            <p:cNvSpPr/>
            <p:nvPr/>
          </p:nvSpPr>
          <p:spPr>
            <a:xfrm>
              <a:off x="9823046" y="4617132"/>
              <a:ext cx="720080" cy="5040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s2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95C2FD8-2B84-0D00-029C-788CFECE405E}"/>
                </a:ext>
              </a:extLst>
            </p:cNvPr>
            <p:cNvSpPr/>
            <p:nvPr/>
          </p:nvSpPr>
          <p:spPr>
            <a:xfrm>
              <a:off x="8472264" y="5815139"/>
              <a:ext cx="2070861" cy="5040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Hello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B16A383-21B5-A37E-915E-35FA960A071F}"/>
                </a:ext>
              </a:extLst>
            </p:cNvPr>
            <p:cNvSpPr/>
            <p:nvPr/>
          </p:nvSpPr>
          <p:spPr>
            <a:xfrm>
              <a:off x="7049852" y="5815139"/>
              <a:ext cx="720080" cy="5040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data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31D0BC2-778B-621D-AAC8-13B6B555D36B}"/>
                </a:ext>
              </a:extLst>
            </p:cNvPr>
            <p:cNvCxnSpPr>
              <a:stCxn id="6" idx="2"/>
              <a:endCxn id="11" idx="0"/>
            </p:cNvCxnSpPr>
            <p:nvPr/>
          </p:nvCxnSpPr>
          <p:spPr>
            <a:xfrm>
              <a:off x="8832304" y="5121188"/>
              <a:ext cx="675391" cy="6939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91B2984-A1F4-8A55-EF42-3D66BF117910}"/>
                </a:ext>
              </a:extLst>
            </p:cNvPr>
            <p:cNvCxnSpPr>
              <a:stCxn id="9" idx="2"/>
              <a:endCxn id="11" idx="0"/>
            </p:cNvCxnSpPr>
            <p:nvPr/>
          </p:nvCxnSpPr>
          <p:spPr>
            <a:xfrm flipH="1">
              <a:off x="9507695" y="5121188"/>
              <a:ext cx="675391" cy="6939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887EEEE-43FE-9EA2-0C5A-181B6B06B38C}"/>
                </a:ext>
              </a:extLst>
            </p:cNvPr>
            <p:cNvCxnSpPr>
              <a:stCxn id="12" idx="3"/>
              <a:endCxn id="11" idx="1"/>
            </p:cNvCxnSpPr>
            <p:nvPr/>
          </p:nvCxnSpPr>
          <p:spPr>
            <a:xfrm>
              <a:off x="7769932" y="6067167"/>
              <a:ext cx="702332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54FA2981-1E4D-9691-AA84-2C0901D20297}"/>
              </a:ext>
            </a:extLst>
          </p:cNvPr>
          <p:cNvSpPr/>
          <p:nvPr/>
        </p:nvSpPr>
        <p:spPr>
          <a:xfrm>
            <a:off x="8472264" y="5815139"/>
            <a:ext cx="2070861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</a:t>
            </a:r>
          </a:p>
        </p:txBody>
      </p:sp>
    </p:spTree>
    <p:extLst>
      <p:ext uri="{BB962C8B-B14F-4D97-AF65-F5344CB8AC3E}">
        <p14:creationId xmlns:p14="http://schemas.microsoft.com/office/powerpoint/2010/main" val="103811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4943C1-FF21-4635-8378-11CE17E69BD8}"/>
              </a:ext>
            </a:extLst>
          </p:cNvPr>
          <p:cNvSpPr/>
          <p:nvPr/>
        </p:nvSpPr>
        <p:spPr>
          <a:xfrm>
            <a:off x="1577752" y="9241"/>
            <a:ext cx="9918848" cy="69249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CoW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Прокси-объект объявлен в приватной области. Поэтому его нельзя создать снаружи класса.</a:t>
            </a:r>
            <a:endParaRPr lang="ru-RU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WriteProxy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200" dirty="0">
                <a:solidFill>
                  <a:srgbClr val="0000FF"/>
                </a:solidFill>
                <a:latin typeface="Consolas" panose="020B0609020204030204" pitchFamily="49" charset="0"/>
              </a:rPr>
              <a:t>explicit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WriteProxy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200" dirty="0">
                <a:solidFill>
                  <a:srgbClr val="0000FF"/>
                </a:solidFill>
                <a:latin typeface="Consolas" panose="020B0609020204030204" pitchFamily="49" charset="0"/>
              </a:rPr>
              <a:t>*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: </a:t>
            </a:r>
            <a:r>
              <a:rPr lang="de-DE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m_valuePtr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de-DE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} { }</a:t>
            </a:r>
            <a:b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Прокси-объект нельзя копировать и присваивать.</a:t>
            </a:r>
            <a:endParaRPr lang="ru-RU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WriteProxy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WriteProxy</a:t>
            </a:r>
            <a:r>
              <a:rPr lang="de-DE" sz="12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) =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WriteProxy</a:t>
            </a:r>
            <a:r>
              <a:rPr lang="de-DE" sz="12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operator</a:t>
            </a:r>
            <a:r>
              <a:rPr lang="de-DE" sz="1200" dirty="0">
                <a:solidFill>
                  <a:srgbClr val="AF00DB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WriteProxy</a:t>
            </a:r>
            <a:r>
              <a:rPr lang="de-DE" sz="12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) =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У </a:t>
            </a:r>
            <a:r>
              <a:rPr lang="de-DE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lvalue</a:t>
            </a: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-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ссылок операции разыменования нет.</a:t>
            </a:r>
            <a:endParaRPr lang="ru-RU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2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operator</a:t>
            </a:r>
            <a:r>
              <a:rPr lang="de-DE" sz="1200" dirty="0">
                <a:solidFill>
                  <a:srgbClr val="AF00DB"/>
                </a:solidFill>
                <a:latin typeface="Consolas" panose="020B0609020204030204" pitchFamily="49" charset="0"/>
              </a:rPr>
              <a:t>*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=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А у </a:t>
            </a:r>
            <a:r>
              <a:rPr lang="de-DE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rvalue</a:t>
            </a: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-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ссылок разыменование есть.</a:t>
            </a:r>
            <a:endParaRPr lang="ru-RU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[[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nodiscard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2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operator</a:t>
            </a:r>
            <a:r>
              <a:rPr lang="de-DE" sz="1200" dirty="0">
                <a:solidFill>
                  <a:srgbClr val="AF00DB"/>
                </a:solidFill>
                <a:latin typeface="Consolas" panose="020B0609020204030204" pitchFamily="49" charset="0"/>
              </a:rPr>
              <a:t>*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&amp;&amp;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de-DE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m_valuePtr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}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У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lvalue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-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ссылок операции -&gt; нет.</a:t>
            </a:r>
            <a:endParaRPr lang="ru-RU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200" dirty="0">
                <a:solidFill>
                  <a:srgbClr val="0000FF"/>
                </a:solidFill>
                <a:latin typeface="Consolas" panose="020B0609020204030204" pitchFamily="49" charset="0"/>
              </a:rPr>
              <a:t>*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AF00DB"/>
                </a:solidFill>
                <a:latin typeface="Consolas" panose="020B0609020204030204" pitchFamily="49" charset="0"/>
              </a:rPr>
              <a:t>operator-&gt;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=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У </a:t>
            </a:r>
            <a:r>
              <a:rPr lang="de-DE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rvalue</a:t>
            </a: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-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ссылок операция -&gt; есть.</a:t>
            </a:r>
            <a:endParaRPr lang="ru-RU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sz="1200" dirty="0">
                <a:solidFill>
                  <a:srgbClr val="0000FF"/>
                </a:solidFill>
                <a:latin typeface="Consolas" panose="020B0609020204030204" pitchFamily="49" charset="0"/>
              </a:rPr>
              <a:t>*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AF00DB"/>
                </a:solidFill>
                <a:latin typeface="Consolas" panose="020B0609020204030204" pitchFamily="49" charset="0"/>
              </a:rPr>
              <a:t>operator-&gt;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&amp;&amp;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m_valuePtr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}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sz="12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Value* </a:t>
            </a:r>
            <a:r>
              <a:rPr lang="de-DE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m_valuePtr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2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b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[[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nodiscard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WriteProxy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795E26"/>
                </a:solidFill>
                <a:latin typeface="Consolas" panose="020B0609020204030204" pitchFamily="49" charset="0"/>
              </a:rPr>
              <a:t>Write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EnsureUnique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b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Возвращаем прокси-объект для модификации данных.</a:t>
            </a:r>
            <a:endParaRPr lang="ru-RU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de-DE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WriteProxy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get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...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841347-3279-4B14-AF27-C8EEDB79ADD6}"/>
              </a:ext>
            </a:extLst>
          </p:cNvPr>
          <p:cNvSpPr/>
          <p:nvPr/>
        </p:nvSpPr>
        <p:spPr>
          <a:xfrm>
            <a:off x="7289350" y="4509121"/>
            <a:ext cx="4639298" cy="1323439"/>
          </a:xfrm>
          <a:prstGeom prst="rect">
            <a:avLst/>
          </a:prstGeom>
          <a:ln>
            <a:solidFill>
              <a:srgbClr val="ED0378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CoW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600" dirty="0">
                <a:solidFill>
                  <a:srgbClr val="795E26"/>
                </a:solidFill>
                <a:latin typeface="Consolas" panose="020B0609020204030204" pitchFamily="49" charset="0"/>
              </a:rPr>
              <a:t>s1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US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writer = 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795E26"/>
                </a:solidFill>
                <a:latin typeface="Consolas" panose="020B0609020204030204" pitchFamily="49" charset="0"/>
              </a:rPr>
              <a:t>Write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US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Ошибка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компиляции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b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writer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>
                <a:solidFill>
                  <a:srgbClr val="795E26"/>
                </a:solidFill>
                <a:latin typeface="Consolas" panose="020B0609020204030204" pitchFamily="49" charset="0"/>
              </a:rPr>
              <a:t>append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"!!!"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US" sz="16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95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5457DD-7AFD-46A5-9A8A-6ECA27F2B795}"/>
              </a:ext>
            </a:extLst>
          </p:cNvPr>
          <p:cNvSpPr/>
          <p:nvPr/>
        </p:nvSpPr>
        <p:spPr>
          <a:xfrm>
            <a:off x="1524000" y="836713"/>
            <a:ext cx="925252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CoW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s1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CoW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 s2{s1};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Чтобы изменить значение, нужно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разыменовать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результат вызова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Write().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Write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=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Wor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Write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 +=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'ld'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Можно вызывать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неконстантные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методы, используя -&gt;.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Write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()-&gt;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append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1826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FC364C-5250-7161-0532-8D0392A3DD34}"/>
              </a:ext>
            </a:extLst>
          </p:cNvPr>
          <p:cNvSpPr txBox="1"/>
          <p:nvPr/>
        </p:nvSpPr>
        <p:spPr>
          <a:xfrm>
            <a:off x="1415480" y="332656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CoW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…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WriteProxy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operator--(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m_shared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EnsureUnique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WriteProxy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m_shared.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60EDB8-3C3E-4483-1659-2BF64ADE5475}"/>
              </a:ext>
            </a:extLst>
          </p:cNvPr>
          <p:cNvSpPr txBox="1"/>
          <p:nvPr/>
        </p:nvSpPr>
        <p:spPr>
          <a:xfrm>
            <a:off x="1380580" y="4005064"/>
            <a:ext cx="91799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Можно вызывать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неконстантные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методы, используя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--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-&gt;.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---&gt;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append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14395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D733-32D0-636E-1A85-638AAFBE9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Protection Proxy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536467-EECC-2825-9AC8-0B1DA6396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8386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44FC72-8829-AC95-3A9C-7ECB50822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Защищающий заместитель (Protection </a:t>
            </a:r>
            <a:r>
              <a:rPr lang="ru-RU" dirty="0" err="1"/>
              <a:t>Proxy</a:t>
            </a:r>
            <a:r>
              <a:rPr lang="ru-RU" dirty="0"/>
              <a:t>)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5F771DD-244C-F75D-4FF7-D53D715E8A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Контролирует доступ к реальному объекту</a:t>
            </a:r>
          </a:p>
          <a:p>
            <a:r>
              <a:rPr lang="ru-RU" dirty="0"/>
              <a:t>Проверяет права, полномочия и параметры вызова</a:t>
            </a:r>
          </a:p>
          <a:p>
            <a:r>
              <a:rPr lang="ru-RU" dirty="0"/>
              <a:t>Ограничивает выполнение отдельных методов</a:t>
            </a:r>
          </a:p>
          <a:p>
            <a:r>
              <a:rPr lang="ru-RU" dirty="0"/>
              <a:t>Полезен, когда объект может быть:</a:t>
            </a:r>
            <a:br>
              <a:rPr lang="ru-RU" dirty="0"/>
            </a:br>
            <a:r>
              <a:rPr lang="ru-RU" dirty="0"/>
              <a:t>– опасным,</a:t>
            </a:r>
            <a:br>
              <a:rPr lang="ru-RU" dirty="0"/>
            </a:br>
            <a:r>
              <a:rPr lang="ru-RU" dirty="0"/>
              <a:t>– критичным,</a:t>
            </a:r>
            <a:br>
              <a:rPr lang="ru-RU" dirty="0"/>
            </a:br>
            <a:r>
              <a:rPr lang="ru-RU" dirty="0"/>
              <a:t>– требующим авторизации</a:t>
            </a:r>
          </a:p>
          <a:p>
            <a:r>
              <a:rPr lang="ru-RU" dirty="0"/>
              <a:t>Реальный объект остаётся неизменным</a:t>
            </a:r>
            <a:endParaRPr lang="en-US" dirty="0"/>
          </a:p>
          <a:p>
            <a:pPr lvl="1"/>
            <a:r>
              <a:rPr lang="ru-RU" dirty="0"/>
              <a:t>вся логика безопасности вынесена в прокси-слой</a:t>
            </a:r>
          </a:p>
        </p:txBody>
      </p:sp>
    </p:spTree>
    <p:extLst>
      <p:ext uri="{BB962C8B-B14F-4D97-AF65-F5344CB8AC3E}">
        <p14:creationId xmlns:p14="http://schemas.microsoft.com/office/powerpoint/2010/main" val="1429249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CCF0A-B0CD-199B-DCBD-4F50E7AE7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применения Protection </a:t>
            </a:r>
            <a:r>
              <a:rPr lang="ru-RU" dirty="0" err="1"/>
              <a:t>Proxy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75665-6537-3E5B-DA02-85DB994F56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Ограничение доступа к методам:</a:t>
            </a:r>
            <a:endParaRPr lang="en-US" dirty="0"/>
          </a:p>
          <a:p>
            <a:pPr lvl="1"/>
            <a:r>
              <a:rPr lang="ru-RU" dirty="0"/>
              <a:t>только администратор может выполнять опасные операции</a:t>
            </a:r>
            <a:endParaRPr lang="en-US" dirty="0"/>
          </a:p>
          <a:p>
            <a:pPr lvl="1"/>
            <a:r>
              <a:rPr lang="ru-RU" dirty="0"/>
              <a:t>изменение объекта доступно не всем пользователям</a:t>
            </a:r>
          </a:p>
          <a:p>
            <a:r>
              <a:rPr lang="ru-RU" dirty="0"/>
              <a:t>Безопасная работа с ресурсами:</a:t>
            </a:r>
            <a:endParaRPr lang="en-US" dirty="0"/>
          </a:p>
          <a:p>
            <a:pPr lvl="1"/>
            <a:r>
              <a:rPr lang="ru-RU" dirty="0"/>
              <a:t>защита конфиденциальных данных</a:t>
            </a:r>
            <a:endParaRPr lang="en-US" dirty="0"/>
          </a:p>
          <a:p>
            <a:pPr lvl="1"/>
            <a:r>
              <a:rPr lang="ru-RU" dirty="0"/>
              <a:t>запрет стороннему коду вызывать определённые функции</a:t>
            </a:r>
          </a:p>
          <a:p>
            <a:r>
              <a:rPr lang="ru-RU" dirty="0"/>
              <a:t>Встроенные ограничения:</a:t>
            </a:r>
            <a:endParaRPr lang="en-US" dirty="0"/>
          </a:p>
          <a:p>
            <a:pPr lvl="1"/>
            <a:r>
              <a:rPr lang="ru-RU" dirty="0"/>
              <a:t>проверка диапазона параметров</a:t>
            </a:r>
            <a:endParaRPr lang="en-US" dirty="0"/>
          </a:p>
          <a:p>
            <a:pPr lvl="1"/>
            <a:r>
              <a:rPr lang="ru-RU" dirty="0"/>
              <a:t>предотвращение некорректных или вредоносных вызовов</a:t>
            </a:r>
          </a:p>
          <a:p>
            <a:r>
              <a:rPr lang="ru-RU" dirty="0"/>
              <a:t>Используется в:</a:t>
            </a:r>
            <a:endParaRPr lang="en-US" dirty="0"/>
          </a:p>
          <a:p>
            <a:pPr lvl="1"/>
            <a:r>
              <a:rPr lang="ru-RU" dirty="0"/>
              <a:t>API и сервисах</a:t>
            </a:r>
            <a:endParaRPr lang="en-US" dirty="0"/>
          </a:p>
          <a:p>
            <a:pPr lvl="1"/>
            <a:r>
              <a:rPr lang="ru-RU" dirty="0"/>
              <a:t>библиотеках плагинов</a:t>
            </a:r>
            <a:endParaRPr lang="en-US" dirty="0"/>
          </a:p>
          <a:p>
            <a:pPr lvl="1"/>
            <a:r>
              <a:rPr lang="ru-RU" dirty="0"/>
              <a:t>системах с уровнями доступа</a:t>
            </a:r>
            <a:endParaRPr lang="en-US" dirty="0"/>
          </a:p>
          <a:p>
            <a:pPr lvl="1"/>
            <a:r>
              <a:rPr lang="ru-RU" dirty="0" err="1"/>
              <a:t>рантаймах</a:t>
            </a:r>
            <a:r>
              <a:rPr lang="ru-RU" dirty="0"/>
              <a:t> сценариев (</a:t>
            </a:r>
            <a:r>
              <a:rPr lang="ru-RU" dirty="0" err="1"/>
              <a:t>sandboxing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098978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42A811-17B7-DEB0-D72F-D319813C8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документа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735920-09DE-D3ED-ABED-463D2FCDD1CE}"/>
              </a:ext>
            </a:extLst>
          </p:cNvPr>
          <p:cNvSpPr txBox="1"/>
          <p:nvPr/>
        </p:nvSpPr>
        <p:spPr>
          <a:xfrm>
            <a:off x="838200" y="1779687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Role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Guest,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User,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Admin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name;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role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::Guest;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Интерфейс документа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Idocument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Edit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newText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IDocument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347290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E7DED-DD40-25FD-2F04-59AB0E9AE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Реальный документ (без проверки прав)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78C6DE-F11E-F899-84A5-FFECA0EB602B}"/>
              </a:ext>
            </a:extLst>
          </p:cNvPr>
          <p:cNvSpPr txBox="1"/>
          <p:nvPr/>
        </p:nvSpPr>
        <p:spPr>
          <a:xfrm>
            <a:off x="838200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D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ocument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Document content: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Edit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newText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Editing document...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newText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Deleting document...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clear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1814150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B5E4F31-0E1C-1B97-95C7-CBE8B2D19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Защищающий заместитель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3DE845-7B4E-17A2-3542-ACD06D383421}"/>
              </a:ext>
            </a:extLst>
          </p:cNvPr>
          <p:cNvSpPr txBox="1"/>
          <p:nvPr/>
        </p:nvSpPr>
        <p:spPr>
          <a:xfrm>
            <a:off x="838200" y="1690688"/>
            <a:ext cx="10515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DocumentProtectionProxy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D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ocument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DocumentProtectionProxy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IDocument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realDoc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currentUser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m_realDoc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realDoc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m_user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currentUser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m_realDoc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Чтение доступно всем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HasWriteAccess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6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m_user.role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Role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::User ||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m_user.role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Role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::Admin;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HasAdminAccess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sz="16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m_user.role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Role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::Admin;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shared_ptr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IDocument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m_realDoc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User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m_user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0854439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25249-13E9-F011-8806-8539B32C0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F962E74-939F-B54A-B14C-D5BF94234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Защищающий заместитель (продолжение)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8B1280-F3B1-CDF3-8A04-0034EA05E5D7}"/>
              </a:ext>
            </a:extLst>
          </p:cNvPr>
          <p:cNvSpPr txBox="1"/>
          <p:nvPr/>
        </p:nvSpPr>
        <p:spPr>
          <a:xfrm>
            <a:off x="838200" y="1690688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DocumentProtectionProxy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D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ocument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…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Edit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newText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override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600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(!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HasWriteAccess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Access denied: user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m_user.name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     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is not allowed to edit the document</a:t>
            </a:r>
            <a:r>
              <a:rPr lang="en-US" sz="1600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16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m_realDoc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Edit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newText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Delete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override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600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(!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HasAdminAccess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Access denied: user '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m_user.name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     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 is not allowed to delete the document</a:t>
            </a:r>
            <a:r>
              <a:rPr lang="en-US" sz="1600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16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m_realDoc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Delete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61553767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6F0BF25-F36E-70D6-4E7B-BE12DF23AF92}"/>
              </a:ext>
            </a:extLst>
          </p:cNvPr>
          <p:cNvSpPr txBox="1"/>
          <p:nvPr/>
        </p:nvSpPr>
        <p:spPr>
          <a:xfrm>
            <a:off x="335360" y="305068"/>
            <a:ext cx="105156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realDoc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make_shared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Top secret data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 Guest ---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User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guest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Alice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Role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::Guest };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DocumentProtectionProxy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guestDoc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realDoc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guest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guestDoc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guestDoc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Edit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New text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нет прав на редактирование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guestDoc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нет прав на удаление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 Editor ---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User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editor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Bob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Role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::User };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DocumentProtectionProxy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editorDoc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realDoc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editor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editorDoc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editorDoc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Edit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Edited by editor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редактировать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editorDoc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удалять нельзя</a:t>
            </a: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 Admin ---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User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admin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Charlie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Role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::Admin };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DocumentProtectionProxy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adminDoc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realDoc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admin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adminDoc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adminDoc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Edit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Edited by admin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adminDoc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админ может всё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46932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084AB-83F6-86A2-6488-C5A5EAB91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с паттерном </a:t>
            </a:r>
            <a:r>
              <a:rPr lang="en-US" dirty="0"/>
              <a:t>Decorator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F53174-8750-79B4-C709-6F0BFCD891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71935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60DDD2-8230-6608-5B91-6E54C4CAC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vs Decorator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30987B-764A-2F29-95FB-FDAAB5A43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Чем похожи:</a:t>
            </a:r>
          </a:p>
          <a:p>
            <a:pPr lvl="1"/>
            <a:r>
              <a:rPr lang="ru-RU" dirty="0"/>
              <a:t>И </a:t>
            </a:r>
            <a:r>
              <a:rPr lang="ru-RU" dirty="0" err="1"/>
              <a:t>Proxy</a:t>
            </a:r>
            <a:r>
              <a:rPr lang="ru-RU" dirty="0"/>
              <a:t>, и </a:t>
            </a:r>
            <a:r>
              <a:rPr lang="ru-RU" dirty="0" err="1"/>
              <a:t>Decorator</a:t>
            </a:r>
            <a:r>
              <a:rPr lang="ru-RU" dirty="0"/>
              <a:t> оборачивают объект</a:t>
            </a:r>
          </a:p>
          <a:p>
            <a:pPr lvl="1"/>
            <a:r>
              <a:rPr lang="ru-RU" dirty="0"/>
              <a:t>Оба реализуют тот же интерфейс, что и исходный объект</a:t>
            </a:r>
          </a:p>
          <a:p>
            <a:pPr lvl="1"/>
            <a:r>
              <a:rPr lang="ru-RU" dirty="0"/>
              <a:t>Клиент работает с ними как с обычным объектом</a:t>
            </a:r>
          </a:p>
          <a:p>
            <a:r>
              <a:rPr lang="ru-RU" b="1" dirty="0"/>
              <a:t>В чём различия:</a:t>
            </a:r>
          </a:p>
          <a:p>
            <a:pPr lvl="1"/>
            <a:r>
              <a:rPr lang="ru-RU" b="1" dirty="0" err="1"/>
              <a:t>Proxy</a:t>
            </a:r>
            <a:r>
              <a:rPr lang="en-US" b="1" dirty="0"/>
              <a:t> =</a:t>
            </a:r>
            <a:r>
              <a:rPr lang="ru-RU" b="1" dirty="0"/>
              <a:t> «Посредник»</a:t>
            </a:r>
            <a:endParaRPr lang="ru-RU" dirty="0"/>
          </a:p>
          <a:p>
            <a:pPr lvl="2"/>
            <a:r>
              <a:rPr lang="ru-RU" dirty="0"/>
              <a:t>Управляет доступом к объекту</a:t>
            </a:r>
          </a:p>
          <a:p>
            <a:pPr lvl="2"/>
            <a:r>
              <a:rPr lang="ru-RU" dirty="0"/>
              <a:t>Может откладывать создание, контролировать безопасность, скрывать удалённость</a:t>
            </a:r>
          </a:p>
          <a:p>
            <a:pPr lvl="2"/>
            <a:r>
              <a:rPr lang="ru-RU" dirty="0"/>
              <a:t>Фокус — </a:t>
            </a:r>
            <a:r>
              <a:rPr lang="ru-RU" i="1" dirty="0"/>
              <a:t>контроль и организация доступа</a:t>
            </a:r>
            <a:endParaRPr lang="ru-RU" dirty="0"/>
          </a:p>
          <a:p>
            <a:pPr lvl="2"/>
            <a:r>
              <a:rPr lang="ru-RU" dirty="0"/>
              <a:t>Цель — скрыть сложность, </a:t>
            </a:r>
            <a:r>
              <a:rPr lang="ru-RU" dirty="0" err="1"/>
              <a:t>ресурсность</a:t>
            </a:r>
            <a:r>
              <a:rPr lang="ru-RU" dirty="0"/>
              <a:t> или расположение объекта</a:t>
            </a:r>
          </a:p>
          <a:p>
            <a:pPr lvl="1"/>
            <a:r>
              <a:rPr lang="ru-RU" b="1" dirty="0" err="1"/>
              <a:t>Decorator</a:t>
            </a:r>
            <a:r>
              <a:rPr lang="ru-RU" b="1" dirty="0"/>
              <a:t> – «Расширитель»</a:t>
            </a:r>
            <a:endParaRPr lang="ru-RU" dirty="0"/>
          </a:p>
          <a:p>
            <a:pPr lvl="2"/>
            <a:r>
              <a:rPr lang="ru-RU" dirty="0"/>
              <a:t>Добавляет новое поведение поверх объекта</a:t>
            </a:r>
          </a:p>
          <a:p>
            <a:pPr lvl="2"/>
            <a:r>
              <a:rPr lang="ru-RU" dirty="0"/>
              <a:t>Расширяет функциональность без изменения исходного класса</a:t>
            </a:r>
          </a:p>
          <a:p>
            <a:pPr lvl="2"/>
            <a:r>
              <a:rPr lang="ru-RU" dirty="0"/>
              <a:t>Фокус — </a:t>
            </a:r>
            <a:r>
              <a:rPr lang="ru-RU" i="1" dirty="0"/>
              <a:t>поведение и возможности объекта</a:t>
            </a:r>
            <a:endParaRPr lang="ru-RU" dirty="0"/>
          </a:p>
          <a:p>
            <a:pPr lvl="2"/>
            <a:r>
              <a:rPr lang="ru-RU" dirty="0"/>
              <a:t>Цель — динамически наращивать функциональность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97946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6EF51-B498-2458-C97B-6BF6E5082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Кеширование: </a:t>
            </a:r>
            <a:r>
              <a:rPr lang="en-US" dirty="0"/>
              <a:t>Proxy </a:t>
            </a:r>
            <a:r>
              <a:rPr lang="ru-RU" dirty="0"/>
              <a:t>или </a:t>
            </a:r>
            <a:r>
              <a:rPr lang="en-US" dirty="0"/>
              <a:t>Decorator?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3082E1-D0EA-A0E2-C282-7B716B7EA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это </a:t>
            </a:r>
            <a:r>
              <a:rPr lang="ru-RU" dirty="0" err="1"/>
              <a:t>Proxy</a:t>
            </a:r>
            <a:r>
              <a:rPr lang="ru-RU" dirty="0"/>
              <a:t>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F07A0C-23F4-3BB4-D282-31FC2902DD0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Цель — </a:t>
            </a:r>
            <a:r>
              <a:rPr lang="ru-RU" b="1" dirty="0"/>
              <a:t>оптимизировать доступ</a:t>
            </a:r>
            <a:r>
              <a:rPr lang="ru-RU" dirty="0"/>
              <a:t> к дорогому объекту</a:t>
            </a:r>
          </a:p>
          <a:p>
            <a:r>
              <a:rPr lang="ru-RU" dirty="0"/>
              <a:t>Кэширование скрывает:</a:t>
            </a:r>
            <a:br>
              <a:rPr lang="ru-RU" dirty="0"/>
            </a:br>
            <a:r>
              <a:rPr lang="ru-RU" dirty="0"/>
              <a:t>• вычислительную стоимость</a:t>
            </a:r>
            <a:br>
              <a:rPr lang="ru-RU" dirty="0"/>
            </a:br>
            <a:r>
              <a:rPr lang="ru-RU" dirty="0"/>
              <a:t>• задержки</a:t>
            </a:r>
            <a:br>
              <a:rPr lang="ru-RU" dirty="0"/>
            </a:br>
            <a:r>
              <a:rPr lang="ru-RU" dirty="0"/>
              <a:t>• особенности использования ресурса</a:t>
            </a:r>
          </a:p>
          <a:p>
            <a:r>
              <a:rPr lang="ru-RU" dirty="0"/>
              <a:t>Клиент не знает о кэше</a:t>
            </a:r>
          </a:p>
          <a:p>
            <a:r>
              <a:rPr lang="ru-RU" dirty="0"/>
              <a:t>Поведение объекта </a:t>
            </a:r>
            <a:r>
              <a:rPr lang="ru-RU" i="1" dirty="0"/>
              <a:t>не меняется</a:t>
            </a:r>
            <a:r>
              <a:rPr lang="ru-RU" dirty="0"/>
              <a:t>, меняется только способ доступа</a:t>
            </a:r>
            <a:br>
              <a:rPr lang="ru-RU" dirty="0"/>
            </a:br>
            <a:r>
              <a:rPr lang="ru-RU" dirty="0"/>
              <a:t>→ </a:t>
            </a:r>
            <a:r>
              <a:rPr lang="ru-RU" b="1" dirty="0"/>
              <a:t>Smart </a:t>
            </a:r>
            <a:r>
              <a:rPr lang="ru-RU" b="1" dirty="0" err="1"/>
              <a:t>Proxy</a:t>
            </a:r>
            <a:endParaRPr lang="ru-RU" dirty="0"/>
          </a:p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6DD1CF5-FDBA-E74B-8A04-83CAE3407A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/>
              <a:t>Когда это </a:t>
            </a:r>
            <a:r>
              <a:rPr lang="ru-RU" dirty="0" err="1"/>
              <a:t>Decorator</a:t>
            </a:r>
            <a:r>
              <a:rPr lang="ru-RU" dirty="0"/>
              <a:t>?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B402D48-8908-B478-78C4-5D1390C1743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Цель — </a:t>
            </a:r>
            <a:r>
              <a:rPr lang="ru-RU" b="1" dirty="0"/>
              <a:t>расширить функциональность</a:t>
            </a:r>
            <a:r>
              <a:rPr lang="ru-RU" dirty="0"/>
              <a:t> объекта</a:t>
            </a:r>
          </a:p>
          <a:p>
            <a:r>
              <a:rPr lang="ru-RU" dirty="0"/>
              <a:t>Кэширование рассматривается как дополнительная «фича»</a:t>
            </a:r>
          </a:p>
          <a:p>
            <a:r>
              <a:rPr lang="ru-RU" dirty="0"/>
              <a:t>Клиент сознательно использует «кэшируемую» версию объекта</a:t>
            </a:r>
          </a:p>
          <a:p>
            <a:r>
              <a:rPr lang="ru-RU" dirty="0"/>
              <a:t>Поведение объекта </a:t>
            </a:r>
            <a:r>
              <a:rPr lang="ru-RU" i="1" dirty="0"/>
              <a:t>расширяется</a:t>
            </a:r>
            <a:r>
              <a:rPr lang="ru-RU" dirty="0"/>
              <a:t>, а не скрывается</a:t>
            </a:r>
            <a:r>
              <a:rPr lang="en-US" dirty="0"/>
              <a:t> </a:t>
            </a:r>
            <a:r>
              <a:rPr lang="ru-RU" dirty="0"/>
              <a:t>→ </a:t>
            </a:r>
            <a:r>
              <a:rPr lang="ru-RU" b="1" dirty="0" err="1"/>
              <a:t>Decorator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08736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9EC66E8-8198-33B6-A9ED-EFB5A4382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Proxy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8554C1-C801-C933-77A0-33496FFFB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Клиент вызывает объект </a:t>
            </a:r>
            <a:r>
              <a:rPr lang="ru-RU" b="1" dirty="0"/>
              <a:t>через интерфейс</a:t>
            </a:r>
            <a:r>
              <a:rPr lang="ru-RU" dirty="0"/>
              <a:t>, не зная о кэше</a:t>
            </a:r>
          </a:p>
          <a:p>
            <a:r>
              <a:rPr lang="ru-RU" dirty="0"/>
              <a:t>Цель — </a:t>
            </a:r>
            <a:r>
              <a:rPr lang="ru-RU" b="1" dirty="0"/>
              <a:t>оптимизировать доступ</a:t>
            </a:r>
            <a:r>
              <a:rPr lang="ru-RU" dirty="0"/>
              <a:t> к тяжёлой операции</a:t>
            </a:r>
          </a:p>
          <a:p>
            <a:r>
              <a:rPr lang="ru-RU" dirty="0"/>
              <a:t>Семантика метода </a:t>
            </a:r>
            <a:r>
              <a:rPr lang="ru-RU" b="1" dirty="0"/>
              <a:t>не меняется</a:t>
            </a:r>
            <a:r>
              <a:rPr lang="en-US" b="1" dirty="0"/>
              <a:t> </a:t>
            </a:r>
            <a:r>
              <a:rPr lang="ru-RU" dirty="0"/>
              <a:t>→ результат идентичен, просто получается быстрее</a:t>
            </a:r>
          </a:p>
          <a:p>
            <a:r>
              <a:rPr lang="ru-RU" dirty="0" err="1"/>
              <a:t>Proxy</a:t>
            </a:r>
            <a:r>
              <a:rPr lang="ru-RU" dirty="0"/>
              <a:t> перехватывает вызовы и решает:</a:t>
            </a:r>
            <a:br>
              <a:rPr lang="ru-RU" dirty="0"/>
            </a:br>
            <a:r>
              <a:rPr lang="ru-RU" dirty="0"/>
              <a:t>• взять результат из кеша</a:t>
            </a:r>
            <a:br>
              <a:rPr lang="ru-RU" dirty="0"/>
            </a:br>
            <a:r>
              <a:rPr lang="ru-RU" dirty="0"/>
              <a:t>• или выполнить операцию на реальном объекте</a:t>
            </a:r>
            <a:br>
              <a:rPr lang="ru-RU" dirty="0"/>
            </a:br>
            <a:r>
              <a:rPr lang="ru-RU" dirty="0"/>
              <a:t>• и при необходимости поместить результат в кеш</a:t>
            </a:r>
          </a:p>
          <a:p>
            <a:r>
              <a:rPr lang="ru-RU" dirty="0"/>
              <a:t>Такой паттерн относится к </a:t>
            </a:r>
            <a:r>
              <a:rPr lang="ru-RU" b="1" dirty="0"/>
              <a:t>Smart </a:t>
            </a:r>
            <a:r>
              <a:rPr lang="ru-RU" b="1" dirty="0" err="1"/>
              <a:t>Proxy</a:t>
            </a:r>
            <a:br>
              <a:rPr lang="ru-RU" dirty="0"/>
            </a:br>
            <a:r>
              <a:rPr lang="ru-RU" dirty="0"/>
              <a:t>(как </a:t>
            </a:r>
            <a:r>
              <a:rPr lang="ru-RU" dirty="0" err="1"/>
              <a:t>Copy-on-Write</a:t>
            </a:r>
            <a:r>
              <a:rPr lang="ru-RU" dirty="0"/>
              <a:t>, подсчёт ссылок, ленивое выделение ресурса)</a:t>
            </a:r>
          </a:p>
        </p:txBody>
      </p:sp>
    </p:spTree>
    <p:extLst>
      <p:ext uri="{BB962C8B-B14F-4D97-AF65-F5344CB8AC3E}">
        <p14:creationId xmlns:p14="http://schemas.microsoft.com/office/powerpoint/2010/main" val="18165719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A490B-7A1E-4636-B8DF-E2BC7C9CD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A71F5B-0978-76E0-2363-87252ACF2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err="1"/>
              <a:t>Proxy</a:t>
            </a:r>
            <a:r>
              <a:rPr lang="ru-RU" dirty="0"/>
              <a:t> — это объект-заместитель, управляющий доступом к реальному объекту</a:t>
            </a:r>
          </a:p>
          <a:p>
            <a:r>
              <a:rPr lang="ru-RU" dirty="0"/>
              <a:t>Добавляет слой косвенности без изменения интерфейса</a:t>
            </a:r>
          </a:p>
          <a:p>
            <a:r>
              <a:rPr lang="ru-RU" dirty="0"/>
              <a:t>Что мы рассмотрели:</a:t>
            </a:r>
          </a:p>
          <a:p>
            <a:pPr lvl="1"/>
            <a:r>
              <a:rPr lang="ru-RU" dirty="0"/>
              <a:t>Virtual </a:t>
            </a:r>
            <a:r>
              <a:rPr lang="ru-RU" dirty="0" err="1"/>
              <a:t>Proxy</a:t>
            </a:r>
            <a:r>
              <a:rPr lang="ru-RU" dirty="0"/>
              <a:t> — ленивая загрузка и работа с тяжёлыми ресурсами</a:t>
            </a:r>
          </a:p>
          <a:p>
            <a:pPr lvl="1"/>
            <a:r>
              <a:rPr lang="ru-RU" dirty="0"/>
              <a:t>Remote </a:t>
            </a:r>
            <a:r>
              <a:rPr lang="ru-RU" dirty="0" err="1"/>
              <a:t>Proxy</a:t>
            </a:r>
            <a:r>
              <a:rPr lang="ru-RU" dirty="0"/>
              <a:t> — прозрачное взаимодействие с удалёнными объектами</a:t>
            </a:r>
          </a:p>
          <a:p>
            <a:pPr lvl="1"/>
            <a:r>
              <a:rPr lang="ru-RU" dirty="0"/>
              <a:t>Protection </a:t>
            </a:r>
            <a:r>
              <a:rPr lang="ru-RU" dirty="0" err="1"/>
              <a:t>Proxy</a:t>
            </a:r>
            <a:r>
              <a:rPr lang="ru-RU" dirty="0"/>
              <a:t> — контроль доступа и ограничение опасных операций</a:t>
            </a:r>
          </a:p>
          <a:p>
            <a:pPr lvl="1"/>
            <a:r>
              <a:rPr lang="ru-RU" dirty="0"/>
              <a:t>Smart </a:t>
            </a:r>
            <a:r>
              <a:rPr lang="ru-RU" dirty="0" err="1"/>
              <a:t>Proxy</a:t>
            </a:r>
            <a:r>
              <a:rPr lang="ru-RU" dirty="0"/>
              <a:t> — дополнительная логика: COW, подсчёт ссылок, синхронизация</a:t>
            </a:r>
          </a:p>
          <a:p>
            <a:r>
              <a:rPr lang="ru-RU" dirty="0"/>
              <a:t>Главная идея:</a:t>
            </a:r>
          </a:p>
          <a:p>
            <a:pPr lvl="1"/>
            <a:r>
              <a:rPr lang="ru-RU" dirty="0"/>
              <a:t>Разные виды </a:t>
            </a:r>
            <a:r>
              <a:rPr lang="ru-RU" dirty="0" err="1"/>
              <a:t>Proxy</a:t>
            </a:r>
            <a:r>
              <a:rPr lang="ru-RU" dirty="0"/>
              <a:t> решают разные проблемы,</a:t>
            </a:r>
            <a:br>
              <a:rPr lang="ru-RU" dirty="0"/>
            </a:br>
            <a:r>
              <a:rPr lang="ru-RU" dirty="0"/>
              <a:t>но все они скрывают сложность и делают работу с объектами проще для клиента.</a:t>
            </a:r>
          </a:p>
          <a:p>
            <a:r>
              <a:rPr lang="ru-RU" dirty="0" err="1"/>
              <a:t>Proxy</a:t>
            </a:r>
            <a:r>
              <a:rPr lang="ru-RU" dirty="0"/>
              <a:t> = удобство, безопасность, экономия ресурсов</a:t>
            </a:r>
          </a:p>
        </p:txBody>
      </p:sp>
    </p:spTree>
    <p:extLst>
      <p:ext uri="{BB962C8B-B14F-4D97-AF65-F5344CB8AC3E}">
        <p14:creationId xmlns:p14="http://schemas.microsoft.com/office/powerpoint/2010/main" val="2373135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312423-FA0D-D8C2-B041-38BDA947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8207D1-77DE-E486-22BA-66A3AB204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90266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FOLDER" val="H:\teaching\institutps\2016\ood\lectures\07\07 - Адаптер, Фасад\"/>
  <p:tag name="ISPRING_PRESENTATION_PATH" val="H:\teaching\institutps\2016\ood\lectures\07\07 - Адаптер, Фасад.pptx"/>
  <p:tag name="ISPRING_PROJECT_FOLDER_UPDATED" val="1"/>
  <p:tag name="ISPRING_SCREEN_RECS_UPDATED" val="H:\teaching\institutps\2016\ood\lectures\07\07 - Адаптер, Фасад"/>
  <p:tag name="ISPRING_UUID" val="{77CEB02E-0205-4D42-AC68-BCD00A9879B0}"/>
  <p:tag name="ISPRING_RESOURCE_PATHS_HASH_PRESENTER" val="3fce91ce49d142213e7bd81337227e9db9156792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8085</TotalTime>
  <Words>9358</Words>
  <Application>Microsoft Office PowerPoint</Application>
  <PresentationFormat>Widescreen</PresentationFormat>
  <Paragraphs>1198</Paragraphs>
  <Slides>71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8" baseType="lpstr">
      <vt:lpstr>Arial</vt:lpstr>
      <vt:lpstr>Calibri</vt:lpstr>
      <vt:lpstr>Calibri Light</vt:lpstr>
      <vt:lpstr>Consolas</vt:lpstr>
      <vt:lpstr>Impact</vt:lpstr>
      <vt:lpstr>Times New Roman</vt:lpstr>
      <vt:lpstr>Office Theme</vt:lpstr>
      <vt:lpstr>Паттерн  «Заместитель» (Proxy)</vt:lpstr>
      <vt:lpstr>Паттерн «Заместитель» (Proxy)</vt:lpstr>
      <vt:lpstr>Структура паттерна</vt:lpstr>
      <vt:lpstr>Виды Proxy</vt:lpstr>
      <vt:lpstr>Разновидности паттерна</vt:lpstr>
      <vt:lpstr>Виртуальный заместитель</vt:lpstr>
      <vt:lpstr>Виртуальный заместитель</vt:lpstr>
      <vt:lpstr>PowerPoint Presentation</vt:lpstr>
      <vt:lpstr>Виртуальный заместитель ImageProxy</vt:lpstr>
      <vt:lpstr>Реальное изображение</vt:lpstr>
      <vt:lpstr>Асинхронная загрузка изображения</vt:lpstr>
      <vt:lpstr>PowerPoint Presentation</vt:lpstr>
      <vt:lpstr>PowerPoint Presentation</vt:lpstr>
      <vt:lpstr>PowerPoint Presentation</vt:lpstr>
      <vt:lpstr>Виртуальный заместитель в действии</vt:lpstr>
      <vt:lpstr>Удаленный заместитель</vt:lpstr>
      <vt:lpstr>Утки</vt:lpstr>
      <vt:lpstr>PowerPoint Presentation</vt:lpstr>
      <vt:lpstr>Удаленное управление утками</vt:lpstr>
      <vt:lpstr>Архитектура</vt:lpstr>
      <vt:lpstr>Канал для обмена данными между процессами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Удалённые заместители в реальных системах</vt:lpstr>
      <vt:lpstr>Component Object Model / Distributed COM (Windows)</vt:lpstr>
      <vt:lpstr>CORBA (Common Object Request Broker Architecture)</vt:lpstr>
      <vt:lpstr>Java RMI (Remote Method Invocation)</vt:lpstr>
      <vt:lpstr>Google Remote Procedure Call (gRPC)</vt:lpstr>
      <vt:lpstr>Smart Proxy (Умный заместитель)</vt:lpstr>
      <vt:lpstr>Smart Proxy</vt:lpstr>
      <vt:lpstr>Copy on Write</vt:lpstr>
      <vt:lpstr>Оптимизация Copy-on-write</vt:lpstr>
      <vt:lpstr>Copy-on-write в действии</vt:lpstr>
      <vt:lpstr>Copy on Write Proxy</vt:lpstr>
      <vt:lpstr>Применение Copy on Write в графическом редакторе</vt:lpstr>
      <vt:lpstr>Растровый графический редактор</vt:lpstr>
      <vt:lpstr>Растровое изображение</vt:lpstr>
      <vt:lpstr>Отмена и повтор действий</vt:lpstr>
      <vt:lpstr>Изображение в виде тайлов</vt:lpstr>
      <vt:lpstr>Изображеине размером, не кратным размеру тайла</vt:lpstr>
      <vt:lpstr>Изображение со сплошной заливкой</vt:lpstr>
      <vt:lpstr>PowerPoint Presentation</vt:lpstr>
      <vt:lpstr>PowerPoint Presentation</vt:lpstr>
      <vt:lpstr>PowerPoint Presentation</vt:lpstr>
      <vt:lpstr>Каркас CoW-обёртки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Что выведет эта программа?</vt:lpstr>
      <vt:lpstr>PowerPoint Presentation</vt:lpstr>
      <vt:lpstr>PowerPoint Presentation</vt:lpstr>
      <vt:lpstr>PowerPoint Presentation</vt:lpstr>
      <vt:lpstr>Protection Proxy</vt:lpstr>
      <vt:lpstr>Защищающий заместитель (Protection Proxy)</vt:lpstr>
      <vt:lpstr>Примеры применения Protection Proxy</vt:lpstr>
      <vt:lpstr>Интерфейс документа</vt:lpstr>
      <vt:lpstr>Реальный документ (без проверки прав)</vt:lpstr>
      <vt:lpstr>Защищающий заместитель</vt:lpstr>
      <vt:lpstr>Защищающий заместитель (продолжение)</vt:lpstr>
      <vt:lpstr>PowerPoint Presentation</vt:lpstr>
      <vt:lpstr>Сравнение с паттерном Decorator</vt:lpstr>
      <vt:lpstr>Proxy vs Decorator</vt:lpstr>
      <vt:lpstr>Кеширование: Proxy или Decorator?</vt:lpstr>
      <vt:lpstr>Caching Proxy</vt:lpstr>
      <vt:lpstr>Итоги</vt:lpstr>
      <vt:lpstr>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692</cp:revision>
  <dcterms:created xsi:type="dcterms:W3CDTF">2016-02-02T19:36:42Z</dcterms:created>
  <dcterms:modified xsi:type="dcterms:W3CDTF">2026-01-09T19:04:13Z</dcterms:modified>
</cp:coreProperties>
</file>