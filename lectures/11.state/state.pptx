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49"/>
  </p:notesMasterIdLst>
  <p:sldIdLst>
    <p:sldId id="320" r:id="rId2"/>
    <p:sldId id="327" r:id="rId3"/>
    <p:sldId id="267" r:id="rId4"/>
    <p:sldId id="265" r:id="rId5"/>
    <p:sldId id="264" r:id="rId6"/>
    <p:sldId id="257" r:id="rId7"/>
    <p:sldId id="259" r:id="rId8"/>
    <p:sldId id="260" r:id="rId9"/>
    <p:sldId id="261" r:id="rId10"/>
    <p:sldId id="262" r:id="rId11"/>
    <p:sldId id="258" r:id="rId12"/>
    <p:sldId id="263" r:id="rId13"/>
    <p:sldId id="266" r:id="rId14"/>
    <p:sldId id="291" r:id="rId15"/>
    <p:sldId id="269" r:id="rId16"/>
    <p:sldId id="289" r:id="rId17"/>
    <p:sldId id="270" r:id="rId18"/>
    <p:sldId id="271" r:id="rId19"/>
    <p:sldId id="275" r:id="rId20"/>
    <p:sldId id="274" r:id="rId21"/>
    <p:sldId id="272" r:id="rId22"/>
    <p:sldId id="273" r:id="rId23"/>
    <p:sldId id="276" r:id="rId24"/>
    <p:sldId id="277" r:id="rId25"/>
    <p:sldId id="284" r:id="rId26"/>
    <p:sldId id="283" r:id="rId27"/>
    <p:sldId id="292" r:id="rId28"/>
    <p:sldId id="287" r:id="rId29"/>
    <p:sldId id="278" r:id="rId30"/>
    <p:sldId id="322" r:id="rId31"/>
    <p:sldId id="279" r:id="rId32"/>
    <p:sldId id="323" r:id="rId33"/>
    <p:sldId id="324" r:id="rId34"/>
    <p:sldId id="326" r:id="rId35"/>
    <p:sldId id="328" r:id="rId36"/>
    <p:sldId id="280" r:id="rId37"/>
    <p:sldId id="296" r:id="rId38"/>
    <p:sldId id="321" r:id="rId39"/>
    <p:sldId id="325" r:id="rId40"/>
    <p:sldId id="282" r:id="rId41"/>
    <p:sldId id="281" r:id="rId42"/>
    <p:sldId id="285" r:id="rId43"/>
    <p:sldId id="286" r:id="rId44"/>
    <p:sldId id="293" r:id="rId45"/>
    <p:sldId id="294" r:id="rId46"/>
    <p:sldId id="295" r:id="rId47"/>
    <p:sldId id="290" r:id="rId48"/>
  </p:sldIdLst>
  <p:sldSz cx="12192000" cy="6858000"/>
  <p:notesSz cx="6858000" cy="9144000"/>
  <p:custDataLst>
    <p:tags r:id="rId50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2DD6D10-0C6D-A576-70AA-CAC3CEACD126}" name="Алексей Малов" initials="АМ" userId="5077fe0b17b06422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D0378"/>
    <a:srgbClr val="DEEBF7"/>
    <a:srgbClr val="AFB1FB"/>
    <a:srgbClr val="CA266C"/>
    <a:srgbClr val="FAFA00"/>
    <a:srgbClr val="FFFF00"/>
    <a:srgbClr val="5DFFFF"/>
    <a:srgbClr val="F39191"/>
    <a:srgbClr val="8E8E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91" autoAdjust="0"/>
    <p:restoredTop sz="62954" autoAdjust="0"/>
  </p:normalViewPr>
  <p:slideViewPr>
    <p:cSldViewPr>
      <p:cViewPr varScale="1">
        <p:scale>
          <a:sx n="58" d="100"/>
          <a:sy n="58" d="100"/>
        </p:scale>
        <p:origin x="1806" y="2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127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ags" Target="tags/tag1.xml"/><Relationship Id="rId55" Type="http://schemas.microsoft.com/office/2018/10/relationships/authors" Target="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3DCB6D-0B48-4A3D-B663-06C3F903A9D3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2A1285-F988-4153-B7C5-B887A86773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7361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4557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«Прежде чем говорить о паттерне „Состояние“, посмотрим на проблему, которую он решает.</a:t>
            </a:r>
          </a:p>
          <a:p>
            <a:r>
              <a:rPr lang="ru-RU" dirty="0"/>
              <a:t>Во многих программах объекты ведут себя по-разному в зависимости от того, в каком состоянии они находятся. Самый простой способ описать это — написать несколько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</a:t>
            </a:r>
            <a:r>
              <a:rPr lang="ru-RU" dirty="0"/>
              <a:t> или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switch</a:t>
            </a:r>
            <a:r>
              <a:rPr lang="ru-RU" dirty="0"/>
              <a:t>. Но проблема в том, что такие конструкции очень быстро разрастаются. Чем больше состояний, тем труднее понять, что происходит внутри класса. Логика поведения перемешивается с логикой переходов, и модифицировать такой код становится всё опаснее — любое изменение может привести к неожиданным ошибкам.</a:t>
            </a:r>
          </a:p>
          <a:p>
            <a:r>
              <a:rPr lang="ru-RU" dirty="0"/>
              <a:t>Паттерн „Состояние“ предлагает элегантное решение: разделить поведение по отдельным классам, каждому состоянию — свою реализацию. Объект в зависимости от текущего состояния просто делегирует им выполнение операций. При смене состояния он фактически меняет своё поведение.</a:t>
            </a:r>
          </a:p>
          <a:p>
            <a:r>
              <a:rPr lang="ru-RU" dirty="0"/>
              <a:t>Это делает архитектуру более гибкой, понятной и удобной для сопровождения. Именно это мы увидим на примере автомата с жвачкой.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30160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Чтобы разобраться, зачем нужен паттерн „Состояние“, мы начнём с простого, но показательного примера — автомата по продаже жевательной резинки.</a:t>
            </a:r>
          </a:p>
          <a:p>
            <a:r>
              <a:rPr lang="ru-RU" dirty="0"/>
              <a:t>У такого автомата есть несколько очевидных состояний:</a:t>
            </a:r>
            <a:br>
              <a:rPr lang="ru-RU" dirty="0"/>
            </a:br>
            <a:r>
              <a:rPr lang="ru-RU" dirty="0"/>
              <a:t>он может быть пустым, может ожидать монетку, может хранить уже вставленную монетку, а может находиться в процессе выдачи жвачки.</a:t>
            </a:r>
            <a:br>
              <a:rPr lang="ru-RU" dirty="0"/>
            </a:br>
            <a:r>
              <a:rPr lang="ru-RU" dirty="0"/>
              <a:t>И в каждом из этих состояний он ведёт себя по-разному.</a:t>
            </a:r>
          </a:p>
          <a:p>
            <a:r>
              <a:rPr lang="ru-RU" dirty="0"/>
              <a:t>Например, если автомат пустой — он не позволяет вставить монетку.</a:t>
            </a:r>
            <a:br>
              <a:rPr lang="ru-RU" dirty="0"/>
            </a:br>
            <a:r>
              <a:rPr lang="ru-RU" dirty="0"/>
              <a:t>Если монетка уже вставлена — нельзя вставить вторую.</a:t>
            </a:r>
            <a:br>
              <a:rPr lang="ru-RU" dirty="0"/>
            </a:br>
            <a:r>
              <a:rPr lang="ru-RU" dirty="0"/>
              <a:t>Если дёрнули за рычаг — поведение зависит от того, есть ли монетка и есть ли жвачки внутри.</a:t>
            </a:r>
          </a:p>
          <a:p>
            <a:r>
              <a:rPr lang="ru-RU" dirty="0"/>
              <a:t>И именно это делает такой автомат отличным примером: его поведение полностью определяется состоянием, а переходы между состояниями происходят после каждого действия пользователя.</a:t>
            </a:r>
            <a:br>
              <a:rPr lang="ru-RU" dirty="0"/>
            </a:br>
            <a:r>
              <a:rPr lang="ru-RU" dirty="0"/>
              <a:t>То есть это классический кандидат для применения паттерна „Состояние“.</a:t>
            </a:r>
          </a:p>
          <a:p>
            <a:r>
              <a:rPr lang="ru-RU" dirty="0"/>
              <a:t>Дальше мы посмотрим, как можно реализовать такой автомат обычным способом — через набор условных операторов — и какие проблемы при этом возникают.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91571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98030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39105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83191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1377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99152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26252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8178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87775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57448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88466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Мы увидели, что в нашей исходной реализации вся логика автомата сосредоточена внутри одного большого класса. Там смешаны и действия, и проверки, и переходы между состояниями. Такой код сложно читать, сложно развивать и еще сложнее — безопасно изменять.</a:t>
            </a:r>
          </a:p>
          <a:p>
            <a:r>
              <a:rPr lang="ru-RU" dirty="0"/>
              <a:t>Чтобы улучшить архитектуру, нам нужно локализовать изменяющиеся части. А меняется здесь как раз поведение в разных состояниях. Поэтому первая идея — вынести каждое состояние в отдельный класс. Это позволит инкапсулировать логику, связанную именно с этим состоянием, и перестать захламлять основной класс машинами состояний.</a:t>
            </a:r>
          </a:p>
          <a:p>
            <a:r>
              <a:rPr lang="ru-RU" dirty="0"/>
              <a:t>Дальше — сам класс </a:t>
            </a:r>
            <a:r>
              <a:rPr lang="ru-RU" dirty="0" err="1"/>
              <a:t>GumballMachine</a:t>
            </a:r>
            <a:r>
              <a:rPr lang="ru-RU" dirty="0"/>
              <a:t> должен больше не пытаться решать, как именно вести себя в том или ином состоянии. Он должен просто делегировать выполнение действий объекту, который соответствует текущему состоянию. То есть мы меняем структуру так, чтобы переходы между состояниями стали явными, а поведение — разнесённым по ответственным классам.</a:t>
            </a:r>
          </a:p>
          <a:p>
            <a:r>
              <a:rPr lang="ru-RU" dirty="0"/>
              <a:t>Эти идеи приводят нас прямо к паттерну „Состояние“, который специально создан для такой ситуации — когда объект меняет поведение в зависимости от своего внутреннего состояния.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3445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68810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давайте разберёмся, как именно перейти от условных операторов к полноценной реализации паттерна „Состояние“.</a:t>
            </a:r>
          </a:p>
          <a:p>
            <a:r>
              <a:rPr lang="ru-RU" dirty="0"/>
              <a:t>Первый шаг — это выделить класс, который будет играть роль Контекста. В нашем случае это </a:t>
            </a:r>
            <a:r>
              <a:rPr lang="ru-RU" dirty="0" err="1"/>
              <a:t>GumballMachine</a:t>
            </a:r>
            <a:r>
              <a:rPr lang="ru-RU" dirty="0"/>
              <a:t>. Он остаётся „сердцем“ системы и отвечает за общее функционирование автомата.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Затем мы определяем общий интерфейс для всех состояний. Он содержит методы, которые машина должна уметь выполнять: вставить монетку, вернуть её, дёрнуть за рычаг, выдать жвачку. Важно, что этот интерфейс описывает именно </a:t>
            </a:r>
            <a:r>
              <a:rPr lang="ru-RU" i="1" dirty="0"/>
              <a:t>возможные действия</a:t>
            </a:r>
            <a:r>
              <a:rPr lang="ru-RU" dirty="0"/>
              <a:t>, а не конкретное поведение.</a:t>
            </a:r>
            <a:endParaRPr lang="en-US" dirty="0"/>
          </a:p>
          <a:p>
            <a:endParaRPr lang="ru-RU" dirty="0"/>
          </a:p>
          <a:p>
            <a:r>
              <a:rPr lang="ru-RU" dirty="0"/>
              <a:t>Дальше мы анализируем код и переносим из Контекста только то, что действительно зависит от состояния. Всё, что отличается в разных ситуациях, — уходит в отдельные классы-состояния. При этом мы создаём отдельный класс для каждого конкретного состояния, например: без монетки, с монеткой, продано, закончились жвачки.</a:t>
            </a:r>
          </a:p>
          <a:p>
            <a:r>
              <a:rPr lang="ru-RU" dirty="0"/>
              <a:t>Контекст хранит экземпляры всех этих состояний и ссылку на текущее. И вместо того чтобы проверять „в каком я состоянии?“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switch</a:t>
            </a:r>
            <a:r>
              <a:rPr lang="ru-RU" dirty="0"/>
              <a:t>, Контекст просто вызывает метод текущего состояния. А уже само состояние решает, что нужно сделать — и при необходимости переводит машину в другое состояние.</a:t>
            </a:r>
          </a:p>
          <a:p>
            <a:r>
              <a:rPr lang="ru-RU" dirty="0"/>
              <a:t>Таким образом, мы избавляемся от длинных ветвлений и переносим логику туда, где ей место. Это делает структуру чище, а поведение — более выразительным и безопасным для модификаций.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34580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03755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19076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556737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646274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012354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83629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303006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730074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GumballMachine</a:t>
            </a:r>
            <a:r>
              <a:rPr lang="en-US" dirty="0"/>
              <a:t> </a:t>
            </a:r>
            <a:r>
              <a:rPr lang="ru-RU" dirty="0"/>
              <a:t>делегирует операции одному из объектов своего внутреннего состояния. В разные моменты времени текущим состоянием становятся разные объекты. Из-за этого поведение класса с течением времени изменяется.</a:t>
            </a:r>
          </a:p>
          <a:p>
            <a:r>
              <a:rPr lang="ru-RU" dirty="0"/>
              <a:t>С точки зрения клиента выглядит так, будто используемый объект изменил своё поведение.</a:t>
            </a:r>
          </a:p>
          <a:p>
            <a:r>
              <a:rPr lang="ru-RU" dirty="0"/>
              <a:t>Реализуется это за счёт композиции.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09668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897760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Паттерны „Состояние“ и „Стратегия“ действительно очень похожи: у обоих есть общий интерфейс и множество классов, реализующих разные варианты поведения. Но используются они для разных целей, и принцип их применения отличается.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 паттерне </a:t>
            </a:r>
            <a:r>
              <a:rPr lang="ru-RU" i="1" dirty="0"/>
              <a:t>Состояние</a:t>
            </a:r>
            <a:r>
              <a:rPr lang="ru-RU" dirty="0"/>
              <a:t> поведение объекта определяется его внутренним состоянием. Контекст сам управляет тем, какое состояние сейчас активно, и может автоматически переключаться между состояниями в процессе работы. Для клиента эти переходы, как правило, прозрачны — он просто вызывает методы контекста и наблюдает, что поведение меняется динамически. Это позволяет избавиться от множества условных конструкций внутри класса.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Паттерн </a:t>
            </a:r>
            <a:r>
              <a:rPr lang="ru-RU" i="1" dirty="0"/>
              <a:t>Стратегия</a:t>
            </a:r>
            <a:r>
              <a:rPr lang="ru-RU" dirty="0"/>
              <a:t> решает другую задачу. Он позволяет подменять алгоритм или способ выполнения операции. Но в отличие от „Состояния“, выбор стратегии обычно выполняет клиент: он задаёт контексту, какой вариант поведения использовать. Переходы между стратегиями не автоматические — их инициирует код, использующий контекст. Часто стратегия служит гибкой альтернативой наследованию, позволяя </a:t>
            </a:r>
            <a:r>
              <a:rPr lang="ru-RU" dirty="0" err="1"/>
              <a:t>параметризовать</a:t>
            </a:r>
            <a:r>
              <a:rPr lang="ru-RU" dirty="0"/>
              <a:t> объект нужным алгоритмом.</a:t>
            </a:r>
            <a:endParaRPr lang="en-US" dirty="0"/>
          </a:p>
          <a:p>
            <a:endParaRPr lang="ru-RU" dirty="0"/>
          </a:p>
          <a:p>
            <a:r>
              <a:rPr lang="ru-RU" dirty="0"/>
              <a:t>Если кратко:</a:t>
            </a:r>
            <a:br>
              <a:rPr lang="ru-RU" dirty="0"/>
            </a:br>
            <a:r>
              <a:rPr lang="ru-RU" dirty="0"/>
              <a:t>— </a:t>
            </a:r>
            <a:r>
              <a:rPr lang="ru-RU" i="1" dirty="0"/>
              <a:t>Состояние</a:t>
            </a:r>
            <a:r>
              <a:rPr lang="ru-RU" dirty="0"/>
              <a:t> — когда объект сам меняет поведение в зависимости от своей внутренней логики.</a:t>
            </a:r>
            <a:br>
              <a:rPr lang="ru-RU" dirty="0"/>
            </a:br>
            <a:r>
              <a:rPr lang="ru-RU" dirty="0"/>
              <a:t>— </a:t>
            </a:r>
            <a:r>
              <a:rPr lang="ru-RU" i="1" dirty="0"/>
              <a:t>Стратегия</a:t>
            </a:r>
            <a:r>
              <a:rPr lang="ru-RU" dirty="0"/>
              <a:t> — когда внешний код выбирает, какое поведение нужно в данный момент.</a:t>
            </a:r>
          </a:p>
          <a:p>
            <a:r>
              <a:rPr lang="ru-RU" dirty="0"/>
              <a:t>Диаграмма классов у паттернов похожа, но смысл применения — разный.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377142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873511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Когда переходы между состояниями более динамичные, их можно поместить внутрь классов-состояний.</a:t>
            </a:r>
          </a:p>
          <a:p>
            <a:r>
              <a:rPr lang="ru-RU" dirty="0"/>
              <a:t>Когда переходы между состояниями фиксированы, их можно поместить внутрь контекста.</a:t>
            </a:r>
          </a:p>
          <a:p>
            <a:r>
              <a:rPr lang="ru-RU" dirty="0"/>
              <a:t>Когда код перехода между состояниями находятся внутри классов состояний, между ними возникают зависимости. В нашей реализации эти зависимости уменьшены за счёт методов Контекста для перехода между состояниями.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658265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183549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448592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нашей реализации мы скрыли служебные методы, которые используются состояниями, с помощью приватного наследования: класс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GumballMachine</a:t>
            </a:r>
            <a:r>
              <a:rPr lang="ru-RU" dirty="0"/>
              <a:t> приватно наследует интерфейс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IGumballMachine</a:t>
            </a:r>
            <a:r>
              <a:rPr lang="ru-RU" dirty="0"/>
              <a:t>, а значит — клиент этого интерфейса не видит.</a:t>
            </a:r>
            <a:endParaRPr lang="en-US" dirty="0"/>
          </a:p>
          <a:p>
            <a:endParaRPr lang="ru-RU" dirty="0"/>
          </a:p>
          <a:p>
            <a:r>
              <a:rPr lang="ru-RU" dirty="0"/>
              <a:t>Но важно понимать, что приватное наследование — это специфическая возможность C++. В некоторых языках, например в Java или C#, приватное наследование отсутствует. Поэтому там такой приём просто недоступен.</a:t>
            </a:r>
          </a:p>
          <a:p>
            <a:r>
              <a:rPr lang="ru-RU" dirty="0"/>
              <a:t>Как же быть в этих языках? Решение — использовать композицию. Вместо того чтобы наследовать контекст от интерфейса, мы создаём дополнительный слой: промежуточный класс, который является единственной точкой взаимодействия с клиентом. Он содержит внутри себя настоящий контекст, но наружу отдаёт только безопасный интерфейс.</a:t>
            </a:r>
          </a:p>
          <a:p>
            <a:r>
              <a:rPr lang="ru-RU" dirty="0"/>
              <a:t>Внутренние методы контекста, которые должны быть доступны только состояниям — такие как смена состояния, выдача шарика или доступ к счётчику — остаются скрытыми внутри реального объекта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Context</a:t>
            </a:r>
            <a:r>
              <a:rPr lang="ru-RU" dirty="0"/>
              <a:t>. Состояния получают ссылку именно на этот скрытый контекст и взаимодействуют напрямую с ним. Клиент же видит лишь „обёртку“, которая делегирует только те операции, которые действительно предназначены для внешнего кода.</a:t>
            </a:r>
          </a:p>
          <a:p>
            <a:r>
              <a:rPr lang="ru-RU" dirty="0"/>
              <a:t>Таким образом мы достигаем того же эффекта, что и в C++ с приватным наследованием:</a:t>
            </a:r>
            <a:br>
              <a:rPr lang="ru-RU" dirty="0"/>
            </a:br>
            <a:r>
              <a:rPr lang="ru-RU" dirty="0"/>
              <a:t>клиент не имеет доступа к служебным методам, управляющим состоянием, а значит — не может нарушить корректность работы автомата. Но достигается это уже не наследованием, а композиционным подходом.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509103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795362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403931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Мы уже посмотрели, как можно скрыть служебные методы контекста от клиента с помощью приватного наследования — это удобно в C++. Но существует ещё одна альтернатива, которая встречается во многих других языках, — использование областей видимости уровня пакета или модуля.</a:t>
            </a:r>
            <a:endParaRPr lang="en-US" dirty="0"/>
          </a:p>
          <a:p>
            <a:endParaRPr lang="ru-RU" dirty="0"/>
          </a:p>
          <a:p>
            <a:r>
              <a:rPr lang="ru-RU" dirty="0"/>
              <a:t>Например, в Java есть модификатор </a:t>
            </a:r>
            <a:r>
              <a:rPr lang="ru-RU" i="1" dirty="0" err="1"/>
              <a:t>package-private</a:t>
            </a:r>
            <a:r>
              <a:rPr lang="ru-RU" dirty="0"/>
              <a:t>, в C# —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internal</a:t>
            </a:r>
            <a:r>
              <a:rPr lang="ru-RU" dirty="0"/>
              <a:t>, в </a:t>
            </a:r>
            <a:r>
              <a:rPr lang="ru-RU" dirty="0" err="1"/>
              <a:t>Kotlin</a:t>
            </a:r>
            <a:r>
              <a:rPr lang="ru-RU" dirty="0"/>
              <a:t> —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internal</a:t>
            </a:r>
            <a:r>
              <a:rPr lang="ru-RU" dirty="0"/>
              <a:t>, в Go — доступность по имени с заглавной или строчной буквы.</a:t>
            </a:r>
            <a:br>
              <a:rPr lang="ru-RU" dirty="0"/>
            </a:br>
            <a:r>
              <a:rPr lang="ru-RU" dirty="0"/>
              <a:t>Смысл в том, что методы или классы, отмеченные таким образом, доступны только внутри текущего пакета или сборки, но недоступны внешнему клиентскому коду.</a:t>
            </a:r>
            <a:endParaRPr lang="en-US" dirty="0"/>
          </a:p>
          <a:p>
            <a:endParaRPr lang="ru-RU" dirty="0"/>
          </a:p>
          <a:p>
            <a:r>
              <a:rPr lang="ru-RU" dirty="0"/>
              <a:t>Как это помогает нам со „Состоянием“?</a:t>
            </a:r>
            <a:br>
              <a:rPr lang="ru-RU" dirty="0"/>
            </a:br>
            <a:r>
              <a:rPr lang="ru-RU" dirty="0"/>
              <a:t>Мы можем разместить Контекст и все состояния внутри одного пакета, а служебные методы — такие как смена состояния или выброс шарика — пометить модификатором „</a:t>
            </a:r>
            <a:r>
              <a:rPr lang="ru-RU" dirty="0" err="1"/>
              <a:t>internal</a:t>
            </a:r>
            <a:r>
              <a:rPr lang="ru-RU" dirty="0"/>
              <a:t>“ или „</a:t>
            </a:r>
            <a:r>
              <a:rPr lang="ru-RU" dirty="0" err="1"/>
              <a:t>package-private</a:t>
            </a:r>
            <a:r>
              <a:rPr lang="ru-RU" dirty="0"/>
              <a:t>“.</a:t>
            </a:r>
            <a:endParaRPr lang="en-US" dirty="0"/>
          </a:p>
          <a:p>
            <a:br>
              <a:rPr lang="ru-RU" dirty="0"/>
            </a:br>
            <a:r>
              <a:rPr lang="ru-RU" dirty="0"/>
              <a:t>Тогда состояния смогут использовать эти методы напрямую, а внешний клиент — уже нет.</a:t>
            </a:r>
          </a:p>
          <a:p>
            <a:r>
              <a:rPr lang="ru-RU" dirty="0"/>
              <a:t>В результате мы достигаем того же эффекта:</a:t>
            </a:r>
          </a:p>
          <a:p>
            <a:r>
              <a:rPr lang="ru-RU" dirty="0"/>
              <a:t>состояния имеют доступ к функциональности, необходимой для переходов и управления контекстом;</a:t>
            </a:r>
          </a:p>
          <a:p>
            <a:r>
              <a:rPr lang="ru-RU" dirty="0"/>
              <a:t>клиентский код не может случайно вмешаться в механизм работы автомата;</a:t>
            </a:r>
          </a:p>
          <a:p>
            <a:r>
              <a:rPr lang="ru-RU" dirty="0"/>
              <a:t>архитектура остаётся чистой и безопасной.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Таким образом, у нас есть три основных способа скрыть служебные методы контекста:</a:t>
            </a:r>
          </a:p>
          <a:p>
            <a:r>
              <a:rPr lang="ru-RU" dirty="0"/>
              <a:t>приватное наследование — работает в C++;</a:t>
            </a:r>
          </a:p>
          <a:p>
            <a:r>
              <a:rPr lang="ru-RU" dirty="0"/>
              <a:t>композиция через промежуточный класс — подходит для любых ОО-языков;</a:t>
            </a:r>
          </a:p>
          <a:p>
            <a:r>
              <a:rPr lang="ru-RU" dirty="0"/>
              <a:t>уровень доступа „</a:t>
            </a:r>
            <a:r>
              <a:rPr lang="ru-RU" dirty="0" err="1"/>
              <a:t>internal</a:t>
            </a:r>
            <a:r>
              <a:rPr lang="ru-RU" dirty="0"/>
              <a:t>“ или „</a:t>
            </a:r>
            <a:r>
              <a:rPr lang="ru-RU" dirty="0" err="1"/>
              <a:t>package-private</a:t>
            </a:r>
            <a:r>
              <a:rPr lang="ru-RU" dirty="0"/>
              <a:t>“ — если язык поддерживает такую модель модульности.</a:t>
            </a:r>
          </a:p>
          <a:p>
            <a:endParaRPr lang="en-US" dirty="0"/>
          </a:p>
          <a:p>
            <a:r>
              <a:rPr lang="ru-RU" dirty="0"/>
              <a:t>В разных языках можно выбрать наиболее естественный подход, но цель всегда одна — </a:t>
            </a:r>
            <a:r>
              <a:rPr lang="ru-RU" b="1" dirty="0"/>
              <a:t>оградить клиента от возможностей, которыми должны пользоваться только состояния</a:t>
            </a:r>
            <a:endParaRPr lang="ru-RU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549090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416795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314911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52366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577300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491993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41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298404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42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380697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Паттерн „Состояние“ встречается в реальных системах гораздо чаще, чем может показаться на первый взгляд. Самый известный пример — игровые персонажи. Искусственный интеллект персонажа обычно работает как набор состояний: патрулирование, преследование, поиск цели, атака, ожидание и так далее. Каждый режим определяет своё уникальное поведение, а переходы между состояниями происходят автоматически, в зависимости от ситуации в игре.</a:t>
            </a:r>
            <a:endParaRPr lang="en-US" dirty="0"/>
          </a:p>
          <a:p>
            <a:endParaRPr lang="ru-RU" dirty="0"/>
          </a:p>
          <a:p>
            <a:r>
              <a:rPr lang="ru-RU" dirty="0"/>
              <a:t>Но область применения гораздо шире. Например, любой графический редактор или IDE работает через набор инструментов — режим выделения, перемещения, рисования. Фактически каждый инструмент — это отдельное состояние, определяющее, как трактовать действия пользователя.</a:t>
            </a:r>
            <a:endParaRPr lang="en-US" dirty="0"/>
          </a:p>
          <a:p>
            <a:endParaRPr lang="ru-RU" dirty="0"/>
          </a:p>
          <a:p>
            <a:r>
              <a:rPr lang="ru-RU" dirty="0"/>
              <a:t>Сетевые протоколы также классически описываются конечными автоматами: подключение, рукопожатие, передача данных, завершение сеанса. Логика сильно меняется от состояния к состоянию, а переходы строго определены.</a:t>
            </a:r>
            <a:endParaRPr lang="en-US" dirty="0"/>
          </a:p>
          <a:p>
            <a:endParaRPr lang="ru-RU" dirty="0"/>
          </a:p>
          <a:p>
            <a:r>
              <a:rPr lang="ru-RU" dirty="0"/>
              <a:t>Ещё один пример — пользовательские интерфейсы. Даже простая кнопка может иметь несколько состояний: обычное, наведённое, нажато, заблокировано. Реализация этих состояний через отдельные классы делает код UI-компонентов понятнее и </a:t>
            </a:r>
            <a:r>
              <a:rPr lang="ru-RU" dirty="0" err="1"/>
              <a:t>расширяемее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Наконец, в бизнес-логике паттерн „Состояние“ часто применяется к моделированию процессов: заказ проходит цепочку состояний — создан, оплачен, отправлен, доставлен или отменён. В каждом состоянии правила и допустимые действия разные.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Все эти примеры демонстрируют главный плюс паттерна: когда объект ведёт себя по-разному в зависимости от состояния, структурирование поведения через отдельные классы позволяет упростить код, сделать переходы явными и улучшить расширяемость системы.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43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13794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44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263266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45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994709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t>46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90102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1B562-389D-4A5F-87E4-B9F9E635BA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43F4E6-E69D-45C1-AE39-8CA6C8BA1E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622C5D-B101-4F39-B897-39B8DCC19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0F9C9-AB92-4E86-B698-DEC9BF4350FF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6C15CD-3D29-4953-B26A-986D8AF13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37DA5C-E687-4E5C-94C6-9D98F9DAB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1037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BBE92-9AD0-4E96-90A0-5BE0FB9FB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CA514-E89B-4D55-B7B6-B61460B8E7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4DFE66-A703-4FB2-A365-1153F14F6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0F9C9-AB92-4E86-B698-DEC9BF4350FF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780919-B5C6-464D-A6B1-4C8E64DDF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258013-F2A6-4681-8CD4-0C601EDEE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2905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87B0C-E1BE-4753-AD5A-A9DA411B9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E42000-01A2-4FA1-8F3B-B30451714E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BE8BBF-03E5-44B2-A374-91476B8A9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0F9C9-AB92-4E86-B698-DEC9BF4350FF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E33DC-5104-4374-A86E-6AE6A330A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40B5DC-7633-43E5-856D-4376108FD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8314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7FE5A-8D78-48A2-9A78-05E4B69F6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0A6FF-7CF8-4439-9F04-F658BABB7D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DA72A4-9658-4957-B03F-7CB1135517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61EE0A-5981-4F8F-816B-F9B04E807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0F9C9-AB92-4E86-B698-DEC9BF4350FF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78E8E0-E174-4723-8C9E-29A5F6B15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1DD6EF-2AA1-4B71-9D0E-6BF4F7020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3570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89431-0948-42A3-A427-8D4BDE19A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B25261-9C3D-4913-97BA-EC07E84620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20F440-7C6A-4C8E-BC87-11A87A7B4F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FFC2EC-3358-47C6-8322-E2695E86F7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2E6B67-C4AF-447F-A6EC-1E424199A2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214A20-AB31-485B-91A6-1D89C0142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0F9C9-AB92-4E86-B698-DEC9BF4350FF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C23DEB-A126-4ACE-B2F7-8BE366770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64DAAB-1528-4030-9FCE-6268B0E1E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871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176CD-C7FB-4ED6-87CA-1A4B70D2B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2C90FD-D95D-4934-BCE5-DF674FDA5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0F9C9-AB92-4E86-B698-DEC9BF4350FF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D3CC-9991-49A5-A249-0521A145C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408713-3D5C-4CAC-BC7A-8C16DB546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6895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04BB6F-C8EC-43FF-A749-7D0827971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0F9C9-AB92-4E86-B698-DEC9BF4350FF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821C42-141F-450D-8DD5-F345D74CE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F7AC41-99EC-4693-A9C9-EA9F40303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7004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49947-E653-4826-9D21-43EA26EF0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58868B-69AC-4A34-997C-A5A3D3C00F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0CDA0F-40A4-4D5B-B06E-5B87DF1469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A24F25-C09E-4802-A9D6-52C360392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0F9C9-AB92-4E86-B698-DEC9BF4350FF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F7D53F-4681-44A1-A91E-383F4EF98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876A93-BC71-4F70-8C71-628AE96F4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5760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A9759-C87F-4222-90A5-217D64422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7FA970-D1AA-4082-80BD-7876339015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448A48-F10C-4AEC-B8BC-36BE0559C5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87FD8F-F3F2-4F06-85E1-D3E01788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0F9C9-AB92-4E86-B698-DEC9BF4350FF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0F6CB9-0C2D-403B-A84D-DAAF36FDA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4440D4-1167-426F-97F9-36B88189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0385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EDB02-6A9B-4BB8-9C28-C389372C2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B35F9F-A37F-47CC-861F-326267F34D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6BFDA1-D1F7-4D58-85AF-771D9C347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0F9C9-AB92-4E86-B698-DEC9BF4350FF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E4ED24-6C14-45EC-B6C0-43B736913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AC73C1-C17B-446B-94E2-FB0D197EB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5189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F9A39A-AA0C-4308-9FB3-09D819B3D6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C8D12D-F0B0-4026-9B30-BE4295B91D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A98FA3-8AC3-4681-9B63-20849C9AB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0F9C9-AB92-4E86-B698-DEC9BF4350FF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53892-03F8-4805-89DB-458AA1E9C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EFF915-CA0D-4537-9FD0-4FE8C202D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1584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4BEA70-F2FF-4450-8CF3-F194A7F54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F87761-CA79-4A32-85C9-A468741415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A53998-9243-44C4-BFD1-585430D010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90F9C9-AB92-4E86-B698-DEC9BF4350FF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702FA-50EE-43C9-861A-3395D193CD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A849C-8AA8-4965-80AB-C8115711D5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FDEFA0-FF01-4CA2-B8AA-E5F5B71BEE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7362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>
            <a:noAutofit/>
          </a:bodyPr>
          <a:lstStyle/>
          <a:p>
            <a:r>
              <a:rPr lang="ru-RU" dirty="0"/>
              <a:t>Паттерн</a:t>
            </a:r>
            <a:br>
              <a:rPr lang="ru-RU" dirty="0"/>
            </a:br>
            <a:r>
              <a:rPr lang="ru-RU" dirty="0"/>
              <a:t>проектирования «Состояние»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FE7C7F83-093D-96D9-AE52-68441ADBB7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050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1D31F-A433-EB82-1501-944E15380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Зачем нужен паттерн «Состояние»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D3BEB6-48FB-57CD-1611-E51E9748E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Объекты часто ведут себя по-разному в зависимости от внутреннего состояния</a:t>
            </a:r>
          </a:p>
          <a:p>
            <a:r>
              <a:rPr lang="ru-RU" dirty="0"/>
              <a:t>Наивное решение на основе </a:t>
            </a:r>
            <a:r>
              <a:rPr lang="ru-RU" dirty="0" err="1"/>
              <a:t>if</a:t>
            </a:r>
            <a:r>
              <a:rPr lang="ru-RU" dirty="0"/>
              <a:t>/</a:t>
            </a:r>
            <a:r>
              <a:rPr lang="ru-RU" dirty="0" err="1"/>
              <a:t>switch</a:t>
            </a:r>
            <a:r>
              <a:rPr lang="ru-RU" dirty="0"/>
              <a:t> быстро усложняется и становится запутанными</a:t>
            </a:r>
          </a:p>
          <a:p>
            <a:pPr lvl="1"/>
            <a:r>
              <a:rPr lang="ru-RU" dirty="0"/>
              <a:t>Логика переходов между состояниями смешивается с основной логикой класса</a:t>
            </a:r>
          </a:p>
          <a:p>
            <a:pPr lvl="1"/>
            <a:r>
              <a:rPr lang="ru-RU" dirty="0"/>
              <a:t>Изменения увеличивают риск ошибок и ломают существующий код</a:t>
            </a:r>
          </a:p>
          <a:p>
            <a:r>
              <a:rPr lang="ru-RU" dirty="0"/>
              <a:t>Паттерн «Состояние» разделяет поведение по состояниям</a:t>
            </a:r>
          </a:p>
          <a:p>
            <a:pPr lvl="1"/>
            <a:r>
              <a:rPr lang="ru-RU" dirty="0"/>
              <a:t>Позволяет объекту динамически менять поведение, переключаясь между состояниями</a:t>
            </a:r>
          </a:p>
          <a:p>
            <a:pPr lvl="1"/>
            <a:r>
              <a:rPr lang="ru-RU" dirty="0"/>
              <a:t>Делает архитектуру гибче и проще для сопровождения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568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Приложение – автомат по продаже жевательной резинки</a:t>
            </a:r>
          </a:p>
        </p:txBody>
      </p:sp>
      <p:pic>
        <p:nvPicPr>
          <p:cNvPr id="1026" name="Picture 2" descr="http://obtorg.ru/images/pishevoe-vending/avtomat-round.jpg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3752" y="1556792"/>
            <a:ext cx="3679478" cy="4902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4681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Диаграмма состояний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07569" y="1689151"/>
            <a:ext cx="7723141" cy="4764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717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Диаграмма классов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38509" y="2103371"/>
            <a:ext cx="6914982" cy="4369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889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/>
          <p:cNvSpPr/>
          <p:nvPr/>
        </p:nvSpPr>
        <p:spPr>
          <a:xfrm>
            <a:off x="1847528" y="4385577"/>
            <a:ext cx="2232248" cy="699608"/>
          </a:xfrm>
          <a:prstGeom prst="rect">
            <a:avLst/>
          </a:prstGeom>
          <a:solidFill>
            <a:srgbClr val="85DFFF">
              <a:alpha val="50196"/>
            </a:srgbClr>
          </a:solidFill>
          <a:ln>
            <a:solidFill>
              <a:srgbClr val="8E8E8E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1847528" y="6371141"/>
            <a:ext cx="4032448" cy="195818"/>
          </a:xfrm>
          <a:prstGeom prst="rect">
            <a:avLst/>
          </a:prstGeom>
          <a:solidFill>
            <a:srgbClr val="85DFFF">
              <a:alpha val="50196"/>
            </a:srgbClr>
          </a:solidFill>
          <a:ln>
            <a:solidFill>
              <a:srgbClr val="8E8E8E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>
            <a:off x="1847528" y="6093296"/>
            <a:ext cx="4032448" cy="282104"/>
          </a:xfrm>
          <a:prstGeom prst="rect">
            <a:avLst/>
          </a:prstGeom>
          <a:solidFill>
            <a:srgbClr val="85DFFF">
              <a:alpha val="50196"/>
            </a:srgbClr>
          </a:solidFill>
          <a:ln>
            <a:solidFill>
              <a:srgbClr val="8E8E8E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1847528" y="2260601"/>
            <a:ext cx="3672408" cy="1600448"/>
          </a:xfrm>
          <a:prstGeom prst="rect">
            <a:avLst/>
          </a:prstGeom>
          <a:solidFill>
            <a:srgbClr val="85DFFF">
              <a:alpha val="50196"/>
            </a:srgbClr>
          </a:solidFill>
          <a:ln>
            <a:solidFill>
              <a:srgbClr val="8E8E8E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/>
          <p:cNvSpPr/>
          <p:nvPr/>
        </p:nvSpPr>
        <p:spPr>
          <a:xfrm>
            <a:off x="1631504" y="1595022"/>
            <a:ext cx="781236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GumballMachine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enum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State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ru-RU" sz="1400" dirty="0" err="1">
                <a:solidFill>
                  <a:srgbClr val="2F4F4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SoldOut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   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Жвачка закончилась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ru-RU" sz="1400" dirty="0" err="1">
                <a:solidFill>
                  <a:srgbClr val="2F4F4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NoQuarter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 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Нет монетки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ru-RU" sz="1400" dirty="0" err="1">
                <a:solidFill>
                  <a:srgbClr val="2F4F4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HasQuarter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Есть монетка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ru-RU" sz="1400" dirty="0" err="1">
                <a:solidFill>
                  <a:srgbClr val="2F4F4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Sold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      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Жвачка выдана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GumballMachine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unsigned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InsertQuarter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EjectQuarter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TurnCrank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endParaRPr lang="ru-RU" sz="1400" dirty="0">
              <a:solidFill>
                <a:srgbClr val="0000FF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Refill(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unsigned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numBalls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ToString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Dispense();</a:t>
            </a:r>
            <a:endParaRPr lang="ru-RU" sz="1400" dirty="0">
              <a:solidFill>
                <a:srgbClr val="000000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unsigned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m_count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 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Количество шариков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m_state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400" dirty="0" err="1">
                <a:solidFill>
                  <a:srgbClr val="2F4F4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SoldOut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Реализация автомата для продажи жевательной резинки</a:t>
            </a:r>
          </a:p>
        </p:txBody>
      </p:sp>
      <p:sp>
        <p:nvSpPr>
          <p:cNvPr id="7" name="Выноска 1 6"/>
          <p:cNvSpPr/>
          <p:nvPr/>
        </p:nvSpPr>
        <p:spPr>
          <a:xfrm>
            <a:off x="5994196" y="1982756"/>
            <a:ext cx="3449669" cy="555690"/>
          </a:xfrm>
          <a:prstGeom prst="borderCallout1">
            <a:avLst>
              <a:gd name="adj1" fmla="val 23379"/>
              <a:gd name="adj2" fmla="val -4124"/>
              <a:gd name="adj3" fmla="val 107191"/>
              <a:gd name="adj4" fmla="val -24582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Четыре состояния автомата соответствуют состояниям на диаграмме</a:t>
            </a:r>
          </a:p>
        </p:txBody>
      </p:sp>
      <p:sp>
        <p:nvSpPr>
          <p:cNvPr id="12" name="Выноска 1 11"/>
          <p:cNvSpPr/>
          <p:nvPr/>
        </p:nvSpPr>
        <p:spPr>
          <a:xfrm>
            <a:off x="6753740" y="5599427"/>
            <a:ext cx="3449669" cy="555690"/>
          </a:xfrm>
          <a:prstGeom prst="borderCallout1">
            <a:avLst>
              <a:gd name="adj1" fmla="val 23379"/>
              <a:gd name="adj2" fmla="val -4124"/>
              <a:gd name="adj3" fmla="val 107191"/>
              <a:gd name="adj4" fmla="val -24582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Количество шариков в автомате</a:t>
            </a:r>
          </a:p>
        </p:txBody>
      </p:sp>
      <p:sp>
        <p:nvSpPr>
          <p:cNvPr id="15" name="Выноска 1 14"/>
          <p:cNvSpPr/>
          <p:nvPr/>
        </p:nvSpPr>
        <p:spPr>
          <a:xfrm>
            <a:off x="6737096" y="6265007"/>
            <a:ext cx="3449669" cy="555690"/>
          </a:xfrm>
          <a:prstGeom prst="borderCallout1">
            <a:avLst>
              <a:gd name="adj1" fmla="val 23379"/>
              <a:gd name="adj2" fmla="val -4124"/>
              <a:gd name="adj3" fmla="val 43199"/>
              <a:gd name="adj4" fmla="val -29000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Текущее состояние автомата. Изначально – шарики распроданы</a:t>
            </a:r>
          </a:p>
        </p:txBody>
      </p:sp>
      <p:sp>
        <p:nvSpPr>
          <p:cNvPr id="17" name="Выноска 1 16"/>
          <p:cNvSpPr/>
          <p:nvPr/>
        </p:nvSpPr>
        <p:spPr>
          <a:xfrm>
            <a:off x="5036986" y="4123881"/>
            <a:ext cx="2715199" cy="555690"/>
          </a:xfrm>
          <a:prstGeom prst="borderCallout1">
            <a:avLst>
              <a:gd name="adj1" fmla="val 23379"/>
              <a:gd name="adj2" fmla="val -4124"/>
              <a:gd name="adj3" fmla="val 82508"/>
              <a:gd name="adj4" fmla="val -29000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Действия, которые покупатель может выполнить над автоматом</a:t>
            </a:r>
          </a:p>
        </p:txBody>
      </p:sp>
    </p:spTree>
    <p:extLst>
      <p:ext uri="{BB962C8B-B14F-4D97-AF65-F5344CB8AC3E}">
        <p14:creationId xmlns:p14="http://schemas.microsoft.com/office/powerpoint/2010/main" val="1724190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4" grpId="0" animBg="1"/>
      <p:bldP spid="11" grpId="0" animBg="1"/>
      <p:bldP spid="6" grpId="0" animBg="1"/>
      <p:bldP spid="7" grpId="0" animBg="1"/>
      <p:bldP spid="12" grpId="0" animBg="1"/>
      <p:bldP spid="15" grpId="0" animBg="1"/>
      <p:bldP spid="1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/>
        </p:nvSpPr>
        <p:spPr>
          <a:xfrm>
            <a:off x="1981200" y="5663520"/>
            <a:ext cx="6707089" cy="502750"/>
          </a:xfrm>
          <a:prstGeom prst="rect">
            <a:avLst/>
          </a:prstGeom>
          <a:solidFill>
            <a:srgbClr val="85DFFF">
              <a:alpha val="50196"/>
            </a:srgbClr>
          </a:solidFill>
          <a:ln>
            <a:solidFill>
              <a:srgbClr val="8E8E8E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1981200" y="5014483"/>
            <a:ext cx="5191117" cy="502750"/>
          </a:xfrm>
          <a:prstGeom prst="rect">
            <a:avLst/>
          </a:prstGeom>
          <a:solidFill>
            <a:srgbClr val="85DFFF">
              <a:alpha val="50196"/>
            </a:srgbClr>
          </a:solidFill>
          <a:ln>
            <a:solidFill>
              <a:srgbClr val="8E8E8E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1981200" y="4175686"/>
            <a:ext cx="4402832" cy="692749"/>
          </a:xfrm>
          <a:prstGeom prst="rect">
            <a:avLst/>
          </a:prstGeom>
          <a:solidFill>
            <a:srgbClr val="85DFFF">
              <a:alpha val="50196"/>
            </a:srgbClr>
          </a:solidFill>
          <a:ln>
            <a:solidFill>
              <a:srgbClr val="8E8E8E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1996008" y="3525141"/>
            <a:ext cx="7119186" cy="490941"/>
          </a:xfrm>
          <a:prstGeom prst="rect">
            <a:avLst/>
          </a:prstGeom>
          <a:solidFill>
            <a:srgbClr val="85DFFF">
              <a:alpha val="50196"/>
            </a:srgbClr>
          </a:solidFill>
          <a:ln>
            <a:solidFill>
              <a:srgbClr val="8E8E8E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/>
          <p:cNvSpPr/>
          <p:nvPr/>
        </p:nvSpPr>
        <p:spPr>
          <a:xfrm>
            <a:off x="1775520" y="1563066"/>
            <a:ext cx="5760640" cy="713806"/>
          </a:xfrm>
          <a:prstGeom prst="rect">
            <a:avLst/>
          </a:prstGeom>
          <a:solidFill>
            <a:srgbClr val="85DFFF">
              <a:alpha val="50196"/>
            </a:srgbClr>
          </a:solidFill>
          <a:ln>
            <a:solidFill>
              <a:srgbClr val="8E8E8E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Инициализация автомата и вставка  монетки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549498" y="1563067"/>
            <a:ext cx="7565697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GumballMachine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unsigned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: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m_count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,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m_state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&gt; 0 ?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400" dirty="0" err="1">
                <a:solidFill>
                  <a:srgbClr val="2F4F4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NoQuarter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: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400" dirty="0" err="1">
                <a:solidFill>
                  <a:srgbClr val="2F4F4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SoldOut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{}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InsertQuarter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switch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m_state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{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400" dirty="0" err="1">
                <a:solidFill>
                  <a:srgbClr val="2F4F4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SoldOut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"You can't insert a quarter, the machine is sold out\n"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break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400" dirty="0" err="1">
                <a:solidFill>
                  <a:srgbClr val="2F4F4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NoQuarter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"You inserted a quarter\n"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m_state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400" dirty="0" err="1">
                <a:solidFill>
                  <a:srgbClr val="2F4F4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HasQuarter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break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400" dirty="0" err="1">
                <a:solidFill>
                  <a:srgbClr val="2F4F4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HasQuarter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"You can't insert another quarter\n"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break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400" dirty="0">
                <a:solidFill>
                  <a:srgbClr val="2F4F4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Sold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"Please wait, we're already giving you a gumball\n"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break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}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</a:t>
            </a:r>
            <a:endParaRPr lang="ru-RU" dirty="0"/>
          </a:p>
        </p:txBody>
      </p:sp>
      <p:sp>
        <p:nvSpPr>
          <p:cNvPr id="5" name="Выноска 1 4"/>
          <p:cNvSpPr/>
          <p:nvPr/>
        </p:nvSpPr>
        <p:spPr>
          <a:xfrm>
            <a:off x="7896200" y="1509444"/>
            <a:ext cx="4032448" cy="1487508"/>
          </a:xfrm>
          <a:prstGeom prst="borderCallout1">
            <a:avLst>
              <a:gd name="adj1" fmla="val 20922"/>
              <a:gd name="adj2" fmla="val 2248"/>
              <a:gd name="adj3" fmla="val 24990"/>
              <a:gd name="adj4" fmla="val -10038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Конструктор получает исходное количество шариков. Если оно отлично от нуля, автомат переходит в состояние </a:t>
            </a:r>
            <a:r>
              <a:rPr lang="en-US" sz="1400" b="1" dirty="0" err="1"/>
              <a:t>NoQuarter</a:t>
            </a:r>
            <a:r>
              <a:rPr lang="ru-RU" sz="1400" dirty="0"/>
              <a:t>, ожидая, что в него бросят монетку. Иначе автомат остается в состоянии </a:t>
            </a:r>
            <a:r>
              <a:rPr lang="en-US" sz="1400" b="1" dirty="0" err="1"/>
              <a:t>SoldOut</a:t>
            </a:r>
            <a:endParaRPr lang="ru-RU" sz="1400" b="1" dirty="0"/>
          </a:p>
        </p:txBody>
      </p:sp>
      <p:sp>
        <p:nvSpPr>
          <p:cNvPr id="7" name="Выноска 1 6"/>
          <p:cNvSpPr/>
          <p:nvPr/>
        </p:nvSpPr>
        <p:spPr>
          <a:xfrm>
            <a:off x="4799857" y="2561138"/>
            <a:ext cx="1942877" cy="689705"/>
          </a:xfrm>
          <a:prstGeom prst="borderCallout1">
            <a:avLst>
              <a:gd name="adj1" fmla="val 90381"/>
              <a:gd name="adj2" fmla="val 101138"/>
              <a:gd name="adj3" fmla="val 145789"/>
              <a:gd name="adj4" fmla="val 130068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Если все шарики распроданы, автомат отклоняет монетку</a:t>
            </a:r>
            <a:endParaRPr lang="ru-RU" sz="1400" b="1" dirty="0"/>
          </a:p>
        </p:txBody>
      </p:sp>
      <p:sp>
        <p:nvSpPr>
          <p:cNvPr id="9" name="Выноска 1 8"/>
          <p:cNvSpPr/>
          <p:nvPr/>
        </p:nvSpPr>
        <p:spPr>
          <a:xfrm>
            <a:off x="7172317" y="4189240"/>
            <a:ext cx="2374580" cy="679194"/>
          </a:xfrm>
          <a:prstGeom prst="borderCallout1">
            <a:avLst>
              <a:gd name="adj1" fmla="val 22068"/>
              <a:gd name="adj2" fmla="val -3112"/>
              <a:gd name="adj3" fmla="val 28055"/>
              <a:gd name="adj4" fmla="val -38268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Если нет монетки, автомат принимает ее и переходит в состояние </a:t>
            </a:r>
            <a:r>
              <a:rPr lang="en-US" sz="1400" b="1" dirty="0" err="1"/>
              <a:t>HasQuarter</a:t>
            </a:r>
            <a:endParaRPr lang="ru-RU" sz="1400" b="1" dirty="0"/>
          </a:p>
        </p:txBody>
      </p:sp>
      <p:sp>
        <p:nvSpPr>
          <p:cNvPr id="11" name="Выноска 1 10"/>
          <p:cNvSpPr/>
          <p:nvPr/>
        </p:nvSpPr>
        <p:spPr>
          <a:xfrm>
            <a:off x="8040216" y="4920841"/>
            <a:ext cx="2374580" cy="679194"/>
          </a:xfrm>
          <a:prstGeom prst="borderCallout1">
            <a:avLst>
              <a:gd name="adj1" fmla="val 22068"/>
              <a:gd name="adj2" fmla="val -3112"/>
              <a:gd name="adj3" fmla="val 28055"/>
              <a:gd name="adj4" fmla="val -38268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В автомате уже есть монетка, сообщаем об этом покупателю</a:t>
            </a:r>
            <a:endParaRPr lang="ru-RU" sz="1400" b="1" dirty="0"/>
          </a:p>
        </p:txBody>
      </p:sp>
      <p:sp>
        <p:nvSpPr>
          <p:cNvPr id="13" name="Выноска 1 12"/>
          <p:cNvSpPr/>
          <p:nvPr/>
        </p:nvSpPr>
        <p:spPr>
          <a:xfrm>
            <a:off x="5989845" y="6264135"/>
            <a:ext cx="3922580" cy="528189"/>
          </a:xfrm>
          <a:prstGeom prst="borderCallout1">
            <a:avLst>
              <a:gd name="adj1" fmla="val 22068"/>
              <a:gd name="adj2" fmla="val -3112"/>
              <a:gd name="adj3" fmla="val -24068"/>
              <a:gd name="adj4" fmla="val -25800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Шарик был куплен, надо подождать завершения операции, прежде чем бросать другую монетку</a:t>
            </a:r>
            <a:endParaRPr lang="ru-RU" sz="1400" b="1" dirty="0"/>
          </a:p>
        </p:txBody>
      </p:sp>
    </p:spTree>
    <p:extLst>
      <p:ext uri="{BB962C8B-B14F-4D97-AF65-F5344CB8AC3E}">
        <p14:creationId xmlns:p14="http://schemas.microsoft.com/office/powerpoint/2010/main" val="953619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0" grpId="0" animBg="1"/>
      <p:bldP spid="8" grpId="0" animBg="1"/>
      <p:bldP spid="6" grpId="0" animBg="1"/>
      <p:bldP spid="4" grpId="0" animBg="1"/>
      <p:bldP spid="5" grpId="0" animBg="1"/>
      <p:bldP spid="7" grpId="0" animBg="1"/>
      <p:bldP spid="9" grpId="0" animBg="1"/>
      <p:bldP spid="11" grpId="0" animBg="1"/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/>
        </p:nvSpPr>
        <p:spPr>
          <a:xfrm>
            <a:off x="1981200" y="4838294"/>
            <a:ext cx="7211144" cy="502750"/>
          </a:xfrm>
          <a:prstGeom prst="rect">
            <a:avLst/>
          </a:prstGeom>
          <a:solidFill>
            <a:srgbClr val="85DFFF">
              <a:alpha val="50196"/>
            </a:srgbClr>
          </a:solidFill>
          <a:ln>
            <a:solidFill>
              <a:srgbClr val="8E8E8E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1981200" y="4259234"/>
            <a:ext cx="5554960" cy="393903"/>
          </a:xfrm>
          <a:prstGeom prst="rect">
            <a:avLst/>
          </a:prstGeom>
          <a:solidFill>
            <a:srgbClr val="85DFFF">
              <a:alpha val="50196"/>
            </a:srgbClr>
          </a:solidFill>
          <a:ln>
            <a:solidFill>
              <a:srgbClr val="8E8E8E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1981201" y="3580676"/>
            <a:ext cx="4978895" cy="502750"/>
          </a:xfrm>
          <a:prstGeom prst="rect">
            <a:avLst/>
          </a:prstGeom>
          <a:solidFill>
            <a:srgbClr val="85DFFF">
              <a:alpha val="50196"/>
            </a:srgbClr>
          </a:solidFill>
          <a:ln>
            <a:solidFill>
              <a:srgbClr val="8E8E8E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/>
          <p:cNvSpPr/>
          <p:nvPr/>
        </p:nvSpPr>
        <p:spPr>
          <a:xfrm>
            <a:off x="1981201" y="2708920"/>
            <a:ext cx="3682752" cy="686598"/>
          </a:xfrm>
          <a:prstGeom prst="rect">
            <a:avLst/>
          </a:prstGeom>
          <a:solidFill>
            <a:srgbClr val="85DFFF">
              <a:alpha val="50196"/>
            </a:srgbClr>
          </a:solidFill>
          <a:ln>
            <a:solidFill>
              <a:srgbClr val="8E8E8E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Если покупатель решил вернуть монетку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524000" y="1844825"/>
            <a:ext cx="7668344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EjectQuarter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switch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m_state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{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400" dirty="0" err="1">
                <a:solidFill>
                  <a:srgbClr val="2F4F4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HasQuarter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"Quarter returned\n"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m_state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400" dirty="0" err="1">
                <a:solidFill>
                  <a:srgbClr val="2F4F4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NoQuarter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break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400" dirty="0" err="1">
                <a:solidFill>
                  <a:srgbClr val="2F4F4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NoQuarter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"You haven't inserted a quarter\n"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break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400" dirty="0">
                <a:solidFill>
                  <a:srgbClr val="2F4F4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Sold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"Sorry you already turned the crank\n"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break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400" dirty="0" err="1">
                <a:solidFill>
                  <a:srgbClr val="2F4F4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SoldOut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"You can't eject, you haven't inserted a quarter yet\n"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break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}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</p:txBody>
      </p:sp>
      <p:sp>
        <p:nvSpPr>
          <p:cNvPr id="5" name="Выноска 1 4"/>
          <p:cNvSpPr/>
          <p:nvPr/>
        </p:nvSpPr>
        <p:spPr>
          <a:xfrm>
            <a:off x="5689038" y="2171711"/>
            <a:ext cx="3312368" cy="504056"/>
          </a:xfrm>
          <a:prstGeom prst="borderCallout1">
            <a:avLst>
              <a:gd name="adj1" fmla="val 22068"/>
              <a:gd name="adj2" fmla="val -3112"/>
              <a:gd name="adj3" fmla="val 134400"/>
              <a:gd name="adj4" fmla="val -23722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Если монетка есть, возвращаем ее и переходим в состояние </a:t>
            </a:r>
            <a:r>
              <a:rPr lang="en-US" sz="1400" b="1" dirty="0" err="1"/>
              <a:t>NoQuarter</a:t>
            </a:r>
            <a:endParaRPr lang="ru-RU" sz="1400" b="1" dirty="0"/>
          </a:p>
        </p:txBody>
      </p:sp>
      <p:sp>
        <p:nvSpPr>
          <p:cNvPr id="7" name="Выноска 1 6"/>
          <p:cNvSpPr/>
          <p:nvPr/>
        </p:nvSpPr>
        <p:spPr>
          <a:xfrm>
            <a:off x="7345222" y="3135273"/>
            <a:ext cx="2113384" cy="523873"/>
          </a:xfrm>
          <a:prstGeom prst="borderCallout1">
            <a:avLst>
              <a:gd name="adj1" fmla="val 22068"/>
              <a:gd name="adj2" fmla="val -3112"/>
              <a:gd name="adj3" fmla="val 100106"/>
              <a:gd name="adj4" fmla="val -31166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Нельзя вернуть монетку, если она отсутствует</a:t>
            </a:r>
            <a:endParaRPr lang="ru-RU" sz="1400" b="1" dirty="0"/>
          </a:p>
        </p:txBody>
      </p:sp>
      <p:sp>
        <p:nvSpPr>
          <p:cNvPr id="9" name="Выноска 1 8"/>
          <p:cNvSpPr/>
          <p:nvPr/>
        </p:nvSpPr>
        <p:spPr>
          <a:xfrm>
            <a:off x="7993361" y="3933491"/>
            <a:ext cx="2473719" cy="523873"/>
          </a:xfrm>
          <a:prstGeom prst="borderCallout1">
            <a:avLst>
              <a:gd name="adj1" fmla="val 22068"/>
              <a:gd name="adj2" fmla="val -3112"/>
              <a:gd name="adj3" fmla="val 80712"/>
              <a:gd name="adj4" fmla="val -30579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Шарик уже куплен, возврат монетки невозможен</a:t>
            </a:r>
            <a:endParaRPr lang="ru-RU" sz="1400" b="1" dirty="0"/>
          </a:p>
        </p:txBody>
      </p:sp>
      <p:sp>
        <p:nvSpPr>
          <p:cNvPr id="11" name="Выноска 1 10"/>
          <p:cNvSpPr/>
          <p:nvPr/>
        </p:nvSpPr>
        <p:spPr>
          <a:xfrm>
            <a:off x="7248128" y="5778893"/>
            <a:ext cx="3312368" cy="741301"/>
          </a:xfrm>
          <a:prstGeom prst="borderCallout1">
            <a:avLst>
              <a:gd name="adj1" fmla="val 22068"/>
              <a:gd name="adj2" fmla="val -3112"/>
              <a:gd name="adj3" fmla="val -56787"/>
              <a:gd name="adj4" fmla="val -51371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Если шарики кончились, возврат невозможен, т.к. автомат не принимает монетки в этом состоянии</a:t>
            </a:r>
            <a:endParaRPr lang="ru-RU" sz="1400" b="1" dirty="0"/>
          </a:p>
        </p:txBody>
      </p:sp>
    </p:spTree>
    <p:extLst>
      <p:ext uri="{BB962C8B-B14F-4D97-AF65-F5344CB8AC3E}">
        <p14:creationId xmlns:p14="http://schemas.microsoft.com/office/powerpoint/2010/main" val="536052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8" grpId="0" animBg="1"/>
      <p:bldP spid="6" grpId="0" animBg="1"/>
      <p:bldP spid="4" grpId="0" animBg="1"/>
      <p:bldP spid="5" grpId="0" animBg="1"/>
      <p:bldP spid="7" grpId="0" animBg="1"/>
      <p:bldP spid="9" grpId="0" animBg="1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981200" y="2636912"/>
            <a:ext cx="5410944" cy="504056"/>
          </a:xfrm>
          <a:prstGeom prst="rect">
            <a:avLst/>
          </a:prstGeom>
          <a:solidFill>
            <a:srgbClr val="85DFFF">
              <a:alpha val="50196"/>
            </a:srgbClr>
          </a:solidFill>
          <a:ln>
            <a:solidFill>
              <a:srgbClr val="8E8E8E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1981200" y="3289342"/>
            <a:ext cx="5410944" cy="504056"/>
          </a:xfrm>
          <a:prstGeom prst="rect">
            <a:avLst/>
          </a:prstGeom>
          <a:solidFill>
            <a:srgbClr val="85DFFF">
              <a:alpha val="50196"/>
            </a:srgbClr>
          </a:solidFill>
          <a:ln>
            <a:solidFill>
              <a:srgbClr val="8E8E8E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1981200" y="3971548"/>
            <a:ext cx="3394720" cy="825604"/>
          </a:xfrm>
          <a:prstGeom prst="rect">
            <a:avLst/>
          </a:prstGeom>
          <a:solidFill>
            <a:srgbClr val="85DFFF">
              <a:alpha val="50196"/>
            </a:srgbClr>
          </a:solidFill>
          <a:ln>
            <a:solidFill>
              <a:srgbClr val="8E8E8E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1981200" y="5014614"/>
            <a:ext cx="6491064" cy="655868"/>
          </a:xfrm>
          <a:prstGeom prst="rect">
            <a:avLst/>
          </a:prstGeom>
          <a:solidFill>
            <a:srgbClr val="85DFFF">
              <a:alpha val="50196"/>
            </a:srgbClr>
          </a:solidFill>
          <a:ln>
            <a:solidFill>
              <a:srgbClr val="8E8E8E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Если покупатель пытается дернуть за рычаг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538908" y="1772817"/>
            <a:ext cx="714938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TurnCrank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switch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m_state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{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400" dirty="0" err="1">
                <a:solidFill>
                  <a:srgbClr val="2F4F4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SoldOut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"You turned but there's no gumballs\n"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break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400" dirty="0" err="1">
                <a:solidFill>
                  <a:srgbClr val="2F4F4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NoQuarter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"You turned but there's no quarter\n"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break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400" dirty="0" err="1">
                <a:solidFill>
                  <a:srgbClr val="2F4F4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HasQuarter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"You turned...\n"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m_state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400" dirty="0">
                <a:solidFill>
                  <a:srgbClr val="2F4F4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Sold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Dispense();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break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400" dirty="0">
                <a:solidFill>
                  <a:srgbClr val="2F4F4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Sold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"Turning twice doesn't get you another gumball\n"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break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}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</a:t>
            </a:r>
            <a:endParaRPr lang="ru-RU" dirty="0"/>
          </a:p>
        </p:txBody>
      </p:sp>
      <p:sp>
        <p:nvSpPr>
          <p:cNvPr id="5" name="Выноска 1 4"/>
          <p:cNvSpPr/>
          <p:nvPr/>
        </p:nvSpPr>
        <p:spPr>
          <a:xfrm>
            <a:off x="7671196" y="2055340"/>
            <a:ext cx="2088232" cy="504056"/>
          </a:xfrm>
          <a:prstGeom prst="borderCallout1">
            <a:avLst>
              <a:gd name="adj1" fmla="val 22068"/>
              <a:gd name="adj2" fmla="val -3112"/>
              <a:gd name="adj3" fmla="val 134400"/>
              <a:gd name="adj4" fmla="val -23722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Выдача невозможна – в автомате нет шариков</a:t>
            </a:r>
            <a:endParaRPr lang="ru-RU" sz="1400" b="1" dirty="0"/>
          </a:p>
        </p:txBody>
      </p:sp>
      <p:sp>
        <p:nvSpPr>
          <p:cNvPr id="7" name="Выноска 1 6"/>
          <p:cNvSpPr/>
          <p:nvPr/>
        </p:nvSpPr>
        <p:spPr>
          <a:xfrm>
            <a:off x="7651948" y="3284944"/>
            <a:ext cx="2764532" cy="504056"/>
          </a:xfrm>
          <a:prstGeom prst="borderCallout1">
            <a:avLst>
              <a:gd name="adj1" fmla="val 22068"/>
              <a:gd name="adj2" fmla="val -3112"/>
              <a:gd name="adj3" fmla="val 36137"/>
              <a:gd name="adj4" fmla="val -22344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Сначала нужно бросить монетку</a:t>
            </a:r>
            <a:endParaRPr lang="ru-RU" sz="1400" b="1" dirty="0"/>
          </a:p>
        </p:txBody>
      </p:sp>
      <p:sp>
        <p:nvSpPr>
          <p:cNvPr id="9" name="Выноска 1 8"/>
          <p:cNvSpPr/>
          <p:nvPr/>
        </p:nvSpPr>
        <p:spPr>
          <a:xfrm>
            <a:off x="5852740" y="3971548"/>
            <a:ext cx="3483620" cy="504056"/>
          </a:xfrm>
          <a:prstGeom prst="borderCallout1">
            <a:avLst>
              <a:gd name="adj1" fmla="val 22068"/>
              <a:gd name="adj2" fmla="val -3112"/>
              <a:gd name="adj3" fmla="val 36137"/>
              <a:gd name="adj4" fmla="val -22344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Покупатель получает шарик. Переходим в состояние </a:t>
            </a:r>
            <a:r>
              <a:rPr lang="en-US" sz="1400" dirty="0"/>
              <a:t>Sold </a:t>
            </a:r>
            <a:r>
              <a:rPr lang="ru-RU" sz="1400" dirty="0"/>
              <a:t>и вызываем метод </a:t>
            </a:r>
            <a:r>
              <a:rPr lang="en-US" sz="1400" dirty="0"/>
              <a:t>Dispense</a:t>
            </a:r>
            <a:endParaRPr lang="ru-RU" sz="1400" b="1" dirty="0"/>
          </a:p>
        </p:txBody>
      </p:sp>
      <p:sp>
        <p:nvSpPr>
          <p:cNvPr id="11" name="Выноска 1 10"/>
          <p:cNvSpPr/>
          <p:nvPr/>
        </p:nvSpPr>
        <p:spPr>
          <a:xfrm>
            <a:off x="6888088" y="5744152"/>
            <a:ext cx="2897212" cy="504056"/>
          </a:xfrm>
          <a:prstGeom prst="borderCallout1">
            <a:avLst>
              <a:gd name="adj1" fmla="val 22068"/>
              <a:gd name="adj2" fmla="val -3112"/>
              <a:gd name="adj3" fmla="val -47008"/>
              <a:gd name="adj4" fmla="val -22651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Кто-то пытается обмануть автомат</a:t>
            </a:r>
            <a:endParaRPr lang="ru-RU" sz="1400" b="1" dirty="0"/>
          </a:p>
        </p:txBody>
      </p:sp>
    </p:spTree>
    <p:extLst>
      <p:ext uri="{BB962C8B-B14F-4D97-AF65-F5344CB8AC3E}">
        <p14:creationId xmlns:p14="http://schemas.microsoft.com/office/powerpoint/2010/main" val="3557046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10" grpId="0" animBg="1"/>
      <p:bldP spid="5" grpId="0" animBg="1"/>
      <p:bldP spid="7" grpId="0" animBg="1"/>
      <p:bldP spid="9" grpId="0" animBg="1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279576" y="2492896"/>
            <a:ext cx="5112568" cy="432048"/>
          </a:xfrm>
          <a:prstGeom prst="rect">
            <a:avLst/>
          </a:prstGeom>
          <a:solidFill>
            <a:srgbClr val="85DFFF">
              <a:alpha val="50196"/>
            </a:srgbClr>
          </a:solidFill>
          <a:ln>
            <a:solidFill>
              <a:srgbClr val="8E8E8E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2423592" y="3116503"/>
            <a:ext cx="3744416" cy="1536633"/>
          </a:xfrm>
          <a:prstGeom prst="rect">
            <a:avLst/>
          </a:prstGeom>
          <a:solidFill>
            <a:srgbClr val="85DFFF">
              <a:alpha val="50196"/>
            </a:srgbClr>
          </a:solidFill>
          <a:ln>
            <a:solidFill>
              <a:srgbClr val="8E8E8E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2277120" y="4844693"/>
            <a:ext cx="3744416" cy="1248604"/>
          </a:xfrm>
          <a:prstGeom prst="rect">
            <a:avLst/>
          </a:prstGeom>
          <a:solidFill>
            <a:srgbClr val="85DFFF">
              <a:alpha val="50196"/>
            </a:srgbClr>
          </a:solidFill>
          <a:ln>
            <a:solidFill>
              <a:srgbClr val="8E8E8E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Выдача шарика пользователю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811524" y="1595022"/>
            <a:ext cx="8568952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Dispense()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switch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m_state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{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400" dirty="0">
                <a:solidFill>
                  <a:srgbClr val="2F4F4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Sold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"A gumball comes rolling out the slot\n"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--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m_count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m_count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== 0)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{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"Oops, out of gumballs\n"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m_state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400" dirty="0" err="1">
                <a:solidFill>
                  <a:srgbClr val="2F4F4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SoldOut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}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else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m_state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400" dirty="0" err="1">
                <a:solidFill>
                  <a:srgbClr val="2F4F4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NoQuarter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break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400" dirty="0" err="1">
                <a:solidFill>
                  <a:srgbClr val="2F4F4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NoQuarter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"You need to pay first\n"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break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400" dirty="0" err="1">
                <a:solidFill>
                  <a:srgbClr val="2F4F4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SoldOut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400" dirty="0" err="1">
                <a:solidFill>
                  <a:srgbClr val="2F4F4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HasQuarter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"No gumball dispensed\n"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break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}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</a:t>
            </a:r>
            <a:endParaRPr lang="ru-RU" dirty="0"/>
          </a:p>
        </p:txBody>
      </p:sp>
      <p:sp>
        <p:nvSpPr>
          <p:cNvPr id="5" name="Выноска 1 4"/>
          <p:cNvSpPr/>
          <p:nvPr/>
        </p:nvSpPr>
        <p:spPr>
          <a:xfrm>
            <a:off x="7392144" y="2060848"/>
            <a:ext cx="2241228" cy="432048"/>
          </a:xfrm>
          <a:prstGeom prst="borderCallout1">
            <a:avLst>
              <a:gd name="adj1" fmla="val 22068"/>
              <a:gd name="adj2" fmla="val -3112"/>
              <a:gd name="adj3" fmla="val 134400"/>
              <a:gd name="adj4" fmla="val -23722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Автомат в состоянии </a:t>
            </a:r>
            <a:r>
              <a:rPr lang="en-US" sz="1400" b="1" dirty="0"/>
              <a:t>Sold</a:t>
            </a:r>
            <a:r>
              <a:rPr lang="ru-RU" sz="1400" dirty="0"/>
              <a:t>, выдать покупку!</a:t>
            </a:r>
            <a:endParaRPr lang="ru-RU" sz="1400" b="1" dirty="0"/>
          </a:p>
        </p:txBody>
      </p:sp>
      <p:sp>
        <p:nvSpPr>
          <p:cNvPr id="7" name="Выноска 1 6"/>
          <p:cNvSpPr/>
          <p:nvPr/>
        </p:nvSpPr>
        <p:spPr>
          <a:xfrm>
            <a:off x="6568796" y="3142022"/>
            <a:ext cx="3887924" cy="731345"/>
          </a:xfrm>
          <a:prstGeom prst="borderCallout1">
            <a:avLst>
              <a:gd name="adj1" fmla="val 22068"/>
              <a:gd name="adj2" fmla="val -3112"/>
              <a:gd name="adj3" fmla="val 31053"/>
              <a:gd name="adj4" fmla="val -19814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Если шарик был последним, автомат переходит в состояние</a:t>
            </a:r>
            <a:r>
              <a:rPr lang="en-US" sz="1400" dirty="0"/>
              <a:t> </a:t>
            </a:r>
            <a:r>
              <a:rPr lang="en-US" sz="1400" b="1" dirty="0" err="1"/>
              <a:t>SoldOut</a:t>
            </a:r>
            <a:r>
              <a:rPr lang="ru-RU" sz="1400" dirty="0"/>
              <a:t>, а если нет, возвращается в состояние </a:t>
            </a:r>
            <a:r>
              <a:rPr lang="en-US" sz="1400" b="1" dirty="0" err="1"/>
              <a:t>NoQuarter</a:t>
            </a:r>
            <a:r>
              <a:rPr lang="en-US" sz="1400" dirty="0"/>
              <a:t>.</a:t>
            </a:r>
            <a:endParaRPr lang="ru-RU" sz="1400" b="1" dirty="0"/>
          </a:p>
        </p:txBody>
      </p:sp>
      <p:sp>
        <p:nvSpPr>
          <p:cNvPr id="9" name="Выноска 1 8"/>
          <p:cNvSpPr/>
          <p:nvPr/>
        </p:nvSpPr>
        <p:spPr>
          <a:xfrm>
            <a:off x="6604316" y="5469149"/>
            <a:ext cx="3887924" cy="624149"/>
          </a:xfrm>
          <a:prstGeom prst="borderCallout1">
            <a:avLst>
              <a:gd name="adj1" fmla="val 22068"/>
              <a:gd name="adj2" fmla="val -3112"/>
              <a:gd name="adj3" fmla="val 31053"/>
              <a:gd name="adj4" fmla="val -19814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Эти ситуации невозможны. При их возникновении автомат выдаст ошибку.</a:t>
            </a:r>
            <a:endParaRPr lang="ru-RU" sz="1400" b="1" dirty="0"/>
          </a:p>
        </p:txBody>
      </p:sp>
    </p:spTree>
    <p:extLst>
      <p:ext uri="{BB962C8B-B14F-4D97-AF65-F5344CB8AC3E}">
        <p14:creationId xmlns:p14="http://schemas.microsoft.com/office/powerpoint/2010/main" val="1088391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5" grpId="0" animBg="1"/>
      <p:bldP spid="7" grpId="0" animBg="1"/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1775520" y="2132856"/>
            <a:ext cx="6120680" cy="1152128"/>
          </a:xfrm>
          <a:prstGeom prst="rect">
            <a:avLst/>
          </a:prstGeom>
          <a:solidFill>
            <a:srgbClr val="85DFFF">
              <a:alpha val="50196"/>
            </a:srgbClr>
          </a:solidFill>
          <a:ln>
            <a:solidFill>
              <a:srgbClr val="8E8E8E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1524000" y="3438314"/>
            <a:ext cx="6948264" cy="3231046"/>
          </a:xfrm>
          <a:prstGeom prst="rect">
            <a:avLst/>
          </a:prstGeom>
          <a:solidFill>
            <a:srgbClr val="85DFFF">
              <a:alpha val="50196"/>
            </a:srgbClr>
          </a:solidFill>
          <a:ln>
            <a:solidFill>
              <a:srgbClr val="8E8E8E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/>
          <p:cNvSpPr/>
          <p:nvPr/>
        </p:nvSpPr>
        <p:spPr>
          <a:xfrm>
            <a:off x="1524000" y="2132856"/>
            <a:ext cx="7128792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Refill(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unsigned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numBalls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m_count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numBalls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m_state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numBalls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&gt; 0 ?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400" dirty="0" err="1">
                <a:solidFill>
                  <a:srgbClr val="2F4F4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NoQuarter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: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400" dirty="0" err="1">
                <a:solidFill>
                  <a:srgbClr val="2F4F4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SoldOut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ToString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const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state =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m_state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==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400" dirty="0" err="1">
                <a:solidFill>
                  <a:srgbClr val="2F4F4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SoldOut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   ?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"sold out"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: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m_state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==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400" dirty="0" err="1">
                <a:solidFill>
                  <a:srgbClr val="2F4F4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NoQuarter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 ?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"waiting for quarter"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: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m_state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==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400" dirty="0" err="1">
                <a:solidFill>
                  <a:srgbClr val="2F4F4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HasQuarter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?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"waiting for turn of crank"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             :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"delivering a gumball"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return 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std::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format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R"(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Mighty Gumball, Inc.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C++-enabled Standing Gumball Model #2016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Inventory: {} gumball{}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Machine is {}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)“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fmt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m_count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m_count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!= 1 ?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"s"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: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"",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state);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</a:t>
            </a:r>
            <a:endParaRPr lang="ru-RU" dirty="0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Служебные методы</a:t>
            </a:r>
          </a:p>
        </p:txBody>
      </p:sp>
      <p:sp>
        <p:nvSpPr>
          <p:cNvPr id="7" name="Выноска 1 6"/>
          <p:cNvSpPr/>
          <p:nvPr/>
        </p:nvSpPr>
        <p:spPr>
          <a:xfrm>
            <a:off x="8147720" y="1381311"/>
            <a:ext cx="2412776" cy="1128205"/>
          </a:xfrm>
          <a:prstGeom prst="borderCallout1">
            <a:avLst>
              <a:gd name="adj1" fmla="val 22068"/>
              <a:gd name="adj2" fmla="val -3112"/>
              <a:gd name="adj3" fmla="val 74955"/>
              <a:gd name="adj4" fmla="val -27709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Наполнение автомата резинкой. Для простоты считаем, что эта операция выполняется только в состоянии </a:t>
            </a:r>
            <a:r>
              <a:rPr lang="en-US" sz="1400" b="1" dirty="0" err="1"/>
              <a:t>SoldOut</a:t>
            </a:r>
            <a:r>
              <a:rPr lang="en-US" sz="1400" dirty="0"/>
              <a:t>.</a:t>
            </a:r>
            <a:endParaRPr lang="ru-RU" sz="1400" b="1" dirty="0"/>
          </a:p>
        </p:txBody>
      </p:sp>
      <p:sp>
        <p:nvSpPr>
          <p:cNvPr id="9" name="Выноска 1 8"/>
          <p:cNvSpPr/>
          <p:nvPr/>
        </p:nvSpPr>
        <p:spPr>
          <a:xfrm>
            <a:off x="8147720" y="2777320"/>
            <a:ext cx="2471786" cy="592597"/>
          </a:xfrm>
          <a:prstGeom prst="borderCallout1">
            <a:avLst>
              <a:gd name="adj1" fmla="val 86361"/>
              <a:gd name="adj2" fmla="val -543"/>
              <a:gd name="adj3" fmla="val 146781"/>
              <a:gd name="adj4" fmla="val -139529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Строковое представление текущего состояния автомата</a:t>
            </a:r>
            <a:endParaRPr lang="ru-RU" sz="1400" b="1" dirty="0"/>
          </a:p>
        </p:txBody>
      </p:sp>
    </p:spTree>
    <p:extLst>
      <p:ext uri="{BB962C8B-B14F-4D97-AF65-F5344CB8AC3E}">
        <p14:creationId xmlns:p14="http://schemas.microsoft.com/office/powerpoint/2010/main" val="3855958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7" grpId="0" animBg="1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527572" y="-23123"/>
            <a:ext cx="3419872" cy="6894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void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TestGumballMachine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endParaRPr lang="ru-RU" sz="1300" dirty="0">
              <a:solidFill>
                <a:srgbClr val="000000"/>
              </a:solidFill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30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300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GumballMachine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30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m(5)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cout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&lt;&lt; </a:t>
            </a:r>
            <a:r>
              <a:rPr lang="en-US" sz="130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.ToString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 &lt;&lt;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endl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30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.InsertQuarter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();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30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.TurnCrank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();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cout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&lt;&lt; </a:t>
            </a:r>
            <a:r>
              <a:rPr lang="en-US" sz="130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.ToString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 &lt;&lt;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endl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30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.InsertQuarter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();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30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.EjectQuarter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();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30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.TurnCrank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();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cout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&lt;&lt; </a:t>
            </a:r>
            <a:r>
              <a:rPr lang="en-US" sz="130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.ToString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 &lt;&lt;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endl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30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.InsertQuarter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();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30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.TurnCrank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();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30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.InsertQuarter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();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30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.TurnCrank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();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30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.EjectQuarter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();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cout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&lt;&lt; </a:t>
            </a:r>
            <a:r>
              <a:rPr lang="en-US" sz="130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.ToString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 &lt;&lt;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endl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pPr lvl="0"/>
            <a:endParaRPr lang="en-US" sz="1300" dirty="0">
              <a:solidFill>
                <a:srgbClr val="000000"/>
              </a:solidFill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/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30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.InsertQuarter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();</a:t>
            </a:r>
            <a:endParaRPr lang="ru-RU" sz="13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/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30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.InsertQuarter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();</a:t>
            </a:r>
            <a:endParaRPr lang="ru-RU" sz="13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/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30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.TurnCrank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();</a:t>
            </a:r>
            <a:endParaRPr lang="ru-RU" sz="13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/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30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.InsertQuarter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();</a:t>
            </a:r>
            <a:endParaRPr lang="ru-RU" sz="13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/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30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.TurnCrank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();</a:t>
            </a:r>
            <a:endParaRPr lang="ru-RU" sz="13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/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30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.InsertQuarter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();</a:t>
            </a:r>
            <a:endParaRPr lang="ru-RU" sz="13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/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30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.TurnCrank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();</a:t>
            </a:r>
            <a:endParaRPr lang="ru-RU" sz="13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/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13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/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cout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&lt;&lt; </a:t>
            </a:r>
            <a:r>
              <a:rPr lang="en-US" sz="130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.ToString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 &lt;&lt;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endl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ru-RU" sz="13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/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384032" y="1"/>
            <a:ext cx="4176464" cy="6940361"/>
          </a:xfrm>
          <a:prstGeom prst="rect">
            <a:avLst/>
          </a:prstGeom>
        </p:spPr>
        <p:txBody>
          <a:bodyPr wrap="square" tIns="0" bIns="0">
            <a:spAutoFit/>
          </a:bodyPr>
          <a:lstStyle/>
          <a:p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Inventory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: 5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gumballs</a:t>
            </a:r>
            <a:endParaRPr lang="ru-RU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Machine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is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waiting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quarter</a:t>
            </a:r>
            <a:endParaRPr lang="ru-RU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ru-RU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You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inserted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 a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quarter</a:t>
            </a:r>
            <a:endParaRPr lang="ru-RU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You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turned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</a:p>
          <a:p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A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gumball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comes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rolling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out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the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slot</a:t>
            </a:r>
            <a:endParaRPr lang="ru-RU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ru-RU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Inventory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: 4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gumballs</a:t>
            </a:r>
            <a:endParaRPr lang="ru-RU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Machine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is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waiting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quarter</a:t>
            </a:r>
            <a:endParaRPr lang="ru-RU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ru-RU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You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inserted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 a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quarter</a:t>
            </a:r>
            <a:endParaRPr lang="ru-RU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Quarter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returned</a:t>
            </a:r>
            <a:endParaRPr lang="ru-RU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You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turned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but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there's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no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quarter</a:t>
            </a:r>
            <a:endParaRPr lang="ru-RU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ru-RU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Inventory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: 4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gumballs</a:t>
            </a:r>
            <a:endParaRPr lang="ru-RU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Machine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is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waiting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quarter</a:t>
            </a:r>
            <a:endParaRPr lang="ru-RU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ru-RU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You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inserted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 a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quarter</a:t>
            </a:r>
            <a:endParaRPr lang="ru-RU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You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turned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</a:p>
          <a:p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A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gumball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comes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rolling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out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the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slot</a:t>
            </a:r>
            <a:endParaRPr lang="ru-RU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You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inserted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 a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quarter</a:t>
            </a:r>
            <a:endParaRPr lang="ru-RU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You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turned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</a:p>
          <a:p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A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gumball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comes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rolling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out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the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slot</a:t>
            </a:r>
            <a:endParaRPr lang="ru-RU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You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haven't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inserted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 a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quarter</a:t>
            </a:r>
            <a:endParaRPr lang="ru-RU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ru-RU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Inventory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: 2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gumballs</a:t>
            </a:r>
            <a:endParaRPr lang="ru-RU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Machine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is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waiting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quarter</a:t>
            </a:r>
            <a:endParaRPr lang="ru-RU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ru-RU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You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inserted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 a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quarter</a:t>
            </a:r>
            <a:endParaRPr lang="ru-RU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You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can't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insert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another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quarter</a:t>
            </a:r>
            <a:endParaRPr lang="ru-RU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You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turned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</a:p>
          <a:p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A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gumball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comes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rolling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out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the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slot</a:t>
            </a:r>
            <a:endParaRPr lang="ru-RU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You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inserted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 a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quarter</a:t>
            </a:r>
            <a:endParaRPr lang="ru-RU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You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turned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</a:p>
          <a:p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A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gumball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comes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rolling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out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the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slot</a:t>
            </a:r>
            <a:endParaRPr lang="ru-RU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Oops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out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of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gumballs</a:t>
            </a:r>
            <a:endParaRPr lang="ru-RU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You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can't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insert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 a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quarter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the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machine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is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sold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out</a:t>
            </a:r>
            <a:endParaRPr lang="ru-RU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You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turned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but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there's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no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gumballs</a:t>
            </a:r>
            <a:endParaRPr lang="ru-RU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ru-RU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Inventory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: 0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gumballs</a:t>
            </a:r>
            <a:endParaRPr lang="ru-RU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Machine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is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sold</a:t>
            </a:r>
            <a:r>
              <a:rPr lang="ru-RU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out</a:t>
            </a:r>
            <a:endParaRPr lang="ru-RU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0902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000"/>
                            </p:stCondLst>
                            <p:childTnLst>
                              <p:par>
                                <p:cTn id="8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00"/>
                            </p:stCondLst>
                            <p:childTnLst>
                              <p:par>
                                <p:cTn id="10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000"/>
                            </p:stCondLst>
                            <p:childTnLst>
                              <p:par>
                                <p:cTn id="1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500"/>
                            </p:stCondLst>
                            <p:childTnLst>
                              <p:par>
                                <p:cTn id="1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6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500"/>
                            </p:stCondLst>
                            <p:childTnLst>
                              <p:par>
                                <p:cTn id="1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6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1000"/>
                            </p:stCondLst>
                            <p:childTnLst>
                              <p:par>
                                <p:cTn id="1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6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500"/>
                            </p:stCondLst>
                            <p:childTnLst>
                              <p:par>
                                <p:cTn id="1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6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500"/>
                            </p:stCondLst>
                            <p:childTnLst>
                              <p:par>
                                <p:cTn id="1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6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1000"/>
                            </p:stCondLst>
                            <p:childTnLst>
                              <p:par>
                                <p:cTn id="15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6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500"/>
                            </p:stCondLst>
                            <p:childTnLst>
                              <p:par>
                                <p:cTn id="16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6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500"/>
                            </p:stCondLst>
                            <p:childTnLst>
                              <p:par>
                                <p:cTn id="17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6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3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500"/>
                            </p:stCondLst>
                            <p:childTnLst>
                              <p:par>
                                <p:cTn id="18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0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6">
                                            <p:txEl>
                                              <p:pRg st="30" end="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1000"/>
                            </p:stCondLst>
                            <p:childTnLst>
                              <p:par>
                                <p:cTn id="18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1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6">
                                            <p:txEl>
                                              <p:pRg st="31" end="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3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>
                            <p:stCondLst>
                              <p:cond delay="500"/>
                            </p:stCondLst>
                            <p:childTnLst>
                              <p:par>
                                <p:cTn id="19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2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6">
                                            <p:txEl>
                                              <p:pRg st="32" end="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3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500"/>
                            </p:stCondLst>
                            <p:childTnLst>
                              <p:par>
                                <p:cTn id="20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3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6">
                                            <p:txEl>
                                              <p:pRg st="33" end="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6" fill="hold">
                            <p:stCondLst>
                              <p:cond delay="1000"/>
                            </p:stCondLst>
                            <p:childTnLst>
                              <p:par>
                                <p:cTn id="20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4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500"/>
                                        <p:tgtEl>
                                          <p:spTgt spid="6">
                                            <p:txEl>
                                              <p:pRg st="34" end="3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5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500"/>
                                        <p:tgtEl>
                                          <p:spTgt spid="6">
                                            <p:txEl>
                                              <p:pRg st="35" end="3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500"/>
                                        <p:tgtEl>
                                          <p:spTgt spid="3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>
                            <p:stCondLst>
                              <p:cond delay="500"/>
                            </p:stCondLst>
                            <p:childTnLst>
                              <p:par>
                                <p:cTn id="2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6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500"/>
                                        <p:tgtEl>
                                          <p:spTgt spid="6">
                                            <p:txEl>
                                              <p:pRg st="36" end="3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0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500"/>
                                        <p:tgtEl>
                                          <p:spTgt spid="3">
                                            <p:txEl>
                                              <p:pRg st="30" end="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" fill="hold">
                            <p:stCondLst>
                              <p:cond delay="500"/>
                            </p:stCondLst>
                            <p:childTnLst>
                              <p:par>
                                <p:cTn id="2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7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500"/>
                                        <p:tgtEl>
                                          <p:spTgt spid="6">
                                            <p:txEl>
                                              <p:pRg st="37" end="3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2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6" dur="500"/>
                                        <p:tgtEl>
                                          <p:spTgt spid="3">
                                            <p:txEl>
                                              <p:pRg st="32" end="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7" fill="hold">
                            <p:stCondLst>
                              <p:cond delay="500"/>
                            </p:stCondLst>
                            <p:childTnLst>
                              <p:par>
                                <p:cTn id="2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9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500"/>
                                        <p:tgtEl>
                                          <p:spTgt spid="6">
                                            <p:txEl>
                                              <p:pRg st="39" end="3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1" fill="hold">
                            <p:stCondLst>
                              <p:cond delay="1000"/>
                            </p:stCondLst>
                            <p:childTnLst>
                              <p:par>
                                <p:cTn id="2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0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" dur="500"/>
                                        <p:tgtEl>
                                          <p:spTgt spid="6">
                                            <p:txEl>
                                              <p:pRg st="40" end="4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Выберите утверждения, относящиеся к реализации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Нарушен принцип </a:t>
            </a:r>
            <a:r>
              <a:rPr lang="ru-RU" i="1" dirty="0"/>
              <a:t>открытости/закрытости</a:t>
            </a:r>
            <a:r>
              <a:rPr lang="ru-RU" dirty="0"/>
              <a:t>: при добавлении нового состояния приходится менять существующий код</a:t>
            </a:r>
          </a:p>
          <a:p>
            <a:r>
              <a:rPr lang="ru-RU" dirty="0"/>
              <a:t>Архитектура остаётся процедурной, а не объектно-ориентированной</a:t>
            </a:r>
          </a:p>
          <a:p>
            <a:r>
              <a:rPr lang="ru-RU" dirty="0"/>
              <a:t>Переходы между состояниями спрятаны внутри множества </a:t>
            </a:r>
            <a:r>
              <a:rPr lang="ru-RU" dirty="0" err="1"/>
              <a:t>if</a:t>
            </a:r>
            <a:r>
              <a:rPr lang="ru-RU" dirty="0"/>
              <a:t>/</a:t>
            </a:r>
            <a:r>
              <a:rPr lang="ru-RU" dirty="0" err="1"/>
              <a:t>switch</a:t>
            </a:r>
            <a:endParaRPr lang="ru-RU" dirty="0"/>
          </a:p>
          <a:p>
            <a:r>
              <a:rPr lang="ru-RU" dirty="0"/>
              <a:t>Изменяемое поведение не инкапсулировано — логика смешана в одном классе</a:t>
            </a:r>
          </a:p>
          <a:p>
            <a:r>
              <a:rPr lang="ru-RU" dirty="0"/>
              <a:t>Любые изменения повышают риск поломать уже работающий код</a:t>
            </a:r>
          </a:p>
        </p:txBody>
      </p:sp>
    </p:spTree>
    <p:extLst>
      <p:ext uri="{BB962C8B-B14F-4D97-AF65-F5344CB8AC3E}">
        <p14:creationId xmlns:p14="http://schemas.microsoft.com/office/powerpoint/2010/main" val="3895044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BC09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BC09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BC09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BC09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BC09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3AB8E-D61F-414A-B546-F49E0C970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Идеи для рефакторинга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0E0F4-82E7-428B-9D84-581B17D8C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Код должен быть простым в изменении и сопровождении</a:t>
            </a:r>
          </a:p>
          <a:p>
            <a:r>
              <a:rPr lang="ru-RU" dirty="0"/>
              <a:t>Необходимо изолировать поведение, зависящее от состояния</a:t>
            </a:r>
          </a:p>
          <a:p>
            <a:r>
              <a:rPr lang="ru-RU" dirty="0"/>
              <a:t>Каждое состояние следует вынести в отдельный класс</a:t>
            </a:r>
          </a:p>
          <a:p>
            <a:pPr lvl="1"/>
            <a:r>
              <a:rPr lang="ru-RU" dirty="0"/>
              <a:t>Контекст (</a:t>
            </a:r>
            <a:r>
              <a:rPr lang="ru-RU" dirty="0" err="1"/>
              <a:t>GumballMachine</a:t>
            </a:r>
            <a:r>
              <a:rPr lang="ru-RU" dirty="0"/>
              <a:t>) должен делегировать действия текущему состоянию</a:t>
            </a:r>
          </a:p>
          <a:p>
            <a:r>
              <a:rPr lang="ru-RU" dirty="0"/>
              <a:t>Переходы между состояниями должны стать явными и контролируемыми</a:t>
            </a:r>
          </a:p>
        </p:txBody>
      </p:sp>
    </p:spTree>
    <p:extLst>
      <p:ext uri="{BB962C8B-B14F-4D97-AF65-F5344CB8AC3E}">
        <p14:creationId xmlns:p14="http://schemas.microsoft.com/office/powerpoint/2010/main" val="1513627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Переход к паттерну «Состояние»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Определить интерфейс </a:t>
            </a:r>
            <a:r>
              <a:rPr lang="en-US" dirty="0" err="1"/>
              <a:t>IState</a:t>
            </a:r>
            <a:r>
              <a:rPr lang="ru-RU" dirty="0"/>
              <a:t>, содержащий методы для каждого возможного действия</a:t>
            </a:r>
          </a:p>
          <a:p>
            <a:r>
              <a:rPr lang="ru-RU" dirty="0"/>
              <a:t>Реализовать </a:t>
            </a:r>
            <a:r>
              <a:rPr lang="en-US" dirty="0" err="1"/>
              <a:t>IState</a:t>
            </a:r>
            <a:r>
              <a:rPr lang="en-US" dirty="0"/>
              <a:t> </a:t>
            </a:r>
            <a:r>
              <a:rPr lang="ru-RU" dirty="0"/>
              <a:t>для каждого состояния автомата</a:t>
            </a:r>
          </a:p>
          <a:p>
            <a:endParaRPr lang="ru-RU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A8874376-2B4A-40EA-B1E6-E5D4C6CAAD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9896" y="4156114"/>
            <a:ext cx="2376264" cy="2546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5090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перехода к паттерну «Состояние»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Выделите класс, который будет играть роль Контекста</a:t>
            </a:r>
          </a:p>
          <a:p>
            <a:r>
              <a:rPr lang="ru-RU" dirty="0"/>
              <a:t>Определите общий интерфейс состояний, описывающий действия контекста</a:t>
            </a:r>
          </a:p>
          <a:p>
            <a:pPr lvl="1"/>
            <a:r>
              <a:rPr lang="ru-RU" dirty="0"/>
              <a:t>Перенесите в состояния только то поведение, которое действительно зависит от текущего состояния</a:t>
            </a:r>
          </a:p>
          <a:p>
            <a:r>
              <a:rPr lang="ru-RU" dirty="0"/>
              <a:t>Создайте отдельный класс для каждого конкретного состояния</a:t>
            </a:r>
          </a:p>
          <a:p>
            <a:r>
              <a:rPr lang="ru-RU" dirty="0"/>
              <a:t>Храните в Контексте экземпляры всех возможных состояний и ссылку на текущее состояние</a:t>
            </a:r>
          </a:p>
          <a:p>
            <a:r>
              <a:rPr lang="ru-RU" dirty="0"/>
              <a:t>Замените условные конструкции в Контексте вызовами методов текущего состояния</a:t>
            </a:r>
          </a:p>
        </p:txBody>
      </p:sp>
    </p:spTree>
    <p:extLst>
      <p:ext uri="{BB962C8B-B14F-4D97-AF65-F5344CB8AC3E}">
        <p14:creationId xmlns:p14="http://schemas.microsoft.com/office/powerpoint/2010/main" val="2862008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1596" y="120969"/>
            <a:ext cx="8886892" cy="65192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36160" y="332655"/>
            <a:ext cx="41044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Интерфейс состояний. Методы соответствуют действиям, которым могут выполняться автоматом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847528" y="1509046"/>
            <a:ext cx="6974808" cy="784830"/>
            <a:chOff x="50276" y="1204010"/>
            <a:chExt cx="6974808" cy="784830"/>
          </a:xfrm>
        </p:grpSpPr>
        <p:sp>
          <p:nvSpPr>
            <p:cNvPr id="8" name="TextBox 7"/>
            <p:cNvSpPr txBox="1"/>
            <p:nvPr/>
          </p:nvSpPr>
          <p:spPr>
            <a:xfrm>
              <a:off x="50276" y="1204010"/>
              <a:ext cx="21554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400" dirty="0"/>
                <a:t>Для каждого состояния создается свой класс</a:t>
              </a:r>
            </a:p>
          </p:txBody>
        </p:sp>
        <p:cxnSp>
          <p:nvCxnSpPr>
            <p:cNvPr id="10" name="Straight Arrow Connector 9"/>
            <p:cNvCxnSpPr>
              <a:cxnSpLocks/>
            </p:cNvCxnSpPr>
            <p:nvPr/>
          </p:nvCxnSpPr>
          <p:spPr>
            <a:xfrm flipH="1">
              <a:off x="1552476" y="1719972"/>
              <a:ext cx="72008" cy="2688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>
              <a:cxnSpLocks/>
            </p:cNvCxnSpPr>
            <p:nvPr/>
          </p:nvCxnSpPr>
          <p:spPr>
            <a:xfrm>
              <a:off x="1819846" y="1563549"/>
              <a:ext cx="1460822" cy="42529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5725EC78-4C77-4C4C-9B85-0DC7698E5882}"/>
                </a:ext>
              </a:extLst>
            </p:cNvPr>
            <p:cNvCxnSpPr>
              <a:cxnSpLocks/>
            </p:cNvCxnSpPr>
            <p:nvPr/>
          </p:nvCxnSpPr>
          <p:spPr>
            <a:xfrm>
              <a:off x="1979712" y="1465621"/>
              <a:ext cx="3245172" cy="52321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69BD3D8F-E2C4-444B-9C09-3ECE93E4F96A}"/>
                </a:ext>
              </a:extLst>
            </p:cNvPr>
            <p:cNvCxnSpPr>
              <a:cxnSpLocks/>
            </p:cNvCxnSpPr>
            <p:nvPr/>
          </p:nvCxnSpPr>
          <p:spPr>
            <a:xfrm>
              <a:off x="2128540" y="1329176"/>
              <a:ext cx="4896544" cy="6596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Box 18"/>
          <p:cNvSpPr txBox="1"/>
          <p:nvPr/>
        </p:nvSpPr>
        <p:spPr>
          <a:xfrm>
            <a:off x="8400256" y="3998037"/>
            <a:ext cx="324036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Интерфейс «Контекст». Через него состояния автомата получают информацию о нём и выполняют переходы между состояниями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8AFC419-B0CF-4986-9BAF-61F8982A3C2C}"/>
              </a:ext>
            </a:extLst>
          </p:cNvPr>
          <p:cNvSpPr txBox="1"/>
          <p:nvPr/>
        </p:nvSpPr>
        <p:spPr>
          <a:xfrm>
            <a:off x="4237332" y="6173688"/>
            <a:ext cx="26997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Класс хранит объекты состояний</a:t>
            </a:r>
            <a:endParaRPr lang="en-US" sz="1400" dirty="0"/>
          </a:p>
          <a:p>
            <a:r>
              <a:rPr lang="ru-RU" sz="1400" dirty="0"/>
              <a:t>и ссылку на текущее состояние</a:t>
            </a:r>
          </a:p>
        </p:txBody>
      </p:sp>
    </p:spTree>
    <p:extLst>
      <p:ext uri="{BB962C8B-B14F-4D97-AF65-F5344CB8AC3E}">
        <p14:creationId xmlns:p14="http://schemas.microsoft.com/office/powerpoint/2010/main" val="373964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9" grpId="0"/>
      <p:bldP spid="2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/>
        </p:nvSpPr>
        <p:spPr>
          <a:xfrm>
            <a:off x="1703512" y="4020798"/>
            <a:ext cx="4536504" cy="2728127"/>
          </a:xfrm>
          <a:prstGeom prst="rect">
            <a:avLst/>
          </a:prstGeom>
          <a:solidFill>
            <a:srgbClr val="85DFFF">
              <a:alpha val="50196"/>
            </a:srgbClr>
          </a:solidFill>
          <a:ln>
            <a:solidFill>
              <a:srgbClr val="8E8E8E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/>
          <p:cNvSpPr/>
          <p:nvPr/>
        </p:nvSpPr>
        <p:spPr>
          <a:xfrm>
            <a:off x="1703512" y="1772816"/>
            <a:ext cx="4536504" cy="2160240"/>
          </a:xfrm>
          <a:prstGeom prst="rect">
            <a:avLst/>
          </a:prstGeom>
          <a:solidFill>
            <a:srgbClr val="85DFFF">
              <a:alpha val="50196"/>
            </a:srgbClr>
          </a:solidFill>
          <a:ln>
            <a:solidFill>
              <a:srgbClr val="8E8E8E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Прямоугольник 1"/>
          <p:cNvSpPr/>
          <p:nvPr/>
        </p:nvSpPr>
        <p:spPr>
          <a:xfrm>
            <a:off x="1703512" y="1701388"/>
            <a:ext cx="4752528" cy="50475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struct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IState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virtual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InsertQuarter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 = 0;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virtual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EjectQuarter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 = 0;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virtual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TurnCrank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 = 0;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virtual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Dispense() = 0;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virtual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std::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ToString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0;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endParaRPr lang="ru-RU" sz="1400" dirty="0">
              <a:solidFill>
                <a:srgbClr val="000000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virtual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~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IState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 =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default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struct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IGumballMachine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virtual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ReleaseBall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 = 0;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virtual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unsigned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GetBallCount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0;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virtual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SetSoldOutState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 = 0;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virtual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SetNoQuarterState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 = 0;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virtual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SetSoldState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 = 0;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virtual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SetHasQuarterState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 = 0;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virtual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~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IGumballMachine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 =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default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Интерфейсы «Состояние» и «Контекст»</a:t>
            </a:r>
          </a:p>
        </p:txBody>
      </p:sp>
      <p:sp>
        <p:nvSpPr>
          <p:cNvPr id="5" name="Выноска 1 4"/>
          <p:cNvSpPr/>
          <p:nvPr/>
        </p:nvSpPr>
        <p:spPr>
          <a:xfrm>
            <a:off x="6767932" y="1512400"/>
            <a:ext cx="4752528" cy="895562"/>
          </a:xfrm>
          <a:prstGeom prst="borderCallout1">
            <a:avLst>
              <a:gd name="adj1" fmla="val 22068"/>
              <a:gd name="adj2" fmla="val -3112"/>
              <a:gd name="adj3" fmla="val 74955"/>
              <a:gd name="adj4" fmla="val -27709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Интерфейс, через который автомат взаимодействует со своими состояниями.</a:t>
            </a:r>
          </a:p>
          <a:p>
            <a:r>
              <a:rPr lang="ru-RU" sz="1400" dirty="0"/>
              <a:t>Его должны реализовать все состояния автомата.</a:t>
            </a:r>
          </a:p>
        </p:txBody>
      </p:sp>
      <p:sp>
        <p:nvSpPr>
          <p:cNvPr id="13" name="Выноска 1 12"/>
          <p:cNvSpPr/>
          <p:nvPr/>
        </p:nvSpPr>
        <p:spPr>
          <a:xfrm>
            <a:off x="6731982" y="3880558"/>
            <a:ext cx="4788477" cy="720080"/>
          </a:xfrm>
          <a:prstGeom prst="borderCallout1">
            <a:avLst>
              <a:gd name="adj1" fmla="val 22068"/>
              <a:gd name="adj2" fmla="val -3112"/>
              <a:gd name="adj3" fmla="val 49558"/>
              <a:gd name="adj4" fmla="val -18432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Интерфейс</a:t>
            </a:r>
            <a:r>
              <a:rPr lang="en-US" sz="1400" dirty="0"/>
              <a:t> </a:t>
            </a:r>
            <a:r>
              <a:rPr lang="en-US" sz="1400" dirty="0" err="1"/>
              <a:t>IGumbalMachine</a:t>
            </a:r>
            <a:r>
              <a:rPr lang="en-US" sz="1400" dirty="0"/>
              <a:t> </a:t>
            </a:r>
            <a:r>
              <a:rPr lang="ru-RU" sz="1400" dirty="0"/>
              <a:t>задает контекст, с которым взаимодействуют состояния автомата</a:t>
            </a:r>
          </a:p>
        </p:txBody>
      </p:sp>
      <p:sp>
        <p:nvSpPr>
          <p:cNvPr id="6" name="Выноска 1 12">
            <a:extLst>
              <a:ext uri="{FF2B5EF4-FFF2-40B4-BE49-F238E27FC236}">
                <a16:creationId xmlns:a16="http://schemas.microsoft.com/office/drawing/2014/main" id="{C716BD15-FC1F-11C3-9B8D-6D0D00569B2B}"/>
              </a:ext>
            </a:extLst>
          </p:cNvPr>
          <p:cNvSpPr/>
          <p:nvPr/>
        </p:nvSpPr>
        <p:spPr>
          <a:xfrm>
            <a:off x="6744072" y="5157192"/>
            <a:ext cx="4752528" cy="720080"/>
          </a:xfrm>
          <a:prstGeom prst="borderCallout1">
            <a:avLst>
              <a:gd name="adj1" fmla="val 22068"/>
              <a:gd name="adj2" fmla="val -3112"/>
              <a:gd name="adj3" fmla="val 30269"/>
              <a:gd name="adj4" fmla="val -23099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Переход в другие состояния может быть реализован иначе. Подумайте над альтернативами.</a:t>
            </a:r>
          </a:p>
        </p:txBody>
      </p:sp>
    </p:spTree>
    <p:extLst>
      <p:ext uri="{BB962C8B-B14F-4D97-AF65-F5344CB8AC3E}">
        <p14:creationId xmlns:p14="http://schemas.microsoft.com/office/powerpoint/2010/main" val="817781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4" grpId="0" animBg="1"/>
      <p:bldP spid="5" grpId="0" animBg="1"/>
      <p:bldP spid="13" grpId="0" animBg="1"/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/>
          <p:cNvSpPr/>
          <p:nvPr/>
        </p:nvSpPr>
        <p:spPr>
          <a:xfrm>
            <a:off x="2135560" y="19620"/>
            <a:ext cx="3312369" cy="278369"/>
          </a:xfrm>
          <a:prstGeom prst="rect">
            <a:avLst/>
          </a:prstGeom>
          <a:solidFill>
            <a:srgbClr val="85DFFF">
              <a:alpha val="50196"/>
            </a:srgbClr>
          </a:solidFill>
          <a:ln>
            <a:solidFill>
              <a:srgbClr val="8E8E8E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>
            <a:off x="1785862" y="627381"/>
            <a:ext cx="4886203" cy="504057"/>
          </a:xfrm>
          <a:prstGeom prst="rect">
            <a:avLst/>
          </a:prstGeom>
          <a:solidFill>
            <a:srgbClr val="85DFFF">
              <a:alpha val="50196"/>
            </a:srgbClr>
          </a:solidFill>
          <a:ln>
            <a:solidFill>
              <a:srgbClr val="8E8E8E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1919535" y="4676614"/>
            <a:ext cx="3960441" cy="408571"/>
          </a:xfrm>
          <a:prstGeom prst="rect">
            <a:avLst/>
          </a:prstGeom>
          <a:solidFill>
            <a:srgbClr val="85DFFF">
              <a:alpha val="50196"/>
            </a:srgbClr>
          </a:solidFill>
          <a:ln>
            <a:solidFill>
              <a:srgbClr val="8E8E8E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1952390" y="3796212"/>
            <a:ext cx="5410944" cy="352868"/>
          </a:xfrm>
          <a:prstGeom prst="rect">
            <a:avLst/>
          </a:prstGeom>
          <a:solidFill>
            <a:srgbClr val="85DFFF">
              <a:alpha val="50196"/>
            </a:srgbClr>
          </a:solidFill>
          <a:ln>
            <a:solidFill>
              <a:srgbClr val="8E8E8E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1919536" y="2919993"/>
            <a:ext cx="4978895" cy="424281"/>
          </a:xfrm>
          <a:prstGeom prst="rect">
            <a:avLst/>
          </a:prstGeom>
          <a:solidFill>
            <a:srgbClr val="85DFFF">
              <a:alpha val="50196"/>
            </a:srgbClr>
          </a:solidFill>
          <a:ln>
            <a:solidFill>
              <a:srgbClr val="8E8E8E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1919536" y="1916832"/>
            <a:ext cx="4176465" cy="504057"/>
          </a:xfrm>
          <a:prstGeom prst="rect">
            <a:avLst/>
          </a:prstGeom>
          <a:solidFill>
            <a:srgbClr val="85DFFF">
              <a:alpha val="50196"/>
            </a:srgbClr>
          </a:solidFill>
          <a:ln>
            <a:solidFill>
              <a:srgbClr val="8E8E8E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Прямоугольник 1"/>
          <p:cNvSpPr/>
          <p:nvPr/>
        </p:nvSpPr>
        <p:spPr>
          <a:xfrm>
            <a:off x="1524000" y="0"/>
            <a:ext cx="5724128" cy="67710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NoQuarterState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: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IState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NoQuarterState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IGumballMachine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&amp;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gumballMachine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: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m_gumballMachine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gumballMachine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{}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InsertQuarter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override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"You inserted a quarter\n"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m_gumballMachine.SetHasQuarterState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EjectQuarter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override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"You haven't inserted a quarter\n"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TurnCrank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override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"You turned but there's no quarter\n"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Dispense()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override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"You need to pay first\n"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ToString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 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override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"waiting for quarter"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IGumballMachine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&amp;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m_gumballMachine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</p:txBody>
      </p:sp>
      <p:sp>
        <p:nvSpPr>
          <p:cNvPr id="4" name="Выноска 1 3"/>
          <p:cNvSpPr/>
          <p:nvPr/>
        </p:nvSpPr>
        <p:spPr>
          <a:xfrm>
            <a:off x="7032105" y="1916831"/>
            <a:ext cx="3377835" cy="494194"/>
          </a:xfrm>
          <a:prstGeom prst="borderCallout1">
            <a:avLst>
              <a:gd name="adj1" fmla="val 22068"/>
              <a:gd name="adj2" fmla="val -3112"/>
              <a:gd name="adj3" fmla="val 45324"/>
              <a:gd name="adj4" fmla="val -29605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После вставки монетки автомат переходит в состояние «</a:t>
            </a:r>
            <a:r>
              <a:rPr lang="ru-RU" sz="1400" b="1" dirty="0"/>
              <a:t>Есть монетка</a:t>
            </a:r>
            <a:r>
              <a:rPr lang="ru-RU" sz="1400" dirty="0"/>
              <a:t>»</a:t>
            </a:r>
          </a:p>
        </p:txBody>
      </p:sp>
      <p:sp>
        <p:nvSpPr>
          <p:cNvPr id="6" name="Выноска 1 5"/>
          <p:cNvSpPr/>
          <p:nvPr/>
        </p:nvSpPr>
        <p:spPr>
          <a:xfrm>
            <a:off x="7664329" y="2870196"/>
            <a:ext cx="2113384" cy="523873"/>
          </a:xfrm>
          <a:prstGeom prst="borderCallout1">
            <a:avLst>
              <a:gd name="adj1" fmla="val 22068"/>
              <a:gd name="adj2" fmla="val -3112"/>
              <a:gd name="adj3" fmla="val 41924"/>
              <a:gd name="adj4" fmla="val -39243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Нельзя вернуть монетку, если она отсутствует</a:t>
            </a:r>
            <a:endParaRPr lang="ru-RU" sz="1400" b="1" dirty="0"/>
          </a:p>
        </p:txBody>
      </p:sp>
      <p:sp>
        <p:nvSpPr>
          <p:cNvPr id="8" name="Выноска 1 7"/>
          <p:cNvSpPr/>
          <p:nvPr/>
        </p:nvSpPr>
        <p:spPr>
          <a:xfrm>
            <a:off x="7791725" y="3720618"/>
            <a:ext cx="2587687" cy="504056"/>
          </a:xfrm>
          <a:prstGeom prst="borderCallout1">
            <a:avLst>
              <a:gd name="adj1" fmla="val 22068"/>
              <a:gd name="adj2" fmla="val -3112"/>
              <a:gd name="adj3" fmla="val 49742"/>
              <a:gd name="adj4" fmla="val -20650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Выдача невозможна – в автомате нет шариков</a:t>
            </a:r>
            <a:endParaRPr lang="ru-RU" sz="1400" b="1" dirty="0"/>
          </a:p>
        </p:txBody>
      </p:sp>
      <p:sp>
        <p:nvSpPr>
          <p:cNvPr id="10" name="Выноска 1 9"/>
          <p:cNvSpPr/>
          <p:nvPr/>
        </p:nvSpPr>
        <p:spPr>
          <a:xfrm>
            <a:off x="6456300" y="4665066"/>
            <a:ext cx="2952068" cy="527422"/>
          </a:xfrm>
          <a:prstGeom prst="borderCallout1">
            <a:avLst>
              <a:gd name="adj1" fmla="val 22068"/>
              <a:gd name="adj2" fmla="val -3112"/>
              <a:gd name="adj3" fmla="val 22347"/>
              <a:gd name="adj4" fmla="val -22705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Ситуация, невозможная при корректной работе автомата</a:t>
            </a:r>
            <a:endParaRPr lang="ru-RU" sz="1400" b="1" dirty="0"/>
          </a:p>
        </p:txBody>
      </p:sp>
      <p:sp>
        <p:nvSpPr>
          <p:cNvPr id="12" name="Выноска 1 11"/>
          <p:cNvSpPr/>
          <p:nvPr/>
        </p:nvSpPr>
        <p:spPr>
          <a:xfrm>
            <a:off x="6898431" y="627380"/>
            <a:ext cx="2725963" cy="494194"/>
          </a:xfrm>
          <a:prstGeom prst="borderCallout1">
            <a:avLst>
              <a:gd name="adj1" fmla="val 22068"/>
              <a:gd name="adj2" fmla="val -3112"/>
              <a:gd name="adj3" fmla="val 45324"/>
              <a:gd name="adj4" fmla="val -29605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Сохраняем ссылку на контекст в переменной класса</a:t>
            </a:r>
            <a:endParaRPr lang="ru-RU" sz="1400" b="1" dirty="0"/>
          </a:p>
        </p:txBody>
      </p:sp>
      <p:sp>
        <p:nvSpPr>
          <p:cNvPr id="14" name="Выноска 1 13"/>
          <p:cNvSpPr/>
          <p:nvPr/>
        </p:nvSpPr>
        <p:spPr>
          <a:xfrm>
            <a:off x="6025167" y="37230"/>
            <a:ext cx="2376264" cy="385045"/>
          </a:xfrm>
          <a:prstGeom prst="borderCallout1">
            <a:avLst>
              <a:gd name="adj1" fmla="val 22068"/>
              <a:gd name="adj2" fmla="val -3112"/>
              <a:gd name="adj3" fmla="val 45324"/>
              <a:gd name="adj4" fmla="val -29605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Состояние «</a:t>
            </a:r>
            <a:r>
              <a:rPr lang="ru-RU" sz="1400" b="1" dirty="0"/>
              <a:t>Нет монетки</a:t>
            </a:r>
            <a:r>
              <a:rPr lang="ru-RU" sz="1400" dirty="0"/>
              <a:t>»</a:t>
            </a:r>
            <a:endParaRPr lang="ru-RU" sz="1400" b="1" dirty="0"/>
          </a:p>
        </p:txBody>
      </p:sp>
    </p:spTree>
    <p:extLst>
      <p:ext uri="{BB962C8B-B14F-4D97-AF65-F5344CB8AC3E}">
        <p14:creationId xmlns:p14="http://schemas.microsoft.com/office/powerpoint/2010/main" val="3845482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1" grpId="0" animBg="1"/>
      <p:bldP spid="9" grpId="0" animBg="1"/>
      <p:bldP spid="7" grpId="0" animBg="1"/>
      <p:bldP spid="5" grpId="0" animBg="1"/>
      <p:bldP spid="3" grpId="0" animBg="1"/>
      <p:bldP spid="4" grpId="0" animBg="1"/>
      <p:bldP spid="6" grpId="0" animBg="1"/>
      <p:bldP spid="8" grpId="0" animBg="1"/>
      <p:bldP spid="10" grpId="0" animBg="1"/>
      <p:bldP spid="12" grpId="0" animBg="1"/>
      <p:bldP spid="1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/>
        </p:nvSpPr>
        <p:spPr>
          <a:xfrm>
            <a:off x="1919536" y="4786576"/>
            <a:ext cx="3960441" cy="408571"/>
          </a:xfrm>
          <a:prstGeom prst="rect">
            <a:avLst/>
          </a:prstGeom>
          <a:solidFill>
            <a:srgbClr val="85DFFF">
              <a:alpha val="50196"/>
            </a:srgbClr>
          </a:solidFill>
          <a:ln>
            <a:solidFill>
              <a:srgbClr val="8E8E8E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1919536" y="3797804"/>
            <a:ext cx="3394720" cy="504056"/>
          </a:xfrm>
          <a:prstGeom prst="rect">
            <a:avLst/>
          </a:prstGeom>
          <a:solidFill>
            <a:srgbClr val="85DFFF">
              <a:alpha val="50196"/>
            </a:srgbClr>
          </a:solidFill>
          <a:ln>
            <a:solidFill>
              <a:srgbClr val="8E8E8E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2135560" y="19620"/>
            <a:ext cx="3312369" cy="278369"/>
          </a:xfrm>
          <a:prstGeom prst="rect">
            <a:avLst/>
          </a:prstGeom>
          <a:solidFill>
            <a:srgbClr val="85DFFF">
              <a:alpha val="50196"/>
            </a:srgbClr>
          </a:solidFill>
          <a:ln>
            <a:solidFill>
              <a:srgbClr val="8E8E8E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1919536" y="2696726"/>
            <a:ext cx="3682752" cy="609216"/>
          </a:xfrm>
          <a:prstGeom prst="rect">
            <a:avLst/>
          </a:prstGeom>
          <a:solidFill>
            <a:srgbClr val="85DFFF">
              <a:alpha val="50196"/>
            </a:srgbClr>
          </a:solidFill>
          <a:ln>
            <a:solidFill>
              <a:srgbClr val="8E8E8E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1919537" y="1844824"/>
            <a:ext cx="5191117" cy="360040"/>
          </a:xfrm>
          <a:prstGeom prst="rect">
            <a:avLst/>
          </a:prstGeom>
          <a:solidFill>
            <a:srgbClr val="85DFFF">
              <a:alpha val="50196"/>
            </a:srgbClr>
          </a:solidFill>
          <a:ln>
            <a:solidFill>
              <a:srgbClr val="8E8E8E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Прямоугольник 1"/>
          <p:cNvSpPr/>
          <p:nvPr/>
        </p:nvSpPr>
        <p:spPr>
          <a:xfrm>
            <a:off x="1524000" y="1"/>
            <a:ext cx="5724128" cy="6894195"/>
          </a:xfrm>
          <a:prstGeom prst="rect">
            <a:avLst/>
          </a:prstGeom>
        </p:spPr>
        <p:txBody>
          <a:bodyPr wrap="square" tIns="0" bIns="0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HasQuarterState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: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IState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HasQuarterState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IGumballMachine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&amp;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gumballMachine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: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m_gumballMachine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gumballMachine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{}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InsertQuarter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override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"You can't insert another quarter\n"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EjectQuarter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override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"Quarter returned\n"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m_gumballMachine.SetNoQuarterState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TurnCrank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override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"You turned...\n"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m_gumballMachine.SetSoldState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Dispense()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override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"No gumball dispensed\n"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ToString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 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override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"waiting for turn of crank"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IGumballMachine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&amp;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m_gumballMachine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</p:txBody>
      </p:sp>
      <p:sp>
        <p:nvSpPr>
          <p:cNvPr id="4" name="Выноска 1 3"/>
          <p:cNvSpPr/>
          <p:nvPr/>
        </p:nvSpPr>
        <p:spPr>
          <a:xfrm>
            <a:off x="7506191" y="1726054"/>
            <a:ext cx="2622258" cy="525690"/>
          </a:xfrm>
          <a:prstGeom prst="borderCallout1">
            <a:avLst>
              <a:gd name="adj1" fmla="val 22068"/>
              <a:gd name="adj2" fmla="val -3112"/>
              <a:gd name="adj3" fmla="val 36506"/>
              <a:gd name="adj4" fmla="val -18585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В автомате уже есть монетка, сообщаем об этом покупателю</a:t>
            </a:r>
            <a:endParaRPr lang="ru-RU" sz="1400" b="1" dirty="0"/>
          </a:p>
        </p:txBody>
      </p:sp>
      <p:sp>
        <p:nvSpPr>
          <p:cNvPr id="6" name="Выноска 1 5"/>
          <p:cNvSpPr/>
          <p:nvPr/>
        </p:nvSpPr>
        <p:spPr>
          <a:xfrm>
            <a:off x="6528048" y="2675767"/>
            <a:ext cx="3312368" cy="504056"/>
          </a:xfrm>
          <a:prstGeom prst="borderCallout1">
            <a:avLst>
              <a:gd name="adj1" fmla="val 22068"/>
              <a:gd name="adj2" fmla="val -3112"/>
              <a:gd name="adj3" fmla="val 32811"/>
              <a:gd name="adj4" fmla="val -29611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Возвращаем монетку и переходим в состояние «</a:t>
            </a:r>
            <a:r>
              <a:rPr lang="ru-RU" sz="1400" b="1" dirty="0"/>
              <a:t>Нет монетки</a:t>
            </a:r>
            <a:r>
              <a:rPr lang="ru-RU" sz="1400" dirty="0"/>
              <a:t>»</a:t>
            </a:r>
            <a:endParaRPr lang="ru-RU" sz="1400" b="1" dirty="0"/>
          </a:p>
        </p:txBody>
      </p:sp>
      <p:sp>
        <p:nvSpPr>
          <p:cNvPr id="8" name="Выноска 1 7"/>
          <p:cNvSpPr/>
          <p:nvPr/>
        </p:nvSpPr>
        <p:spPr>
          <a:xfrm>
            <a:off x="6083447" y="91032"/>
            <a:ext cx="2376264" cy="385045"/>
          </a:xfrm>
          <a:prstGeom prst="borderCallout1">
            <a:avLst>
              <a:gd name="adj1" fmla="val 22068"/>
              <a:gd name="adj2" fmla="val -3112"/>
              <a:gd name="adj3" fmla="val 45324"/>
              <a:gd name="adj4" fmla="val -29605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Состояние «</a:t>
            </a:r>
            <a:r>
              <a:rPr lang="ru-RU" sz="1400" b="1" dirty="0"/>
              <a:t>Есть монетка</a:t>
            </a:r>
            <a:r>
              <a:rPr lang="ru-RU" sz="1400" dirty="0"/>
              <a:t>»</a:t>
            </a:r>
            <a:endParaRPr lang="ru-RU" sz="1400" b="1" dirty="0"/>
          </a:p>
        </p:txBody>
      </p:sp>
      <p:sp>
        <p:nvSpPr>
          <p:cNvPr id="10" name="Выноска 1 9"/>
          <p:cNvSpPr/>
          <p:nvPr/>
        </p:nvSpPr>
        <p:spPr>
          <a:xfrm>
            <a:off x="5791076" y="3797804"/>
            <a:ext cx="3905324" cy="504056"/>
          </a:xfrm>
          <a:prstGeom prst="borderCallout1">
            <a:avLst>
              <a:gd name="adj1" fmla="val 22068"/>
              <a:gd name="adj2" fmla="val -3112"/>
              <a:gd name="adj3" fmla="val 36137"/>
              <a:gd name="adj4" fmla="val -22344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Переводим автомат в состояние «</a:t>
            </a:r>
            <a:r>
              <a:rPr lang="ru-RU" sz="1400" b="1" dirty="0"/>
              <a:t>Продажа</a:t>
            </a:r>
            <a:r>
              <a:rPr lang="ru-RU" sz="1400" dirty="0"/>
              <a:t>»</a:t>
            </a:r>
            <a:endParaRPr lang="ru-RU" sz="1400" b="1" dirty="0"/>
          </a:p>
        </p:txBody>
      </p:sp>
      <p:sp>
        <p:nvSpPr>
          <p:cNvPr id="12" name="Выноска 1 11"/>
          <p:cNvSpPr/>
          <p:nvPr/>
        </p:nvSpPr>
        <p:spPr>
          <a:xfrm>
            <a:off x="6528964" y="4775028"/>
            <a:ext cx="2952068" cy="420119"/>
          </a:xfrm>
          <a:prstGeom prst="borderCallout1">
            <a:avLst>
              <a:gd name="adj1" fmla="val 22068"/>
              <a:gd name="adj2" fmla="val -3112"/>
              <a:gd name="adj3" fmla="val 22347"/>
              <a:gd name="adj4" fmla="val -22705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Ситуация, невозможная при корректной работе автомата</a:t>
            </a:r>
            <a:endParaRPr lang="ru-RU" sz="1400" b="1" dirty="0"/>
          </a:p>
        </p:txBody>
      </p:sp>
    </p:spTree>
    <p:extLst>
      <p:ext uri="{BB962C8B-B14F-4D97-AF65-F5344CB8AC3E}">
        <p14:creationId xmlns:p14="http://schemas.microsoft.com/office/powerpoint/2010/main" val="2266998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9" grpId="0" animBg="1"/>
      <p:bldP spid="7" grpId="0" animBg="1"/>
      <p:bldP spid="5" grpId="0" animBg="1"/>
      <p:bldP spid="3" grpId="0" animBg="1"/>
      <p:bldP spid="4" grpId="0" animBg="1"/>
      <p:bldP spid="6" grpId="0" animBg="1"/>
      <p:bldP spid="8" grpId="0" animBg="1"/>
      <p:bldP spid="10" grpId="0" animBg="1"/>
      <p:bldP spid="1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/>
          <p:cNvSpPr/>
          <p:nvPr/>
        </p:nvSpPr>
        <p:spPr>
          <a:xfrm>
            <a:off x="1962977" y="4181475"/>
            <a:ext cx="3844991" cy="1385888"/>
          </a:xfrm>
          <a:prstGeom prst="rect">
            <a:avLst/>
          </a:prstGeom>
          <a:solidFill>
            <a:srgbClr val="85DFFF">
              <a:alpha val="50196"/>
            </a:srgbClr>
          </a:solidFill>
          <a:ln>
            <a:solidFill>
              <a:srgbClr val="8E8E8E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/>
        </p:nvSpPr>
        <p:spPr>
          <a:xfrm>
            <a:off x="1962978" y="3952876"/>
            <a:ext cx="2908887" cy="214313"/>
          </a:xfrm>
          <a:prstGeom prst="rect">
            <a:avLst/>
          </a:prstGeom>
          <a:solidFill>
            <a:srgbClr val="85DFFF">
              <a:alpha val="50196"/>
            </a:srgbClr>
          </a:solidFill>
          <a:ln>
            <a:solidFill>
              <a:srgbClr val="8E8E8E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>
            <a:off x="1977066" y="3126907"/>
            <a:ext cx="5775119" cy="274709"/>
          </a:xfrm>
          <a:prstGeom prst="rect">
            <a:avLst/>
          </a:prstGeom>
          <a:solidFill>
            <a:srgbClr val="85DFFF">
              <a:alpha val="50196"/>
            </a:srgbClr>
          </a:solidFill>
          <a:ln>
            <a:solidFill>
              <a:srgbClr val="8E8E8E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1977066" y="2334841"/>
            <a:ext cx="4779487" cy="302072"/>
          </a:xfrm>
          <a:prstGeom prst="rect">
            <a:avLst/>
          </a:prstGeom>
          <a:solidFill>
            <a:srgbClr val="85DFFF">
              <a:alpha val="50196"/>
            </a:srgbClr>
          </a:solidFill>
          <a:ln>
            <a:solidFill>
              <a:srgbClr val="8E8E8E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1991545" y="1556792"/>
            <a:ext cx="5976664" cy="288032"/>
          </a:xfrm>
          <a:prstGeom prst="rect">
            <a:avLst/>
          </a:prstGeom>
          <a:solidFill>
            <a:srgbClr val="85DFFF">
              <a:alpha val="50196"/>
            </a:srgbClr>
          </a:solidFill>
          <a:ln>
            <a:solidFill>
              <a:srgbClr val="8E8E8E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2135560" y="19620"/>
            <a:ext cx="2520281" cy="241029"/>
          </a:xfrm>
          <a:prstGeom prst="rect">
            <a:avLst/>
          </a:prstGeom>
          <a:solidFill>
            <a:srgbClr val="85DFFF">
              <a:alpha val="50196"/>
            </a:srgbClr>
          </a:solidFill>
          <a:ln>
            <a:solidFill>
              <a:srgbClr val="8E8E8E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Прямоугольник 1"/>
          <p:cNvSpPr/>
          <p:nvPr/>
        </p:nvSpPr>
        <p:spPr>
          <a:xfrm>
            <a:off x="1546920" y="1"/>
            <a:ext cx="7861448" cy="6801862"/>
          </a:xfrm>
          <a:prstGeom prst="rect">
            <a:avLst/>
          </a:prstGeom>
        </p:spPr>
        <p:txBody>
          <a:bodyPr wrap="square" tIns="0" bIns="0">
            <a:spAutoFit/>
          </a:bodyPr>
          <a:lstStyle/>
          <a:p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300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SoldState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: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300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IState</a:t>
            </a:r>
            <a:endParaRPr lang="ru-RU" sz="13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3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300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IGumballMachine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&amp;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m_gumballMachine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</a:p>
          <a:p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endParaRPr lang="ru-RU" sz="13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SoldState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300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IGumballMachine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&amp; </a:t>
            </a:r>
            <a:r>
              <a:rPr lang="en-US" sz="130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gumballMachine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):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m_gumballMachine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30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gumballMachine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{}</a:t>
            </a:r>
            <a:endParaRPr lang="ru-RU" sz="13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InsertQuarter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override</a:t>
            </a:r>
            <a:endParaRPr lang="ru-RU" sz="13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</a:t>
            </a:r>
            <a:endParaRPr lang="ru-RU" sz="13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"Please wait, we're already giving you a gumball\n"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3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</a:t>
            </a:r>
            <a:endParaRPr lang="ru-RU" sz="13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EjectQuarter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override</a:t>
            </a:r>
            <a:endParaRPr lang="ru-RU" sz="13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</a:t>
            </a:r>
            <a:endParaRPr lang="ru-RU" sz="13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"Sorry you already turned the crank\n"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3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</a:t>
            </a:r>
            <a:endParaRPr lang="ru-RU" sz="13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TurnCrank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override</a:t>
            </a:r>
            <a:endParaRPr lang="ru-RU" sz="13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</a:t>
            </a:r>
            <a:endParaRPr lang="ru-RU" sz="13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"Turning twice doesn't get you another gumball\n"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3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</a:t>
            </a:r>
            <a:endParaRPr lang="ru-RU" sz="13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Dispense()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override</a:t>
            </a:r>
            <a:endParaRPr lang="ru-RU" sz="13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</a:t>
            </a:r>
            <a:endParaRPr lang="ru-RU" sz="13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m_gumballMachine.ReleaseBall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3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m_gumballMachine.GetBallCount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 == 0)</a:t>
            </a:r>
            <a:endParaRPr lang="ru-RU" sz="13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{</a:t>
            </a:r>
            <a:endParaRPr lang="ru-RU" sz="13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"Oops, out of gumballs\n"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3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m_gumballMachine.SetSoldOutState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3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}</a:t>
            </a:r>
            <a:endParaRPr lang="ru-RU" sz="13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else</a:t>
            </a:r>
            <a:endParaRPr lang="ru-RU" sz="13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m_gumballMachine.SetNoQuarterState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3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</a:t>
            </a:r>
            <a:endParaRPr lang="ru-RU" sz="13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30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ToString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 </a:t>
            </a:r>
            <a:r>
              <a:rPr lang="en-US" sz="13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const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override</a:t>
            </a:r>
            <a:endParaRPr lang="ru-RU" sz="13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</a:t>
            </a:r>
            <a:endParaRPr lang="ru-RU" sz="13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"delivering a gumball"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3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</a:t>
            </a:r>
            <a:endParaRPr lang="ru-RU" sz="13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};</a:t>
            </a:r>
            <a:endParaRPr lang="ru-RU" sz="13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</p:txBody>
      </p:sp>
      <p:sp>
        <p:nvSpPr>
          <p:cNvPr id="4" name="Выноска 1 3"/>
          <p:cNvSpPr/>
          <p:nvPr/>
        </p:nvSpPr>
        <p:spPr>
          <a:xfrm>
            <a:off x="5591944" y="31852"/>
            <a:ext cx="3312368" cy="457649"/>
          </a:xfrm>
          <a:prstGeom prst="borderCallout1">
            <a:avLst>
              <a:gd name="adj1" fmla="val 22068"/>
              <a:gd name="adj2" fmla="val -3112"/>
              <a:gd name="adj3" fmla="val 37332"/>
              <a:gd name="adj4" fmla="val -30764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Состояние «</a:t>
            </a:r>
            <a:r>
              <a:rPr lang="ru-RU" sz="1400" b="1" dirty="0"/>
              <a:t>Происходит выдача товара</a:t>
            </a:r>
            <a:r>
              <a:rPr lang="ru-RU" sz="1400" dirty="0"/>
              <a:t>»</a:t>
            </a:r>
            <a:endParaRPr lang="ru-RU" sz="1400" b="1" dirty="0"/>
          </a:p>
        </p:txBody>
      </p:sp>
      <p:sp>
        <p:nvSpPr>
          <p:cNvPr id="8" name="Выноска 1 7"/>
          <p:cNvSpPr/>
          <p:nvPr/>
        </p:nvSpPr>
        <p:spPr>
          <a:xfrm>
            <a:off x="8175695" y="1157396"/>
            <a:ext cx="2465346" cy="903453"/>
          </a:xfrm>
          <a:prstGeom prst="borderCallout1">
            <a:avLst>
              <a:gd name="adj1" fmla="val 22068"/>
              <a:gd name="adj2" fmla="val -3112"/>
              <a:gd name="adj3" fmla="val 48125"/>
              <a:gd name="adj4" fmla="val -23255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Шарик был куплен, надо подождать завершения операции, прежде чем бросать другую монетку</a:t>
            </a:r>
            <a:endParaRPr lang="ru-RU" sz="1400" b="1" dirty="0"/>
          </a:p>
        </p:txBody>
      </p:sp>
      <p:sp>
        <p:nvSpPr>
          <p:cNvPr id="10" name="Выноска 1 9"/>
          <p:cNvSpPr/>
          <p:nvPr/>
        </p:nvSpPr>
        <p:spPr>
          <a:xfrm>
            <a:off x="7320137" y="2238481"/>
            <a:ext cx="2977775" cy="523873"/>
          </a:xfrm>
          <a:prstGeom prst="borderCallout1">
            <a:avLst>
              <a:gd name="adj1" fmla="val 22068"/>
              <a:gd name="adj2" fmla="val -3112"/>
              <a:gd name="adj3" fmla="val 29512"/>
              <a:gd name="adj4" fmla="val -21571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Шарик уже куплен, возврат монетки невозможен</a:t>
            </a:r>
            <a:endParaRPr lang="ru-RU" sz="1400" b="1" dirty="0"/>
          </a:p>
        </p:txBody>
      </p:sp>
      <p:sp>
        <p:nvSpPr>
          <p:cNvPr id="12" name="Выноска 1 11"/>
          <p:cNvSpPr/>
          <p:nvPr/>
        </p:nvSpPr>
        <p:spPr>
          <a:xfrm>
            <a:off x="8324071" y="3012232"/>
            <a:ext cx="2168595" cy="504056"/>
          </a:xfrm>
          <a:prstGeom prst="borderCallout1">
            <a:avLst>
              <a:gd name="adj1" fmla="val 22068"/>
              <a:gd name="adj2" fmla="val -3112"/>
              <a:gd name="adj3" fmla="val 40068"/>
              <a:gd name="adj4" fmla="val -31621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Кто-то пытается обмануть автомат</a:t>
            </a:r>
            <a:endParaRPr lang="ru-RU" sz="1400" b="1" dirty="0"/>
          </a:p>
        </p:txBody>
      </p:sp>
      <p:sp>
        <p:nvSpPr>
          <p:cNvPr id="14" name="Выноска 1 13"/>
          <p:cNvSpPr/>
          <p:nvPr/>
        </p:nvSpPr>
        <p:spPr>
          <a:xfrm>
            <a:off x="5506964" y="3586793"/>
            <a:ext cx="1444650" cy="432048"/>
          </a:xfrm>
          <a:prstGeom prst="borderCallout1">
            <a:avLst>
              <a:gd name="adj1" fmla="val 22068"/>
              <a:gd name="adj2" fmla="val -3112"/>
              <a:gd name="adj3" fmla="val 89250"/>
              <a:gd name="adj4" fmla="val -56361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Выдаем шарик!</a:t>
            </a:r>
            <a:endParaRPr lang="ru-RU" sz="1400" b="1" dirty="0"/>
          </a:p>
        </p:txBody>
      </p:sp>
      <p:sp>
        <p:nvSpPr>
          <p:cNvPr id="16" name="Выноска 1 15"/>
          <p:cNvSpPr/>
          <p:nvPr/>
        </p:nvSpPr>
        <p:spPr>
          <a:xfrm>
            <a:off x="6409987" y="4231812"/>
            <a:ext cx="3887924" cy="731345"/>
          </a:xfrm>
          <a:prstGeom prst="borderCallout1">
            <a:avLst>
              <a:gd name="adj1" fmla="val 22068"/>
              <a:gd name="adj2" fmla="val -3112"/>
              <a:gd name="adj3" fmla="val 31053"/>
              <a:gd name="adj4" fmla="val -19814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Если шарик был последним, автомат переходит в состояние «</a:t>
            </a:r>
            <a:r>
              <a:rPr lang="ru-RU" sz="1400" b="1" dirty="0"/>
              <a:t>Распродано</a:t>
            </a:r>
            <a:r>
              <a:rPr lang="ru-RU" sz="1400" dirty="0"/>
              <a:t>», а если нет, возвращается в состояние «</a:t>
            </a:r>
            <a:r>
              <a:rPr lang="ru-RU" sz="1400" b="1" dirty="0"/>
              <a:t>Нет монетки</a:t>
            </a:r>
            <a:r>
              <a:rPr lang="ru-RU" sz="1400" dirty="0"/>
              <a:t>»</a:t>
            </a:r>
            <a:r>
              <a:rPr lang="en-US" sz="1400" dirty="0"/>
              <a:t>.</a:t>
            </a:r>
            <a:endParaRPr lang="ru-RU" sz="1400" b="1" dirty="0"/>
          </a:p>
        </p:txBody>
      </p:sp>
    </p:spTree>
    <p:extLst>
      <p:ext uri="{BB962C8B-B14F-4D97-AF65-F5344CB8AC3E}">
        <p14:creationId xmlns:p14="http://schemas.microsoft.com/office/powerpoint/2010/main" val="2214886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3" grpId="0" animBg="1"/>
      <p:bldP spid="11" grpId="0" animBg="1"/>
      <p:bldP spid="9" grpId="0" animBg="1"/>
      <p:bldP spid="7" grpId="0" animBg="1"/>
      <p:bldP spid="3" grpId="0" animBg="1"/>
      <p:bldP spid="4" grpId="0" animBg="1"/>
      <p:bldP spid="8" grpId="0" animBg="1"/>
      <p:bldP spid="10" grpId="0" animBg="1"/>
      <p:bldP spid="12" grpId="0" animBg="1"/>
      <p:bldP spid="14" grpId="0" animBg="1"/>
      <p:bldP spid="1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/>
        </p:nvSpPr>
        <p:spPr>
          <a:xfrm>
            <a:off x="1919535" y="4665066"/>
            <a:ext cx="3960441" cy="420119"/>
          </a:xfrm>
          <a:prstGeom prst="rect">
            <a:avLst/>
          </a:prstGeom>
          <a:solidFill>
            <a:srgbClr val="85DFFF">
              <a:alpha val="50196"/>
            </a:srgbClr>
          </a:solidFill>
          <a:ln>
            <a:solidFill>
              <a:srgbClr val="8E8E8E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1969716" y="3873912"/>
            <a:ext cx="5350420" cy="347177"/>
          </a:xfrm>
          <a:prstGeom prst="rect">
            <a:avLst/>
          </a:prstGeom>
          <a:solidFill>
            <a:srgbClr val="85DFFF">
              <a:alpha val="50196"/>
            </a:srgbClr>
          </a:solidFill>
          <a:ln>
            <a:solidFill>
              <a:srgbClr val="8E8E8E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2135561" y="287700"/>
            <a:ext cx="3024336" cy="260980"/>
          </a:xfrm>
          <a:prstGeom prst="rect">
            <a:avLst/>
          </a:prstGeom>
          <a:solidFill>
            <a:srgbClr val="85DFFF">
              <a:alpha val="50196"/>
            </a:srgbClr>
          </a:solidFill>
          <a:ln>
            <a:solidFill>
              <a:srgbClr val="8E8E8E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1962200" y="3016325"/>
            <a:ext cx="6942112" cy="334158"/>
          </a:xfrm>
          <a:prstGeom prst="rect">
            <a:avLst/>
          </a:prstGeom>
          <a:solidFill>
            <a:srgbClr val="85DFFF">
              <a:alpha val="50196"/>
            </a:srgbClr>
          </a:solidFill>
          <a:ln>
            <a:solidFill>
              <a:srgbClr val="8E8E8E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1991544" y="2132857"/>
            <a:ext cx="7119186" cy="360041"/>
          </a:xfrm>
          <a:prstGeom prst="rect">
            <a:avLst/>
          </a:prstGeom>
          <a:solidFill>
            <a:srgbClr val="85DFFF">
              <a:alpha val="50196"/>
            </a:srgbClr>
          </a:solidFill>
          <a:ln>
            <a:solidFill>
              <a:srgbClr val="8E8E8E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Прямоугольник 1"/>
          <p:cNvSpPr/>
          <p:nvPr/>
        </p:nvSpPr>
        <p:spPr>
          <a:xfrm>
            <a:off x="1538560" y="277952"/>
            <a:ext cx="7686600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SoldOutState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: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IState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SoldOutState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IGumballMachine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&amp;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gumballMachine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: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m_gumballMachine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gumballMachine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{}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InsertQuarter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override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"You can't insert a quarter, the machine is sold out\n"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EjectQuarter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override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"You can't eject, you haven't inserted a quarter yet\n"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TurnCrank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override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"You turned but there's no gumballs\n"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Dispense()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override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"No gumball dispensed\n"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ToString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 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override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"sold out"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IGumballMachine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&amp;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m_gumballMachine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</p:txBody>
      </p:sp>
      <p:sp>
        <p:nvSpPr>
          <p:cNvPr id="4" name="Выноска 1 3"/>
          <p:cNvSpPr/>
          <p:nvPr/>
        </p:nvSpPr>
        <p:spPr>
          <a:xfrm>
            <a:off x="8328248" y="1196753"/>
            <a:ext cx="2016224" cy="689705"/>
          </a:xfrm>
          <a:prstGeom prst="borderCallout1">
            <a:avLst>
              <a:gd name="adj1" fmla="val 66443"/>
              <a:gd name="adj2" fmla="val -181"/>
              <a:gd name="adj3" fmla="val 140265"/>
              <a:gd name="adj4" fmla="val -43155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Если все шарики распроданы, автомат отклоняет монетку</a:t>
            </a:r>
            <a:endParaRPr lang="ru-RU" sz="1400" b="1" dirty="0"/>
          </a:p>
        </p:txBody>
      </p:sp>
      <p:sp>
        <p:nvSpPr>
          <p:cNvPr id="6" name="Выноска 1 5"/>
          <p:cNvSpPr/>
          <p:nvPr/>
        </p:nvSpPr>
        <p:spPr>
          <a:xfrm>
            <a:off x="6528048" y="2549590"/>
            <a:ext cx="4032448" cy="379413"/>
          </a:xfrm>
          <a:prstGeom prst="borderCallout1">
            <a:avLst>
              <a:gd name="adj1" fmla="val 62235"/>
              <a:gd name="adj2" fmla="val 1297"/>
              <a:gd name="adj3" fmla="val 138305"/>
              <a:gd name="adj4" fmla="val -26353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Если шарики кончились, возврат невозможен, т.к. автомат не принимает монетки в этом состоянии</a:t>
            </a:r>
            <a:endParaRPr lang="ru-RU" sz="1400" b="1" dirty="0"/>
          </a:p>
        </p:txBody>
      </p:sp>
      <p:sp>
        <p:nvSpPr>
          <p:cNvPr id="8" name="Выноска 1 7"/>
          <p:cNvSpPr/>
          <p:nvPr/>
        </p:nvSpPr>
        <p:spPr>
          <a:xfrm>
            <a:off x="6096000" y="189366"/>
            <a:ext cx="3312368" cy="457649"/>
          </a:xfrm>
          <a:prstGeom prst="borderCallout1">
            <a:avLst>
              <a:gd name="adj1" fmla="val 22068"/>
              <a:gd name="adj2" fmla="val -3112"/>
              <a:gd name="adj3" fmla="val 37332"/>
              <a:gd name="adj4" fmla="val -30764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Состояние «</a:t>
            </a:r>
            <a:r>
              <a:rPr lang="ru-RU" sz="1400" b="1" dirty="0"/>
              <a:t>Все шарики распроданы</a:t>
            </a:r>
            <a:r>
              <a:rPr lang="ru-RU" sz="1400" dirty="0"/>
              <a:t>»</a:t>
            </a:r>
            <a:endParaRPr lang="ru-RU" sz="1400" b="1" dirty="0"/>
          </a:p>
        </p:txBody>
      </p:sp>
      <p:sp>
        <p:nvSpPr>
          <p:cNvPr id="10" name="Выноска 1 9"/>
          <p:cNvSpPr/>
          <p:nvPr/>
        </p:nvSpPr>
        <p:spPr>
          <a:xfrm>
            <a:off x="7751292" y="3745738"/>
            <a:ext cx="2809204" cy="475350"/>
          </a:xfrm>
          <a:prstGeom prst="borderCallout1">
            <a:avLst>
              <a:gd name="adj1" fmla="val 22068"/>
              <a:gd name="adj2" fmla="val -3112"/>
              <a:gd name="adj3" fmla="val 38467"/>
              <a:gd name="adj4" fmla="val -26871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Выдача невозможна – в автомате нет шариков</a:t>
            </a:r>
            <a:endParaRPr lang="ru-RU" sz="1400" b="1" dirty="0"/>
          </a:p>
        </p:txBody>
      </p:sp>
      <p:sp>
        <p:nvSpPr>
          <p:cNvPr id="12" name="Выноска 1 11"/>
          <p:cNvSpPr/>
          <p:nvPr/>
        </p:nvSpPr>
        <p:spPr>
          <a:xfrm>
            <a:off x="6456300" y="4665066"/>
            <a:ext cx="2952068" cy="420119"/>
          </a:xfrm>
          <a:prstGeom prst="borderCallout1">
            <a:avLst>
              <a:gd name="adj1" fmla="val 22068"/>
              <a:gd name="adj2" fmla="val -3112"/>
              <a:gd name="adj3" fmla="val 22347"/>
              <a:gd name="adj4" fmla="val -22705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Ситуация, невозможная при корректной работе автомата</a:t>
            </a:r>
            <a:endParaRPr lang="ru-RU" sz="1400" b="1" dirty="0"/>
          </a:p>
        </p:txBody>
      </p:sp>
    </p:spTree>
    <p:extLst>
      <p:ext uri="{BB962C8B-B14F-4D97-AF65-F5344CB8AC3E}">
        <p14:creationId xmlns:p14="http://schemas.microsoft.com/office/powerpoint/2010/main" val="3414870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9" grpId="0" animBg="1"/>
      <p:bldP spid="7" grpId="0" animBg="1"/>
      <p:bldP spid="5" grpId="0" animBg="1"/>
      <p:bldP spid="3" grpId="0" animBg="1"/>
      <p:bldP spid="4" grpId="0" animBg="1"/>
      <p:bldP spid="6" grpId="0" animBg="1"/>
      <p:bldP spid="8" grpId="0" animBg="1"/>
      <p:bldP spid="10" grpId="0" animBg="1"/>
      <p:bldP spid="1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/>
          <p:cNvSpPr/>
          <p:nvPr/>
        </p:nvSpPr>
        <p:spPr>
          <a:xfrm>
            <a:off x="4806448" y="6464300"/>
            <a:ext cx="1649592" cy="241301"/>
          </a:xfrm>
          <a:prstGeom prst="rect">
            <a:avLst/>
          </a:prstGeom>
          <a:solidFill>
            <a:srgbClr val="85DFFF">
              <a:alpha val="50196"/>
            </a:srgbClr>
          </a:solidFill>
          <a:ln>
            <a:solidFill>
              <a:srgbClr val="8E8E8E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/>
        </p:nvSpPr>
        <p:spPr>
          <a:xfrm>
            <a:off x="1927536" y="4401371"/>
            <a:ext cx="2224248" cy="405907"/>
          </a:xfrm>
          <a:prstGeom prst="rect">
            <a:avLst/>
          </a:prstGeom>
          <a:solidFill>
            <a:srgbClr val="85DFFF">
              <a:alpha val="50196"/>
            </a:srgbClr>
          </a:solidFill>
          <a:ln>
            <a:solidFill>
              <a:srgbClr val="8E8E8E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>
            <a:off x="1919536" y="2848545"/>
            <a:ext cx="2880320" cy="405907"/>
          </a:xfrm>
          <a:prstGeom prst="rect">
            <a:avLst/>
          </a:prstGeom>
          <a:solidFill>
            <a:srgbClr val="85DFFF">
              <a:alpha val="50196"/>
            </a:srgbClr>
          </a:solidFill>
          <a:ln>
            <a:solidFill>
              <a:srgbClr val="8E8E8E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/>
        </p:nvSpPr>
        <p:spPr>
          <a:xfrm>
            <a:off x="1703512" y="3625921"/>
            <a:ext cx="4680520" cy="405907"/>
          </a:xfrm>
          <a:prstGeom prst="rect">
            <a:avLst/>
          </a:prstGeom>
          <a:solidFill>
            <a:srgbClr val="85DFFF">
              <a:alpha val="50196"/>
            </a:srgbClr>
          </a:solidFill>
          <a:ln>
            <a:solidFill>
              <a:srgbClr val="8E8E8E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2063552" y="2033464"/>
            <a:ext cx="4536504" cy="405907"/>
          </a:xfrm>
          <a:prstGeom prst="rect">
            <a:avLst/>
          </a:prstGeom>
          <a:solidFill>
            <a:srgbClr val="85DFFF">
              <a:alpha val="50196"/>
            </a:srgbClr>
          </a:solidFill>
          <a:ln>
            <a:solidFill>
              <a:srgbClr val="8E8E8E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1703512" y="1457400"/>
            <a:ext cx="1763588" cy="219001"/>
          </a:xfrm>
          <a:prstGeom prst="rect">
            <a:avLst/>
          </a:prstGeom>
          <a:solidFill>
            <a:srgbClr val="85DFFF">
              <a:alpha val="50196"/>
            </a:srgbClr>
          </a:solidFill>
          <a:ln>
            <a:solidFill>
              <a:srgbClr val="8E8E8E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1703512" y="620688"/>
            <a:ext cx="3312368" cy="792088"/>
          </a:xfrm>
          <a:prstGeom prst="rect">
            <a:avLst/>
          </a:prstGeom>
          <a:solidFill>
            <a:srgbClr val="85DFFF">
              <a:alpha val="50196"/>
            </a:srgbClr>
          </a:solidFill>
          <a:ln>
            <a:solidFill>
              <a:srgbClr val="8E8E8E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3611724" y="58318"/>
            <a:ext cx="2268252" cy="274339"/>
          </a:xfrm>
          <a:prstGeom prst="rect">
            <a:avLst/>
          </a:prstGeom>
          <a:solidFill>
            <a:srgbClr val="85DFFF">
              <a:alpha val="50196"/>
            </a:srgbClr>
          </a:solidFill>
          <a:ln>
            <a:solidFill>
              <a:srgbClr val="8E8E8E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Прямоугольник 1"/>
          <p:cNvSpPr/>
          <p:nvPr/>
        </p:nvSpPr>
        <p:spPr>
          <a:xfrm>
            <a:off x="1524000" y="1"/>
            <a:ext cx="9900592" cy="69557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300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GumballMachine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: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300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IGumballMachine</a:t>
            </a:r>
            <a:endParaRPr lang="ru-RU" sz="13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3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unsigned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m_count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0;</a:t>
            </a:r>
            <a:endParaRPr lang="ru-RU" sz="13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300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SoldState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m_soldState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3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300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SoldOutState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m_soldOutState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3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300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NoQuarterState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m_noQuarterState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3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300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HasQuarterState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m_hasQuarterState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3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300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IState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*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m_state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300" dirty="0">
              <a:solidFill>
                <a:srgbClr val="0000FF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endParaRPr lang="ru-RU" sz="13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GumballMachine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unsigned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30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numBalls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3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: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m_soldState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(*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this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),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m_soldOutState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(*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this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,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m_noQuarterState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(*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this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),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m_hasQuarterState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(*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this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,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m_state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(&amp;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m_soldOutState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),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m_count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30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numBalls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3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</a:t>
            </a:r>
            <a:endParaRPr lang="ru-RU" sz="13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m_count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&gt; 0)</a:t>
            </a:r>
            <a:endParaRPr lang="ru-RU" sz="13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m_state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&amp;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m_noQuarterState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3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</a:t>
            </a:r>
          </a:p>
          <a:p>
            <a:endParaRPr lang="ru-RU" sz="13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sz="13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EjectQuarter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 </a:t>
            </a: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m_state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-&gt;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EjectQuarter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 }</a:t>
            </a:r>
            <a:endParaRPr lang="ru-RU" sz="13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sz="13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InsertQuarter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</a:t>
            </a: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m_state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-&gt;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InsertQuarter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 }</a:t>
            </a:r>
            <a:endParaRPr lang="ru-RU" sz="1300" dirty="0">
              <a:solidFill>
                <a:srgbClr val="000000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TurnCrank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</a:t>
            </a:r>
            <a:endParaRPr lang="ru-RU" sz="13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</a:t>
            </a:r>
            <a:endParaRPr lang="ru-RU" sz="13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m_state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-&gt;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TurnCrank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3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m_state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-&gt;Dispense();</a:t>
            </a:r>
            <a:endParaRPr lang="ru-RU" sz="13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</a:t>
            </a:r>
          </a:p>
          <a:p>
            <a:endParaRPr lang="ru-RU" sz="1300" dirty="0">
              <a:solidFill>
                <a:srgbClr val="000000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sz="12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std::</a:t>
            </a:r>
            <a:r>
              <a:rPr lang="en-US" sz="120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ToString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const</a:t>
            </a:r>
            <a:endParaRPr lang="ru-RU" sz="12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</a:t>
            </a:r>
            <a:endParaRPr lang="ru-RU" sz="12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sz="12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std::</a:t>
            </a:r>
            <a:r>
              <a:rPr lang="en-US" sz="120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format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R"(</a:t>
            </a:r>
            <a:endParaRPr lang="ru-RU" sz="12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Mighty Gumball, Inc.</a:t>
            </a:r>
            <a:endParaRPr lang="ru-RU" sz="12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C++-enabled Standing Gumball Model #2016 (with state)</a:t>
            </a:r>
            <a:endParaRPr lang="ru-RU" sz="12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Inventory: {} gumball{}</a:t>
            </a:r>
            <a:endParaRPr lang="ru-RU" sz="12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Machine is {}</a:t>
            </a:r>
            <a:endParaRPr lang="ru-RU" sz="12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m_count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m_count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!= 1 ?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"s"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: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m_state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-&gt;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ToString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());</a:t>
            </a:r>
            <a:endParaRPr lang="ru-RU" sz="12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</p:txBody>
      </p:sp>
      <p:sp>
        <p:nvSpPr>
          <p:cNvPr id="4" name="Выноска 1 3"/>
          <p:cNvSpPr/>
          <p:nvPr/>
        </p:nvSpPr>
        <p:spPr>
          <a:xfrm>
            <a:off x="5987988" y="809327"/>
            <a:ext cx="3276364" cy="648072"/>
          </a:xfrm>
          <a:prstGeom prst="borderCallout1">
            <a:avLst>
              <a:gd name="adj1" fmla="val 22068"/>
              <a:gd name="adj2" fmla="val -3112"/>
              <a:gd name="adj3" fmla="val 41251"/>
              <a:gd name="adj4" fmla="val -31890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Каждое возможное состояние автомата хранится в отдельном экземпляре</a:t>
            </a:r>
          </a:p>
        </p:txBody>
      </p:sp>
      <p:sp>
        <p:nvSpPr>
          <p:cNvPr id="6" name="Выноска 1 5"/>
          <p:cNvSpPr/>
          <p:nvPr/>
        </p:nvSpPr>
        <p:spPr>
          <a:xfrm>
            <a:off x="5735960" y="1514848"/>
            <a:ext cx="3816424" cy="432048"/>
          </a:xfrm>
          <a:prstGeom prst="borderCallout1">
            <a:avLst>
              <a:gd name="adj1" fmla="val 22068"/>
              <a:gd name="adj2" fmla="val -3112"/>
              <a:gd name="adj3" fmla="val 22635"/>
              <a:gd name="adj4" fmla="val -62022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Указатель на текущее состояние автомата</a:t>
            </a:r>
          </a:p>
        </p:txBody>
      </p:sp>
      <p:sp>
        <p:nvSpPr>
          <p:cNvPr id="8" name="Выноска 1 7"/>
          <p:cNvSpPr/>
          <p:nvPr/>
        </p:nvSpPr>
        <p:spPr>
          <a:xfrm>
            <a:off x="6384032" y="58317"/>
            <a:ext cx="5256584" cy="693561"/>
          </a:xfrm>
          <a:prstGeom prst="borderCallout1">
            <a:avLst>
              <a:gd name="adj1" fmla="val 25730"/>
              <a:gd name="adj2" fmla="val -946"/>
              <a:gd name="adj3" fmla="val 35983"/>
              <a:gd name="adj4" fmla="val -14540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Приватное наследование </a:t>
            </a:r>
            <a:r>
              <a:rPr lang="ru-RU" sz="1400" dirty="0" err="1"/>
              <a:t>скрываеь</a:t>
            </a:r>
            <a:r>
              <a:rPr lang="ru-RU" sz="1400" dirty="0"/>
              <a:t> методы </a:t>
            </a:r>
            <a:r>
              <a:rPr lang="en-US" sz="1400" dirty="0" err="1"/>
              <a:t>IGumbalMachine</a:t>
            </a:r>
            <a:r>
              <a:rPr lang="ru-RU" sz="1400" dirty="0"/>
              <a:t> от клиента, но оставляет контекст доступным для классов-состояний</a:t>
            </a:r>
          </a:p>
        </p:txBody>
      </p:sp>
      <p:sp>
        <p:nvSpPr>
          <p:cNvPr id="10" name="Выноска 1 9"/>
          <p:cNvSpPr/>
          <p:nvPr/>
        </p:nvSpPr>
        <p:spPr>
          <a:xfrm>
            <a:off x="7104112" y="2160287"/>
            <a:ext cx="4680520" cy="751047"/>
          </a:xfrm>
          <a:prstGeom prst="borderCallout1">
            <a:avLst>
              <a:gd name="adj1" fmla="val 22068"/>
              <a:gd name="adj2" fmla="val -3112"/>
              <a:gd name="adj3" fmla="val -2784"/>
              <a:gd name="adj4" fmla="val -17489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Внутри класса </a:t>
            </a:r>
            <a:r>
              <a:rPr lang="en-US" sz="1400" dirty="0" err="1"/>
              <a:t>GumbalMachine</a:t>
            </a:r>
            <a:r>
              <a:rPr lang="ru-RU" sz="1400" dirty="0"/>
              <a:t> доступно преобразование к </a:t>
            </a:r>
            <a:r>
              <a:rPr lang="en-US" sz="1400" dirty="0" err="1"/>
              <a:t>IGumbalMahine</a:t>
            </a:r>
            <a:r>
              <a:rPr lang="ru-RU" sz="1400" dirty="0"/>
              <a:t>, что позволяет передать ссылку на этот интерфейс конструкторам состояний</a:t>
            </a:r>
          </a:p>
        </p:txBody>
      </p:sp>
      <p:sp>
        <p:nvSpPr>
          <p:cNvPr id="12" name="Выноска 1 11"/>
          <p:cNvSpPr/>
          <p:nvPr/>
        </p:nvSpPr>
        <p:spPr>
          <a:xfrm>
            <a:off x="5123892" y="3032646"/>
            <a:ext cx="4932548" cy="540371"/>
          </a:xfrm>
          <a:prstGeom prst="borderCallout1">
            <a:avLst>
              <a:gd name="adj1" fmla="val 22068"/>
              <a:gd name="adj2" fmla="val -1052"/>
              <a:gd name="adj3" fmla="val -5134"/>
              <a:gd name="adj4" fmla="val -9250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Переводим состояние в </a:t>
            </a:r>
            <a:r>
              <a:rPr lang="en-US" sz="1400" dirty="0" err="1"/>
              <a:t>NoQuarter</a:t>
            </a:r>
            <a:r>
              <a:rPr lang="ru-RU" sz="1400" dirty="0"/>
              <a:t>, либо оставляем в </a:t>
            </a:r>
            <a:r>
              <a:rPr lang="en-US" sz="1400" dirty="0" err="1"/>
              <a:t>SoldOut</a:t>
            </a:r>
            <a:r>
              <a:rPr lang="ru-RU" sz="1400" dirty="0"/>
              <a:t> в зависимости </a:t>
            </a:r>
            <a:r>
              <a:rPr lang="ru-RU" sz="1400" dirty="0" err="1"/>
              <a:t>отколичества</a:t>
            </a:r>
            <a:r>
              <a:rPr lang="ru-RU" sz="1400" dirty="0"/>
              <a:t> оставшихся шариков</a:t>
            </a:r>
          </a:p>
        </p:txBody>
      </p:sp>
      <p:sp>
        <p:nvSpPr>
          <p:cNvPr id="14" name="Выноска 1 13"/>
          <p:cNvSpPr/>
          <p:nvPr/>
        </p:nvSpPr>
        <p:spPr>
          <a:xfrm>
            <a:off x="7076380" y="3694329"/>
            <a:ext cx="4680520" cy="484965"/>
          </a:xfrm>
          <a:prstGeom prst="borderCallout1">
            <a:avLst>
              <a:gd name="adj1" fmla="val 22068"/>
              <a:gd name="adj2" fmla="val -1052"/>
              <a:gd name="adj3" fmla="val 34820"/>
              <a:gd name="adj4" fmla="val -26884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Делегируем обработку текущему экземпляру-состоянию</a:t>
            </a:r>
          </a:p>
        </p:txBody>
      </p:sp>
      <p:sp>
        <p:nvSpPr>
          <p:cNvPr id="16" name="Выноска 1 15"/>
          <p:cNvSpPr/>
          <p:nvPr/>
        </p:nvSpPr>
        <p:spPr>
          <a:xfrm>
            <a:off x="4835352" y="4334138"/>
            <a:ext cx="7021288" cy="751047"/>
          </a:xfrm>
          <a:prstGeom prst="borderCallout1">
            <a:avLst>
              <a:gd name="adj1" fmla="val 22068"/>
              <a:gd name="adj2" fmla="val -1052"/>
              <a:gd name="adj3" fmla="val 38202"/>
              <a:gd name="adj4" fmla="val -13405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Выполняем обработку поворота ручки, с возможной последующей выдачей товара.</a:t>
            </a:r>
          </a:p>
          <a:p>
            <a:r>
              <a:rPr lang="ru-RU" sz="1400" dirty="0"/>
              <a:t>Между вызовами </a:t>
            </a:r>
            <a:r>
              <a:rPr lang="en-US" sz="1400" dirty="0" err="1"/>
              <a:t>TurnCrank</a:t>
            </a:r>
            <a:r>
              <a:rPr lang="en-US" sz="1400" dirty="0"/>
              <a:t>()</a:t>
            </a:r>
            <a:r>
              <a:rPr lang="ru-RU" sz="1400" dirty="0"/>
              <a:t> и </a:t>
            </a:r>
            <a:r>
              <a:rPr lang="en-US" sz="1400" dirty="0"/>
              <a:t>Dispense()</a:t>
            </a:r>
            <a:r>
              <a:rPr lang="ru-RU" sz="1400" dirty="0"/>
              <a:t> может измениться текущее состояние автомата</a:t>
            </a:r>
          </a:p>
        </p:txBody>
      </p:sp>
      <p:sp>
        <p:nvSpPr>
          <p:cNvPr id="18" name="Выноска 1 17"/>
          <p:cNvSpPr/>
          <p:nvPr/>
        </p:nvSpPr>
        <p:spPr>
          <a:xfrm>
            <a:off x="7080820" y="5388859"/>
            <a:ext cx="4631804" cy="751047"/>
          </a:xfrm>
          <a:prstGeom prst="borderCallout1">
            <a:avLst>
              <a:gd name="adj1" fmla="val 69415"/>
              <a:gd name="adj2" fmla="val 785"/>
              <a:gd name="adj3" fmla="val 144733"/>
              <a:gd name="adj4" fmla="val -23324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Формирование строки состояния автомата делегируется текущему состоянию</a:t>
            </a:r>
          </a:p>
        </p:txBody>
      </p:sp>
    </p:spTree>
    <p:extLst>
      <p:ext uri="{BB962C8B-B14F-4D97-AF65-F5344CB8AC3E}">
        <p14:creationId xmlns:p14="http://schemas.microsoft.com/office/powerpoint/2010/main" val="3119141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5" grpId="0" animBg="1"/>
      <p:bldP spid="11" grpId="0" animBg="1"/>
      <p:bldP spid="13" grpId="0" animBg="1"/>
      <p:bldP spid="9" grpId="0" animBg="1"/>
      <p:bldP spid="5" grpId="0" animBg="1"/>
      <p:bldP spid="3" grpId="0" animBg="1"/>
      <p:bldP spid="7" grpId="0" animBg="1"/>
      <p:bldP spid="4" grpId="0" animBg="1"/>
      <p:bldP spid="6" grpId="0" animBg="1"/>
      <p:bldP spid="8" grpId="0" animBg="1"/>
      <p:bldP spid="10" grpId="0" animBg="1"/>
      <p:bldP spid="12" grpId="0" animBg="1"/>
      <p:bldP spid="14" grpId="0" animBg="1"/>
      <p:bldP spid="16" grpId="0" animBg="1"/>
      <p:bldP spid="1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2063552" y="4845452"/>
            <a:ext cx="6048672" cy="1247845"/>
          </a:xfrm>
          <a:prstGeom prst="rect">
            <a:avLst/>
          </a:prstGeom>
          <a:solidFill>
            <a:srgbClr val="85DFFF">
              <a:alpha val="50196"/>
            </a:srgbClr>
          </a:solidFill>
          <a:ln>
            <a:solidFill>
              <a:srgbClr val="8E8E8E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1847528" y="1088740"/>
            <a:ext cx="3491880" cy="3420380"/>
          </a:xfrm>
          <a:prstGeom prst="rect">
            <a:avLst/>
          </a:prstGeom>
          <a:solidFill>
            <a:srgbClr val="85DFFF">
              <a:alpha val="50196"/>
            </a:srgbClr>
          </a:solidFill>
          <a:ln>
            <a:solidFill>
              <a:srgbClr val="8E8E8E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Прямоугольник 1"/>
          <p:cNvSpPr/>
          <p:nvPr/>
        </p:nvSpPr>
        <p:spPr>
          <a:xfrm>
            <a:off x="1631504" y="1"/>
            <a:ext cx="8424936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unsigned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GetBallCount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 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override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m_count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SetSoldOutState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override</a:t>
            </a:r>
          </a:p>
          <a:p>
            <a:r>
              <a:rPr lang="ru-RU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m_state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&amp;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m_soldOutState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 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SetNoQuarterState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override</a:t>
            </a: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m_state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&amp;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m_noQuarterState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SetSoldState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override</a:t>
            </a: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m_state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&amp;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m_soldState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SetHasQuarterState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override</a:t>
            </a:r>
            <a:r>
              <a:rPr lang="ru-RU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endParaRPr lang="en-US" sz="1400" dirty="0">
              <a:solidFill>
                <a:srgbClr val="0000FF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m_state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&amp;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m_hasQuarterState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ReleaseBall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override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m_count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!= 0)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{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"A gumball comes rolling out the slot...\n"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--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m_count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}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</a:t>
            </a:r>
            <a:endParaRPr lang="ru-RU" sz="1400" dirty="0">
              <a:solidFill>
                <a:srgbClr val="000000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4" name="Выноска 1 3"/>
          <p:cNvSpPr/>
          <p:nvPr/>
        </p:nvSpPr>
        <p:spPr>
          <a:xfrm>
            <a:off x="5831768" y="1088740"/>
            <a:ext cx="6096880" cy="900100"/>
          </a:xfrm>
          <a:prstGeom prst="borderCallout1">
            <a:avLst>
              <a:gd name="adj1" fmla="val 22068"/>
              <a:gd name="adj2" fmla="val -1052"/>
              <a:gd name="adj3" fmla="val 38202"/>
              <a:gd name="adj4" fmla="val -13405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Смена текущего состояния автомата.</a:t>
            </a:r>
            <a:endParaRPr lang="en-US" sz="1400" dirty="0"/>
          </a:p>
          <a:p>
            <a:r>
              <a:rPr lang="ru-RU" sz="1400" dirty="0"/>
              <a:t>Даже если методы объявлены приватными, они доступны классам состояний через интерфейс </a:t>
            </a:r>
            <a:r>
              <a:rPr lang="en-US" sz="1400" dirty="0" err="1"/>
              <a:t>IGumballMachine</a:t>
            </a:r>
            <a:r>
              <a:rPr lang="ru-RU" sz="1400" dirty="0"/>
              <a:t>, где были объявлены публичными</a:t>
            </a:r>
          </a:p>
        </p:txBody>
      </p:sp>
      <p:sp>
        <p:nvSpPr>
          <p:cNvPr id="9" name="Выноска 1 8"/>
          <p:cNvSpPr/>
          <p:nvPr/>
        </p:nvSpPr>
        <p:spPr>
          <a:xfrm>
            <a:off x="7248128" y="6238242"/>
            <a:ext cx="3672408" cy="365714"/>
          </a:xfrm>
          <a:prstGeom prst="borderCallout1">
            <a:avLst>
              <a:gd name="adj1" fmla="val 22068"/>
              <a:gd name="adj2" fmla="val -1052"/>
              <a:gd name="adj3" fmla="val -69450"/>
              <a:gd name="adj4" fmla="val -29038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Выкатываем шарик, если есть в наличии</a:t>
            </a:r>
          </a:p>
        </p:txBody>
      </p:sp>
    </p:spTree>
    <p:extLst>
      <p:ext uri="{BB962C8B-B14F-4D97-AF65-F5344CB8AC3E}">
        <p14:creationId xmlns:p14="http://schemas.microsoft.com/office/powerpoint/2010/main" val="2345540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animBg="1"/>
      <p:bldP spid="4" grpId="0" animBg="1"/>
      <p:bldP spid="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Паттерн «Состояние»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Изменяет поведение объекта при изменении его внутреннего состояния</a:t>
            </a:r>
          </a:p>
          <a:p>
            <a:r>
              <a:rPr lang="ru-RU" dirty="0"/>
              <a:t>Для клиента выглядит так, словно объект меняет свой класс</a:t>
            </a:r>
          </a:p>
          <a:p>
            <a:pPr lvl="1"/>
            <a:r>
              <a:rPr lang="ru-RU" dirty="0"/>
              <a:t>В разных состояниях объект делегирует поведения разным объектам состояний</a:t>
            </a:r>
          </a:p>
        </p:txBody>
      </p:sp>
    </p:spTree>
    <p:extLst>
      <p:ext uri="{BB962C8B-B14F-4D97-AF65-F5344CB8AC3E}">
        <p14:creationId xmlns:p14="http://schemas.microsoft.com/office/powerpoint/2010/main" val="5067267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Диаграмма классов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742619"/>
            <a:ext cx="307166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/>
              <a:t>Контекст</a:t>
            </a:r>
            <a:r>
              <a:rPr lang="ru-RU" sz="1600" dirty="0"/>
              <a:t> – класс, который хранит несколько внутренних состояний и ссылку на текущий объект состояния, которому делегирует часть работы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84232" y="1457861"/>
            <a:ext cx="388843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Общий интерфейс всех конкретных </a:t>
            </a:r>
            <a:r>
              <a:rPr lang="ru-RU" sz="1600" b="1" dirty="0"/>
              <a:t>состояний</a:t>
            </a:r>
            <a:r>
              <a:rPr lang="ru-RU" sz="1600" dirty="0"/>
              <a:t>.</a:t>
            </a:r>
          </a:p>
          <a:p>
            <a:r>
              <a:rPr lang="ru-RU" sz="1600" dirty="0"/>
              <a:t>Через него Контекст взаимодействует с конкретными состояниями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71664" y="6027003"/>
            <a:ext cx="63367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/>
              <a:t>Конкретные состояния</a:t>
            </a:r>
            <a:r>
              <a:rPr lang="ru-RU" sz="1600" dirty="0"/>
              <a:t> обрабатывают запросы от Контекста.</a:t>
            </a:r>
          </a:p>
          <a:p>
            <a:r>
              <a:rPr lang="ru-RU" sz="1600" dirty="0"/>
              <a:t>Каждое состояние по-своему реализует интерфейс </a:t>
            </a:r>
            <a:r>
              <a:rPr lang="en-US" sz="1600" dirty="0"/>
              <a:t>State</a:t>
            </a:r>
            <a:r>
              <a:rPr lang="ru-RU" sz="1600" dirty="0"/>
              <a:t>.</a:t>
            </a:r>
          </a:p>
          <a:p>
            <a:r>
              <a:rPr lang="ru-RU" sz="1600" dirty="0"/>
              <a:t>Когда контекст меняет состояние, его поведение меняется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35560" y="1916832"/>
            <a:ext cx="7110896" cy="4445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201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12053-E420-4F7A-A2C7-58C667596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Сравнение с паттерном «Стратегия»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62849D10-7138-4FE5-9E6A-22893630D9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6322" y="1517031"/>
            <a:ext cx="5799355" cy="5310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89018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Применимость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Есть класс, чьё поведение сильно меняется от внутреннего состояния</a:t>
            </a:r>
          </a:p>
          <a:p>
            <a:pPr lvl="1"/>
            <a:r>
              <a:rPr lang="ru-RU" dirty="0"/>
              <a:t>Состояний много, их код часто меняется</a:t>
            </a:r>
          </a:p>
          <a:p>
            <a:r>
              <a:rPr lang="ru-RU" dirty="0"/>
              <a:t>Код класса содержит множество больших, похожих друг на друга условных операторов</a:t>
            </a:r>
          </a:p>
          <a:p>
            <a:pPr lvl="1"/>
            <a:r>
              <a:rPr lang="ru-RU" dirty="0"/>
              <a:t>В зависимости от содержимого полей класса они выбирают поведение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565570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Кто выбирает следующее состояние</a:t>
            </a:r>
            <a:r>
              <a:rPr lang="en-US" dirty="0"/>
              <a:t>?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Классы конкретных состояний</a:t>
            </a:r>
          </a:p>
          <a:p>
            <a:pPr lvl="1"/>
            <a:r>
              <a:rPr lang="ru-RU" dirty="0"/>
              <a:t>Переходы имеют динамическую природу</a:t>
            </a:r>
          </a:p>
          <a:p>
            <a:pPr lvl="2"/>
            <a:r>
              <a:rPr lang="ru-RU" dirty="0"/>
              <a:t>В нашем случае выбор между </a:t>
            </a:r>
            <a:r>
              <a:rPr lang="en-US" dirty="0" err="1"/>
              <a:t>NoQuarter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 err="1"/>
              <a:t>SoldOut</a:t>
            </a:r>
            <a:r>
              <a:rPr lang="ru-RU" dirty="0"/>
              <a:t> после продажи зависит от количества оставшихся шариков</a:t>
            </a:r>
          </a:p>
          <a:p>
            <a:pPr lvl="2"/>
            <a:r>
              <a:rPr lang="ru-RU" dirty="0"/>
              <a:t>Минусы – могут появиться зависимости между классами состояний</a:t>
            </a:r>
          </a:p>
          <a:p>
            <a:pPr lvl="2"/>
            <a:r>
              <a:rPr lang="ru-RU" dirty="0"/>
              <a:t>Мы уменьшили эти зависимости за счёт методов контекста для перехода между состояниями</a:t>
            </a:r>
          </a:p>
          <a:p>
            <a:r>
              <a:rPr lang="ru-RU" dirty="0"/>
              <a:t>Класс контекста</a:t>
            </a:r>
          </a:p>
          <a:p>
            <a:pPr lvl="1"/>
            <a:r>
              <a:rPr lang="ru-RU" dirty="0"/>
              <a:t>Переходы статичны</a:t>
            </a:r>
          </a:p>
          <a:p>
            <a:r>
              <a:rPr lang="ru-RU" dirty="0"/>
              <a:t>От решения зависит какие классы будут закрыты для изменений – классы контекста или состояний</a:t>
            </a:r>
          </a:p>
        </p:txBody>
      </p:sp>
    </p:spTree>
    <p:extLst>
      <p:ext uri="{BB962C8B-B14F-4D97-AF65-F5344CB8AC3E}">
        <p14:creationId xmlns:p14="http://schemas.microsoft.com/office/powerpoint/2010/main" val="740122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31235-C394-E26A-50E0-303FDD56F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Кто выбирает следующее состояние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6A1C44-1DE6-A5F6-BA14-13E56BBD99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Если от изменений нужно закрыть класс Контекст, то переходы инициируют классы состояний</a:t>
            </a:r>
          </a:p>
          <a:p>
            <a:r>
              <a:rPr lang="ru-RU" dirty="0"/>
              <a:t>Если от изменений нужно закрыть классы состояний, то переходы инициирует Контекст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5159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Взаимодействует ли клиент с состояниями</a:t>
            </a:r>
            <a:r>
              <a:rPr lang="en-US" dirty="0"/>
              <a:t>?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Нет, все запросы к состояниям поступают из контекста</a:t>
            </a:r>
          </a:p>
          <a:p>
            <a:pPr lvl="1"/>
            <a:r>
              <a:rPr lang="ru-RU" dirty="0"/>
              <a:t>Контекст сам вызывает методы состояний</a:t>
            </a:r>
          </a:p>
          <a:p>
            <a:r>
              <a:rPr lang="ru-RU" dirty="0"/>
              <a:t>Попытки изменить текущее состояние контекста без его участия обычно нежелательны</a:t>
            </a:r>
          </a:p>
          <a:p>
            <a:pPr lvl="1"/>
            <a:r>
              <a:rPr lang="ru-RU" dirty="0"/>
              <a:t>Состояние клиента может стать несогласованным</a:t>
            </a:r>
          </a:p>
        </p:txBody>
      </p:sp>
    </p:spTree>
    <p:extLst>
      <p:ext uri="{BB962C8B-B14F-4D97-AF65-F5344CB8AC3E}">
        <p14:creationId xmlns:p14="http://schemas.microsoft.com/office/powerpoint/2010/main" val="1670947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CC9D0FD-0AF4-4744-5591-4A8B48EEA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Скрываем внутренние методы контекста от клиента</a:t>
            </a: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8810DD9-815F-C2FF-E7DC-5CC9338C17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39605" y="1758356"/>
            <a:ext cx="10512790" cy="5099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98770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59B06-F062-460E-798A-74DD2DD94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Скрываем внутренние методы контекста от клиента – альтернативный вариант</a:t>
            </a:r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601B504-30BB-8A5C-9C47-D4F45546E4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519237" y="2068997"/>
            <a:ext cx="9153525" cy="4529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50390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245D6564-75A9-E323-6CE0-AB70A6C73B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-54990" y="-1"/>
            <a:ext cx="12301982" cy="6858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74A9B1A-8362-8B07-230F-8E1493FFB3BA}"/>
              </a:ext>
            </a:extLst>
          </p:cNvPr>
          <p:cNvSpPr txBox="1"/>
          <p:nvPr/>
        </p:nvSpPr>
        <p:spPr>
          <a:xfrm>
            <a:off x="1523492" y="5157192"/>
            <a:ext cx="914501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</a:rPr>
              <a:t>Любую проблему программирования можно решить введением дополнительного уровня косвенности, кроме чрезмерного количества уровней косвенности</a:t>
            </a:r>
            <a:endParaRPr lang="en-US" sz="28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71086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0A410-C48E-0A1B-8F85-35012E093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Альтернативны приватному наследованию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2B027-4F90-AC3B-D4EC-624D567F1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Использовать композицию: клиент работает с «обёрткой», а состояния — с реальным контекстом</a:t>
            </a:r>
          </a:p>
          <a:p>
            <a:r>
              <a:rPr lang="ru-RU" dirty="0"/>
              <a:t>Ограничить доступ к служебным методам через модификаторы уровня пакета/модуля (</a:t>
            </a:r>
            <a:r>
              <a:rPr lang="ru-RU" dirty="0" err="1"/>
              <a:t>internal</a:t>
            </a:r>
            <a:r>
              <a:rPr lang="ru-RU" dirty="0"/>
              <a:t>, </a:t>
            </a:r>
            <a:r>
              <a:rPr lang="ru-RU" dirty="0" err="1"/>
              <a:t>package-private</a:t>
            </a:r>
            <a:r>
              <a:rPr lang="ru-RU" dirty="0"/>
              <a:t> и др.)</a:t>
            </a:r>
          </a:p>
          <a:p>
            <a:r>
              <a:rPr lang="ru-RU" dirty="0"/>
              <a:t>Держать контекст и состояния в одном модуле, а клиент — снаружи</a:t>
            </a:r>
          </a:p>
          <a:p>
            <a:r>
              <a:rPr lang="ru-RU" dirty="0"/>
              <a:t>Состояния получают доступ ко внутреннему API, клиент — только к безопасному внешнему интерфейсу</a:t>
            </a:r>
          </a:p>
          <a:p>
            <a:r>
              <a:rPr lang="ru-RU" dirty="0"/>
              <a:t>Решение выбирается в зависимости от возможностей языка и требований к архитектуре</a:t>
            </a:r>
          </a:p>
        </p:txBody>
      </p:sp>
    </p:spTree>
    <p:extLst>
      <p:ext uri="{BB962C8B-B14F-4D97-AF65-F5344CB8AC3E}">
        <p14:creationId xmlns:p14="http://schemas.microsoft.com/office/powerpoint/2010/main" val="29527426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Совместное использование объектов состояний разными контекстами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Часто встречается</a:t>
            </a:r>
          </a:p>
          <a:p>
            <a:r>
              <a:rPr lang="ru-RU" dirty="0"/>
              <a:t>Объекты состояний не должны обладать внутренним состоянием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BADD1EEB-0F88-4EDB-AE85-1948F6588E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3753" y="3288377"/>
            <a:ext cx="5296877" cy="3485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4627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DEAC4-5B87-4D64-B4C6-91C11E91E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Доступ к контексту из </a:t>
            </a:r>
            <a:r>
              <a:rPr lang="en-US" dirty="0"/>
              <a:t>stateless-</a:t>
            </a:r>
            <a:r>
              <a:rPr lang="ru-RU" dirty="0"/>
              <a:t>состояний</a:t>
            </a: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7456096C-53BC-4536-8C4C-EB94B02529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528" y="1772817"/>
            <a:ext cx="7776864" cy="4988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7650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A85925D-0DB0-4803-803C-C98E8045C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Состояние – интерфейс или абстрактный класс</a:t>
            </a:r>
            <a:r>
              <a:rPr lang="en-US" dirty="0"/>
              <a:t>?</a:t>
            </a:r>
            <a:endParaRPr lang="ru-R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26E1C8-8374-4397-8EAF-F42B1A8AEA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Если у объектов состояний есть общая функциональность, её можно вынести в абстрактный базовый класс</a:t>
            </a:r>
          </a:p>
          <a:p>
            <a:r>
              <a:rPr lang="ru-RU" dirty="0"/>
              <a:t>Конкретные состояния будут реализовывать только то, что различается</a:t>
            </a:r>
          </a:p>
        </p:txBody>
      </p:sp>
    </p:spTree>
    <p:extLst>
      <p:ext uri="{BB962C8B-B14F-4D97-AF65-F5344CB8AC3E}">
        <p14:creationId xmlns:p14="http://schemas.microsoft.com/office/powerpoint/2010/main" val="1317866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CEAD9-3770-9E51-4434-DE466C110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Могут ли классы состояний иметь состояние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23792-BF7D-356D-2B7F-E3984B2E95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Данные, которые используются только одним из состояний, можно сделать частью конкретного состояния</a:t>
            </a:r>
          </a:p>
          <a:p>
            <a:r>
              <a:rPr lang="ru-RU" dirty="0"/>
              <a:t>Это разгрузит и упростит класс Контекст</a:t>
            </a:r>
          </a:p>
        </p:txBody>
      </p:sp>
    </p:spTree>
    <p:extLst>
      <p:ext uri="{BB962C8B-B14F-4D97-AF65-F5344CB8AC3E}">
        <p14:creationId xmlns:p14="http://schemas.microsoft.com/office/powerpoint/2010/main" val="412661986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Паттерн локализует зависящее от состояния поведение и делит его на части, соответствующие состояниям</a:t>
            </a:r>
          </a:p>
          <a:p>
            <a:r>
              <a:rPr lang="ru-RU" dirty="0"/>
              <a:t>Делает явными переходы между состояниями</a:t>
            </a:r>
          </a:p>
          <a:p>
            <a:r>
              <a:rPr lang="ru-RU" dirty="0"/>
              <a:t>Объекты состояния можно разделять между разными контекстами</a:t>
            </a:r>
          </a:p>
        </p:txBody>
      </p:sp>
    </p:spTree>
    <p:extLst>
      <p:ext uri="{BB962C8B-B14F-4D97-AF65-F5344CB8AC3E}">
        <p14:creationId xmlns:p14="http://schemas.microsoft.com/office/powerpoint/2010/main" val="911432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Недостатки паттерна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Увеличение количества классов</a:t>
            </a:r>
          </a:p>
          <a:p>
            <a:r>
              <a:rPr lang="ru-RU" dirty="0"/>
              <a:t>В простых случаях паттерн «Состояние» усложняет архитектуру</a:t>
            </a:r>
          </a:p>
        </p:txBody>
      </p:sp>
    </p:spTree>
    <p:extLst>
      <p:ext uri="{BB962C8B-B14F-4D97-AF65-F5344CB8AC3E}">
        <p14:creationId xmlns:p14="http://schemas.microsoft.com/office/powerpoint/2010/main" val="215738051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Создание и уничтожение объекта состояния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Создавать при необходимости и уничтожать сразу после использования</a:t>
            </a:r>
          </a:p>
          <a:p>
            <a:pPr lvl="1"/>
            <a:r>
              <a:rPr lang="ru-RU" dirty="0"/>
              <a:t>Заранее неизвестно, в какие состояния будет попадать система</a:t>
            </a:r>
          </a:p>
          <a:p>
            <a:pPr lvl="1"/>
            <a:r>
              <a:rPr lang="ru-RU" dirty="0"/>
              <a:t>Состояние изменяется редко</a:t>
            </a:r>
          </a:p>
          <a:p>
            <a:r>
              <a:rPr lang="ru-RU" dirty="0"/>
              <a:t>Создавать заранее и навсегда</a:t>
            </a:r>
          </a:p>
          <a:p>
            <a:pPr lvl="1"/>
            <a:r>
              <a:rPr lang="ru-RU" dirty="0"/>
              <a:t>Время на создание объектов затрачивается один раз</a:t>
            </a:r>
          </a:p>
          <a:p>
            <a:pPr lvl="1"/>
            <a:r>
              <a:rPr lang="ru-RU" dirty="0"/>
              <a:t>В контексте хранятся ссылки на все состояния, в которые система может попасть</a:t>
            </a:r>
          </a:p>
        </p:txBody>
      </p:sp>
    </p:spTree>
    <p:extLst>
      <p:ext uri="{BB962C8B-B14F-4D97-AF65-F5344CB8AC3E}">
        <p14:creationId xmlns:p14="http://schemas.microsoft.com/office/powerpoint/2010/main" val="2986786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Примеры использования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b="1" dirty="0"/>
              <a:t>Игровые персонажи (AI):</a:t>
            </a:r>
            <a:r>
              <a:rPr lang="ru-RU" dirty="0"/>
              <a:t> патрулирование, преследование, ожидание, атака, поиск цели</a:t>
            </a:r>
          </a:p>
          <a:p>
            <a:r>
              <a:rPr lang="ru-RU" b="1" dirty="0"/>
              <a:t>Редакторы и IDE:</a:t>
            </a:r>
            <a:r>
              <a:rPr lang="ru-RU" dirty="0"/>
              <a:t> инструмент находится в режиме выделения, рисования, перемещения, редактирования текста</a:t>
            </a:r>
            <a:endParaRPr lang="en-US" dirty="0"/>
          </a:p>
          <a:p>
            <a:pPr lvl="1"/>
            <a:r>
              <a:rPr lang="ru-RU" dirty="0">
                <a:solidFill>
                  <a:srgbClr val="FF0000"/>
                </a:solidFill>
              </a:rPr>
              <a:t>Это можно реализовать и через «Стратегию»</a:t>
            </a:r>
          </a:p>
          <a:p>
            <a:r>
              <a:rPr lang="ru-RU" b="1" dirty="0"/>
              <a:t>Сетевые протоколы:</a:t>
            </a:r>
            <a:r>
              <a:rPr lang="ru-RU" dirty="0"/>
              <a:t> клиент или соединение может быть в состояниях «подключение», «авторизация», «передача данных», «закрытие»</a:t>
            </a:r>
          </a:p>
          <a:p>
            <a:r>
              <a:rPr lang="ru-RU" b="1" dirty="0"/>
              <a:t>UI-компоненты:</a:t>
            </a:r>
            <a:r>
              <a:rPr lang="ru-RU" dirty="0"/>
              <a:t> кнопка в состояниях «нормальное», «наведено», «нажато», «неактивно»</a:t>
            </a:r>
          </a:p>
          <a:p>
            <a:r>
              <a:rPr lang="ru-RU" b="1" dirty="0"/>
              <a:t>Электронные устройства:</a:t>
            </a:r>
            <a:r>
              <a:rPr lang="ru-RU" dirty="0"/>
              <a:t> принтер в режимах «готов», «печать», «ошибка», «нет бумаги»</a:t>
            </a:r>
          </a:p>
          <a:p>
            <a:r>
              <a:rPr lang="ru-RU" b="1" dirty="0"/>
              <a:t>Процессы в бизнес-логике:</a:t>
            </a:r>
            <a:r>
              <a:rPr lang="ru-RU" dirty="0"/>
              <a:t> заказ может быть создан, оплачен, отправлен, доставлен, отменён</a:t>
            </a:r>
          </a:p>
          <a:p>
            <a:r>
              <a:rPr lang="ru-RU" b="1" dirty="0"/>
              <a:t>Конечные автоматы и любые протоколы с чёткими переходами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8406420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B8850-2FD4-45B4-8E54-CB9898DBF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34AFD-6116-47D1-AC52-F56F7CE485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Паттерн «Состояние» позволяет объекту изменять поведение, в зависимости от его внутреннего состояния</a:t>
            </a:r>
          </a:p>
          <a:p>
            <a:r>
              <a:rPr lang="ru-RU" dirty="0"/>
              <a:t>За каждое состояние отвечает отдельный класс</a:t>
            </a:r>
          </a:p>
          <a:p>
            <a:r>
              <a:rPr lang="ru-RU" dirty="0"/>
              <a:t>Контекст делегирует операцию своему текущему состоянию</a:t>
            </a:r>
          </a:p>
        </p:txBody>
      </p:sp>
    </p:spTree>
    <p:extLst>
      <p:ext uri="{BB962C8B-B14F-4D97-AF65-F5344CB8AC3E}">
        <p14:creationId xmlns:p14="http://schemas.microsoft.com/office/powerpoint/2010/main" val="2956482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55A24-EB56-421E-B8A1-935A7E31B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2431C-DAF0-4493-B940-E17EA423DE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«Состояние» и «Стратегия» имеют одинаковую диаграмму классов, но служат разным целям</a:t>
            </a:r>
          </a:p>
          <a:p>
            <a:pPr lvl="1"/>
            <a:r>
              <a:rPr lang="ru-RU" dirty="0"/>
              <a:t>Паттерн «Стратегия» конфигурирует класс Контекста поведением или алгоритмом</a:t>
            </a:r>
          </a:p>
          <a:p>
            <a:pPr lvl="1"/>
            <a:r>
              <a:rPr lang="ru-RU" dirty="0"/>
              <a:t>Паттерн «Состояние» позволяет Контексту изменять поведение, когда состояние Контекста изменяется</a:t>
            </a:r>
          </a:p>
        </p:txBody>
      </p:sp>
    </p:spTree>
    <p:extLst>
      <p:ext uri="{BB962C8B-B14F-4D97-AF65-F5344CB8AC3E}">
        <p14:creationId xmlns:p14="http://schemas.microsoft.com/office/powerpoint/2010/main" val="1670800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C2EAA-7295-4CE5-B945-4569F5BB0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4F0641-1AF4-4FE2-8F49-6B598F743A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Переходами между состояниями может управлять как Контекст, так и классы Состояний</a:t>
            </a:r>
          </a:p>
          <a:p>
            <a:r>
              <a:rPr lang="ru-RU" dirty="0"/>
              <a:t>Неизменяемые классы состояний могут совместно использоваться разными экземплярами Контекста</a:t>
            </a:r>
          </a:p>
          <a:p>
            <a:r>
              <a:rPr lang="ru-RU" dirty="0"/>
              <a:t>Паттерн «Состояние» обычно увеличивает количество классов в программе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41834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6C5D119E-DFF0-4E27-9F89-1E807591F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Вопросы</a:t>
            </a:r>
            <a:r>
              <a:rPr lang="en-US" dirty="0"/>
              <a:t>?</a:t>
            </a:r>
            <a:endParaRPr lang="ru-RU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2189B49-80D6-4E72-BBD6-A2A0072398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199253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FOLDER" val="H:\teaching\institutps\2016\ood\lectures\07\07 - Адаптер, Фасад\"/>
  <p:tag name="ISPRING_PRESENTATION_PATH" val="H:\teaching\institutps\2016\ood\lectures\07\07 - Адаптер, Фасад.pptx"/>
  <p:tag name="ISPRING_PROJECT_FOLDER_UPDATED" val="1"/>
  <p:tag name="ISPRING_SCREEN_RECS_UPDATED" val="H:\teaching\institutps\2016\ood\lectures\07\07 - Адаптер, Фасад"/>
  <p:tag name="ISPRING_UUID" val="{77CEB02E-0205-4D42-AC68-BCD00A9879B0}"/>
  <p:tag name="ISPRING_RESOURCE_PATHS_HASH_PRESENTER" val="271fe6ecf279a64175816a328b0281dc533ce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6953</TotalTime>
  <Words>5806</Words>
  <Application>Microsoft Office PowerPoint</Application>
  <PresentationFormat>Widescreen</PresentationFormat>
  <Paragraphs>731</Paragraphs>
  <Slides>47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3" baseType="lpstr">
      <vt:lpstr>Arial</vt:lpstr>
      <vt:lpstr>Calibri</vt:lpstr>
      <vt:lpstr>Calibri Light</vt:lpstr>
      <vt:lpstr>Consolas</vt:lpstr>
      <vt:lpstr>Impact</vt:lpstr>
      <vt:lpstr>Office Theme</vt:lpstr>
      <vt:lpstr>Паттерн проектирования «Состояние»</vt:lpstr>
      <vt:lpstr>Зачем нужен паттерн «Состояние»?</vt:lpstr>
      <vt:lpstr>Приложение – автомат по продаже жевательной резинки</vt:lpstr>
      <vt:lpstr>Диаграмма состояний</vt:lpstr>
      <vt:lpstr>Диаграмма классов</vt:lpstr>
      <vt:lpstr>Реализация автомата для продажи жевательной резинки</vt:lpstr>
      <vt:lpstr>Инициализация автомата и вставка  монетки</vt:lpstr>
      <vt:lpstr>Если покупатель решил вернуть монетку</vt:lpstr>
      <vt:lpstr>Если покупатель пытается дернуть за рычаг</vt:lpstr>
      <vt:lpstr>Выдача шарика пользователю</vt:lpstr>
      <vt:lpstr>Служебные методы</vt:lpstr>
      <vt:lpstr>PowerPoint Presentation</vt:lpstr>
      <vt:lpstr>Выберите утверждения, относящиеся к реализации</vt:lpstr>
      <vt:lpstr>Идеи для рефакторинга</vt:lpstr>
      <vt:lpstr>Переход к паттерну «Состояние»</vt:lpstr>
      <vt:lpstr>Алгоритм перехода к паттерну «Состояние»</vt:lpstr>
      <vt:lpstr>PowerPoint Presentation</vt:lpstr>
      <vt:lpstr>Интерфейсы «Состояние» и «Контекст»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Паттерн «Состояние»</vt:lpstr>
      <vt:lpstr>Диаграмма классов</vt:lpstr>
      <vt:lpstr>Сравнение с паттерном «Стратегия»</vt:lpstr>
      <vt:lpstr>Применимость</vt:lpstr>
      <vt:lpstr>Кто выбирает следующее состояние?</vt:lpstr>
      <vt:lpstr>Кто выбирает следующее состояние?</vt:lpstr>
      <vt:lpstr>Взаимодействует ли клиент с состояниями?</vt:lpstr>
      <vt:lpstr>Скрываем внутренние методы контекста от клиента</vt:lpstr>
      <vt:lpstr>Скрываем внутренние методы контекста от клиента – альтернативный вариант</vt:lpstr>
      <vt:lpstr>PowerPoint Presentation</vt:lpstr>
      <vt:lpstr>Альтернативны приватному наследованию</vt:lpstr>
      <vt:lpstr>Совместное использование объектов состояний разными контекстами</vt:lpstr>
      <vt:lpstr>Доступ к контексту из stateless-состояний</vt:lpstr>
      <vt:lpstr>Состояние – интерфейс или абстрактный класс?</vt:lpstr>
      <vt:lpstr>Могут ли классы состояний иметь состояние?</vt:lpstr>
      <vt:lpstr>Результаты</vt:lpstr>
      <vt:lpstr>Недостатки паттерна</vt:lpstr>
      <vt:lpstr>Создание и уничтожение объекта состояния</vt:lpstr>
      <vt:lpstr>Примеры использования</vt:lpstr>
      <vt:lpstr>Итоги</vt:lpstr>
      <vt:lpstr>Итоги</vt:lpstr>
      <vt:lpstr>Итоги</vt:lpstr>
      <vt:lpstr>Вопросы?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Vivid</dc:creator>
  <cp:lastModifiedBy>Алексей Малов</cp:lastModifiedBy>
  <cp:revision>647</cp:revision>
  <dcterms:created xsi:type="dcterms:W3CDTF">2016-02-02T19:36:42Z</dcterms:created>
  <dcterms:modified xsi:type="dcterms:W3CDTF">2025-11-14T05:56:05Z</dcterms:modified>
</cp:coreProperties>
</file>