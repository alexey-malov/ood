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68" r:id="rId3"/>
    <p:sldId id="269" r:id="rId4"/>
    <p:sldId id="270" r:id="rId5"/>
    <p:sldId id="271" r:id="rId6"/>
    <p:sldId id="258" r:id="rId7"/>
    <p:sldId id="272" r:id="rId8"/>
    <p:sldId id="273" r:id="rId9"/>
    <p:sldId id="274" r:id="rId10"/>
    <p:sldId id="275" r:id="rId11"/>
    <p:sldId id="276" r:id="rId12"/>
    <p:sldId id="259" r:id="rId13"/>
    <p:sldId id="277" r:id="rId14"/>
    <p:sldId id="278" r:id="rId15"/>
    <p:sldId id="279" r:id="rId16"/>
    <p:sldId id="280" r:id="rId17"/>
    <p:sldId id="281" r:id="rId18"/>
    <p:sldId id="260" r:id="rId19"/>
    <p:sldId id="282" r:id="rId20"/>
    <p:sldId id="283" r:id="rId21"/>
    <p:sldId id="284" r:id="rId22"/>
    <p:sldId id="285" r:id="rId23"/>
    <p:sldId id="286" r:id="rId24"/>
    <p:sldId id="261" r:id="rId25"/>
    <p:sldId id="287" r:id="rId26"/>
    <p:sldId id="288" r:id="rId27"/>
    <p:sldId id="289" r:id="rId28"/>
    <p:sldId id="290" r:id="rId29"/>
    <p:sldId id="291" r:id="rId30"/>
    <p:sldId id="262" r:id="rId31"/>
    <p:sldId id="292" r:id="rId32"/>
    <p:sldId id="293" r:id="rId33"/>
    <p:sldId id="294" r:id="rId34"/>
    <p:sldId id="295" r:id="rId35"/>
    <p:sldId id="296" r:id="rId36"/>
    <p:sldId id="263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264" r:id="rId45"/>
    <p:sldId id="265" r:id="rId46"/>
    <p:sldId id="266" r:id="rId47"/>
    <p:sldId id="26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4237" autoAdjust="0"/>
  </p:normalViewPr>
  <p:slideViewPr>
    <p:cSldViewPr snapToGrid="0" showGuides="1">
      <p:cViewPr>
        <p:scale>
          <a:sx n="50" d="100"/>
          <a:sy n="50" d="100"/>
        </p:scale>
        <p:origin x="2268" y="18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37C76-F46A-46AE-BC95-A4AE74D2A38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8901C-EDDF-4AD6-9B13-78E9B524B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служил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модельным</a:t>
            </a:r>
            <a:r>
              <a:rPr lang="en-US" dirty="0"/>
              <a:t> </a:t>
            </a:r>
            <a:r>
              <a:rPr lang="en-US" dirty="0" err="1"/>
              <a:t>примером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обсуждения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HitTest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оставался</a:t>
            </a:r>
            <a:r>
              <a:rPr lang="en-US" dirty="0"/>
              <a:t> </a:t>
            </a:r>
            <a:r>
              <a:rPr lang="en-US" dirty="0" err="1"/>
              <a:t>консольным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изучения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приложению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настоящего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 в </a:t>
            </a:r>
            <a:r>
              <a:rPr lang="en-US" dirty="0" err="1"/>
              <a:t>отдельном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и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поставим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скромную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панели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, </a:t>
            </a:r>
            <a:r>
              <a:rPr lang="en-US" dirty="0" err="1"/>
              <a:t>меню</a:t>
            </a:r>
            <a:r>
              <a:rPr lang="en-US" dirty="0"/>
              <a:t>, </a:t>
            </a:r>
            <a:r>
              <a:rPr lang="en-US" dirty="0" err="1"/>
              <a:t>диалоги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простейшего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в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 к </a:t>
            </a:r>
            <a:r>
              <a:rPr lang="en-US" b="1" dirty="0" err="1"/>
              <a:t>существующему</a:t>
            </a:r>
            <a:r>
              <a:rPr lang="en-US" b="1" dirty="0"/>
              <a:t> </a:t>
            </a:r>
            <a:r>
              <a:rPr lang="en-US" b="1" dirty="0" err="1"/>
              <a:t>приложению</a:t>
            </a:r>
            <a:r>
              <a:rPr lang="en-US" dirty="0"/>
              <a:t>.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конструкции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повлечёт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6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графикой</a:t>
            </a:r>
            <a:r>
              <a:rPr lang="en-US" dirty="0"/>
              <a:t> в </a:t>
            </a:r>
            <a:r>
              <a:rPr lang="en-US" dirty="0" err="1"/>
              <a:t>примерах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SFML 3. С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изучать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API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базовых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графику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CircleShape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простые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SFML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закрытии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нажатиях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перемещении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действиях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зафиксировать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SFML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i="1" dirty="0" err="1"/>
              <a:t>вокруг</a:t>
            </a:r>
            <a:r>
              <a:rPr lang="en-US" i="1" dirty="0"/>
              <a:t> SFML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изучаем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 SFML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—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техническое</a:t>
            </a:r>
            <a:r>
              <a:rPr lang="en-US" dirty="0"/>
              <a:t> </a:t>
            </a:r>
            <a:r>
              <a:rPr lang="en-US" dirty="0" err="1"/>
              <a:t>средство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графическую</a:t>
            </a:r>
            <a:r>
              <a:rPr lang="en-US" dirty="0"/>
              <a:t> </a:t>
            </a:r>
            <a:r>
              <a:rPr lang="en-US" dirty="0" err="1"/>
              <a:t>библиотеку</a:t>
            </a:r>
            <a:r>
              <a:rPr lang="en-US" dirty="0"/>
              <a:t>,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проектные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, </a:t>
            </a:r>
            <a:r>
              <a:rPr lang="en-US" dirty="0" err="1"/>
              <a:t>останутся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многом</a:t>
            </a:r>
            <a:r>
              <a:rPr lang="en-US" dirty="0"/>
              <a:t>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9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минимального</a:t>
            </a:r>
            <a:r>
              <a:rPr lang="en-US" dirty="0"/>
              <a:t> </a:t>
            </a:r>
            <a:r>
              <a:rPr lang="en-US" dirty="0" err="1"/>
              <a:t>работающего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800 </a:t>
            </a:r>
            <a:r>
              <a:rPr lang="en-US" dirty="0" err="1"/>
              <a:t>на</a:t>
            </a:r>
            <a:r>
              <a:rPr lang="en-US" dirty="0"/>
              <a:t> 600 </a:t>
            </a:r>
            <a:r>
              <a:rPr lang="en-US" dirty="0" err="1"/>
              <a:t>пикселей</a:t>
            </a:r>
            <a:r>
              <a:rPr lang="en-US" dirty="0"/>
              <a:t> и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SFML. </a:t>
            </a:r>
            <a:r>
              <a:rPr lang="en-US" dirty="0" err="1"/>
              <a:t>Задаём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 и </a:t>
            </a:r>
            <a:r>
              <a:rPr lang="en-US" dirty="0" err="1"/>
              <a:t>цвет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обрабатываем</a:t>
            </a:r>
            <a:r>
              <a:rPr lang="en-US" dirty="0"/>
              <a:t> </a:t>
            </a:r>
            <a:r>
              <a:rPr lang="en-US" dirty="0" err="1"/>
              <a:t>поступившие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очередной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: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очищается</a:t>
            </a:r>
            <a:r>
              <a:rPr lang="en-US" dirty="0"/>
              <a:t>,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сформированный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проста</a:t>
            </a:r>
            <a:r>
              <a:rPr lang="en-US" dirty="0"/>
              <a:t>, и </a:t>
            </a:r>
            <a:r>
              <a:rPr lang="en-US" dirty="0" err="1"/>
              <a:t>представленное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 SOLID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с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</a:t>
            </a:r>
            <a:r>
              <a:rPr lang="en-US" dirty="0" err="1"/>
              <a:t>окружить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 KISS и YAGNI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действуют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усложнять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дадут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основания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9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существенная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никакого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проектировали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Это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SFML.</a:t>
            </a:r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.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похожих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SFML.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отказаться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научить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роль</a:t>
            </a:r>
            <a:r>
              <a:rPr lang="en-US" b="1" dirty="0"/>
              <a:t> </a:t>
            </a:r>
            <a:r>
              <a:rPr lang="en-US" b="1" dirty="0" err="1"/>
              <a:t>выполняет</a:t>
            </a:r>
            <a:r>
              <a:rPr lang="en-US" b="1" dirty="0"/>
              <a:t> </a:t>
            </a:r>
            <a:r>
              <a:rPr lang="en-US" b="1" dirty="0" err="1"/>
              <a:t>наш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 в </a:t>
            </a:r>
            <a:r>
              <a:rPr lang="en-US" b="1" dirty="0" err="1"/>
              <a:t>приложении</a:t>
            </a:r>
            <a:r>
              <a:rPr lang="en-US" b="1" dirty="0"/>
              <a:t> и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роль</a:t>
            </a:r>
            <a:r>
              <a:rPr lang="en-US" b="1" dirty="0"/>
              <a:t> </a:t>
            </a:r>
            <a:r>
              <a:rPr lang="en-US" b="1" dirty="0" err="1"/>
              <a:t>выполняет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—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ru-RU" b="1" dirty="0"/>
              <a:t>предметной области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41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остановились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SFML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Или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научить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осознанный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в </a:t>
            </a:r>
            <a:r>
              <a:rPr lang="en-US" dirty="0" err="1"/>
              <a:t>приложении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53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описания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Domain Model</a:t>
            </a:r>
            <a:endParaRPr lang="ru-RU" dirty="0"/>
          </a:p>
          <a:p>
            <a:r>
              <a:rPr lang="en-US" dirty="0"/>
              <a:t>.</a:t>
            </a:r>
          </a:p>
          <a:p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воображаемого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интернет-магазина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товары</a:t>
            </a:r>
            <a:r>
              <a:rPr lang="en-US" dirty="0"/>
              <a:t>, </a:t>
            </a:r>
            <a:r>
              <a:rPr lang="en-US" dirty="0" err="1"/>
              <a:t>заказы</a:t>
            </a:r>
            <a:r>
              <a:rPr lang="en-US" dirty="0"/>
              <a:t> и </a:t>
            </a:r>
            <a:r>
              <a:rPr lang="en-US" dirty="0" err="1"/>
              <a:t>корзины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банковского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dirty="0" err="1"/>
              <a:t>счета</a:t>
            </a:r>
            <a:r>
              <a:rPr lang="en-US" dirty="0"/>
              <a:t>, </a:t>
            </a:r>
            <a:r>
              <a:rPr lang="en-US" dirty="0" err="1"/>
              <a:t>переводы</a:t>
            </a:r>
            <a:r>
              <a:rPr lang="en-US" dirty="0"/>
              <a:t> и </a:t>
            </a:r>
            <a:r>
              <a:rPr lang="en-US" dirty="0" err="1"/>
              <a:t>платежи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и </a:t>
            </a:r>
            <a:r>
              <a:rPr lang="en-US" dirty="0" err="1"/>
              <a:t>составляющие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представляем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в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даём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дальнейшем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я </a:t>
            </a:r>
            <a:r>
              <a:rPr lang="en-US" dirty="0" err="1"/>
              <a:t>буду</a:t>
            </a:r>
            <a:r>
              <a:rPr lang="en-US" dirty="0"/>
              <a:t> </a:t>
            </a:r>
            <a:r>
              <a:rPr lang="en-US" dirty="0" err="1"/>
              <a:t>говорить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модель</a:t>
            </a:r>
            <a:r>
              <a:rPr lang="en-US" dirty="0"/>
              <a:t>», я </a:t>
            </a:r>
            <a:r>
              <a:rPr lang="en-US" dirty="0" err="1"/>
              <a:t>буду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в </a:t>
            </a:r>
            <a:r>
              <a:rPr lang="en-US" dirty="0" err="1"/>
              <a:t>виду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78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и </a:t>
            </a:r>
            <a:r>
              <a:rPr lang="en-US" dirty="0" err="1"/>
              <a:t>размеров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объектно-ориентированной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связанное</a:t>
            </a:r>
            <a:r>
              <a:rPr lang="en-US" dirty="0"/>
              <a:t> с </a:t>
            </a:r>
            <a:r>
              <a:rPr lang="en-US" dirty="0" err="1"/>
              <a:t>моделируемым</a:t>
            </a:r>
            <a:r>
              <a:rPr lang="en-US" dirty="0"/>
              <a:t> </a:t>
            </a:r>
            <a:r>
              <a:rPr lang="en-US" dirty="0" err="1"/>
              <a:t>понятием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выражает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— </a:t>
            </a:r>
            <a:r>
              <a:rPr lang="en-US" dirty="0" err="1"/>
              <a:t>вектор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SFML.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в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Domain Model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77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: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и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Справа</a:t>
            </a:r>
            <a:r>
              <a:rPr lang="en-US" dirty="0"/>
              <a:t> —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появившиеся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: </a:t>
            </a:r>
            <a:r>
              <a:rPr lang="en-US" dirty="0" err="1"/>
              <a:t>окно</a:t>
            </a:r>
            <a:r>
              <a:rPr lang="en-US" dirty="0"/>
              <a:t> SFML,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и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изменится</a:t>
            </a:r>
            <a:r>
              <a:rPr lang="en-US" b="1" dirty="0"/>
              <a:t>, </a:t>
            </a:r>
            <a:r>
              <a:rPr lang="en-US" b="1" dirty="0" err="1"/>
              <a:t>если</a:t>
            </a:r>
            <a:r>
              <a:rPr lang="en-US" b="1" dirty="0"/>
              <a:t> </a:t>
            </a:r>
            <a:r>
              <a:rPr lang="en-US" b="1" dirty="0" err="1"/>
              <a:t>вместо</a:t>
            </a:r>
            <a:r>
              <a:rPr lang="en-US" b="1" dirty="0"/>
              <a:t> SFML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возьмём</a:t>
            </a:r>
            <a:r>
              <a:rPr lang="en-US" b="1" dirty="0"/>
              <a:t> </a:t>
            </a:r>
            <a:r>
              <a:rPr lang="en-US" b="1" dirty="0" err="1"/>
              <a:t>другую</a:t>
            </a:r>
            <a:r>
              <a:rPr lang="en-US" b="1" dirty="0"/>
              <a:t> </a:t>
            </a:r>
            <a:r>
              <a:rPr lang="en-US" b="1" dirty="0" err="1"/>
              <a:t>графическую</a:t>
            </a:r>
            <a:r>
              <a:rPr lang="en-US" b="1" dirty="0"/>
              <a:t> </a:t>
            </a:r>
            <a:r>
              <a:rPr lang="en-US" b="1" dirty="0" err="1"/>
              <a:t>библиотеку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выводить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перемещением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принадлежность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геометрической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ru-RU" dirty="0"/>
              <a:t>Принцип Единственной 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требованиями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Код</a:t>
            </a:r>
            <a:r>
              <a:rPr lang="en-US" dirty="0"/>
              <a:t> SFML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технологией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и </a:t>
            </a:r>
            <a:r>
              <a:rPr lang="en-US" dirty="0" err="1"/>
              <a:t>ввода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о</a:t>
            </a:r>
            <a:r>
              <a:rPr lang="ru-RU" dirty="0"/>
              <a:t>б</a:t>
            </a:r>
            <a:r>
              <a:rPr lang="en-US" dirty="0"/>
              <a:t> SFML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нежелательно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SRP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SFML.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52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b="1" dirty="0"/>
              <a:t>Domain Model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представлениями</a:t>
            </a:r>
            <a:r>
              <a:rPr lang="en-US" dirty="0"/>
              <a:t>,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развитую</a:t>
            </a:r>
            <a:r>
              <a:rPr lang="en-US" dirty="0"/>
              <a:t> </a:t>
            </a:r>
            <a:r>
              <a:rPr lang="en-US" dirty="0" err="1"/>
              <a:t>версию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—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положением</a:t>
            </a:r>
            <a:r>
              <a:rPr lang="en-US" dirty="0"/>
              <a:t>, </a:t>
            </a:r>
            <a:r>
              <a:rPr lang="en-US" dirty="0" err="1"/>
              <a:t>размером</a:t>
            </a:r>
            <a:r>
              <a:rPr lang="en-US" dirty="0"/>
              <a:t> и </a:t>
            </a:r>
            <a:r>
              <a:rPr lang="en-US" dirty="0" err="1"/>
              <a:t>цветом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дополнительными</a:t>
            </a:r>
            <a:r>
              <a:rPr lang="en-US" dirty="0"/>
              <a:t> </a:t>
            </a:r>
            <a:r>
              <a:rPr lang="en-US" dirty="0" err="1"/>
              <a:t>характеристиками</a:t>
            </a:r>
            <a:r>
              <a:rPr lang="en-US" dirty="0"/>
              <a:t>: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,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исчезновения</a:t>
            </a:r>
            <a:r>
              <a:rPr lang="en-US" dirty="0"/>
              <a:t> и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b="1" dirty="0"/>
              <a:t>z-order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сохраним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откроем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ru-RU" b="0" dirty="0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b="1" dirty="0" err="1"/>
              <a:t>два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и </a:t>
            </a:r>
            <a:r>
              <a:rPr lang="en-US" b="1" dirty="0" err="1"/>
              <a:t>той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dirty="0"/>
              <a:t>.</a:t>
            </a:r>
          </a:p>
          <a:p>
            <a:r>
              <a:rPr lang="en-US" dirty="0" err="1"/>
              <a:t>Верхняя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/>
              <a:t>Canvas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В </a:t>
            </a:r>
            <a:r>
              <a:rPr lang="en-US" dirty="0" err="1"/>
              <a:t>рассматриваемый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 </a:t>
            </a:r>
            <a:r>
              <a:rPr lang="en-US" dirty="0" err="1"/>
              <a:t>видны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: </a:t>
            </a:r>
            <a:r>
              <a:rPr lang="en-US" dirty="0" err="1"/>
              <a:t>красный</a:t>
            </a:r>
            <a:r>
              <a:rPr lang="en-US" dirty="0"/>
              <a:t> oval, </a:t>
            </a:r>
            <a:r>
              <a:rPr lang="en-US" dirty="0" err="1"/>
              <a:t>оранжевый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синий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.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b="1" dirty="0"/>
              <a:t>oval</a:t>
            </a:r>
            <a:r>
              <a:rPr lang="en-US" dirty="0"/>
              <a:t>,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b="1" dirty="0" err="1"/>
              <a:t>оранжевый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dirty="0"/>
              <a:t>, а </a:t>
            </a:r>
            <a:r>
              <a:rPr lang="en-US" dirty="0" err="1"/>
              <a:t>ближе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к </a:t>
            </a:r>
            <a:r>
              <a:rPr lang="en-US" dirty="0" err="1"/>
              <a:t>зрителю</a:t>
            </a:r>
            <a:r>
              <a:rPr lang="en-US" dirty="0"/>
              <a:t> — </a:t>
            </a:r>
            <a:r>
              <a:rPr lang="en-US" b="1" dirty="0" err="1"/>
              <a:t>синий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Нижняя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/>
              <a:t>Timeline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а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b="1" dirty="0" err="1"/>
              <a:t>каково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положение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глубине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дорожки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 </a:t>
            </a:r>
            <a:r>
              <a:rPr lang="en-US" dirty="0" err="1"/>
              <a:t>расположены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 err="1"/>
              <a:t>внизу</a:t>
            </a:r>
            <a:r>
              <a:rPr lang="en-US" b="1" dirty="0"/>
              <a:t> </a:t>
            </a:r>
            <a:r>
              <a:rPr lang="en-US" b="1" dirty="0" err="1"/>
              <a:t>находятся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дальние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, а </a:t>
            </a:r>
            <a:r>
              <a:rPr lang="en-US" b="1" dirty="0" err="1"/>
              <a:t>сверху</a:t>
            </a:r>
            <a:r>
              <a:rPr lang="en-US" b="1" dirty="0"/>
              <a:t> —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близкие</a:t>
            </a:r>
            <a:r>
              <a:rPr lang="en-US" b="1" dirty="0"/>
              <a:t> к </a:t>
            </a:r>
            <a:r>
              <a:rPr lang="en-US" b="1" dirty="0" err="1"/>
              <a:t>зрителю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отразить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z-order,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.</a:t>
            </a:r>
          </a:p>
          <a:p>
            <a:r>
              <a:rPr lang="en-US" dirty="0" err="1"/>
              <a:t>Вертикальная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b="1" dirty="0" err="1"/>
              <a:t>текущий</a:t>
            </a:r>
            <a:r>
              <a:rPr lang="en-US" b="1" dirty="0"/>
              <a:t> </a:t>
            </a:r>
            <a:r>
              <a:rPr lang="en-US" b="1" dirty="0" err="1"/>
              <a:t>момент</a:t>
            </a:r>
            <a:r>
              <a:rPr lang="en-US" b="1" dirty="0"/>
              <a:t> </a:t>
            </a:r>
            <a:r>
              <a:rPr lang="en-US" b="1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видны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зелёный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Canvas и Timeline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источниками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b="1" dirty="0" err="1"/>
              <a:t>одну</a:t>
            </a:r>
            <a:r>
              <a:rPr lang="en-US" b="1" dirty="0"/>
              <a:t> и </a:t>
            </a:r>
            <a:r>
              <a:rPr lang="en-US" b="1" dirty="0" err="1"/>
              <a:t>ту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Domain Model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Canvas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пространственную</a:t>
            </a:r>
            <a:r>
              <a:rPr lang="en-US" dirty="0"/>
              <a:t> </a:t>
            </a:r>
            <a:r>
              <a:rPr lang="en-US" dirty="0" err="1"/>
              <a:t>картину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в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/>
              <a:t>Timeline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временную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и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и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подчеркнуть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:</a:t>
            </a:r>
          </a:p>
          <a:p>
            <a:r>
              <a:rPr lang="en-US" b="1" dirty="0" err="1"/>
              <a:t>Одна</a:t>
            </a:r>
            <a:r>
              <a:rPr lang="en-US" b="1" dirty="0"/>
              <a:t> и </a:t>
            </a:r>
            <a:r>
              <a:rPr lang="en-US" b="1" dirty="0" err="1"/>
              <a:t>та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иметь</a:t>
            </a:r>
            <a:r>
              <a:rPr lang="en-US" b="1" dirty="0"/>
              <a:t> </a:t>
            </a:r>
            <a:r>
              <a:rPr lang="en-US" b="1" dirty="0" err="1"/>
              <a:t>несколько</a:t>
            </a:r>
            <a:r>
              <a:rPr lang="en-US" b="1" dirty="0"/>
              <a:t> </a:t>
            </a:r>
            <a:r>
              <a:rPr lang="en-US" b="1" dirty="0" err="1"/>
              <a:t>различных</a:t>
            </a:r>
            <a:r>
              <a:rPr lang="en-US" b="1" dirty="0"/>
              <a:t> </a:t>
            </a:r>
            <a:r>
              <a:rPr lang="en-US" b="1" dirty="0" err="1"/>
              <a:t>представлений</a:t>
            </a:r>
            <a:r>
              <a:rPr lang="en-US" b="1" dirty="0"/>
              <a:t>, </a:t>
            </a:r>
            <a:r>
              <a:rPr lang="en-US" b="1" dirty="0" err="1"/>
              <a:t>каждое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которых</a:t>
            </a:r>
            <a:r>
              <a:rPr lang="en-US" b="1" dirty="0"/>
              <a:t> </a:t>
            </a:r>
            <a:r>
              <a:rPr lang="en-US" b="1" dirty="0" err="1"/>
              <a:t>показывает</a:t>
            </a:r>
            <a:r>
              <a:rPr lang="en-US" b="1" dirty="0"/>
              <a:t> </a:t>
            </a:r>
            <a:r>
              <a:rPr lang="en-US" b="1" dirty="0" err="1"/>
              <a:t>пользователю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нужный</a:t>
            </a:r>
            <a:r>
              <a:rPr lang="en-US" b="1" dirty="0"/>
              <a:t> </a:t>
            </a:r>
            <a:r>
              <a:rPr lang="en-US" b="1" dirty="0" err="1"/>
              <a:t>аспект</a:t>
            </a:r>
            <a:r>
              <a:rPr lang="en-US" b="1" dirty="0"/>
              <a:t>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построить</a:t>
            </a:r>
            <a:r>
              <a:rPr lang="en-US" b="1" dirty="0"/>
              <a:t> </a:t>
            </a:r>
            <a:r>
              <a:rPr lang="en-US" b="1" dirty="0" err="1"/>
              <a:t>графическое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b="1" dirty="0"/>
              <a:t> </a:t>
            </a:r>
            <a:r>
              <a:rPr lang="en-US" b="1" dirty="0" err="1"/>
              <a:t>нашей</a:t>
            </a:r>
            <a:r>
              <a:rPr lang="en-US" b="1" dirty="0"/>
              <a:t> Domain Model </a:t>
            </a:r>
            <a:r>
              <a:rPr lang="en-US" b="1" dirty="0" err="1"/>
              <a:t>средствами</a:t>
            </a:r>
            <a:r>
              <a:rPr lang="en-US" b="1" dirty="0"/>
              <a:t> SFML,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смешивая</a:t>
            </a:r>
            <a:r>
              <a:rPr lang="en-US" b="1" dirty="0"/>
              <a:t> </a:t>
            </a:r>
            <a:r>
              <a:rPr lang="en-US" b="1" dirty="0" err="1"/>
              <a:t>саму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с </a:t>
            </a:r>
            <a:r>
              <a:rPr lang="en-US" b="1" dirty="0" err="1"/>
              <a:t>кодом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отображения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33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договорились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разумное</a:t>
            </a:r>
            <a:r>
              <a:rPr lang="en-US" dirty="0"/>
              <a:t> </a:t>
            </a:r>
            <a:r>
              <a:rPr lang="en-US" dirty="0" err="1"/>
              <a:t>возражение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.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window.draw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SFML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собственного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привлекательным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отвергать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какие-то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слои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b="1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0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совпадение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совпадения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прямоугольные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операциях</a:t>
            </a:r>
            <a:r>
              <a:rPr lang="en-US" dirty="0"/>
              <a:t>, </a:t>
            </a:r>
            <a:r>
              <a:rPr lang="en-US" dirty="0" err="1"/>
              <a:t>имеющих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. Это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SFML, </a:t>
            </a:r>
            <a:r>
              <a:rPr lang="en-US" dirty="0" err="1"/>
              <a:t>предназначенный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написали</a:t>
            </a:r>
            <a:r>
              <a:rPr lang="en-US" dirty="0"/>
              <a:t> </a:t>
            </a:r>
            <a:r>
              <a:rPr lang="en-US" dirty="0" err="1"/>
              <a:t>утилиту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,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? </a:t>
            </a:r>
            <a:r>
              <a:rPr lang="en-US" dirty="0" err="1"/>
              <a:t>Да</a:t>
            </a:r>
            <a:r>
              <a:rPr lang="en-US" dirty="0"/>
              <a:t>.</a:t>
            </a:r>
          </a:p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?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описывать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частям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84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Пока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привлекательным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ru-RU" dirty="0"/>
              <a:t>ещё помним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ru-RU" dirty="0"/>
              <a:t> из прошлых лекций</a:t>
            </a:r>
            <a:r>
              <a:rPr lang="en-US" dirty="0"/>
              <a:t>. 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естественных</a:t>
            </a:r>
            <a:r>
              <a:rPr lang="en-US" dirty="0"/>
              <a:t> </a:t>
            </a:r>
            <a:r>
              <a:rPr lang="en-US" dirty="0" err="1"/>
              <a:t>осей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ближайший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: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SFML,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в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полиморфно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Domain Model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определяться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типов</a:t>
            </a:r>
            <a:r>
              <a:rPr lang="en-US" b="1" dirty="0"/>
              <a:t> </a:t>
            </a:r>
            <a:r>
              <a:rPr lang="en-US" b="1" dirty="0" err="1"/>
              <a:t>выбрала</a:t>
            </a:r>
            <a:r>
              <a:rPr lang="en-US" b="1" dirty="0"/>
              <a:t> </a:t>
            </a:r>
            <a:r>
              <a:rPr lang="en-US" b="1" dirty="0" err="1"/>
              <a:t>графическая</a:t>
            </a:r>
            <a:r>
              <a:rPr lang="en-US" b="1" dirty="0"/>
              <a:t> </a:t>
            </a:r>
            <a:r>
              <a:rPr lang="en-US" b="1" dirty="0" err="1"/>
              <a:t>библиотека</a:t>
            </a:r>
            <a:r>
              <a:rPr lang="en-US" dirty="0"/>
              <a:t>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—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определялась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добавлялись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ухудшаем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характеристику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выноска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облачка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: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, </a:t>
            </a:r>
            <a:r>
              <a:rPr lang="en-US" dirty="0" err="1"/>
              <a:t>переместить</a:t>
            </a:r>
            <a:r>
              <a:rPr lang="en-US" dirty="0"/>
              <a:t>, </a:t>
            </a:r>
            <a:r>
              <a:rPr lang="en-US" dirty="0" err="1"/>
              <a:t>удалить</a:t>
            </a:r>
            <a:r>
              <a:rPr lang="en-US" dirty="0"/>
              <a:t>,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текст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собираться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примитивов</a:t>
            </a:r>
            <a:r>
              <a:rPr lang="en-US" dirty="0"/>
              <a:t>: </a:t>
            </a:r>
            <a:r>
              <a:rPr lang="en-US" dirty="0" err="1"/>
              <a:t>основного</a:t>
            </a:r>
            <a:r>
              <a:rPr lang="en-US" dirty="0"/>
              <a:t> </a:t>
            </a:r>
            <a:r>
              <a:rPr lang="en-US" dirty="0" err="1"/>
              <a:t>тела</a:t>
            </a:r>
            <a:r>
              <a:rPr lang="en-US" dirty="0"/>
              <a:t>, </a:t>
            </a:r>
            <a:r>
              <a:rPr lang="en-US" dirty="0" err="1"/>
              <a:t>хвоста</a:t>
            </a:r>
            <a:r>
              <a:rPr lang="en-US" dirty="0"/>
              <a:t>, </a:t>
            </a:r>
            <a:r>
              <a:rPr lang="en-US" dirty="0" err="1"/>
              <a:t>контура</a:t>
            </a:r>
            <a:r>
              <a:rPr lang="en-US" dirty="0"/>
              <a:t> и </a:t>
            </a:r>
            <a:r>
              <a:rPr lang="en-US" dirty="0" err="1"/>
              <a:t>текста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соответствие</a:t>
            </a:r>
            <a:r>
              <a:rPr lang="ru-RU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 ↔ 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,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частный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b="1" dirty="0"/>
              <a:t> и </a:t>
            </a:r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графического</a:t>
            </a:r>
            <a:r>
              <a:rPr lang="en-US" b="1" dirty="0"/>
              <a:t> </a:t>
            </a:r>
            <a:r>
              <a:rPr lang="en-US" b="1" dirty="0" err="1"/>
              <a:t>примитива</a:t>
            </a:r>
            <a:r>
              <a:rPr lang="en-US" b="1" dirty="0"/>
              <a:t> </a:t>
            </a:r>
            <a:r>
              <a:rPr lang="en-US" b="1" dirty="0" err="1"/>
              <a:t>решают</a:t>
            </a:r>
            <a:r>
              <a:rPr lang="en-US" b="1" dirty="0"/>
              <a:t>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задачи</a:t>
            </a:r>
            <a:r>
              <a:rPr lang="en-US" b="1" dirty="0"/>
              <a:t> и </a:t>
            </a:r>
            <a:r>
              <a:rPr lang="en-US" b="1" dirty="0" err="1"/>
              <a:t>могут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.</a:t>
            </a:r>
            <a:endParaRPr lang="ru-RU" b="1" dirty="0"/>
          </a:p>
          <a:p>
            <a:endParaRPr lang="ru-RU" b="1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поддержать</a:t>
            </a:r>
            <a:r>
              <a:rPr lang="en-US" dirty="0"/>
              <a:t> </a:t>
            </a:r>
            <a:r>
              <a:rPr lang="en-US" dirty="0" err="1"/>
              <a:t>неизвестные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ближайшее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, а </a:t>
            </a:r>
            <a:r>
              <a:rPr lang="en-US" dirty="0" err="1"/>
              <a:t>расширяемость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свойством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проверяем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фантастическое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, а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05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 </a:t>
            </a:r>
            <a:r>
              <a:rPr lang="en-US" dirty="0" err="1"/>
              <a:t>технически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наследоваться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архитектурное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: </a:t>
            </a:r>
            <a:r>
              <a:rPr lang="en-US" b="1" dirty="0"/>
              <a:t>Domain Model </a:t>
            </a:r>
            <a:r>
              <a:rPr lang="en-US" b="1" dirty="0" err="1"/>
              <a:t>стала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SFML</a:t>
            </a:r>
            <a:r>
              <a:rPr lang="en-US" dirty="0"/>
              <a:t>.</a:t>
            </a:r>
          </a:p>
          <a:p>
            <a:r>
              <a:rPr lang="en-US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представляющий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используемая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API,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знакомая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b="1" dirty="0"/>
              <a:t>SRP</a:t>
            </a:r>
            <a:r>
              <a:rPr lang="en-US" dirty="0"/>
              <a:t>: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компоненте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дело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сторонней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запрещена</a:t>
            </a:r>
            <a:r>
              <a:rPr lang="en-US" dirty="0"/>
              <a:t>. </a:t>
            </a:r>
            <a:r>
              <a:rPr lang="en-US" dirty="0" err="1"/>
              <a:t>Вопрос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заставляем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предметную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детали</a:t>
            </a:r>
            <a:r>
              <a:rPr lang="en-US" b="1" dirty="0"/>
              <a:t>, </a:t>
            </a:r>
            <a:r>
              <a:rPr lang="en-US" b="1" dirty="0" err="1"/>
              <a:t>которая</a:t>
            </a:r>
            <a:r>
              <a:rPr lang="en-US" b="1" dirty="0"/>
              <a:t> </a:t>
            </a:r>
            <a:r>
              <a:rPr lang="en-US" b="1" dirty="0" err="1"/>
              <a:t>ей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b="1" dirty="0"/>
              <a:t> </a:t>
            </a:r>
            <a:r>
              <a:rPr lang="en-US" b="1" dirty="0" err="1"/>
              <a:t>своих</a:t>
            </a:r>
            <a:r>
              <a:rPr lang="en-US" b="1" dirty="0"/>
              <a:t> </a:t>
            </a:r>
            <a:r>
              <a:rPr lang="en-US" b="1" dirty="0" err="1"/>
              <a:t>задач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нужна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мысли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b="1" dirty="0"/>
              <a:t>DIP</a:t>
            </a:r>
            <a:r>
              <a:rPr lang="en-US" dirty="0"/>
              <a:t>: </a:t>
            </a:r>
            <a:r>
              <a:rPr lang="en-US" dirty="0" err="1"/>
              <a:t>высокоуровневая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определяться</a:t>
            </a:r>
            <a:r>
              <a:rPr lang="en-US" dirty="0"/>
              <a:t> </a:t>
            </a:r>
            <a:r>
              <a:rPr lang="en-US" dirty="0" err="1"/>
              <a:t>низкоуровневыми</a:t>
            </a:r>
            <a:r>
              <a:rPr lang="en-US" dirty="0"/>
              <a:t> </a:t>
            </a:r>
            <a:r>
              <a:rPr lang="en-US" dirty="0" err="1"/>
              <a:t>техническими</a:t>
            </a:r>
            <a:r>
              <a:rPr lang="en-US" dirty="0"/>
              <a:t> </a:t>
            </a:r>
            <a:r>
              <a:rPr lang="en-US" dirty="0" err="1"/>
              <a:t>деталями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срочно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необходима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2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SFML </a:t>
            </a:r>
            <a:r>
              <a:rPr lang="en-US" dirty="0" err="1"/>
              <a:t>внутрь</a:t>
            </a:r>
            <a:r>
              <a:rPr lang="en-US" dirty="0"/>
              <a:t>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решена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встретиться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содержащий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предметные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SFML,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 и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неизбежно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b="1" dirty="0"/>
              <a:t>и о Domain Model, и </a:t>
            </a:r>
            <a:r>
              <a:rPr lang="en-US" b="1" dirty="0" err="1"/>
              <a:t>об</a:t>
            </a:r>
            <a:r>
              <a:rPr lang="en-US" b="1" dirty="0"/>
              <a:t> SFML</a:t>
            </a:r>
            <a:r>
              <a:rPr lang="en-US" dirty="0"/>
              <a:t>.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устранить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, а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разместить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Domain Model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проектной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:</a:t>
            </a:r>
          </a:p>
          <a:p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находиться</a:t>
            </a:r>
            <a:r>
              <a:rPr lang="en-US" b="1" dirty="0"/>
              <a:t> </a:t>
            </a:r>
            <a:r>
              <a:rPr lang="en-US" b="1" dirty="0" err="1"/>
              <a:t>логика</a:t>
            </a:r>
            <a:r>
              <a:rPr lang="en-US" b="1" dirty="0"/>
              <a:t>, </a:t>
            </a:r>
            <a:r>
              <a:rPr lang="en-US" b="1" dirty="0" err="1"/>
              <a:t>которая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 </a:t>
            </a:r>
            <a:r>
              <a:rPr lang="en-US" b="1" dirty="0" err="1"/>
              <a:t>средствами</a:t>
            </a:r>
            <a:r>
              <a:rPr lang="en-US" b="1" dirty="0"/>
              <a:t>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графической</a:t>
            </a:r>
            <a:r>
              <a:rPr lang="en-US" b="1" dirty="0"/>
              <a:t> </a:t>
            </a:r>
            <a:r>
              <a:rPr lang="en-US" b="1" dirty="0" err="1"/>
              <a:t>библиотеки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отрисовывать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?»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вопроса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какой</a:t>
            </a:r>
            <a:r>
              <a:rPr lang="en-US" b="1" dirty="0"/>
              <a:t> </a:t>
            </a:r>
            <a:r>
              <a:rPr lang="en-US" b="1" dirty="0" err="1"/>
              <a:t>технологией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будет</a:t>
            </a:r>
            <a:r>
              <a:rPr lang="en-US" b="1" dirty="0"/>
              <a:t> </a:t>
            </a:r>
            <a:r>
              <a:rPr lang="en-US" b="1" dirty="0" err="1"/>
              <a:t>нарисовано</a:t>
            </a:r>
            <a:r>
              <a:rPr lang="en-US" b="1" dirty="0"/>
              <a:t>?»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о PDF,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SVG,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SFML.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абстрактному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, а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Open/Closed Principle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SFML,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SfmlCanvas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меняя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и </a:t>
            </a:r>
            <a:r>
              <a:rPr lang="en-US" dirty="0" err="1"/>
              <a:t>идею</a:t>
            </a:r>
            <a:r>
              <a:rPr lang="en-US" dirty="0"/>
              <a:t> Dependency Inversion Principle: </a:t>
            </a:r>
            <a:r>
              <a:rPr lang="en-US" dirty="0" err="1"/>
              <a:t>высокоуровневый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оконного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очевидно</a:t>
            </a:r>
            <a:r>
              <a:rPr lang="en-US" dirty="0"/>
              <a:t>: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SFML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пользоваться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о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знали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5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линзу</a:t>
            </a:r>
            <a:r>
              <a:rPr lang="en-US" dirty="0"/>
              <a:t> SOLID — Single Responsibility Principle</a:t>
            </a:r>
            <a:endParaRPr lang="ru-RU" dirty="0"/>
          </a:p>
          <a:p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. </a:t>
            </a:r>
            <a:r>
              <a:rPr lang="en-US" dirty="0" err="1"/>
              <a:t>Прямоугольную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 Это </a:t>
            </a:r>
            <a:r>
              <a:rPr lang="en-US" dirty="0" err="1"/>
              <a:t>вопрос</a:t>
            </a:r>
            <a:r>
              <a:rPr lang="en-US" dirty="0"/>
              <a:t> о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: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прямоугольником</a:t>
            </a:r>
            <a:r>
              <a:rPr lang="en-US" dirty="0"/>
              <a:t>, а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заметить</a:t>
            </a:r>
            <a:r>
              <a:rPr lang="en-US" dirty="0"/>
              <a:t>: </a:t>
            </a:r>
            <a:r>
              <a:rPr lang="en-US" dirty="0" err="1"/>
              <a:t>введение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решило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устранило</a:t>
            </a:r>
            <a:r>
              <a:rPr lang="en-US" b="1" dirty="0"/>
              <a:t> </a:t>
            </a:r>
            <a:r>
              <a:rPr lang="en-US" b="1" dirty="0" err="1"/>
              <a:t>саму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dirty="0"/>
              <a:t>.</a:t>
            </a:r>
          </a:p>
          <a:p>
            <a:r>
              <a:rPr lang="en-US" dirty="0"/>
              <a:t>Domain Model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предполагается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SFML, а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представлении</a:t>
            </a:r>
            <a:r>
              <a:rPr lang="en-US" dirty="0"/>
              <a:t>?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ru-RU" dirty="0"/>
              <a:t>принцип единственной ответственности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2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заметным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с </a:t>
            </a:r>
            <a:r>
              <a:rPr lang="en-US" dirty="0" err="1"/>
              <a:t>анимационным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одной</a:t>
            </a:r>
            <a:r>
              <a:rPr lang="en-US" dirty="0"/>
              <a:t> Domain Model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Canvas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в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Timeline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существования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Rectangle::Draw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Canvas»,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заложили</a:t>
            </a:r>
            <a:r>
              <a:rPr lang="en-US" dirty="0"/>
              <a:t> в Domain Model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,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</a:t>
            </a:r>
            <a:r>
              <a:rPr lang="en-US" dirty="0" err="1"/>
              <a:t>дальнейшее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DrawOnCanvas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DrawOnTimeline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DrawInPreview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в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прежнее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оптимизировано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делал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b="1" dirty="0" err="1"/>
              <a:t>технологии</a:t>
            </a:r>
            <a:r>
              <a:rPr lang="en-US" b="1" dirty="0"/>
              <a:t> </a:t>
            </a:r>
            <a:r>
              <a:rPr lang="en-US" b="1" dirty="0" err="1"/>
              <a:t>рисования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крупная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предметная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отдельно</a:t>
            </a:r>
            <a:r>
              <a:rPr lang="en-US" b="1" dirty="0"/>
              <a:t>,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b="1" dirty="0"/>
              <a:t> </a:t>
            </a:r>
            <a:r>
              <a:rPr lang="en-US" b="1" dirty="0" err="1"/>
              <a:t>отдельно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 </a:t>
            </a:r>
            <a:r>
              <a:rPr lang="en-US" dirty="0" err="1"/>
              <a:t>наружу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71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Перенесём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Domain Model,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и </a:t>
            </a:r>
            <a:r>
              <a:rPr lang="en-US" dirty="0" err="1"/>
              <a:t>об</a:t>
            </a:r>
            <a:r>
              <a:rPr lang="en-US" dirty="0"/>
              <a:t> SFML,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графическое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Domain Model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о </a:t>
            </a:r>
            <a:r>
              <a:rPr lang="en-US" dirty="0" err="1"/>
              <a:t>существовании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и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формального</a:t>
            </a:r>
            <a:r>
              <a:rPr lang="en-US" dirty="0"/>
              <a:t> </a:t>
            </a:r>
            <a:r>
              <a:rPr lang="en-US" dirty="0" err="1"/>
              <a:t>соблюдения</a:t>
            </a:r>
            <a:r>
              <a:rPr lang="en-US" dirty="0"/>
              <a:t> DIP.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принципом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принять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</a:t>
            </a:r>
            <a:r>
              <a:rPr lang="en-US" dirty="0" err="1"/>
              <a:t>является</a:t>
            </a:r>
            <a:r>
              <a:rPr lang="en-US" dirty="0"/>
              <a:t> SRP: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и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80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проста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SFML.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Renderer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с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очевидный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другую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приемлемо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обратим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Domain Model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открывать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Через</a:t>
            </a:r>
            <a:r>
              <a:rPr lang="en-US" dirty="0"/>
              <a:t> OCP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противоположную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 </a:t>
            </a:r>
            <a:r>
              <a:rPr lang="en-US" dirty="0" err="1"/>
              <a:t>компромисса</a:t>
            </a:r>
            <a:r>
              <a:rPr lang="en-US" dirty="0"/>
              <a:t>.</a:t>
            </a:r>
          </a:p>
          <a:p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Shape::Draw(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&amp;)</a:t>
            </a:r>
            <a:r>
              <a:rPr lang="en-US" dirty="0"/>
              <a:t> </a:t>
            </a:r>
            <a:r>
              <a:rPr lang="en-US" dirty="0" err="1"/>
              <a:t>позволяло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: </a:t>
            </a:r>
            <a:r>
              <a:rPr lang="en-US" dirty="0" err="1"/>
              <a:t>полиморфная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переноса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Domain Model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изолирована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переместилась</a:t>
            </a:r>
            <a:r>
              <a:rPr lang="en-US" dirty="0"/>
              <a:t> в </a:t>
            </a:r>
            <a:r>
              <a:rPr lang="en-US" dirty="0" err="1"/>
              <a:t>DrawingRenderer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категориях</a:t>
            </a:r>
            <a:r>
              <a:rPr lang="en-US" dirty="0"/>
              <a:t> «</a:t>
            </a:r>
            <a:r>
              <a:rPr lang="en-US" dirty="0" err="1"/>
              <a:t>правильно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неправильно</a:t>
            </a:r>
            <a:r>
              <a:rPr lang="en-US" dirty="0"/>
              <a:t>», 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сделали</a:t>
            </a:r>
            <a:r>
              <a:rPr lang="en-US" b="1" dirty="0"/>
              <a:t> </a:t>
            </a:r>
            <a:r>
              <a:rPr lang="en-US" b="1" dirty="0" err="1"/>
              <a:t>дешевле</a:t>
            </a:r>
            <a:r>
              <a:rPr lang="en-US" b="1" dirty="0"/>
              <a:t>, а </a:t>
            </a:r>
            <a:r>
              <a:rPr lang="en-US" b="1" dirty="0" err="1"/>
              <a:t>какие</a:t>
            </a:r>
            <a:r>
              <a:rPr lang="en-US" b="1" dirty="0"/>
              <a:t> — </a:t>
            </a:r>
            <a:r>
              <a:rPr lang="en-US" b="1" dirty="0" err="1"/>
              <a:t>дороже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чёткую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Domain Model и </a:t>
            </a:r>
            <a:r>
              <a:rPr lang="en-US" dirty="0" err="1"/>
              <a:t>представлением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превращался</a:t>
            </a:r>
            <a:r>
              <a:rPr lang="en-US" dirty="0"/>
              <a:t> в </a:t>
            </a:r>
            <a:r>
              <a:rPr lang="en-US" dirty="0" err="1"/>
              <a:t>бесконечную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: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устраняет</a:t>
            </a:r>
            <a:r>
              <a:rPr lang="en-US" b="1" dirty="0"/>
              <a:t> </a:t>
            </a:r>
            <a:r>
              <a:rPr lang="en-US" b="1" dirty="0" err="1"/>
              <a:t>сложность</a:t>
            </a:r>
            <a:r>
              <a:rPr lang="en-US" b="1" dirty="0"/>
              <a:t> и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—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определяет</a:t>
            </a:r>
            <a:r>
              <a:rPr lang="en-US" b="1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будет</a:t>
            </a:r>
            <a:r>
              <a:rPr lang="en-US" b="1" dirty="0"/>
              <a:t> </a:t>
            </a:r>
            <a:r>
              <a:rPr lang="en-US" b="1" dirty="0" err="1"/>
              <a:t>находиться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68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умело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щелчке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,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особым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с </a:t>
            </a:r>
            <a:r>
              <a:rPr lang="en-US" dirty="0" err="1"/>
              <a:t>рамкой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ограничимся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выбором</a:t>
            </a:r>
            <a:r>
              <a:rPr lang="en-US" dirty="0"/>
              <a:t>. </a:t>
            </a:r>
            <a:r>
              <a:rPr lang="en-US" dirty="0" err="1"/>
              <a:t>Перетаскивание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 </a:t>
            </a:r>
            <a:r>
              <a:rPr lang="en-US" dirty="0" err="1"/>
              <a:t>нажали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о </a:t>
            </a:r>
            <a:r>
              <a:rPr lang="en-US" dirty="0" err="1"/>
              <a:t>действиях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щёлкает</a:t>
            </a:r>
            <a:r>
              <a:rPr lang="en-US" dirty="0"/>
              <a:t>,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Domain Model.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событие</a:t>
            </a:r>
            <a:r>
              <a:rPr lang="en-US" b="1" dirty="0"/>
              <a:t> </a:t>
            </a:r>
            <a:r>
              <a:rPr lang="en-US" b="1" dirty="0" err="1"/>
              <a:t>графической</a:t>
            </a:r>
            <a:r>
              <a:rPr lang="en-US" b="1" dirty="0"/>
              <a:t> </a:t>
            </a:r>
            <a:r>
              <a:rPr lang="en-US" b="1" dirty="0" err="1"/>
              <a:t>библиотеки</a:t>
            </a:r>
            <a:r>
              <a:rPr lang="en-US" b="1" dirty="0"/>
              <a:t> </a:t>
            </a:r>
            <a:r>
              <a:rPr lang="en-US" b="1" dirty="0" err="1"/>
              <a:t>превратить</a:t>
            </a:r>
            <a:r>
              <a:rPr lang="en-US" b="1" dirty="0"/>
              <a:t> в </a:t>
            </a:r>
            <a:r>
              <a:rPr lang="en-US" b="1" dirty="0" err="1"/>
              <a:t>осмысленное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b="1" dirty="0"/>
              <a:t> </a:t>
            </a:r>
            <a:r>
              <a:rPr lang="en-US" b="1" dirty="0" err="1"/>
              <a:t>над</a:t>
            </a:r>
            <a:r>
              <a:rPr lang="en-US" b="1" dirty="0"/>
              <a:t> </a:t>
            </a:r>
            <a:r>
              <a:rPr lang="en-US" b="1" dirty="0" err="1"/>
              <a:t>моделью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72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и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о </a:t>
            </a:r>
            <a:r>
              <a:rPr lang="en-US" dirty="0" err="1"/>
              <a:t>понятии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SFML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в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предметный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указал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SFML в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ToPoint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(sf::Vector2i position)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&lt;double&gt;(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position.x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&lt;double&gt;(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position.y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масштабирование</a:t>
            </a:r>
            <a:r>
              <a:rPr lang="en-US" dirty="0"/>
              <a:t>, </a:t>
            </a:r>
            <a:r>
              <a:rPr lang="en-US" dirty="0" err="1"/>
              <a:t>прокрутка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камера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содержательнее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имея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, </a:t>
            </a:r>
            <a:r>
              <a:rPr lang="en-US" dirty="0" err="1"/>
              <a:t>находящийся</a:t>
            </a:r>
            <a:r>
              <a:rPr lang="en-US" dirty="0"/>
              <a:t> в </a:t>
            </a:r>
            <a:r>
              <a:rPr lang="en-US" dirty="0" err="1"/>
              <a:t>ней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62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цикле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храним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MouseButtonPressed</a:t>
            </a:r>
            <a:r>
              <a:rPr lang="en-US" dirty="0"/>
              <a:t>, </a:t>
            </a:r>
            <a:r>
              <a:rPr lang="en-US" dirty="0" err="1"/>
              <a:t>преобразуем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 и </a:t>
            </a:r>
            <a:r>
              <a:rPr lang="en-US" dirty="0" err="1"/>
              <a:t>просим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.</a:t>
            </a:r>
          </a:p>
          <a:p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Renderer'у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рамку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InputController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SelectionManager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</a:p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небольшим</a:t>
            </a:r>
            <a:r>
              <a:rPr lang="en-US" dirty="0"/>
              <a:t>,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KISS и YAGNI.</a:t>
            </a:r>
          </a:p>
          <a:p>
            <a:endParaRPr lang="en-US" dirty="0"/>
          </a:p>
          <a:p>
            <a:r>
              <a:rPr lang="en-US" dirty="0"/>
              <a:t>SOLID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превращать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возникло</a:t>
            </a:r>
            <a:r>
              <a:rPr lang="en-US" dirty="0"/>
              <a:t> </a:t>
            </a:r>
            <a:r>
              <a:rPr lang="en-US" dirty="0" err="1"/>
              <a:t>нечто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,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50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MouseButtonPressed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недолго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обработали</a:t>
            </a:r>
            <a:r>
              <a:rPr lang="en-US" dirty="0"/>
              <a:t> и </a:t>
            </a:r>
            <a:r>
              <a:rPr lang="en-US" dirty="0" err="1"/>
              <a:t>перешли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щелчка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у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с </a:t>
            </a:r>
            <a:r>
              <a:rPr lang="en-US" b="1" dirty="0" err="1"/>
              <a:t>этим</a:t>
            </a:r>
            <a:r>
              <a:rPr lang="en-US" b="1" dirty="0"/>
              <a:t> </a:t>
            </a:r>
            <a:r>
              <a:rPr lang="en-US" b="1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Canvas.</a:t>
            </a:r>
          </a:p>
          <a:p>
            <a:endParaRPr lang="ru-RU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развитый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Canvas и Timeline.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выбрал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Timeline. И </a:t>
            </a:r>
            <a:r>
              <a:rPr lang="en-US" dirty="0" err="1"/>
              <a:t>наоборот</a:t>
            </a:r>
            <a:r>
              <a:rPr lang="en-US" dirty="0"/>
              <a:t>.</a:t>
            </a:r>
          </a:p>
          <a:p>
            <a:r>
              <a:rPr lang="en-US" dirty="0" err="1"/>
              <a:t>Следовательно</a:t>
            </a:r>
            <a:r>
              <a:rPr lang="en-US" dirty="0"/>
              <a:t>, selection 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b="1" dirty="0" err="1"/>
              <a:t>разделяется</a:t>
            </a:r>
            <a:r>
              <a:rPr lang="en-US" b="1" dirty="0"/>
              <a:t> </a:t>
            </a:r>
            <a:r>
              <a:rPr lang="en-US" b="1" dirty="0" err="1"/>
              <a:t>несколькими</a:t>
            </a:r>
            <a:r>
              <a:rPr lang="en-US" b="1" dirty="0"/>
              <a:t> </a:t>
            </a:r>
            <a:r>
              <a:rPr lang="en-US" b="1" dirty="0" err="1"/>
              <a:t>представлениями</a:t>
            </a:r>
            <a:r>
              <a:rPr lang="en-US" b="1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сеанса</a:t>
            </a:r>
            <a:r>
              <a:rPr lang="en-US" b="1" dirty="0"/>
              <a:t> </a:t>
            </a:r>
            <a:r>
              <a:rPr lang="en-US" b="1" dirty="0" err="1"/>
              <a:t>редактирования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и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и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видимой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Timeline —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 и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, а в </a:t>
            </a:r>
            <a:r>
              <a:rPr lang="en-US" dirty="0" err="1"/>
              <a:t>другом</a:t>
            </a:r>
            <a:r>
              <a:rPr lang="en-US" dirty="0"/>
              <a:t> — с </a:t>
            </a:r>
            <a:r>
              <a:rPr lang="en-US" dirty="0" err="1"/>
              <a:t>другой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selection.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областей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,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, а </a:t>
            </a:r>
            <a:r>
              <a:rPr lang="en-US" dirty="0" err="1"/>
              <a:t>вопросом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видеть</a:t>
            </a:r>
            <a:r>
              <a:rPr lang="en-US" b="1" dirty="0"/>
              <a:t> </a:t>
            </a:r>
            <a:r>
              <a:rPr lang="en-US" b="1" dirty="0" err="1"/>
              <a:t>одно</a:t>
            </a:r>
            <a:r>
              <a:rPr lang="en-US" b="1" dirty="0"/>
              <a:t> и </a:t>
            </a:r>
            <a:r>
              <a:rPr lang="en-US" b="1" dirty="0" err="1"/>
              <a:t>то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значение</a:t>
            </a:r>
            <a:r>
              <a:rPr lang="en-US" b="1" dirty="0"/>
              <a:t>, а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иметь</a:t>
            </a:r>
            <a:r>
              <a:rPr lang="en-US" b="1" dirty="0"/>
              <a:t> </a:t>
            </a:r>
            <a:r>
              <a:rPr lang="en-US" b="1" dirty="0" err="1"/>
              <a:t>возможность</a:t>
            </a:r>
            <a:r>
              <a:rPr lang="en-US" b="1" dirty="0"/>
              <a:t> </a:t>
            </a:r>
            <a:r>
              <a:rPr lang="en-US" b="1" dirty="0" err="1"/>
              <a:t>изменять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—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универсальную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SelectionModel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ViewState</a:t>
            </a:r>
            <a:r>
              <a:rPr lang="en-US" dirty="0"/>
              <a:t> и </a:t>
            </a:r>
            <a:r>
              <a:rPr lang="en-US" dirty="0" err="1"/>
              <a:t>десяток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переменная</a:t>
            </a:r>
            <a:r>
              <a:rPr lang="en-US" dirty="0"/>
              <a:t>. А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появятся</a:t>
            </a:r>
            <a:r>
              <a:rPr lang="en-US" dirty="0"/>
              <a:t> drag, active tool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какому</a:t>
            </a:r>
            <a:r>
              <a:rPr lang="en-US" dirty="0"/>
              <a:t> </a:t>
            </a:r>
            <a:r>
              <a:rPr lang="en-US" dirty="0" err="1"/>
              <a:t>признаку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подходящее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/>
              <a:t>KISS/YAGNI </a:t>
            </a:r>
            <a:r>
              <a:rPr lang="en-US" b="1" dirty="0" err="1"/>
              <a:t>говорят</a:t>
            </a:r>
            <a:r>
              <a:rPr lang="en-US" b="1" dirty="0"/>
              <a:t> «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создавай</a:t>
            </a:r>
            <a:r>
              <a:rPr lang="en-US" b="1" dirty="0"/>
              <a:t> </a:t>
            </a:r>
            <a:r>
              <a:rPr lang="ru-RU" b="1" dirty="0"/>
              <a:t>сложных структур</a:t>
            </a:r>
            <a:r>
              <a:rPr lang="en-US" b="1" dirty="0"/>
              <a:t> </a:t>
            </a:r>
            <a:r>
              <a:rPr lang="en-US" b="1" dirty="0" err="1"/>
              <a:t>раньше</a:t>
            </a:r>
            <a:r>
              <a:rPr lang="en-US" b="1" dirty="0"/>
              <a:t> </a:t>
            </a:r>
            <a:r>
              <a:rPr lang="en-US" b="1" dirty="0" err="1"/>
              <a:t>времени</a:t>
            </a:r>
            <a:r>
              <a:rPr lang="en-US" b="1" dirty="0"/>
              <a:t>», </a:t>
            </a:r>
            <a:r>
              <a:rPr lang="en-US" b="1" dirty="0" err="1"/>
              <a:t>но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говорят</a:t>
            </a:r>
            <a:r>
              <a:rPr lang="en-US" b="1" dirty="0"/>
              <a:t> «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размышляй</a:t>
            </a:r>
            <a:r>
              <a:rPr lang="en-US" b="1" dirty="0"/>
              <a:t> о </a:t>
            </a:r>
            <a:r>
              <a:rPr lang="en-US" b="1" dirty="0" err="1"/>
              <a:t>границах</a:t>
            </a:r>
            <a:r>
              <a:rPr lang="en-US" b="1" dirty="0"/>
              <a:t> </a:t>
            </a:r>
            <a:r>
              <a:rPr lang="en-US" b="1" dirty="0" err="1"/>
              <a:t>ответственности</a:t>
            </a:r>
            <a:r>
              <a:rPr lang="en-US" b="1" dirty="0"/>
              <a:t>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5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существенное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находилось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составляющих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фигурах</a:t>
            </a:r>
            <a:r>
              <a:rPr lang="en-US" dirty="0"/>
              <a:t>.</a:t>
            </a:r>
          </a:p>
          <a:p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и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последующие</a:t>
            </a:r>
            <a:r>
              <a:rPr lang="en-US" dirty="0"/>
              <a:t> </a:t>
            </a:r>
            <a:r>
              <a:rPr lang="en-US" dirty="0" err="1"/>
              <a:t>кадры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анимацией</a:t>
            </a:r>
            <a:r>
              <a:rPr lang="en-US" dirty="0"/>
              <a:t>,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—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выбранном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ru-RU" dirty="0"/>
              <a:t>таскания</a:t>
            </a:r>
            <a:r>
              <a:rPr lang="en-US" dirty="0"/>
              <a:t> и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ru-RU" dirty="0"/>
              <a:t> 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складывать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куда-нибудь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они</a:t>
            </a:r>
            <a:r>
              <a:rPr lang="en-US" b="1" dirty="0"/>
              <a:t> </a:t>
            </a:r>
            <a:r>
              <a:rPr lang="en-US" b="1" dirty="0" err="1"/>
              <a:t>описывают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99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выбрана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вопросами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 </a:t>
            </a:r>
            <a:r>
              <a:rPr lang="en-US" dirty="0" err="1"/>
              <a:t>пользователем</a:t>
            </a:r>
            <a:r>
              <a:rPr lang="en-US" dirty="0"/>
              <a:t>?</a:t>
            </a:r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прямоугольником</a:t>
            </a:r>
            <a:r>
              <a:rPr lang="en-US" dirty="0"/>
              <a:t>, а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— с </a:t>
            </a:r>
            <a:r>
              <a:rPr lang="en-US" dirty="0" err="1"/>
              <a:t>эллипсом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selection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вынуждены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характеризует</a:t>
            </a:r>
            <a:r>
              <a:rPr lang="en-US" dirty="0"/>
              <a:t> </a:t>
            </a:r>
            <a:r>
              <a:rPr lang="en-US" b="1" dirty="0" err="1"/>
              <a:t>текущий</a:t>
            </a:r>
            <a:r>
              <a:rPr lang="en-US" b="1" dirty="0"/>
              <a:t> </a:t>
            </a:r>
            <a:r>
              <a:rPr lang="en-US" b="1" dirty="0" err="1"/>
              <a:t>процесс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b="1" dirty="0"/>
              <a:t> с </a:t>
            </a:r>
            <a:r>
              <a:rPr lang="en-US" b="1" dirty="0" err="1"/>
              <a:t>рисунком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SRP.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Геометрия</a:t>
            </a:r>
            <a:r>
              <a:rPr lang="en-US" dirty="0"/>
              <a:t> и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Selection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177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selection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элементу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гипотетическому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Canvas и Timeline.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выделен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Timeline.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дорожки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Timeline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выделению</a:t>
            </a:r>
            <a:r>
              <a:rPr lang="en-US" dirty="0"/>
              <a:t> </a:t>
            </a:r>
            <a:r>
              <a:rPr lang="en-US" dirty="0" err="1"/>
              <a:t>соответствующей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b="1" dirty="0" err="1"/>
              <a:t>общим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нескольких</a:t>
            </a:r>
            <a:r>
              <a:rPr lang="en-US" b="1" dirty="0"/>
              <a:t> </a:t>
            </a:r>
            <a:r>
              <a:rPr lang="en-US" b="1" dirty="0" err="1"/>
              <a:t>частей</a:t>
            </a:r>
            <a:r>
              <a:rPr lang="en-US" b="1" dirty="0"/>
              <a:t> </a:t>
            </a:r>
            <a:r>
              <a:rPr lang="en-US" b="1" dirty="0" err="1"/>
              <a:t>интерфейса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currentTime</a:t>
            </a:r>
            <a:r>
              <a:rPr lang="en-US" dirty="0"/>
              <a:t>.</a:t>
            </a:r>
          </a:p>
          <a:p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временного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Timeline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Canvas.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и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видимую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.</a:t>
            </a:r>
          </a:p>
          <a:p>
            <a:r>
              <a:rPr lang="en-US" dirty="0"/>
              <a:t>Timeline —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 и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проектный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—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05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обобщить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наблюдения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крайней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, а в </a:t>
            </a:r>
            <a:r>
              <a:rPr lang="en-US" dirty="0" err="1"/>
              <a:t>анимационном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—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существования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к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и </a:t>
            </a:r>
            <a:r>
              <a:rPr lang="en-US" dirty="0" err="1"/>
              <a:t>входят</a:t>
            </a:r>
            <a:r>
              <a:rPr lang="en-US" dirty="0"/>
              <a:t> в Domain Model.</a:t>
            </a:r>
          </a:p>
          <a:p>
            <a:endParaRPr lang="ru-RU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?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рассматривается</a:t>
            </a:r>
            <a:r>
              <a:rPr lang="en-US" dirty="0"/>
              <a:t>?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активен</a:t>
            </a:r>
            <a:r>
              <a:rPr lang="en-US" dirty="0"/>
              <a:t>?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масштаб</a:t>
            </a:r>
            <a:r>
              <a:rPr lang="en-US" dirty="0"/>
              <a:t> Canvas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совпадать</a:t>
            </a:r>
            <a:r>
              <a:rPr lang="en-US" dirty="0"/>
              <a:t> с </a:t>
            </a:r>
            <a:r>
              <a:rPr lang="en-US" dirty="0" err="1"/>
              <a:t>масштабом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.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 Timeline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к Timeline.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архитектурное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место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b="1" dirty="0"/>
              <a:t> </a:t>
            </a:r>
            <a:r>
              <a:rPr lang="en-US" b="1" dirty="0" err="1"/>
              <a:t>определяется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типом</a:t>
            </a:r>
            <a:r>
              <a:rPr lang="en-US" b="1" dirty="0"/>
              <a:t> и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удобством</a:t>
            </a:r>
            <a:r>
              <a:rPr lang="en-US" b="1" dirty="0"/>
              <a:t> </a:t>
            </a:r>
            <a:r>
              <a:rPr lang="en-US" b="1" dirty="0" err="1"/>
              <a:t>хранения</a:t>
            </a:r>
            <a:r>
              <a:rPr lang="en-US" b="1" dirty="0"/>
              <a:t>, а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смыслом</a:t>
            </a:r>
            <a:r>
              <a:rPr lang="en-US" b="1" dirty="0"/>
              <a:t> и </a:t>
            </a:r>
            <a:r>
              <a:rPr lang="en-US" b="1" dirty="0" err="1"/>
              <a:t>тем</a:t>
            </a:r>
            <a:r>
              <a:rPr lang="en-US" b="1" dirty="0"/>
              <a:t>,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им</a:t>
            </a:r>
            <a:r>
              <a:rPr lang="en-US" b="1" dirty="0"/>
              <a:t> </a:t>
            </a:r>
            <a:r>
              <a:rPr lang="en-US" b="1" dirty="0" err="1"/>
              <a:t>совместно</a:t>
            </a:r>
            <a:r>
              <a:rPr lang="en-US" b="1" dirty="0"/>
              <a:t> </a:t>
            </a:r>
            <a:r>
              <a:rPr lang="en-US" b="1" dirty="0" err="1"/>
              <a:t>пользоваться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cohesion: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и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группировать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51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рассуждений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захотеть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EditingContext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представлено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интерфейсами</a:t>
            </a:r>
            <a:r>
              <a:rPr lang="en-US" dirty="0"/>
              <a:t> и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уровнями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вряд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сделает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KISS и YAGNI.</a:t>
            </a:r>
            <a:r>
              <a:rPr lang="ru-RU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утверждения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Первое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понимаем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Второе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второе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b="1" dirty="0" err="1"/>
              <a:t>увидеть</a:t>
            </a:r>
            <a:r>
              <a:rPr lang="en-US" b="1" dirty="0"/>
              <a:t> </a:t>
            </a:r>
            <a:r>
              <a:rPr lang="en-US" b="1" dirty="0" err="1"/>
              <a:t>естественную</a:t>
            </a:r>
            <a:r>
              <a:rPr lang="en-US" b="1" dirty="0"/>
              <a:t> </a:t>
            </a:r>
            <a:r>
              <a:rPr lang="en-US" b="1" dirty="0" err="1"/>
              <a:t>будущую</a:t>
            </a:r>
            <a:r>
              <a:rPr lang="en-US" b="1" dirty="0"/>
              <a:t> </a:t>
            </a:r>
            <a:r>
              <a:rPr lang="en-US" b="1" dirty="0" err="1"/>
              <a:t>границу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приносить</a:t>
            </a:r>
            <a:r>
              <a:rPr lang="en-US" dirty="0"/>
              <a:t> </a:t>
            </a:r>
            <a:r>
              <a:rPr lang="en-US" dirty="0" err="1"/>
              <a:t>пользу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предпосылки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перетаскивать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: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drag,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захватил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и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появилась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в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b="1" dirty="0"/>
              <a:t> </a:t>
            </a:r>
            <a:r>
              <a:rPr lang="en-US" b="1" dirty="0" err="1"/>
              <a:t>новая</a:t>
            </a:r>
            <a:r>
              <a:rPr lang="en-US" b="1" dirty="0"/>
              <a:t> </a:t>
            </a:r>
            <a:r>
              <a:rPr lang="en-US" b="1" dirty="0" err="1"/>
              <a:t>самостоятельная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— </a:t>
            </a:r>
            <a:r>
              <a:rPr lang="en-US" b="1" dirty="0" err="1"/>
              <a:t>интерпретация</a:t>
            </a:r>
            <a:r>
              <a:rPr lang="en-US" b="1" dirty="0"/>
              <a:t> </a:t>
            </a:r>
            <a:r>
              <a:rPr lang="en-US" b="1" dirty="0" err="1"/>
              <a:t>действий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00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определили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курсором</a:t>
            </a:r>
            <a:r>
              <a:rPr lang="en-US" dirty="0"/>
              <a:t> и </a:t>
            </a:r>
            <a:r>
              <a:rPr lang="en-US" dirty="0" err="1"/>
              <a:t>запомнили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усложним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перетащить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в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о </a:t>
            </a:r>
            <a:r>
              <a:rPr lang="en-US" dirty="0" err="1"/>
              <a:t>действии</a:t>
            </a:r>
            <a:r>
              <a:rPr lang="en-US" dirty="0"/>
              <a:t> «</a:t>
            </a:r>
            <a:r>
              <a:rPr lang="en-US" dirty="0" err="1"/>
              <a:t>перетащить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».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выдаёт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нажатие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поступает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отпускается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и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важному</a:t>
            </a:r>
            <a:r>
              <a:rPr lang="en-US" dirty="0"/>
              <a:t> </a:t>
            </a:r>
            <a:r>
              <a:rPr lang="en-US" dirty="0" err="1"/>
              <a:t>различию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событие</a:t>
            </a:r>
            <a:r>
              <a:rPr lang="en-US" b="1" dirty="0"/>
              <a:t> </a:t>
            </a:r>
            <a:r>
              <a:rPr lang="en-US" b="1" dirty="0" err="1"/>
              <a:t>устройства</a:t>
            </a:r>
            <a:r>
              <a:rPr lang="en-US" b="1" dirty="0"/>
              <a:t> </a:t>
            </a:r>
            <a:r>
              <a:rPr lang="en-US" b="1" dirty="0" err="1"/>
              <a:t>ввода</a:t>
            </a:r>
            <a:r>
              <a:rPr lang="en-US" b="1" dirty="0"/>
              <a:t> и </a:t>
            </a:r>
            <a:r>
              <a:rPr lang="en-US" b="1" dirty="0" err="1"/>
              <a:t>осмысленное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—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одно</a:t>
            </a:r>
            <a:r>
              <a:rPr lang="en-US" b="1" dirty="0"/>
              <a:t> и </a:t>
            </a:r>
            <a:r>
              <a:rPr lang="en-US" b="1" dirty="0" err="1"/>
              <a:t>то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55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нажатии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определяем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курсором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найдена</a:t>
            </a:r>
            <a:r>
              <a:rPr lang="en-US" dirty="0"/>
              <a:t>, </a:t>
            </a:r>
            <a:r>
              <a:rPr lang="en-US" dirty="0" err="1"/>
              <a:t>начинаем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и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отпускания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очередном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вычисляем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и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, и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и </a:t>
            </a:r>
            <a:r>
              <a:rPr lang="en-US" dirty="0" err="1"/>
              <a:t>обработчиков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помещаются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KISS и YAGNI: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следует</a:t>
            </a:r>
            <a:r>
              <a:rPr lang="en-US" b="1" dirty="0"/>
              <a:t> </a:t>
            </a:r>
            <a:r>
              <a:rPr lang="en-US" b="1" dirty="0" err="1"/>
              <a:t>вводить</a:t>
            </a:r>
            <a:r>
              <a:rPr lang="en-US" b="1" dirty="0"/>
              <a:t> </a:t>
            </a:r>
            <a:r>
              <a:rPr lang="en-US" b="1" dirty="0" err="1"/>
              <a:t>новую</a:t>
            </a:r>
            <a:r>
              <a:rPr lang="en-US" b="1" dirty="0"/>
              <a:t> </a:t>
            </a:r>
            <a:r>
              <a:rPr lang="en-US" b="1" dirty="0" err="1"/>
              <a:t>архитектурную</a:t>
            </a:r>
            <a:r>
              <a:rPr lang="en-US" b="1" dirty="0"/>
              <a:t> </a:t>
            </a:r>
            <a:r>
              <a:rPr lang="en-US" b="1" dirty="0" err="1"/>
              <a:t>сущность</a:t>
            </a:r>
            <a:r>
              <a:rPr lang="en-US" b="1" dirty="0"/>
              <a:t> </a:t>
            </a:r>
            <a:r>
              <a:rPr lang="en-US" b="1" dirty="0" err="1"/>
              <a:t>до</a:t>
            </a:r>
            <a:r>
              <a:rPr lang="en-US" b="1" dirty="0"/>
              <a:t> </a:t>
            </a:r>
            <a:r>
              <a:rPr lang="en-US" b="1" dirty="0" err="1"/>
              <a:t>того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станет</a:t>
            </a:r>
            <a:r>
              <a:rPr lang="en-US" b="1" dirty="0"/>
              <a:t> </a:t>
            </a:r>
            <a:r>
              <a:rPr lang="en-US" b="1" dirty="0" err="1"/>
              <a:t>понятно</a:t>
            </a:r>
            <a:r>
              <a:rPr lang="en-US" b="1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самостоятельную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выполнять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получившийся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Оказывается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нечто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содержательное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SFML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».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и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306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получении</a:t>
            </a:r>
            <a:r>
              <a:rPr lang="en-US" dirty="0"/>
              <a:t>?</a:t>
            </a:r>
          </a:p>
          <a:p>
            <a:r>
              <a:rPr lang="en-US" dirty="0" err="1"/>
              <a:t>Однозначного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перетаскивает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никакого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,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означать</a:t>
            </a:r>
            <a:r>
              <a:rPr lang="en-US" dirty="0"/>
              <a:t> </a:t>
            </a:r>
            <a:r>
              <a:rPr lang="en-US" dirty="0" err="1"/>
              <a:t>продолжение</a:t>
            </a:r>
            <a:r>
              <a:rPr lang="en-US" dirty="0"/>
              <a:t> drag.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маркеры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означать</a:t>
            </a:r>
            <a:r>
              <a:rPr lang="en-US" dirty="0"/>
              <a:t> resize.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активном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 </a:t>
            </a:r>
            <a:r>
              <a:rPr lang="en-US" dirty="0" err="1"/>
              <a:t>панорамирования</a:t>
            </a:r>
            <a:r>
              <a:rPr lang="en-US" dirty="0"/>
              <a:t> —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видимую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холста</a:t>
            </a:r>
            <a:r>
              <a:rPr lang="en-US" dirty="0"/>
              <a:t>,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SFML </a:t>
            </a:r>
            <a:r>
              <a:rPr lang="en-US" dirty="0" err="1"/>
              <a:t>поставляет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b="1" dirty="0" err="1"/>
              <a:t>факты</a:t>
            </a:r>
            <a:r>
              <a:rPr lang="en-US" b="1" dirty="0"/>
              <a:t> о </a:t>
            </a:r>
            <a:r>
              <a:rPr lang="en-US" b="1" dirty="0" err="1"/>
              <a:t>вводе</a:t>
            </a:r>
            <a:r>
              <a:rPr lang="en-US" dirty="0"/>
              <a:t>:</a:t>
            </a:r>
          </a:p>
          <a:p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, </a:t>
            </a:r>
            <a:r>
              <a:rPr lang="en-US" dirty="0" err="1"/>
              <a:t>курсор</a:t>
            </a:r>
            <a:r>
              <a:rPr lang="en-US" dirty="0"/>
              <a:t> </a:t>
            </a:r>
            <a:r>
              <a:rPr lang="en-US" dirty="0" err="1"/>
              <a:t>переместился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отпущена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придать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фактам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событием</a:t>
            </a:r>
            <a:r>
              <a:rPr lang="en-US" dirty="0"/>
              <a:t>, а </a:t>
            </a:r>
            <a:r>
              <a:rPr lang="en-US" dirty="0" err="1"/>
              <a:t>контекстом</a:t>
            </a:r>
            <a:r>
              <a:rPr lang="en-US" dirty="0"/>
              <a:t>: </a:t>
            </a:r>
            <a:r>
              <a:rPr lang="en-US" dirty="0" err="1"/>
              <a:t>текущим</a:t>
            </a:r>
            <a:r>
              <a:rPr lang="en-US" dirty="0"/>
              <a:t> </a:t>
            </a:r>
            <a:r>
              <a:rPr lang="en-US" dirty="0" err="1"/>
              <a:t>инструментом</a:t>
            </a:r>
            <a:r>
              <a:rPr lang="en-US" dirty="0"/>
              <a:t>,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и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проявляться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: </a:t>
            </a:r>
            <a:r>
              <a:rPr lang="en-US" b="1" dirty="0" err="1"/>
              <a:t>интерпретировать</a:t>
            </a:r>
            <a:r>
              <a:rPr lang="en-US" b="1" dirty="0"/>
              <a:t> </a:t>
            </a:r>
            <a:r>
              <a:rPr lang="en-US" b="1" dirty="0" err="1"/>
              <a:t>низкоуровневый</a:t>
            </a:r>
            <a:r>
              <a:rPr lang="en-US" b="1" dirty="0"/>
              <a:t> </a:t>
            </a:r>
            <a:r>
              <a:rPr lang="en-US" b="1" dirty="0" err="1"/>
              <a:t>пользовательский</a:t>
            </a:r>
            <a:r>
              <a:rPr lang="en-US" b="1" dirty="0"/>
              <a:t> </a:t>
            </a:r>
            <a:r>
              <a:rPr lang="en-US" b="1" dirty="0" err="1"/>
              <a:t>ввод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осмысленные</a:t>
            </a:r>
            <a:r>
              <a:rPr lang="en-US" b="1" dirty="0"/>
              <a:t> </a:t>
            </a:r>
            <a:r>
              <a:rPr lang="en-US" b="1" dirty="0" err="1"/>
              <a:t>действия</a:t>
            </a:r>
            <a:r>
              <a:rPr lang="en-US" b="1" dirty="0"/>
              <a:t> </a:t>
            </a:r>
            <a:r>
              <a:rPr lang="en-US" b="1" dirty="0" err="1"/>
              <a:t>редактора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647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длину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сборку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event loop — </a:t>
            </a:r>
            <a:r>
              <a:rPr lang="en-US" dirty="0" err="1"/>
              <a:t>технический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накапливаются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и </a:t>
            </a:r>
            <a:r>
              <a:rPr lang="en-US" dirty="0" err="1"/>
              <a:t>заканчивается</a:t>
            </a:r>
            <a:r>
              <a:rPr lang="en-US" dirty="0"/>
              <a:t> drag.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движении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панорамирования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механизме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SFML.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b="1" dirty="0" err="1"/>
              <a:t>правил</a:t>
            </a:r>
            <a:r>
              <a:rPr lang="en-US" b="1" dirty="0"/>
              <a:t> </a:t>
            </a:r>
            <a:r>
              <a:rPr lang="en-US" b="1" dirty="0" err="1"/>
              <a:t>взаимодействия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с </a:t>
            </a:r>
            <a:r>
              <a:rPr lang="en-US" b="1" dirty="0" err="1"/>
              <a:t>редактором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SRP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проявляются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и </a:t>
            </a:r>
            <a:r>
              <a:rPr lang="en-US" dirty="0" err="1"/>
              <a:t>высокую</a:t>
            </a:r>
            <a:r>
              <a:rPr lang="en-US" dirty="0"/>
              <a:t> cohesion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drag,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,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сократить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», а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b="1" dirty="0" err="1"/>
              <a:t>отдельную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522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Вынесем</a:t>
            </a:r>
            <a:r>
              <a:rPr lang="en-US" dirty="0"/>
              <a:t> </a:t>
            </a:r>
            <a:r>
              <a:rPr lang="en-US" dirty="0" err="1"/>
              <a:t>обнаруженную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SFML, а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: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 в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, </a:t>
            </a:r>
            <a:r>
              <a:rPr lang="en-US" dirty="0" err="1"/>
              <a:t>переместилась</a:t>
            </a:r>
            <a:r>
              <a:rPr lang="en-US" dirty="0"/>
              <a:t> в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отпущена</a:t>
            </a:r>
            <a:r>
              <a:rPr lang="en-US" dirty="0"/>
              <a:t>.</a:t>
            </a:r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SFML в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Controller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интерпретации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,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drag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Domain Model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предметные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6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рефакторинга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заметны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обязанностей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находящиеся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предметное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решения</a:t>
            </a:r>
            <a:r>
              <a:rPr lang="en-US" dirty="0"/>
              <a:t> «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разделим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несколько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ru-RU" dirty="0" err="1"/>
              <a:t>ов</a:t>
            </a:r>
            <a:r>
              <a:rPr lang="en-US" dirty="0"/>
              <a:t>».</a:t>
            </a:r>
            <a:r>
              <a:rPr lang="ru-RU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в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потребовалось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породило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drag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осмысленные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Подобное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интерактивных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известного</a:t>
            </a:r>
            <a:r>
              <a:rPr lang="en-US" dirty="0"/>
              <a:t> </a:t>
            </a:r>
            <a:r>
              <a:rPr lang="en-US" dirty="0" err="1"/>
              <a:t>архитектурного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b="1" dirty="0"/>
              <a:t>Model–View–Controller — MVC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рассмотреть</a:t>
            </a:r>
            <a:r>
              <a:rPr lang="en-US" dirty="0"/>
              <a:t> </a:t>
            </a:r>
            <a:r>
              <a:rPr lang="en-US" dirty="0" err="1"/>
              <a:t>получившуюся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с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и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b="1" dirty="0"/>
              <a:t>Model</a:t>
            </a:r>
            <a:r>
              <a:rPr lang="en-US" dirty="0"/>
              <a:t>, </a:t>
            </a:r>
            <a:r>
              <a:rPr lang="en-US" b="1" dirty="0"/>
              <a:t>View</a:t>
            </a:r>
            <a:r>
              <a:rPr lang="en-US" dirty="0"/>
              <a:t> и </a:t>
            </a:r>
            <a:r>
              <a:rPr lang="en-US" b="1" dirty="0"/>
              <a:t>Controller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82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737B-6FCD-418D-1761-22863629B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A963A-E7DB-9625-82C5-7CD1DAA18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CE21E-525E-654B-278A-246BDB8C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FCAA-DA86-9941-0913-1D321C58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F63A-0E14-BDAB-2828-F0623CF7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2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3159-315A-0EB6-D145-855EBD9C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5FD8-F3FD-F319-AC4F-C2625AA6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9159-5D59-6AA5-4FBF-4F44EFF2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A8170-E960-AAC0-EE25-78631C67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502E0-A0C4-CD2B-48FD-79B99D61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4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C743-D9A0-6EFC-4C64-8B7E551E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F8F31-7930-27A3-016F-46654EF6E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73EB1-A5A1-3B17-DC38-91EED61C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DC957-35E8-16A0-68E1-965AD8CD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83B4E-7873-CBF9-E47B-45D7255A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1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5BFF-CA3A-9DF3-ECD0-5A7BB2C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C7D1-F998-954A-5021-2D3EA9CDF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9FC0-E9BE-1D6B-FEED-8AC8B7CA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9BACD-74D7-61AC-7A46-0123A11E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C1BC-76E4-E3C0-EAF7-C9865904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A9CB-10D8-1825-65E4-98DB07E9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78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5BFF-CA3A-9DF3-ECD0-5A7BB2C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C7D1-F998-954A-5021-2D3EA9CDF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7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9FC0-E9BE-1D6B-FEED-8AC8B7CA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97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9BACD-74D7-61AC-7A46-0123A11E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C1BC-76E4-E3C0-EAF7-C9865904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A9CB-10D8-1825-65E4-98DB07E9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AC61D6-124D-2ABB-9897-4E25CADC09B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864963"/>
            <a:ext cx="10515600" cy="1356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230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D1F3-FBDD-A872-58A9-5C10396C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2C67-F89B-2A7A-4038-D56F9853A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B695-E5E7-3162-E4C3-7DB142BFF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0C9BC-E49B-0E80-9E24-8F90F11C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45DAB-6D1C-CDED-920A-2A111123A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3951D-8A5A-DEF3-E2EC-448EF7C4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9B61B-8B47-80DA-C019-36DBF69D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58BC-238C-4A0A-47E5-759704AA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6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D1F3-FBDD-A872-58A9-5C10396C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2C67-F89B-2A7A-4038-D56F9853A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B695-E5E7-3162-E4C3-7DB142BFF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519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0C9BC-E49B-0E80-9E24-8F90F11C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45DAB-6D1C-CDED-920A-2A111123A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519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3951D-8A5A-DEF3-E2EC-448EF7C4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9B61B-8B47-80DA-C019-36DBF69D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58BC-238C-4A0A-47E5-759704AA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AFD56B3-6172-9F8A-05FC-357E159D772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5086905"/>
            <a:ext cx="10512424" cy="1100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63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DACF-9264-2045-2DD5-1FC9AFC4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15892-DCC7-BB32-DEE7-9699BC2E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13C1-780B-4268-D17A-7DE56713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012A3-A7A3-CE02-7D65-777F0B02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4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E587F-93D5-F0A1-AC05-E2D47AC1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7975E-3700-314F-C505-B7AECA33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D4FD7-5776-2A24-5E42-93D6AA54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9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A2F3-29DF-DAEA-FB6E-FEA99E6A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7639-1A33-EF5E-6AEE-6589F965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F02A3-CAA5-F82F-6F41-644904ABF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C53D1-1030-FC3C-D3CB-5D9186EA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C0C5F-FABB-E956-BBE0-06F4865D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04A34-C0CD-AAAC-CA45-0F7C47CA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7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55A1-9869-CCBA-4611-D1667F6D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2E313D-3322-E969-3AF1-5CF2E976D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0C8D-74A3-06CD-C630-B415C7693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0B77-AA32-BF25-1D82-F465AC9B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D04E4-6AB2-5457-57CD-E09EF4BE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3C0CA-5196-A3A8-6D72-59FA1CAD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6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7FE5-12B1-71AF-8B7E-FC4BF363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7C806-9EEC-6E62-98CE-28F69961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163C-CC5F-0555-F297-81BAC466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99831-6929-E2CE-756E-44DF2EDC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7ED0-4302-5164-DB7C-DE5D03DC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42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14648-59C1-0904-0F22-43AAADC57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36D28-B222-FD5A-D413-8ED6F9B61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63FE-4D8E-8A59-5064-789FB332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DE6FD-D8E2-ECD1-386E-B7F2F57A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610CC-37EC-8564-5077-82EB0FD9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360DB-F456-03F9-EE73-6D135E5D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D119D-B8F4-EB7B-FF77-6BD0A6399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852D-3E8B-51D9-A6B4-4ADE640AB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40B88-4078-442D-B709-28839D5E1D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172AA-74D0-471F-C149-12F7A32DF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0B45-1B42-C70A-48B9-CC0350BA3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1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1" r:id="rId5"/>
    <p:sldLayoutId id="2147483653" r:id="rId6"/>
    <p:sldLayoutId id="2147483660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D86F-FEE1-1C5E-468E-BD867988A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5337"/>
          </a:xfrm>
        </p:spPr>
        <p:txBody>
          <a:bodyPr>
            <a:normAutofit fontScale="90000"/>
          </a:bodyPr>
          <a:lstStyle/>
          <a:p>
            <a:r>
              <a:rPr lang="ru-RU" dirty="0"/>
              <a:t>От модели к интерфейсу:</a:t>
            </a:r>
            <a:br>
              <a:rPr lang="ru-RU" dirty="0"/>
            </a:br>
            <a:r>
              <a:rPr lang="ru-RU" dirty="0"/>
              <a:t>Проектируем интерактивное приложение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16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FB0B-5FE1-3084-5FE8-6CCB7E45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консольного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3D90-99F3-CB2B-1F0F-6AE1990B2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40318" cy="4351338"/>
          </a:xfrm>
        </p:spPr>
        <p:txBody>
          <a:bodyPr>
            <a:normAutofit/>
          </a:bodyPr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консоль</a:t>
            </a:r>
            <a:r>
              <a:rPr lang="en-US" dirty="0"/>
              <a:t>.</a:t>
            </a:r>
          </a:p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 и </a:t>
            </a:r>
            <a:r>
              <a:rPr lang="ru-RU" dirty="0"/>
              <a:t>управлять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Минимальная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4C8845-1EBA-BB9B-F043-F1324F12ED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18" y="1825625"/>
            <a:ext cx="5913482" cy="24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8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94F2-6390-A5BA-91A0-683FAF22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инструментарий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B82E-9A3A-0450-CDCF-25EC1DB34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76356" cy="4351338"/>
          </a:xfrm>
        </p:spPr>
        <p:txBody>
          <a:bodyPr/>
          <a:lstStyle/>
          <a:p>
            <a:r>
              <a:rPr lang="en-US" dirty="0" err="1"/>
              <a:t>Используем</a:t>
            </a:r>
            <a:r>
              <a:rPr lang="en-US" dirty="0"/>
              <a:t> SFML 3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RenderWindow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RectangleShape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CircleShape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sf::Event</a:t>
            </a:r>
          </a:p>
          <a:p>
            <a:r>
              <a:rPr lang="en-US" dirty="0"/>
              <a:t>SFML —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предмет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61A549-757C-B27E-4A6E-E4CBA9D496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75812" y="2068812"/>
            <a:ext cx="4477987" cy="33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9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D8E1-A6C8-A115-267F-AAC3C690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Минимальное</a:t>
            </a:r>
            <a:r>
              <a:rPr lang="en-US" dirty="0"/>
              <a:t> </a:t>
            </a:r>
            <a:r>
              <a:rPr lang="en-US" dirty="0" err="1"/>
              <a:t>графическое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376D91-58BD-3FFB-9264-46CADC23E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07125" y="1973427"/>
            <a:ext cx="5146675" cy="4055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B1048-B6E0-24F4-F34B-2F88BDBDCE83}"/>
              </a:ext>
            </a:extLst>
          </p:cNvPr>
          <p:cNvSpPr txBox="1"/>
          <p:nvPr/>
        </p:nvSpPr>
        <p:spPr>
          <a:xfrm>
            <a:off x="317664" y="1818142"/>
            <a:ext cx="56675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sf::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RenderWindow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sf::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VideoMode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}),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SFML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sf::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RectangleShape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setFillColor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(sf::Color::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pollEvent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-&gt;is&lt;sf::Event::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159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CD0F-6D6A-1AB3-860A-6780FC92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CE711-741A-5707-4C61-E9B2211D6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редактор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5F9FB5-C312-F58B-FD0C-6772A3F1C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Rectangle</a:t>
            </a:r>
          </a:p>
          <a:p>
            <a:pPr lvl="1"/>
            <a:r>
              <a:rPr lang="ru-RU" dirty="0"/>
              <a:t>положение</a:t>
            </a:r>
            <a:endParaRPr lang="en-US" dirty="0"/>
          </a:p>
          <a:p>
            <a:pPr lvl="1"/>
            <a:r>
              <a:rPr lang="ru-RU" dirty="0"/>
              <a:t>размер</a:t>
            </a:r>
          </a:p>
          <a:p>
            <a:pPr lvl="1"/>
            <a:r>
              <a:rPr lang="ru-RU" dirty="0"/>
              <a:t>цвет</a:t>
            </a:r>
            <a:endParaRPr lang="en-US" dirty="0"/>
          </a:p>
          <a:p>
            <a:pPr lvl="1"/>
            <a:r>
              <a:rPr lang="en-US" dirty="0" err="1"/>
              <a:t>HitTest</a:t>
            </a:r>
            <a:endParaRPr lang="ru-RU" dirty="0"/>
          </a:p>
          <a:p>
            <a:pPr lvl="1"/>
            <a:r>
              <a:rPr lang="en-US" dirty="0" err="1"/>
              <a:t>MoveBy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FB269D-B466-2BC3-CBAE-12A618C32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SFML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BEA6F7-008B-55C3-2BC4-8B577B011D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sf:RectangleShape</a:t>
            </a:r>
            <a:endParaRPr lang="ru-RU" dirty="0"/>
          </a:p>
          <a:p>
            <a:pPr lvl="1"/>
            <a:r>
              <a:rPr lang="en-US" dirty="0"/>
              <a:t>position</a:t>
            </a:r>
            <a:endParaRPr lang="ru-RU" dirty="0"/>
          </a:p>
          <a:p>
            <a:pPr lvl="1"/>
            <a:r>
              <a:rPr lang="en-US" dirty="0"/>
              <a:t>size</a:t>
            </a:r>
            <a:endParaRPr lang="ru-RU" dirty="0"/>
          </a:p>
          <a:p>
            <a:pPr lvl="1"/>
            <a:r>
              <a:rPr lang="en-US" dirty="0" err="1"/>
              <a:t>fillColor</a:t>
            </a:r>
            <a:endParaRPr lang="en-US" dirty="0"/>
          </a:p>
          <a:p>
            <a:pPr lvl="1"/>
            <a:r>
              <a:rPr lang="en-US" dirty="0"/>
              <a:t>draw(…)</a:t>
            </a:r>
          </a:p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00141F-C1F7-8A09-445D-0226FA85C35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ru-RU" dirty="0"/>
              <a:t>А нужен ли нам вообще объект </a:t>
            </a:r>
            <a:r>
              <a:rPr lang="en-US" dirty="0"/>
              <a:t>Rectangle?</a:t>
            </a:r>
          </a:p>
          <a:p>
            <a:r>
              <a:rPr lang="ru-RU" dirty="0"/>
              <a:t>Почему бы не использовать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238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8747-3536-E499-2556-E455D180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</a:t>
            </a:r>
            <a:r>
              <a:rPr lang="en-US" dirty="0" err="1"/>
              <a:t>одель</a:t>
            </a:r>
            <a:r>
              <a:rPr lang="en-US" dirty="0"/>
              <a:t> </a:t>
            </a:r>
            <a:r>
              <a:rPr lang="ru-RU" dirty="0"/>
              <a:t>предметной области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0F463-2236-1CA4-FC8A-20BF69F2A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4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CA2D5F-F8C6-EEC6-DBE8-C16E775B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C09319-0037-C501-E07A-A9A323E77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541428"/>
            <a:ext cx="10515600" cy="291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2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316-545D-343F-90B0-AC075313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(Domain Model*)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22F-AA08-1582-C803-6793B640B1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Domain Model</a:t>
            </a:r>
            <a:r>
              <a:rPr lang="en-US" dirty="0"/>
              <a:t> — </a:t>
            </a:r>
            <a:r>
              <a:rPr lang="en-US" dirty="0" err="1"/>
              <a:t>программное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поведения</a:t>
            </a:r>
            <a:r>
              <a:rPr lang="en-US" dirty="0"/>
              <a:t> и </a:t>
            </a:r>
            <a:r>
              <a:rPr lang="en-US" dirty="0" err="1"/>
              <a:t>правил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r>
              <a:rPr lang="en-US" b="1" dirty="0" err="1"/>
              <a:t>Предметная</a:t>
            </a:r>
            <a:r>
              <a:rPr lang="en-US" b="1" dirty="0"/>
              <a:t> </a:t>
            </a:r>
            <a:r>
              <a:rPr lang="en-US" b="1" dirty="0" err="1"/>
              <a:t>область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и </a:t>
            </a:r>
            <a:r>
              <a:rPr lang="en-US" dirty="0" err="1"/>
              <a:t>составляющие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55AA77-96BB-27DC-E0EB-B67397AFAF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3627598"/>
              </p:ext>
            </p:extLst>
          </p:nvPr>
        </p:nvGraphicFramePr>
        <p:xfrm>
          <a:off x="6172200" y="1825625"/>
          <a:ext cx="5181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164">
                  <a:extLst>
                    <a:ext uri="{9D8B030D-6E8A-4147-A177-3AD203B41FA5}">
                      <a16:colId xmlns:a16="http://schemas.microsoft.com/office/drawing/2014/main" val="1175453939"/>
                    </a:ext>
                  </a:extLst>
                </a:gridCol>
                <a:gridCol w="2625436">
                  <a:extLst>
                    <a:ext uri="{9D8B030D-6E8A-4147-A177-3AD203B41FA5}">
                      <a16:colId xmlns:a16="http://schemas.microsoft.com/office/drawing/2014/main" val="270682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Понятие предметной области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Класс из </a:t>
                      </a:r>
                      <a:r>
                        <a:rPr lang="en-US" dirty="0"/>
                        <a:t>Domain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9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Рисунок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13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Фигура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5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Прямоугольник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Эллипс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144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0C6B74-CB60-5BC5-2B7A-25F94D26CD34}"/>
              </a:ext>
            </a:extLst>
          </p:cNvPr>
          <p:cNvSpPr txBox="1"/>
          <p:nvPr/>
        </p:nvSpPr>
        <p:spPr>
          <a:xfrm>
            <a:off x="838200" y="6176963"/>
            <a:ext cx="483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В дальнейшем – модель (</a:t>
            </a:r>
            <a:r>
              <a:rPr lang="en-US" dirty="0"/>
              <a:t>model)</a:t>
            </a:r>
          </a:p>
        </p:txBody>
      </p:sp>
    </p:spTree>
    <p:extLst>
      <p:ext uri="{BB962C8B-B14F-4D97-AF65-F5344CB8AC3E}">
        <p14:creationId xmlns:p14="http://schemas.microsoft.com/office/powerpoint/2010/main" val="6474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216E-5622-F2C7-BDB4-07C59AFB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2C912E-3985-74AD-EDBE-89875B93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6964" cy="4351338"/>
          </a:xfrm>
        </p:spPr>
        <p:txBody>
          <a:bodyPr/>
          <a:lstStyle/>
          <a:p>
            <a:r>
              <a:rPr lang="ru-RU" dirty="0"/>
              <a:t>Модель хранит не только данные, но и обладает поведением</a:t>
            </a:r>
          </a:p>
          <a:p>
            <a:pPr lvl="1"/>
            <a:r>
              <a:rPr lang="en-US" dirty="0" err="1"/>
              <a:t>MoveBy</a:t>
            </a:r>
            <a:r>
              <a:rPr lang="en-US" dirty="0"/>
              <a:t> – </a:t>
            </a:r>
            <a:r>
              <a:rPr lang="ru-RU" dirty="0"/>
              <a:t>операция перемещения</a:t>
            </a:r>
          </a:p>
          <a:p>
            <a:pPr lvl="1"/>
            <a:r>
              <a:rPr lang="en-US" dirty="0" err="1"/>
              <a:t>HitTest</a:t>
            </a:r>
            <a:r>
              <a:rPr lang="en-US" dirty="0"/>
              <a:t> – </a:t>
            </a:r>
            <a:r>
              <a:rPr lang="ru-RU" dirty="0"/>
              <a:t>проверка попадания точки внутрь объекта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0E904-4809-96E7-0C55-900B77E25664}"/>
              </a:ext>
            </a:extLst>
          </p:cNvPr>
          <p:cNvSpPr txBox="1"/>
          <p:nvPr/>
        </p:nvSpPr>
        <p:spPr>
          <a:xfrm>
            <a:off x="6308766" y="1825625"/>
            <a:ext cx="57921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...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Данные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специфичные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Rectangle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554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EBAC-498D-F388-676B-2A819D3B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F9C8B-40C3-72AE-E62E-31CB6A249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5B08E2-5E05-C06F-E829-65215060BF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Drawing</a:t>
            </a:r>
          </a:p>
          <a:p>
            <a:r>
              <a:rPr lang="en-US" dirty="0"/>
              <a:t>Rectangle</a:t>
            </a:r>
          </a:p>
          <a:p>
            <a:r>
              <a:rPr lang="en-US" dirty="0"/>
              <a:t>Ellipse</a:t>
            </a:r>
          </a:p>
          <a:p>
            <a:r>
              <a:rPr lang="en-US" dirty="0" err="1"/>
              <a:t>MoveBy</a:t>
            </a:r>
            <a:r>
              <a:rPr lang="en-US" dirty="0"/>
              <a:t>(…)</a:t>
            </a:r>
          </a:p>
          <a:p>
            <a:r>
              <a:rPr lang="en-US" dirty="0" err="1"/>
              <a:t>HitTest</a:t>
            </a:r>
            <a:r>
              <a:rPr lang="en-US" dirty="0"/>
              <a:t>(…)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0C48FF-06B6-82A0-1D84-1E8576EDF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Детали графического интерфейса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670E8-6D4B-21FE-569F-C4A2A5AD601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sf::</a:t>
            </a:r>
            <a:r>
              <a:rPr lang="en-US" dirty="0" err="1"/>
              <a:t>RenderWindow</a:t>
            </a:r>
            <a:endParaRPr lang="en-US" dirty="0"/>
          </a:p>
          <a:p>
            <a:r>
              <a:rPr lang="en-US" dirty="0"/>
              <a:t>sf::</a:t>
            </a:r>
            <a:r>
              <a:rPr lang="en-US" dirty="0" err="1"/>
              <a:t>RectangleShape</a:t>
            </a:r>
            <a:endParaRPr lang="en-US" dirty="0"/>
          </a:p>
          <a:p>
            <a:r>
              <a:rPr lang="en-US" dirty="0"/>
              <a:t>sf::</a:t>
            </a:r>
            <a:r>
              <a:rPr lang="en-US" dirty="0" err="1"/>
              <a:t>CircleShape</a:t>
            </a:r>
            <a:endParaRPr lang="en-US" dirty="0"/>
          </a:p>
          <a:p>
            <a:r>
              <a:rPr lang="en-US" dirty="0"/>
              <a:t>draw(…)</a:t>
            </a:r>
          </a:p>
          <a:p>
            <a:r>
              <a:rPr lang="en-US" dirty="0" err="1"/>
              <a:t>pollEvent</a:t>
            </a:r>
            <a:r>
              <a:rPr lang="en-US" dirty="0"/>
              <a:t>(…)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6C99E6-0AF0-475A-5EBC-47965C0A55B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прежним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SFML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?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и </a:t>
            </a:r>
            <a:r>
              <a:rPr lang="en-US" dirty="0" err="1"/>
              <a:t>технология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359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236B-8528-2B85-0878-BADB0E01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A693F79-B67F-6DB1-4F3E-C247418D5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9578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Фигуры имеют</a:t>
            </a:r>
          </a:p>
          <a:p>
            <a:pPr lvl="1"/>
            <a:r>
              <a:rPr lang="ru-RU" dirty="0"/>
              <a:t>Время показа</a:t>
            </a:r>
          </a:p>
          <a:p>
            <a:pPr lvl="1"/>
            <a:r>
              <a:rPr lang="ru-RU" dirty="0"/>
              <a:t>Время исчезновения</a:t>
            </a:r>
          </a:p>
          <a:p>
            <a:pPr lvl="1"/>
            <a:r>
              <a:rPr lang="en-US" dirty="0"/>
              <a:t>Z</a:t>
            </a:r>
            <a:r>
              <a:rPr lang="ru-RU" dirty="0"/>
              <a:t>-</a:t>
            </a:r>
            <a:r>
              <a:rPr lang="en-US" dirty="0"/>
              <a:t>order</a:t>
            </a:r>
          </a:p>
          <a:p>
            <a:r>
              <a:rPr lang="en-US" b="1" dirty="0"/>
              <a:t>Canvas</a:t>
            </a:r>
            <a:r>
              <a:rPr lang="ru-RU" dirty="0"/>
              <a:t> показывает рисунок в текущий момент времени</a:t>
            </a:r>
          </a:p>
          <a:p>
            <a:pPr lvl="1"/>
            <a:r>
              <a:rPr lang="ru-RU" dirty="0"/>
              <a:t>Учитывает видимость фигур</a:t>
            </a:r>
          </a:p>
          <a:p>
            <a:pPr lvl="1"/>
            <a:r>
              <a:rPr lang="ru-RU" dirty="0"/>
              <a:t>Отображает с учётом </a:t>
            </a:r>
            <a:r>
              <a:rPr lang="en-US" dirty="0"/>
              <a:t>z-order</a:t>
            </a:r>
          </a:p>
          <a:p>
            <a:r>
              <a:rPr lang="en-US" b="1" dirty="0"/>
              <a:t>Timeline</a:t>
            </a:r>
            <a:r>
              <a:rPr lang="ru-RU" dirty="0"/>
              <a:t> показывает интервалы существования фигур</a:t>
            </a:r>
          </a:p>
          <a:p>
            <a:pPr lvl="1"/>
            <a:r>
              <a:rPr lang="ru-RU" dirty="0"/>
              <a:t>Вертикальная линия – текущий момент времени</a:t>
            </a:r>
          </a:p>
          <a:p>
            <a:pPr lvl="1"/>
            <a:r>
              <a:rPr lang="ru-RU" dirty="0"/>
              <a:t>Порядок дорожек – </a:t>
            </a:r>
            <a:r>
              <a:rPr lang="en-US" dirty="0"/>
              <a:t>z-order</a:t>
            </a:r>
          </a:p>
          <a:p>
            <a:pPr lvl="1"/>
            <a:endParaRPr lang="en-US" dirty="0"/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60FA4E90-4172-18E9-9709-886084BBCD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5807"/>
            <a:ext cx="5181600" cy="2916199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5421447-9D44-EA84-72A3-AF5FEAEC650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4864963"/>
            <a:ext cx="5181600" cy="13564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Canvas и Timeline —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dirty="0"/>
              <a:t> </a:t>
            </a:r>
            <a:r>
              <a:rPr lang="en-US" b="1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ru-RU" b="1" dirty="0"/>
              <a:t>модели</a:t>
            </a:r>
          </a:p>
          <a:p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аспект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1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9DBC-A964-F2D3-9603-8889D699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и </a:t>
            </a:r>
            <a:r>
              <a:rPr lang="en-US" dirty="0" err="1"/>
              <a:t>объекты</a:t>
            </a:r>
            <a:r>
              <a:rPr lang="en-US" dirty="0"/>
              <a:t> SFML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F6F1-0C4D-B5AF-AA21-614905BEC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9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D69261-E77D-BA0D-1AEA-1B8CE2E0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нужен ли </a:t>
            </a:r>
            <a:r>
              <a:rPr lang="en-US" dirty="0" err="1"/>
              <a:t>собственный</a:t>
            </a:r>
            <a:r>
              <a:rPr lang="en-US" dirty="0"/>
              <a:t> Rectangle?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4B0E1B-B9D2-A047-7946-061E525F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ru-RU" dirty="0"/>
              <a:t> класс </a:t>
            </a:r>
            <a:r>
              <a:rPr lang="en-US" dirty="0" err="1"/>
              <a:t>RectangleShape</a:t>
            </a:r>
            <a:endParaRPr lang="en-US" dirty="0"/>
          </a:p>
          <a:p>
            <a:r>
              <a:rPr lang="ru-RU" dirty="0"/>
              <a:t>У него есть:</a:t>
            </a:r>
          </a:p>
          <a:p>
            <a:pPr lvl="1"/>
            <a:r>
              <a:rPr lang="ru-RU" dirty="0"/>
              <a:t>положение</a:t>
            </a:r>
          </a:p>
          <a:p>
            <a:pPr lvl="1"/>
            <a:r>
              <a:rPr lang="ru-RU" dirty="0"/>
              <a:t>размер</a:t>
            </a:r>
          </a:p>
          <a:p>
            <a:pPr lvl="1"/>
            <a:r>
              <a:rPr lang="ru-RU" dirty="0"/>
              <a:t>цвет заливки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ru-RU" dirty="0"/>
              <a:t> в</a:t>
            </a:r>
            <a:r>
              <a:rPr lang="en-US" dirty="0"/>
              <a:t> Drawing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sf::</a:t>
            </a:r>
            <a:r>
              <a:rPr lang="en-US" dirty="0" err="1"/>
              <a:t>RectangleShape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900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9252-E1C8-DAC6-512B-07D47670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роли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19CB06-48D3-0BBD-7395-DA3C65550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2977194"/>
          </a:xfrm>
        </p:spPr>
        <p:txBody>
          <a:bodyPr/>
          <a:lstStyle/>
          <a:p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2B383A-3635-2AC0-0744-5AB16170D8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2163760"/>
              </p:ext>
            </p:extLst>
          </p:nvPr>
        </p:nvGraphicFramePr>
        <p:xfrm>
          <a:off x="838196" y="2864372"/>
          <a:ext cx="10515602" cy="1938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1">
                  <a:extLst>
                    <a:ext uri="{9D8B030D-6E8A-4147-A177-3AD203B41FA5}">
                      <a16:colId xmlns:a16="http://schemas.microsoft.com/office/drawing/2014/main" val="1921128066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696188369"/>
                    </a:ext>
                  </a:extLst>
                </a:gridCol>
              </a:tblGrid>
              <a:tr h="233084">
                <a:tc>
                  <a:txBody>
                    <a:bodyPr/>
                    <a:lstStyle/>
                    <a:p>
                      <a:r>
                        <a:rPr lang="en-US"/>
                        <a:t>Rectangle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sf::RectangleShape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478771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/>
                        <a:t>Фигура нашего рисунка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Графический примитив SFML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0914"/>
                  </a:ext>
                </a:extLst>
              </a:tr>
              <a:tr h="233084">
                <a:tc>
                  <a:txBody>
                    <a:bodyPr/>
                    <a:lstStyle/>
                    <a:p>
                      <a:r>
                        <a:rPr lang="en-US"/>
                        <a:t>MoveBy()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setPosition()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533255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/>
                        <a:t>HitTest()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Подготовлен к отрисовке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20173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dirty="0" err="1"/>
                        <a:t>Часть</a:t>
                      </a:r>
                      <a:r>
                        <a:rPr lang="en-US" dirty="0"/>
                        <a:t> Domain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Часть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графической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библиотеки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67853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0C1C53-0AEA-C268-7372-9A87FF134A1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082639"/>
            <a:ext cx="10515600" cy="1138774"/>
          </a:xfrm>
        </p:spPr>
        <p:txBody>
          <a:bodyPr/>
          <a:lstStyle/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sf::</a:t>
            </a:r>
            <a:r>
              <a:rPr lang="en-US" dirty="0" err="1"/>
              <a:t>RectangleShape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331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05D3-1F43-A413-C41C-D085CF86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добавить новую фигуру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B07E1-099D-D258-BBBC-19C871FB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Нужно добавить эллипсы</a:t>
            </a:r>
          </a:p>
          <a:p>
            <a:pPr lvl="1"/>
            <a:r>
              <a:rPr lang="ru-RU" dirty="0"/>
              <a:t>Есть ли в </a:t>
            </a:r>
            <a:r>
              <a:rPr lang="en-US" dirty="0"/>
              <a:t>SFML </a:t>
            </a:r>
            <a:r>
              <a:rPr lang="ru-RU" dirty="0"/>
              <a:t>класс </a:t>
            </a:r>
            <a:r>
              <a:rPr lang="en-US" dirty="0"/>
              <a:t>sf::</a:t>
            </a:r>
            <a:r>
              <a:rPr lang="en-US" dirty="0" err="1"/>
              <a:t>EllipseShape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Можем ли мы работать с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sf::</a:t>
            </a:r>
            <a:r>
              <a:rPr lang="en-US" dirty="0" err="1"/>
              <a:t>EllipseShape</a:t>
            </a:r>
            <a:r>
              <a:rPr lang="ru-RU" dirty="0"/>
              <a:t> через общий интерфейс</a:t>
            </a:r>
            <a:r>
              <a:rPr lang="en-US" dirty="0"/>
              <a:t>?</a:t>
            </a:r>
          </a:p>
          <a:p>
            <a:r>
              <a:rPr lang="en-US" dirty="0"/>
              <a:t>OCP</a:t>
            </a:r>
          </a:p>
          <a:p>
            <a:pPr lvl="1"/>
            <a:r>
              <a:rPr lang="ru-RU" dirty="0"/>
              <a:t>Не хотелось бы, чтобы важная ось изменений определялась устройством графической библиотеки</a:t>
            </a:r>
          </a:p>
          <a:p>
            <a:r>
              <a:rPr lang="ru-RU" dirty="0"/>
              <a:t>Не обязательно, что каждой фигуре предметной области будет соответствовать ровно один примитив </a:t>
            </a:r>
            <a:r>
              <a:rPr lang="en-US" dirty="0"/>
              <a:t>SFML</a:t>
            </a:r>
          </a:p>
          <a:p>
            <a:pPr lvl="1"/>
            <a:r>
              <a:rPr lang="ru-RU" dirty="0"/>
              <a:t>Пример: выноска = облачко + хвост</a:t>
            </a:r>
          </a:p>
          <a:p>
            <a:r>
              <a:rPr lang="ru-RU" dirty="0"/>
              <a:t>Не нарушаем ли </a:t>
            </a:r>
            <a:r>
              <a:rPr lang="en-US" dirty="0"/>
              <a:t>KISS </a:t>
            </a:r>
            <a:r>
              <a:rPr lang="ru-RU" dirty="0"/>
              <a:t>и </a:t>
            </a:r>
            <a:r>
              <a:rPr lang="en-US" dirty="0"/>
              <a:t>YAGNI?</a:t>
            </a:r>
          </a:p>
          <a:p>
            <a:pPr lvl="1"/>
            <a:r>
              <a:rPr lang="ru-RU" dirty="0"/>
              <a:t>Эллипс – ожидаемое требование</a:t>
            </a:r>
          </a:p>
          <a:p>
            <a:pPr lvl="1"/>
            <a:r>
              <a:rPr lang="ru-RU" dirty="0"/>
              <a:t>Расширяемость по видам фигур была свойством консольного приложения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12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3CFD-5772-EED6-EC7D-12EFE26A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Domain Model с SFML?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E32BC-AD8F-7FEE-510F-37125F79BE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Есть и другие технические способы</a:t>
            </a:r>
          </a:p>
          <a:p>
            <a:pPr lvl="1"/>
            <a:r>
              <a:rPr lang="ru-RU" dirty="0"/>
              <a:t>Унаследовать </a:t>
            </a:r>
            <a:r>
              <a:rPr lang="en-US" dirty="0"/>
              <a:t>Rectangle </a:t>
            </a:r>
            <a:r>
              <a:rPr lang="ru-RU" dirty="0"/>
              <a:t>от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endParaRPr lang="en-US" dirty="0"/>
          </a:p>
          <a:p>
            <a:pPr lvl="1"/>
            <a:r>
              <a:rPr lang="ru-RU" dirty="0"/>
              <a:t>Композиция: поместить </a:t>
            </a:r>
            <a:r>
              <a:rPr lang="en-US" dirty="0"/>
              <a:t>sf::Rectangle </a:t>
            </a:r>
            <a:r>
              <a:rPr lang="ru-RU" dirty="0"/>
              <a:t>внутрь </a:t>
            </a:r>
            <a:r>
              <a:rPr lang="en-US" dirty="0"/>
              <a:t>Rectangle</a:t>
            </a:r>
          </a:p>
          <a:p>
            <a:r>
              <a:rPr lang="ru-RU" dirty="0"/>
              <a:t>Проблема: модель зависит от библиотеки</a:t>
            </a:r>
          </a:p>
          <a:p>
            <a:pPr lvl="1"/>
            <a:r>
              <a:rPr lang="ru-RU" dirty="0"/>
              <a:t>Обновление или смена графической библиотеки могут потребовать изменить модель</a:t>
            </a:r>
          </a:p>
          <a:p>
            <a:r>
              <a:rPr lang="ru-RU" dirty="0"/>
              <a:t>Нарушение </a:t>
            </a:r>
            <a:r>
              <a:rPr lang="en-US" dirty="0"/>
              <a:t>SRP:</a:t>
            </a:r>
            <a:endParaRPr lang="ru-RU" dirty="0"/>
          </a:p>
          <a:p>
            <a:pPr lvl="1"/>
            <a:r>
              <a:rPr lang="ru-RU" dirty="0"/>
              <a:t>В одном компоненте разные источники изменения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Возможное нарушение </a:t>
            </a:r>
            <a:r>
              <a:rPr lang="en-US" dirty="0"/>
              <a:t>DIP:</a:t>
            </a:r>
          </a:p>
          <a:p>
            <a:pPr lvl="1"/>
            <a:r>
              <a:rPr lang="ru-RU" dirty="0"/>
              <a:t>Высокоуровневая зависит от технических деталей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B79C2F-FBCE-A0C6-F8AC-AB19A1E951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37895"/>
            <a:ext cx="5181600" cy="35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2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E285-0571-D345-E1DA-3BA0D1D1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встретиться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354E-9252-1086-52E4-F75A02B68E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Drawing; </a:t>
            </a:r>
          </a:p>
          <a:p>
            <a:pPr lvl="1"/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Domain Model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SFML. 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5C008-7AFB-C53E-C8EF-308DDBD435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9380" y="2553195"/>
            <a:ext cx="6151770" cy="25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2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824B-F923-1B13-8852-A8B1EC2E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9832F-9027-8A6B-2878-E475C1F00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34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F2E66A-6257-9F38-1CF3-6EC1DB2B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Знакомое </a:t>
            </a:r>
            <a:r>
              <a:rPr lang="en-US" dirty="0" err="1"/>
              <a:t>решение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себя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2A6B4-6691-0246-33B0-85F680028539}"/>
              </a:ext>
            </a:extLst>
          </p:cNvPr>
          <p:cNvSpPr txBox="1"/>
          <p:nvPr/>
        </p:nvSpPr>
        <p:spPr>
          <a:xfrm>
            <a:off x="838200" y="1825625"/>
            <a:ext cx="49906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FE45F9-AEB4-C0F0-A8E2-7467BEF8B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48514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OCP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→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ICanvas</a:t>
            </a:r>
            <a:endParaRPr lang="ru-RU" dirty="0"/>
          </a:p>
          <a:p>
            <a:r>
              <a:rPr lang="en-US" b="1" dirty="0"/>
              <a:t>DIP</a:t>
            </a:r>
            <a:r>
              <a:rPr lang="en-US" dirty="0"/>
              <a:t>: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endParaRPr lang="en-US" dirty="0"/>
          </a:p>
          <a:p>
            <a:endParaRPr lang="en-US" dirty="0"/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8C3D37BF-EB96-0651-BBA3-9EF6E93C18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21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83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D676-D886-2DEE-C03D-7325EA93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</a:t>
            </a:r>
            <a:r>
              <a:rPr lang="en-US" dirty="0" err="1"/>
              <a:t>лжна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ru-RU" dirty="0"/>
              <a:t>модель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DE6D-4EE4-B9EE-78BF-EBD318311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037609"/>
            <a:ext cx="10515600" cy="2139353"/>
          </a:xfrm>
        </p:spPr>
        <p:txBody>
          <a:bodyPr>
            <a:normAutofit/>
          </a:bodyPr>
          <a:lstStyle/>
          <a:p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скрыла</a:t>
            </a:r>
            <a:r>
              <a:rPr lang="en-US" dirty="0"/>
              <a:t> </a:t>
            </a:r>
            <a:r>
              <a:rPr lang="en-US" dirty="0" err="1"/>
              <a:t>технологию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endParaRPr lang="ru-RU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и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BB4F899-C6E6-C061-BA8B-247EBE7D8CC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578467"/>
              </p:ext>
            </p:extLst>
          </p:nvPr>
        </p:nvGraphicFramePr>
        <p:xfrm>
          <a:off x="6172200" y="1825625"/>
          <a:ext cx="5181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08">
                  <a:extLst>
                    <a:ext uri="{9D8B030D-6E8A-4147-A177-3AD203B41FA5}">
                      <a16:colId xmlns:a16="http://schemas.microsoft.com/office/drawing/2014/main" val="3822006242"/>
                    </a:ext>
                  </a:extLst>
                </a:gridCol>
                <a:gridCol w="3753592">
                  <a:extLst>
                    <a:ext uri="{9D8B030D-6E8A-4147-A177-3AD203B41FA5}">
                      <a16:colId xmlns:a16="http://schemas.microsoft.com/office/drawing/2014/main" val="109361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Почему она существует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8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MoveBy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Фигуру можно перемещать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3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HitTest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 фигуры есть геометрическая область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6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Draw()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Фигуру нужно показать пользователю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8674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B9F5FF-7F47-01E1-21D7-34A4EE9AC126}"/>
              </a:ext>
            </a:extLst>
          </p:cNvPr>
          <p:cNvSpPr txBox="1"/>
          <p:nvPr/>
        </p:nvSpPr>
        <p:spPr>
          <a:xfrm>
            <a:off x="838200" y="1825625"/>
            <a:ext cx="5181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2265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86C9-FCB0-9231-C5BF-A1D512B6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526B7-C074-5D2C-2E09-4B0EF1B52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60126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ru-RU" dirty="0"/>
              <a:t>, то это приведёт к появлению методов</a:t>
            </a:r>
            <a:endParaRPr lang="en-US" dirty="0"/>
          </a:p>
          <a:p>
            <a:pPr lvl="1"/>
            <a:r>
              <a:rPr lang="en-US" dirty="0" err="1"/>
              <a:t>DrawOnCanvas</a:t>
            </a:r>
            <a:r>
              <a:rPr lang="en-US" dirty="0"/>
              <a:t>(...);</a:t>
            </a:r>
          </a:p>
          <a:p>
            <a:pPr lvl="1"/>
            <a:r>
              <a:rPr lang="en-US" dirty="0" err="1"/>
              <a:t>DrawOnTimeline</a:t>
            </a:r>
            <a:r>
              <a:rPr lang="en-US" dirty="0"/>
              <a:t>(...);</a:t>
            </a:r>
          </a:p>
          <a:p>
            <a:pPr lvl="1"/>
            <a:r>
              <a:rPr lang="en-US" dirty="0" err="1"/>
              <a:t>DrawInPreview</a:t>
            </a:r>
            <a:r>
              <a:rPr lang="en-US" dirty="0"/>
              <a:t>(...);</a:t>
            </a:r>
          </a:p>
          <a:p>
            <a:r>
              <a:rPr lang="ru-RU" dirty="0"/>
              <a:t>Модель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организована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Модель – отдельно</a:t>
            </a:r>
          </a:p>
          <a:p>
            <a:pPr lvl="1"/>
            <a:r>
              <a:rPr lang="ru-RU" dirty="0"/>
              <a:t>Её представления - отдельно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680405-1630-856B-037A-3C1A955EF4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26" y="1825625"/>
            <a:ext cx="3955475" cy="22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8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680A-7269-5576-58E9-0767890B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Отображение</a:t>
            </a:r>
            <a:r>
              <a:rPr lang="en-US" dirty="0"/>
              <a:t> —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CEBE-05E1-F343-4D43-7C3400D4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167310"/>
            <a:ext cx="10515600" cy="10096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Renderer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модели</a:t>
            </a:r>
            <a:r>
              <a:rPr lang="en-US" dirty="0"/>
              <a:t> и о </a:t>
            </a:r>
            <a:r>
              <a:rPr lang="ru-RU" dirty="0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endParaRPr lang="en-US" dirty="0"/>
          </a:p>
          <a:p>
            <a:r>
              <a:rPr lang="en-US" dirty="0"/>
              <a:t>Domain Model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7B902-10B5-3AB4-4C84-99EBEAEC74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1807885"/>
            <a:ext cx="5181600" cy="3242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90752D-D55C-0D9D-C95C-F8BD37629246}"/>
              </a:ext>
            </a:extLst>
          </p:cNvPr>
          <p:cNvSpPr txBox="1"/>
          <p:nvPr/>
        </p:nvSpPr>
        <p:spPr>
          <a:xfrm>
            <a:off x="838200" y="1807885"/>
            <a:ext cx="518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sf::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0132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0A5E95-CF55-E7F1-0D2C-E6FCCF841326}"/>
              </a:ext>
            </a:extLst>
          </p:cNvPr>
          <p:cNvSpPr txBox="1"/>
          <p:nvPr/>
        </p:nvSpPr>
        <p:spPr>
          <a:xfrm>
            <a:off x="838200" y="1816924"/>
            <a:ext cx="80801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прямоугольник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эллипс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треугольник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D0318-303D-3947-8AFC-D77F71F0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как</a:t>
            </a:r>
            <a:r>
              <a:rPr lang="en-US" dirty="0"/>
              <a:t> Renderer </a:t>
            </a:r>
            <a:r>
              <a:rPr lang="en-US" dirty="0" err="1"/>
              <a:t>узнает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2C26E48-A821-C2F5-64F8-2C5AE8398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445" y="4851400"/>
            <a:ext cx="8824356" cy="155746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убрали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переместилась</a:t>
            </a:r>
            <a:r>
              <a:rPr lang="en-US" dirty="0"/>
              <a:t> в Renderer.</a:t>
            </a:r>
          </a:p>
          <a:p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?</a:t>
            </a:r>
          </a:p>
          <a:p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уничтожает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—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перераспределяет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0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572E-49DF-B513-CE44-234077A6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633C6-F279-5525-EB13-34F33F15F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93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6EFA86-135D-FA2D-2949-A351FE10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C2B298-7D4F-B31B-822C-CAEA2292A7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щелчка</a:t>
            </a:r>
            <a:r>
              <a:rPr lang="en-US" dirty="0"/>
              <a:t>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выделен</a:t>
            </a:r>
            <a:r>
              <a:rPr lang="ru-RU" dirty="0"/>
              <a:t>а</a:t>
            </a:r>
          </a:p>
          <a:p>
            <a:pPr lvl="1"/>
            <a:r>
              <a:rPr lang="ru-RU" dirty="0"/>
              <a:t>Пока </a:t>
            </a:r>
            <a:r>
              <a:rPr lang="en-US" dirty="0"/>
              <a:t>drag and drop</a:t>
            </a:r>
            <a:endParaRPr lang="ru-RU" dirty="0"/>
          </a:p>
          <a:p>
            <a:r>
              <a:rPr lang="en-US" dirty="0"/>
              <a:t>SFML</a:t>
            </a:r>
            <a:r>
              <a:rPr lang="ru-RU" dirty="0"/>
              <a:t> сообщает о действиях мыши</a:t>
            </a:r>
          </a:p>
          <a:p>
            <a:r>
              <a:rPr lang="ru-RU" dirty="0"/>
              <a:t>Фигуры, по которым щёлкает пользователь, находятся в доменной модели</a:t>
            </a:r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с </a:t>
            </a:r>
            <a:r>
              <a:rPr lang="en-US" dirty="0" err="1"/>
              <a:t>объектом</a:t>
            </a:r>
            <a:r>
              <a:rPr lang="en-US" dirty="0"/>
              <a:t> Domain Model?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91252EB-FFDA-2C1E-5922-161973E8EE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94382"/>
            <a:ext cx="5181600" cy="201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1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BFEF-31B9-CAF1-B9D2-A724934D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ru-RU" dirty="0"/>
              <a:t>мыши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E080-9E98-BC41-94C0-CD02C3E6F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926543"/>
          </a:xfrm>
        </p:spPr>
        <p:txBody>
          <a:bodyPr/>
          <a:lstStyle/>
          <a:p>
            <a:r>
              <a:rPr lang="en-US" dirty="0"/>
              <a:t>SFML </a:t>
            </a:r>
            <a:r>
              <a:rPr lang="ru-RU" dirty="0"/>
              <a:t>сообщает о событии нажатия кнопки мыши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745BB-6032-04F5-B276-C4C3E9CC6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999512"/>
            <a:ext cx="10515600" cy="1177451"/>
          </a:xfrm>
        </p:spPr>
        <p:txBody>
          <a:bodyPr/>
          <a:lstStyle/>
          <a:p>
            <a:r>
              <a:rPr lang="ru-RU" dirty="0"/>
              <a:t>Как определить объект рисунка, находящийся в заданной точке</a:t>
            </a:r>
            <a:r>
              <a:rPr lang="en-US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2CEEB-40CF-04FD-15D7-1676FCC02284}"/>
              </a:ext>
            </a:extLst>
          </p:cNvPr>
          <p:cNvSpPr txBox="1"/>
          <p:nvPr/>
        </p:nvSpPr>
        <p:spPr>
          <a:xfrm>
            <a:off x="838200" y="2752168"/>
            <a:ext cx="84601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sf::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Найти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фигуру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которую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нажали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C3AA30-DC2E-E83C-3A4E-C84E9A09B4BC}"/>
              </a:ext>
            </a:extLst>
          </p:cNvPr>
          <p:cNvSpPr txBox="1"/>
          <p:nvPr/>
        </p:nvSpPr>
        <p:spPr>
          <a:xfrm>
            <a:off x="7386453" y="3458321"/>
            <a:ext cx="4393870" cy="1541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(sf::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Vector2i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4067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309A-184C-E47E-0165-91A3354A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точке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8AE7-D776-0DF9-054B-A4EFCF05F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r>
              <a:rPr lang="ru-RU" dirty="0"/>
              <a:t>У фигуры есть метод </a:t>
            </a:r>
            <a:r>
              <a:rPr lang="en-US" dirty="0" err="1"/>
              <a:t>HitTest</a:t>
            </a:r>
            <a:endParaRPr lang="en-US" dirty="0"/>
          </a:p>
          <a:p>
            <a:r>
              <a:rPr lang="ru-RU" dirty="0"/>
              <a:t>Рисунок содержит несколько фигур</a:t>
            </a:r>
            <a:endParaRPr lang="en-US" dirty="0"/>
          </a:p>
          <a:p>
            <a:pPr lvl="1"/>
            <a:r>
              <a:rPr lang="ru-RU" dirty="0"/>
              <a:t>Если точка принадлежит нескольким фигурам, выбираем ближайшую к зрителю</a:t>
            </a:r>
            <a:endParaRPr lang="en-US" dirty="0"/>
          </a:p>
          <a:p>
            <a:r>
              <a:rPr lang="en-US" dirty="0"/>
              <a:t>Drawing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z-order.</a:t>
            </a:r>
            <a:endParaRPr lang="ru-RU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5B7C4-40D5-B82C-F7E2-4D2997124F9A}"/>
              </a:ext>
            </a:extLst>
          </p:cNvPr>
          <p:cNvSpPr txBox="1"/>
          <p:nvPr/>
        </p:nvSpPr>
        <p:spPr>
          <a:xfrm>
            <a:off x="6096000" y="1804677"/>
            <a:ext cx="6096000" cy="324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~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HitTest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Drawing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std::views::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098691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BF7D-1218-8B60-F1A3-3179C0E2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Обработаем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58B11-0DBB-C261-ECAD-558DE3F1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9992"/>
            <a:ext cx="10515600" cy="67697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KISS/YAGNI: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выделяем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F2DF8-87DA-BF58-B4B7-93DC71569B21}"/>
              </a:ext>
            </a:extLst>
          </p:cNvPr>
          <p:cNvSpPr txBox="1"/>
          <p:nvPr/>
        </p:nvSpPr>
        <p:spPr>
          <a:xfrm>
            <a:off x="838200" y="1825625"/>
            <a:ext cx="1051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pollEvent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-&gt;is&lt;sf::Event::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renderer.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1F377F"/>
                </a:solidFill>
                <a:latin typeface="Consolas" panose="020B0609020204030204" pitchFamily="49" charset="0"/>
              </a:rPr>
              <a:t>selectedShape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8053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4474-6E21-27B7-E03C-CE791B6E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закончилось</a:t>
            </a:r>
            <a:r>
              <a:rPr lang="en-US" dirty="0"/>
              <a:t>, а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остался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57AD62-BA7C-F4EA-E932-F453B1F9C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9883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Domain Model</a:t>
            </a:r>
            <a:endParaRPr lang="ru-RU" dirty="0"/>
          </a:p>
          <a:p>
            <a:pPr lvl="1"/>
            <a:r>
              <a:rPr lang="ru-RU" dirty="0"/>
              <a:t>Кроме рисунка появляется </a:t>
            </a:r>
            <a:r>
              <a:rPr lang="ru-RU" b="1" dirty="0"/>
              <a:t>состояние редактирования</a:t>
            </a:r>
            <a:endParaRPr lang="ru-RU" dirty="0"/>
          </a:p>
          <a:p>
            <a:pPr lvl="2"/>
            <a:r>
              <a:rPr lang="ru-RU" dirty="0"/>
              <a:t>Выделенная фигура, текущее время, активный инструмент редактирования</a:t>
            </a:r>
          </a:p>
          <a:p>
            <a:pPr lvl="1"/>
            <a:r>
              <a:rPr lang="ru-RU" dirty="0"/>
              <a:t>Часть состояния принадлежит отдельному представлению</a:t>
            </a:r>
          </a:p>
          <a:p>
            <a:pPr lvl="2"/>
            <a:r>
              <a:rPr lang="ru-RU" dirty="0"/>
              <a:t>Масштаб холста и порт просмотра</a:t>
            </a:r>
          </a:p>
          <a:p>
            <a:pPr lvl="2"/>
            <a:r>
              <a:rPr lang="ru-RU" dirty="0"/>
              <a:t>Позиция полосы прокрутки, масштаб временной шкалы</a:t>
            </a:r>
          </a:p>
          <a:p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смыслом</a:t>
            </a:r>
            <a:r>
              <a:rPr lang="en-US" dirty="0"/>
              <a:t> и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KISS/YAGNI</a:t>
            </a:r>
            <a:r>
              <a:rPr lang="ru-RU" dirty="0"/>
              <a:t> не запрещают размышлять о границах ответственности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3DA65DE-8791-1EFC-7DE1-3FB490C752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68" y="1825625"/>
            <a:ext cx="2371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9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EE5E-C11B-740C-FEAB-CC3D8566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99D9-138B-A3F2-5CE0-BD8DE4B5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15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C2BA2-8459-71EA-1C35-7A47704C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62FAE-D523-159D-3643-A8948DBB5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Раньше состояние приложения находилось в </a:t>
            </a:r>
            <a:r>
              <a:rPr lang="en-US" dirty="0"/>
              <a:t>Drawing</a:t>
            </a:r>
            <a:r>
              <a:rPr lang="ru-RU" dirty="0"/>
              <a:t> и фигурах</a:t>
            </a:r>
          </a:p>
          <a:p>
            <a:r>
              <a:rPr lang="ru-RU" dirty="0"/>
              <a:t>Как только мы добавили выбор фигуры, в программе появилась новая переменная</a:t>
            </a:r>
            <a:endParaRPr lang="en-US" dirty="0"/>
          </a:p>
          <a:p>
            <a:pPr lvl="1"/>
            <a:r>
              <a:rPr lang="en-US" dirty="0"/>
              <a:t>const </a:t>
            </a:r>
            <a:r>
              <a:rPr lang="en-US" dirty="0" err="1"/>
              <a:t>IShape</a:t>
            </a:r>
            <a:r>
              <a:rPr lang="en-US" dirty="0"/>
              <a:t>* </a:t>
            </a:r>
            <a:r>
              <a:rPr lang="en-US" dirty="0" err="1"/>
              <a:t>selectedShape</a:t>
            </a:r>
            <a:endParaRPr lang="en-US" dirty="0"/>
          </a:p>
          <a:p>
            <a:r>
              <a:rPr lang="en-US" dirty="0" err="1"/>
              <a:t>Скоро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При перетаскивании</a:t>
            </a:r>
            <a:r>
              <a:rPr lang="en-US" dirty="0"/>
              <a:t>: </a:t>
            </a:r>
            <a:r>
              <a:rPr lang="en-US" dirty="0" err="1"/>
              <a:t>isDragging</a:t>
            </a:r>
            <a:r>
              <a:rPr lang="en-US" dirty="0"/>
              <a:t>, </a:t>
            </a:r>
            <a:r>
              <a:rPr lang="en-US" dirty="0" err="1"/>
              <a:t>grabOffset</a:t>
            </a:r>
            <a:endParaRPr lang="en-US" dirty="0"/>
          </a:p>
          <a:p>
            <a:pPr lvl="1"/>
            <a:r>
              <a:rPr lang="ru-RU" dirty="0"/>
              <a:t>Для создания мышью: </a:t>
            </a:r>
            <a:r>
              <a:rPr lang="en-US" dirty="0" err="1"/>
              <a:t>activeTool</a:t>
            </a:r>
            <a:endParaRPr lang="ru-RU" dirty="0"/>
          </a:p>
          <a:p>
            <a:pPr lvl="1"/>
            <a:r>
              <a:rPr lang="ru-RU" dirty="0"/>
              <a:t>При поддержке анимаций: </a:t>
            </a:r>
            <a:r>
              <a:rPr lang="en-US" dirty="0" err="1"/>
              <a:t>currentTime</a:t>
            </a:r>
            <a:endParaRPr lang="en-US" dirty="0"/>
          </a:p>
          <a:p>
            <a:r>
              <a:rPr lang="ru-RU" dirty="0"/>
              <a:t>К какой части программы относится это состояние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Рисунок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Состояние работы пользователя с рисунком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91860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2458-CD43-68BC-6154-6184C0C5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ru-RU" dirty="0"/>
              <a:t>бы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ru-RU" dirty="0"/>
              <a:t>информацию</a:t>
            </a:r>
            <a:r>
              <a:rPr lang="en-US" dirty="0"/>
              <a:t> </a:t>
            </a:r>
            <a:r>
              <a:rPr lang="ru-RU" dirty="0"/>
              <a:t>о выделении </a:t>
            </a:r>
            <a:r>
              <a:rPr lang="en-US" dirty="0"/>
              <a:t>в Domain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04EC-A132-349C-1A31-DAD0C4902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08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b="1" dirty="0"/>
              <a:t>selected</a:t>
            </a:r>
            <a:r>
              <a:rPr lang="en-US" dirty="0"/>
              <a:t> —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Проверяем гипотезу</a:t>
            </a:r>
            <a:endParaRPr lang="en-US" dirty="0"/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selected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ru-RU" dirty="0"/>
              <a:t>, где редактируется</a:t>
            </a:r>
            <a:r>
              <a:rPr lang="en-US" dirty="0"/>
              <a:t> Drawing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?</a:t>
            </a:r>
            <a:endParaRPr lang="ru-RU" dirty="0"/>
          </a:p>
          <a:p>
            <a:r>
              <a:rPr lang="en-US" b="1" dirty="0" err="1"/>
              <a:t>selectedShape</a:t>
            </a:r>
            <a:r>
              <a:rPr lang="ru-RU" dirty="0"/>
              <a:t> характеризует текущий контекст работы с рисунком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EB74D-664B-30B5-5BA2-BFE80462CDE8}"/>
              </a:ext>
            </a:extLst>
          </p:cNvPr>
          <p:cNvSpPr txBox="1"/>
          <p:nvPr/>
        </p:nvSpPr>
        <p:spPr>
          <a:xfrm>
            <a:off x="7199086" y="1825625"/>
            <a:ext cx="48913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282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2368-3356-DA12-EF15-0A628B30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общей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78AA3-7A77-F3F9-E4B8-9EEDD192B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942944" cy="4351338"/>
          </a:xfrm>
        </p:spPr>
        <p:txBody>
          <a:bodyPr>
            <a:normAutofit/>
          </a:bodyPr>
          <a:lstStyle/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Общее для нескольких представление:</a:t>
            </a:r>
          </a:p>
          <a:p>
            <a:pPr lvl="2"/>
            <a:r>
              <a:rPr lang="ru-RU" dirty="0"/>
              <a:t>Выделение</a:t>
            </a:r>
          </a:p>
          <a:p>
            <a:pPr lvl="2"/>
            <a:r>
              <a:rPr lang="ru-RU" dirty="0"/>
              <a:t>Текущее время</a:t>
            </a:r>
          </a:p>
          <a:p>
            <a:pPr lvl="1"/>
            <a:r>
              <a:rPr lang="ru-RU" dirty="0"/>
              <a:t>Локальное для каждого</a:t>
            </a:r>
          </a:p>
          <a:p>
            <a:pPr lvl="2"/>
            <a:r>
              <a:rPr lang="ru-RU" dirty="0"/>
              <a:t>Масштаб и видимая область холста</a:t>
            </a:r>
          </a:p>
          <a:p>
            <a:pPr lvl="2"/>
            <a:r>
              <a:rPr lang="ru-RU" dirty="0"/>
              <a:t>Масштаб временной шкалы и положение</a:t>
            </a:r>
          </a:p>
          <a:p>
            <a:r>
              <a:rPr lang="ru-RU" dirty="0"/>
              <a:t>Что должно изменяться вместе, а что – независимо</a:t>
            </a:r>
            <a:r>
              <a:rPr lang="en-US" dirty="0"/>
              <a:t>?</a:t>
            </a:r>
          </a:p>
        </p:txBody>
      </p:sp>
      <p:pic>
        <p:nvPicPr>
          <p:cNvPr id="6" name="Content Placeholder 13">
            <a:extLst>
              <a:ext uri="{FF2B5EF4-FFF2-40B4-BE49-F238E27FC236}">
                <a16:creationId xmlns:a16="http://schemas.microsoft.com/office/drawing/2014/main" id="{05B928F4-D850-6E03-B1D4-4F7B96BB4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68" y="1825625"/>
            <a:ext cx="2371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7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9B3B-B298-7B1B-05DB-32B598AE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F532-E01B-F783-23D8-1DC709953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Состояние рисунка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фигуры, геометрия, </a:t>
            </a:r>
            <a:r>
              <a:rPr lang="en-US" dirty="0"/>
              <a:t>z-order, </a:t>
            </a:r>
            <a:r>
              <a:rPr lang="ru-RU" dirty="0"/>
              <a:t>время появления и исчезновения</a:t>
            </a:r>
          </a:p>
          <a:p>
            <a:r>
              <a:rPr lang="ru-RU" dirty="0"/>
              <a:t>Состояние редактирования</a:t>
            </a:r>
          </a:p>
          <a:p>
            <a:pPr lvl="1"/>
            <a:r>
              <a:rPr lang="ru-RU" dirty="0"/>
              <a:t>Выбранная фигура, текущее время, активный инструмент</a:t>
            </a:r>
          </a:p>
          <a:p>
            <a:r>
              <a:rPr lang="ru-RU" dirty="0"/>
              <a:t>Локальное состояние интерфейса</a:t>
            </a:r>
          </a:p>
          <a:p>
            <a:pPr lvl="1"/>
            <a:r>
              <a:rPr lang="ru-RU" dirty="0"/>
              <a:t>Холст: масштаб</a:t>
            </a:r>
            <a:r>
              <a:rPr lang="en-US" dirty="0"/>
              <a:t>, </a:t>
            </a:r>
            <a:r>
              <a:rPr lang="ru-RU" dirty="0"/>
              <a:t>видимая область</a:t>
            </a:r>
            <a:endParaRPr lang="en-US" dirty="0"/>
          </a:p>
          <a:p>
            <a:pPr lvl="1"/>
            <a:r>
              <a:rPr lang="ru-RU" dirty="0"/>
              <a:t>Таймлайн: масштаб отображения времени, позиция прокрутки</a:t>
            </a:r>
          </a:p>
          <a:p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смыслом</a:t>
            </a:r>
            <a:r>
              <a:rPr lang="en-US" dirty="0"/>
              <a:t> и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endParaRPr lang="ru-RU" dirty="0"/>
          </a:p>
          <a:p>
            <a:r>
              <a:rPr lang="en-US" b="1" dirty="0"/>
              <a:t>Cohesion: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и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связанным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  <a:endParaRPr lang="ru-RU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56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4955-2706-8667-DF91-8E9EE729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5051-0BA0-9C71-36D6-C70F1D81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38371" cy="4351338"/>
          </a:xfrm>
        </p:spPr>
        <p:txBody>
          <a:bodyPr>
            <a:normAutofit/>
          </a:bodyPr>
          <a:lstStyle/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EditorSession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Хранит выбранную фигуру, текущий момент времени, инструмент и прочее.</a:t>
            </a:r>
          </a:p>
          <a:p>
            <a:r>
              <a:rPr lang="en-US" b="1" dirty="0"/>
              <a:t>KISS/YAGNI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≠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перерастёт</a:t>
            </a:r>
            <a:r>
              <a:rPr lang="en-US" dirty="0"/>
              <a:t> </a:t>
            </a:r>
            <a:r>
              <a:rPr lang="ru-RU" dirty="0"/>
              <a:t>функцию </a:t>
            </a:r>
            <a:r>
              <a:rPr lang="en-US" dirty="0"/>
              <a:t>main?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FD9A6-9F39-9E55-F2EA-878D465D0FBC}"/>
              </a:ext>
            </a:extLst>
          </p:cNvPr>
          <p:cNvSpPr txBox="1"/>
          <p:nvPr/>
        </p:nvSpPr>
        <p:spPr>
          <a:xfrm>
            <a:off x="6865256" y="1825625"/>
            <a:ext cx="4488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GetCurrentTime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...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m_currentTime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5045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867A-5EC9-6159-F983-50FDF4D3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F500F-490D-CC89-C849-F83BA92E5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70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16320-4093-7A43-6CA6-D12A2683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3A790-4701-1508-3B2C-A211FFBC5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95957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перетаскивать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</a:t>
            </a:r>
            <a:r>
              <a:rPr lang="en-US" dirty="0" err="1"/>
              <a:t>еретащить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A в </a:t>
            </a:r>
            <a:r>
              <a:rPr lang="en-US" dirty="0" err="1"/>
              <a:t>точку</a:t>
            </a:r>
            <a:r>
              <a:rPr lang="en-US" dirty="0"/>
              <a:t> B</a:t>
            </a:r>
          </a:p>
          <a:p>
            <a:r>
              <a:rPr lang="en-US" dirty="0"/>
              <a:t>SFML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MouseButtonPressed</a:t>
            </a:r>
            <a:r>
              <a:rPr lang="en-US" dirty="0"/>
              <a:t>, MouseMoved, MouseMoved, …, </a:t>
            </a:r>
            <a:r>
              <a:rPr lang="en-US" dirty="0" err="1"/>
              <a:t>MouseButtonReleased</a:t>
            </a:r>
            <a:endParaRPr lang="ru-RU" dirty="0"/>
          </a:p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≠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A7AA0F-B668-6438-58D8-265274D19D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920134"/>
            <a:ext cx="5181600" cy="27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51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372C-651F-027B-B1D1-A88FCFA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drag </a:t>
            </a:r>
            <a:r>
              <a:rPr lang="en-US" dirty="0" err="1"/>
              <a:t>прямо</a:t>
            </a:r>
            <a:r>
              <a:rPr lang="en-US" dirty="0"/>
              <a:t> в 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03AF3-49E8-B546-3A65-2D91A21B5C43}"/>
              </a:ext>
            </a:extLst>
          </p:cNvPr>
          <p:cNvSpPr txBox="1"/>
          <p:nvPr/>
        </p:nvSpPr>
        <p:spPr>
          <a:xfrm>
            <a:off x="682170" y="1690687"/>
            <a:ext cx="11509829" cy="4310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selectedShape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mouseButtonReleased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MouseButtonReleased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538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E266-BAC6-7DFE-F7E3-4240C3DA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A2FD-3368-B090-6961-A5BF295DD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MouseMoved </a:t>
            </a:r>
            <a:r>
              <a:rPr lang="ru-RU" dirty="0"/>
              <a:t>может означать</a:t>
            </a:r>
          </a:p>
          <a:p>
            <a:pPr lvl="1"/>
            <a:r>
              <a:rPr lang="ru-RU" dirty="0"/>
              <a:t>Просто перемещение курсора</a:t>
            </a:r>
          </a:p>
          <a:p>
            <a:pPr lvl="1"/>
            <a:r>
              <a:rPr lang="ru-RU" dirty="0"/>
              <a:t>Продолжение </a:t>
            </a:r>
            <a:r>
              <a:rPr lang="en-US" dirty="0"/>
              <a:t>drag</a:t>
            </a:r>
            <a:endParaRPr lang="ru-RU" dirty="0"/>
          </a:p>
          <a:p>
            <a:pPr lvl="1"/>
            <a:r>
              <a:rPr lang="ru-RU" dirty="0"/>
              <a:t>Продолжение </a:t>
            </a:r>
            <a:r>
              <a:rPr lang="en-US" dirty="0"/>
              <a:t>resize</a:t>
            </a:r>
          </a:p>
          <a:p>
            <a:pPr lvl="1"/>
            <a:r>
              <a:rPr lang="ru-RU" dirty="0"/>
              <a:t>Рисование новой фигуры</a:t>
            </a:r>
          </a:p>
          <a:p>
            <a:pPr lvl="1"/>
            <a:r>
              <a:rPr lang="ru-RU" dirty="0"/>
              <a:t>Панорамирование видимой области холста без смены рисунка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91F4D-E688-EBFC-260E-4B9D67132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Состояние взаимодействия</a:t>
            </a:r>
          </a:p>
          <a:p>
            <a:pPr lvl="1"/>
            <a:r>
              <a:rPr lang="ru-RU" dirty="0"/>
              <a:t>Активного инструмента</a:t>
            </a:r>
          </a:p>
          <a:p>
            <a:pPr lvl="1"/>
            <a:r>
              <a:rPr lang="ru-RU" dirty="0"/>
              <a:t>Состояния доменной модели</a:t>
            </a:r>
          </a:p>
          <a:p>
            <a:r>
              <a:rPr lang="ru-RU" dirty="0"/>
              <a:t>Новая ответственность:</a:t>
            </a:r>
          </a:p>
          <a:p>
            <a:pPr lvl="1"/>
            <a:r>
              <a:rPr lang="en-US" dirty="0" err="1"/>
              <a:t>Низкоуровневые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в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6305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BAAB-54D2-9D62-1840-9CFDF303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main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E244-4345-DA09-EB0E-62FA3D029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main?</a:t>
            </a:r>
            <a:endParaRPr lang="ru-RU" dirty="0"/>
          </a:p>
          <a:p>
            <a:pPr lvl="1"/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и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endParaRPr lang="ru-RU" dirty="0"/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event loop</a:t>
            </a:r>
            <a:endParaRPr lang="ru-RU" dirty="0"/>
          </a:p>
          <a:p>
            <a:pPr lvl="1"/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endParaRPr lang="ru-RU" dirty="0"/>
          </a:p>
          <a:p>
            <a:pPr lvl="1"/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ru-RU" dirty="0"/>
          </a:p>
          <a:p>
            <a:pPr lvl="1"/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drag</a:t>
            </a:r>
            <a:endParaRPr lang="ru-RU" dirty="0"/>
          </a:p>
          <a:p>
            <a:pPr lvl="1"/>
            <a:r>
              <a:rPr lang="en-US" dirty="0" err="1"/>
              <a:t>интерпретирует</a:t>
            </a:r>
            <a:r>
              <a:rPr lang="en-US" dirty="0"/>
              <a:t> MouseMoved</a:t>
            </a:r>
            <a:endParaRPr lang="ru-RU" dirty="0"/>
          </a:p>
          <a:p>
            <a:pPr lvl="1"/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endParaRPr lang="ru-RU" dirty="0"/>
          </a:p>
          <a:p>
            <a:pPr lvl="1"/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0AE48-C963-AECF-DA61-8FC362A1C6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SRP:</a:t>
            </a:r>
            <a:endParaRPr lang="ru-RU" b="1" dirty="0"/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Cohesion:</a:t>
            </a:r>
          </a:p>
          <a:p>
            <a:pPr lvl="1"/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2334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A992-D325-5E97-9D55-AC53BFB0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Выделяем </a:t>
            </a:r>
            <a:r>
              <a:rPr lang="en-US" dirty="0" err="1"/>
              <a:t>интерпретацию</a:t>
            </a:r>
            <a:r>
              <a:rPr lang="en-US" dirty="0"/>
              <a:t> </a:t>
            </a:r>
            <a:r>
              <a:rPr lang="en-US" dirty="0" err="1"/>
              <a:t>ввода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4A3189-C389-37C5-F4B1-393767A79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026" cy="4351338"/>
          </a:xfrm>
        </p:spPr>
        <p:txBody>
          <a:bodyPr/>
          <a:lstStyle/>
          <a:p>
            <a:r>
              <a:rPr lang="ru-RU" dirty="0"/>
              <a:t>Вынесем ответственность в отдельный компонент</a:t>
            </a:r>
            <a:r>
              <a:rPr lang="en-US" dirty="0"/>
              <a:t> </a:t>
            </a:r>
            <a:r>
              <a:rPr lang="en-US" dirty="0" err="1"/>
              <a:t>EditorController</a:t>
            </a:r>
            <a:endParaRPr lang="ru-RU" dirty="0"/>
          </a:p>
          <a:p>
            <a:pPr lvl="1"/>
            <a:r>
              <a:rPr lang="ru-RU" dirty="0"/>
              <a:t>Хранит состояние для интерпретации событий</a:t>
            </a:r>
          </a:p>
          <a:p>
            <a:pPr lvl="1"/>
            <a:r>
              <a:rPr lang="ru-RU" dirty="0"/>
              <a:t>Инициирует операции на </a:t>
            </a:r>
            <a:r>
              <a:rPr lang="en-US" dirty="0"/>
              <a:t>Drawing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79305-C30C-8621-56F2-C87E1EDF28EA}"/>
              </a:ext>
            </a:extLst>
          </p:cNvPr>
          <p:cNvSpPr txBox="1"/>
          <p:nvPr/>
        </p:nvSpPr>
        <p:spPr>
          <a:xfrm>
            <a:off x="6239776" y="1825625"/>
            <a:ext cx="51140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OnMouseMoved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OnMouseReleased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m_lastMousePosition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27806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B9FC-A05F-8900-253B-1CB3EBA4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Выделим 3 группы обязанностей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9FA9-9B64-1195-9B8E-E3FB311E4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Drawing </a:t>
            </a:r>
            <a:r>
              <a:rPr lang="ru-RU" dirty="0"/>
              <a:t>и фигуры описывают состояние предметной области и её поведение</a:t>
            </a:r>
          </a:p>
          <a:p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ru-RU" dirty="0"/>
              <a:t>представляет состояние пользователю</a:t>
            </a:r>
          </a:p>
          <a:p>
            <a:r>
              <a:rPr lang="en-US" dirty="0" err="1"/>
              <a:t>EditorController</a:t>
            </a:r>
            <a:r>
              <a:rPr lang="ru-RU" dirty="0"/>
              <a:t> интерпретирует действия пользователя и инициирует изменения модели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отделены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3110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201EDB-76DD-BDE0-0D34-F79FBAAC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 следует…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617B8-AD0B-CB82-C939-5EDCDAB5F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5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2637-573B-EAEC-8C37-0D2FCA62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Обнаруживаем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Model, View и Controller.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70DFB-BF0B-E47B-9A66-5F8215F5C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1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D83B-F592-E0D9-D3B4-74DE81EC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реакций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→ </a:t>
            </a:r>
            <a:r>
              <a:rPr lang="en-US" dirty="0" err="1"/>
              <a:t>мотивация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C7EB5-63D6-ECE6-5B44-DEA0563E8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52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9B1C-DFFB-968C-0A71-929C9345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F91D-31DE-ED81-F9A7-35223A4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37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C494-5FB2-1925-FC9C-2F291002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Итоги</a:t>
            </a:r>
            <a:r>
              <a:rPr lang="en-US" dirty="0"/>
              <a:t> и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07F54-C71F-DBE4-BB91-2FAA3484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1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8743</Words>
  <Application>Microsoft Office PowerPoint</Application>
  <PresentationFormat>Widescreen</PresentationFormat>
  <Paragraphs>1030</Paragraphs>
  <Slides>47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Consolas</vt:lpstr>
      <vt:lpstr>Office Theme</vt:lpstr>
      <vt:lpstr>От модели к интерфейсу: Проектируем интерактивное приложение</vt:lpstr>
      <vt:lpstr>От консольного редактора к графическому</vt:lpstr>
      <vt:lpstr>SFML как графический инструментарий</vt:lpstr>
      <vt:lpstr>Минимальное графическое приложение</vt:lpstr>
      <vt:lpstr>Но это ещё не наш редактор</vt:lpstr>
      <vt:lpstr>Модель предметной области</vt:lpstr>
      <vt:lpstr>Два прямоугольника</vt:lpstr>
      <vt:lpstr>Модель предметной области (Domain Model*)</vt:lpstr>
      <vt:lpstr>Модель — это не просто данные</vt:lpstr>
      <vt:lpstr>Где проходит граница модели?</vt:lpstr>
      <vt:lpstr>Одна модель — несколько представлений</vt:lpstr>
      <vt:lpstr>Модель редактора и объекты SFML — не одно и то же</vt:lpstr>
      <vt:lpstr>А нужен ли собственный Rectangle?</vt:lpstr>
      <vt:lpstr>Похожие данные — разные роли</vt:lpstr>
      <vt:lpstr>Как добавить новую фигуру</vt:lpstr>
      <vt:lpstr>Что если связать Domain Model с SFML?</vt:lpstr>
      <vt:lpstr>Две части всё равно должны встретиться</vt:lpstr>
      <vt:lpstr>Где должна жить логика отображения?</vt:lpstr>
      <vt:lpstr>Знакомое решение: фигура рисует себя</vt:lpstr>
      <vt:lpstr>Должна ли модель уметь рисовать себя?</vt:lpstr>
      <vt:lpstr>Одну модель можно представлять по-разному</vt:lpstr>
      <vt:lpstr>Отображение — отдельная ответственность</vt:lpstr>
      <vt:lpstr>А как Renderer узнает тип фигуры?</vt:lpstr>
      <vt:lpstr>Добавляем взаимодействие мышью</vt:lpstr>
      <vt:lpstr>Новое требование: выбрать фигуру мышью</vt:lpstr>
      <vt:lpstr>SFML знает координаты мыши, но не знает наши фигуры</vt:lpstr>
      <vt:lpstr>Какая фигура находится в точке?</vt:lpstr>
      <vt:lpstr>Обработаем выбор прямо в main</vt:lpstr>
      <vt:lpstr>Событие закончилось, а выбор остался</vt:lpstr>
      <vt:lpstr>Где хранить состояние взаимодействия? </vt:lpstr>
      <vt:lpstr>У редактора появилось новое состояние</vt:lpstr>
      <vt:lpstr>Почему бы не поместить информацию о выделении в Domain Model?</vt:lpstr>
      <vt:lpstr>Но часть состояния должна быть общей</vt:lpstr>
      <vt:lpstr>У состояния разные области жизни</vt:lpstr>
      <vt:lpstr>Понимать границу — не значит сразу создавать класс</vt:lpstr>
      <vt:lpstr>Кто интерпретирует пользовательский ввод? </vt:lpstr>
      <vt:lpstr>Одно действие — несколько событий</vt:lpstr>
      <vt:lpstr>Сначала реализуем drag прямо в main</vt:lpstr>
      <vt:lpstr>События нужно интерпретировать</vt:lpstr>
      <vt:lpstr>У main появилась новая причина для изменения</vt:lpstr>
      <vt:lpstr>Выделяем интерпретацию ввода</vt:lpstr>
      <vt:lpstr>Выделим 3 группы обязанностей</vt:lpstr>
      <vt:lpstr>Продолжение следует…</vt:lpstr>
      <vt:lpstr>Обнаруживаем роли Model, View и Controller. </vt:lpstr>
      <vt:lpstr>Несколько реакций на изменение модели → мотивация</vt:lpstr>
      <vt:lpstr>Observer. </vt:lpstr>
      <vt:lpstr>Итоги и цена архитектуры.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14</cp:revision>
  <dcterms:created xsi:type="dcterms:W3CDTF">2026-09-15T20:04:56Z</dcterms:created>
  <dcterms:modified xsi:type="dcterms:W3CDTF">2026-09-17T17:52:06Z</dcterms:modified>
</cp:coreProperties>
</file>