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5" r:id="rId68"/>
    <p:sldId id="326" r:id="rId69"/>
    <p:sldId id="322" r:id="rId70"/>
    <p:sldId id="323" r:id="rId71"/>
    <p:sldId id="324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4" r:id="rId88"/>
    <p:sldId id="342" r:id="rId89"/>
    <p:sldId id="343" r:id="rId90"/>
    <p:sldId id="351" r:id="rId91"/>
    <p:sldId id="345" r:id="rId92"/>
    <p:sldId id="346" r:id="rId93"/>
    <p:sldId id="347" r:id="rId94"/>
    <p:sldId id="348" r:id="rId95"/>
    <p:sldId id="349" r:id="rId96"/>
    <p:sldId id="350" r:id="rId9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2C0F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881" autoAdjust="0"/>
  </p:normalViewPr>
  <p:slideViewPr>
    <p:cSldViewPr snapToGrid="0" showGuides="1">
      <p:cViewPr varScale="1">
        <p:scale>
          <a:sx n="77" d="100"/>
          <a:sy n="77" d="100"/>
        </p:scale>
        <p:origin x="183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6525A-0839-4847-88A7-9BC4FCEA9EA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B753F-C273-495E-BED1-AA948513E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5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44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моменту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работающий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: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эллипс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щелчком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визуальное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холсту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интерактивен</a:t>
            </a:r>
            <a:r>
              <a:rPr lang="en-US" dirty="0"/>
              <a:t>.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,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,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и </a:t>
            </a:r>
            <a:r>
              <a:rPr lang="en-US" dirty="0" err="1"/>
              <a:t>визуализация</a:t>
            </a:r>
            <a:r>
              <a:rPr lang="en-US" dirty="0"/>
              <a:t>.</a:t>
            </a:r>
          </a:p>
          <a:p>
            <a:endParaRPr lang="ru-RU"/>
          </a:p>
          <a:p>
            <a:r>
              <a:rPr lang="en-US"/>
              <a:t>На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лекциях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развивали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View и Controller.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применили</a:t>
            </a:r>
            <a:r>
              <a:rPr lang="en-US" dirty="0"/>
              <a:t> Visitor.</a:t>
            </a:r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продолжим</a:t>
            </a:r>
            <a:r>
              <a:rPr lang="en-US" dirty="0"/>
              <a:t> </a:t>
            </a:r>
            <a:r>
              <a:rPr lang="en-US" dirty="0" err="1"/>
              <a:t>развивать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4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 </a:t>
            </a:r>
            <a:r>
              <a:rPr lang="en-US" dirty="0" err="1"/>
              <a:t>Сейчас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. Это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Controller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SFML.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 с GUI.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SFML,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Controller.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Domain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, </a:t>
            </a:r>
            <a:r>
              <a:rPr lang="en-US" dirty="0" err="1"/>
              <a:t>связанными</a:t>
            </a:r>
            <a:r>
              <a:rPr lang="en-US" dirty="0"/>
              <a:t> с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окном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В </a:t>
            </a:r>
            <a:r>
              <a:rPr lang="en-US" dirty="0" err="1"/>
              <a:t>частности</a:t>
            </a:r>
            <a:r>
              <a:rPr lang="en-US" dirty="0"/>
              <a:t>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живут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проблемой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исправить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стояли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редактором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выдержит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2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—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движется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r>
              <a:rPr lang="en-US" dirty="0"/>
              <a:t>Controller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drag.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en-US" dirty="0"/>
              <a:t>, Controller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Domain Model.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отпускает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никакой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фиксации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. Controller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прекращает</a:t>
            </a:r>
            <a:r>
              <a:rPr lang="en-US" dirty="0"/>
              <a:t> drag.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 «</a:t>
            </a:r>
            <a:r>
              <a:rPr lang="en-US" dirty="0" err="1"/>
              <a:t>предварительное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» и «</a:t>
            </a:r>
            <a:r>
              <a:rPr lang="en-US" dirty="0" err="1"/>
              <a:t>зафиксированное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двигает</a:t>
            </a:r>
            <a:r>
              <a:rPr lang="en-US" dirty="0"/>
              <a:t> </a:t>
            </a:r>
            <a:r>
              <a:rPr lang="en-US" dirty="0" err="1"/>
              <a:t>мышь</a:t>
            </a:r>
            <a:r>
              <a:rPr lang="en-US" dirty="0"/>
              <a:t> — и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поставленные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взрослым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</a:t>
            </a:r>
          </a:p>
          <a:p>
            <a:r>
              <a:rPr lang="en-US" b="1" dirty="0"/>
              <a:t>«Я </a:t>
            </a:r>
            <a:r>
              <a:rPr lang="en-US" b="1" dirty="0" err="1"/>
              <a:t>передумал</a:t>
            </a:r>
            <a:r>
              <a:rPr lang="en-US" b="1" dirty="0"/>
              <a:t>. </a:t>
            </a:r>
            <a:r>
              <a:rPr lang="en-US" b="1" dirty="0" err="1"/>
              <a:t>Верни</a:t>
            </a:r>
            <a:r>
              <a:rPr lang="en-US" b="1" dirty="0"/>
              <a:t> </a:t>
            </a:r>
            <a:r>
              <a:rPr lang="en-US" b="1" dirty="0" err="1"/>
              <a:t>всё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было</a:t>
            </a:r>
            <a:r>
              <a:rPr lang="en-US" b="1" dirty="0"/>
              <a:t>».</a:t>
            </a:r>
            <a:r>
              <a:rPr lang="ru-RU" b="1" dirty="0"/>
              <a:t> </a:t>
            </a:r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— Undo и Redo.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18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87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в </a:t>
            </a:r>
            <a:r>
              <a:rPr lang="en-US" dirty="0" err="1"/>
              <a:t>любом</a:t>
            </a:r>
            <a:r>
              <a:rPr lang="en-US" dirty="0"/>
              <a:t> </a:t>
            </a:r>
            <a:r>
              <a:rPr lang="en-US" dirty="0" err="1"/>
              <a:t>серьёзном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en-US" dirty="0" err="1"/>
              <a:t>сделанное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переместил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решил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Undo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передумать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Redo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отменённое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обсуждать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Undo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переводить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к </a:t>
            </a:r>
            <a:r>
              <a:rPr lang="en-US" dirty="0" err="1"/>
              <a:t>предыдущему</a:t>
            </a:r>
            <a:r>
              <a:rPr lang="en-US" dirty="0"/>
              <a:t> </a:t>
            </a:r>
            <a:r>
              <a:rPr lang="en-US" dirty="0" err="1"/>
              <a:t>состоянию</a:t>
            </a:r>
            <a:r>
              <a:rPr lang="en-US" dirty="0"/>
              <a:t>.</a:t>
            </a:r>
          </a:p>
          <a:p>
            <a:r>
              <a:rPr lang="en-US" dirty="0"/>
              <a:t>Redo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переводить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новому</a:t>
            </a:r>
            <a:r>
              <a:rPr lang="en-US" dirty="0"/>
              <a:t> </a:t>
            </a:r>
            <a:r>
              <a:rPr lang="en-US" dirty="0" err="1"/>
              <a:t>состоянию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выясняется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70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находился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S0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перешёл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следующего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—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—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S3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S3</a:t>
            </a:r>
            <a:r>
              <a:rPr lang="en-US" dirty="0"/>
              <a:t> и </a:t>
            </a:r>
            <a:r>
              <a:rPr lang="en-US" dirty="0" err="1"/>
              <a:t>выполняет</a:t>
            </a:r>
            <a:r>
              <a:rPr lang="en-US" dirty="0"/>
              <a:t> Undo,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en-US" dirty="0"/>
              <a:t>.</a:t>
            </a:r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Undo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Redo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Undo и Redo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состояний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последовательных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и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9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выполнили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нажали</a:t>
            </a:r>
            <a:r>
              <a:rPr lang="en-US" dirty="0"/>
              <a:t> Undo.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менялся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</a:t>
            </a:r>
            <a:r>
              <a:rPr lang="en-US" dirty="0" err="1"/>
              <a:t>вперёд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Redo.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редактирование</a:t>
            </a:r>
            <a:r>
              <a:rPr lang="en-US" dirty="0"/>
              <a:t>,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продолжение</a:t>
            </a:r>
            <a:r>
              <a:rPr lang="en-US" dirty="0"/>
              <a:t>.</a:t>
            </a:r>
          </a:p>
          <a:p>
            <a:r>
              <a:rPr lang="en-US" dirty="0" err="1"/>
              <a:t>Прежняя</a:t>
            </a:r>
            <a:r>
              <a:rPr lang="en-US" dirty="0"/>
              <a:t> Redo-</a:t>
            </a:r>
            <a:r>
              <a:rPr lang="en-US" dirty="0" err="1"/>
              <a:t>ветка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недоступной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похоже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сюжет</a:t>
            </a:r>
            <a:r>
              <a:rPr lang="en-US" dirty="0"/>
              <a:t> «</a:t>
            </a:r>
            <a:r>
              <a:rPr lang="en-US" dirty="0" err="1"/>
              <a:t>Назад</a:t>
            </a:r>
            <a:r>
              <a:rPr lang="en-US" dirty="0"/>
              <a:t> в </a:t>
            </a:r>
            <a:r>
              <a:rPr lang="en-US" dirty="0" err="1"/>
              <a:t>будущее</a:t>
            </a:r>
            <a:r>
              <a:rPr lang="en-US" dirty="0"/>
              <a:t>».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в </a:t>
            </a:r>
            <a:r>
              <a:rPr lang="en-US" dirty="0" err="1"/>
              <a:t>прошлое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будущее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: </a:t>
            </a:r>
            <a:r>
              <a:rPr lang="en-US" dirty="0" err="1"/>
              <a:t>после</a:t>
            </a:r>
            <a:r>
              <a:rPr lang="en-US" dirty="0"/>
              <a:t> Undo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заменяет</a:t>
            </a:r>
            <a:r>
              <a:rPr lang="en-US" dirty="0"/>
              <a:t> </a:t>
            </a:r>
            <a:r>
              <a:rPr lang="en-US" dirty="0" err="1"/>
              <a:t>прежнее</a:t>
            </a:r>
            <a:r>
              <a:rPr lang="en-US" dirty="0"/>
              <a:t> «</a:t>
            </a:r>
            <a:r>
              <a:rPr lang="en-US" dirty="0" err="1"/>
              <a:t>будущее</a:t>
            </a:r>
            <a:r>
              <a:rPr lang="en-US" dirty="0"/>
              <a:t>»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Undo и Redo,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и </a:t>
            </a:r>
            <a:r>
              <a:rPr lang="en-US" dirty="0" err="1"/>
              <a:t>отбрасывать</a:t>
            </a:r>
            <a:r>
              <a:rPr lang="en-US" dirty="0"/>
              <a:t> Redo-</a:t>
            </a:r>
            <a:r>
              <a:rPr lang="en-US" dirty="0" err="1"/>
              <a:t>ветку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0" dirty="0" err="1"/>
              <a:t>Что</a:t>
            </a:r>
            <a:r>
              <a:rPr lang="en-US" b="0" dirty="0"/>
              <a:t> </a:t>
            </a:r>
            <a:r>
              <a:rPr lang="en-US" b="0" dirty="0" err="1"/>
              <a:t>именно</a:t>
            </a:r>
            <a:r>
              <a:rPr lang="en-US" b="0" dirty="0"/>
              <a:t> </a:t>
            </a:r>
            <a:r>
              <a:rPr lang="en-US" b="0" dirty="0" err="1"/>
              <a:t>нужно</a:t>
            </a:r>
            <a:r>
              <a:rPr lang="en-US" b="0" dirty="0"/>
              <a:t> </a:t>
            </a:r>
            <a:r>
              <a:rPr lang="en-US" b="0" dirty="0" err="1"/>
              <a:t>хранить</a:t>
            </a:r>
            <a:r>
              <a:rPr lang="en-US" b="0" dirty="0"/>
              <a:t>, </a:t>
            </a:r>
            <a:r>
              <a:rPr lang="en-US" b="0" dirty="0" err="1"/>
              <a:t>чтобы</a:t>
            </a:r>
            <a:r>
              <a:rPr lang="en-US" b="0" dirty="0"/>
              <a:t> </a:t>
            </a:r>
            <a:r>
              <a:rPr lang="en-US" b="0" dirty="0" err="1"/>
              <a:t>реализовать</a:t>
            </a:r>
            <a:r>
              <a:rPr lang="en-US" b="0" dirty="0"/>
              <a:t> </a:t>
            </a:r>
            <a:r>
              <a:rPr lang="en-US" b="0" dirty="0" err="1"/>
              <a:t>такую</a:t>
            </a:r>
            <a:r>
              <a:rPr lang="en-US" b="0" dirty="0"/>
              <a:t> </a:t>
            </a:r>
            <a:r>
              <a:rPr lang="en-US" b="0" dirty="0" err="1"/>
              <a:t>историю</a:t>
            </a:r>
            <a:r>
              <a:rPr lang="en-US" b="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Undo и Redo </a:t>
            </a:r>
            <a:r>
              <a:rPr lang="en-US" dirty="0" err="1"/>
              <a:t>перемещают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завершённой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копию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помещаем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.</a:t>
            </a:r>
          </a:p>
          <a:p>
            <a:r>
              <a:rPr lang="en-US" dirty="0"/>
              <a:t>Undo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предыдущую</a:t>
            </a:r>
            <a:r>
              <a:rPr lang="en-US" dirty="0"/>
              <a:t> </a:t>
            </a:r>
            <a:r>
              <a:rPr lang="en-US" dirty="0" err="1"/>
              <a:t>копию</a:t>
            </a:r>
            <a:r>
              <a:rPr lang="en-US" dirty="0"/>
              <a:t>.</a:t>
            </a:r>
          </a:p>
          <a:p>
            <a:r>
              <a:rPr lang="en-US" dirty="0"/>
              <a:t>Redo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здесь</a:t>
            </a:r>
            <a:r>
              <a:rPr lang="en-US" dirty="0"/>
              <a:t> Undo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выполнил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предыдущим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стратегия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32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достоинство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.</a:t>
            </a:r>
          </a:p>
          <a:p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состояний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Undo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выполнялось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восстанавливаем</a:t>
            </a:r>
            <a:r>
              <a:rPr lang="en-US" dirty="0"/>
              <a:t> </a:t>
            </a:r>
            <a:r>
              <a:rPr lang="en-US" dirty="0" err="1"/>
              <a:t>предыдущий</a:t>
            </a:r>
            <a:r>
              <a:rPr lang="en-US" dirty="0"/>
              <a:t> snapshot.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привлекательнее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snapshots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неправильным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примитивным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приложению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хорошим</a:t>
            </a:r>
            <a:r>
              <a:rPr lang="en-US" dirty="0"/>
              <a:t> </a:t>
            </a:r>
            <a:r>
              <a:rPr lang="en-US" dirty="0" err="1"/>
              <a:t>выбором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34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полиморфных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контейнер</a:t>
            </a:r>
            <a:r>
              <a:rPr lang="en-US" dirty="0"/>
              <a:t>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полноценные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приемлемо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 </a:t>
            </a:r>
            <a:r>
              <a:rPr lang="en-US" dirty="0" err="1"/>
              <a:t>состояний</a:t>
            </a:r>
            <a:r>
              <a:rPr lang="en-US" dirty="0"/>
              <a:t>.</a:t>
            </a:r>
          </a:p>
          <a:p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полные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заметный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ограничить</a:t>
            </a:r>
            <a:r>
              <a:rPr lang="en-US" dirty="0"/>
              <a:t> </a:t>
            </a:r>
            <a:r>
              <a:rPr lang="en-US" dirty="0" err="1"/>
              <a:t>глубину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Copy-on-Write.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ru-RU" dirty="0"/>
              <a:t>переиспользовать</a:t>
            </a:r>
            <a:r>
              <a:rPr lang="en-US" dirty="0"/>
              <a:t> </a:t>
            </a:r>
            <a:r>
              <a:rPr lang="en-US" dirty="0" err="1"/>
              <a:t>неизменяемые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состояний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разницу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версиями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snapshot</a:t>
            </a:r>
            <a:r>
              <a:rPr lang="ru-RU" dirty="0"/>
              <a:t>-</a:t>
            </a:r>
            <a:r>
              <a:rPr lang="ru-RU" dirty="0" err="1"/>
              <a:t>ов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превращаться</a:t>
            </a:r>
            <a:r>
              <a:rPr lang="en-US" dirty="0"/>
              <a:t> в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подсистему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версий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плохим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объектной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44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объектная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активной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ссылаться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подписаны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текущем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Undo.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S3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произойти</a:t>
            </a:r>
            <a:r>
              <a:rPr lang="en-US" dirty="0"/>
              <a:t>?</a:t>
            </a:r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сохранённой</a:t>
            </a:r>
            <a:r>
              <a:rPr lang="en-US" dirty="0"/>
              <a:t> </a:t>
            </a:r>
            <a:r>
              <a:rPr lang="en-US" dirty="0" err="1"/>
              <a:t>копией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указывать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старую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ссылкам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к </a:t>
            </a:r>
            <a:r>
              <a:rPr lang="en-US" dirty="0" err="1"/>
              <a:t>подпискам</a:t>
            </a:r>
            <a:r>
              <a:rPr lang="en-US" dirty="0"/>
              <a:t> </a:t>
            </a:r>
            <a:r>
              <a:rPr lang="en-US" dirty="0" err="1"/>
              <a:t>наблюдателей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snapshot.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восстановления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графа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неразрешимой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стабильные</a:t>
            </a:r>
            <a:r>
              <a:rPr lang="en-US" dirty="0"/>
              <a:t> </a:t>
            </a:r>
            <a:r>
              <a:rPr lang="en-US" dirty="0" err="1"/>
              <a:t>идентификаторы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повторную</a:t>
            </a:r>
            <a:r>
              <a:rPr lang="en-US" dirty="0"/>
              <a:t> </a:t>
            </a:r>
            <a:r>
              <a:rPr lang="en-US" dirty="0" err="1"/>
              <a:t>подписку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восстановление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проектные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утверждать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snapshots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плохим</a:t>
            </a:r>
            <a:r>
              <a:rPr lang="en-US" dirty="0"/>
              <a:t> </a:t>
            </a:r>
            <a:r>
              <a:rPr lang="en-US" dirty="0" err="1"/>
              <a:t>подходом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понятные</a:t>
            </a:r>
            <a:r>
              <a:rPr lang="en-US" dirty="0"/>
              <a:t> </a:t>
            </a:r>
            <a:r>
              <a:rPr lang="en-US" dirty="0" err="1"/>
              <a:t>достоинства</a:t>
            </a:r>
            <a:r>
              <a:rPr lang="en-US" dirty="0"/>
              <a:t> и </a:t>
            </a:r>
            <a:r>
              <a:rPr lang="en-US" dirty="0" err="1"/>
              <a:t>понятную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исследуем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переводит</a:t>
            </a:r>
            <a:r>
              <a:rPr lang="en-US" b="1" dirty="0"/>
              <a:t> </a:t>
            </a:r>
            <a:r>
              <a:rPr lang="en-US" b="1" dirty="0" err="1"/>
              <a:t>документ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одного</a:t>
            </a:r>
            <a:r>
              <a:rPr lang="en-US" b="1" dirty="0"/>
              <a:t> </a:t>
            </a:r>
            <a:r>
              <a:rPr lang="en-US" b="1" dirty="0" err="1"/>
              <a:t>состояния</a:t>
            </a:r>
            <a:r>
              <a:rPr lang="en-US" b="1" dirty="0"/>
              <a:t> в </a:t>
            </a:r>
            <a:r>
              <a:rPr lang="en-US" b="1" dirty="0" err="1"/>
              <a:t>другое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S0 ───── A ─────→ S1 ───── B ─────→ S2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хранить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и B,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копии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S0, S1 и S2?</a:t>
            </a:r>
          </a:p>
          <a:p>
            <a:r>
              <a:rPr lang="en-US" dirty="0"/>
              <a:t>С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начнётся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87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варианте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сохраняли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S0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.</a:t>
            </a:r>
          </a:p>
          <a:p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интересовали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а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переходах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 </a:t>
            </a:r>
            <a:r>
              <a:rPr lang="en-US" dirty="0" err="1"/>
              <a:t>переводит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S0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en-US" dirty="0"/>
              <a:t>.</a:t>
            </a:r>
          </a:p>
          <a:p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</a:t>
            </a:r>
            <a:r>
              <a:rPr lang="en-US" dirty="0" err="1"/>
              <a:t>переводит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</a:t>
            </a:r>
            <a:r>
              <a:rPr lang="en-US" dirty="0" err="1"/>
              <a:t>вперёд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и </a:t>
            </a:r>
            <a:r>
              <a:rPr lang="en-US" dirty="0" err="1"/>
              <a:t>обратный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, </a:t>
            </a:r>
            <a:r>
              <a:rPr lang="en-US" dirty="0" err="1"/>
              <a:t>сохранить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 и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33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переместил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сорок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 </a:t>
            </a:r>
            <a:r>
              <a:rPr lang="en-US" dirty="0" err="1"/>
              <a:t>вправо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вниз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сдвинуть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(+40, +10)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сохраним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и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Undo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сдвинуть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(-40, -10)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положить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Undo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последнее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Redo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взгляда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.</a:t>
            </a:r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содержала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переходы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самостоятельным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отмены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приходим</a:t>
            </a:r>
            <a:r>
              <a:rPr lang="en-US" dirty="0"/>
              <a:t> к </a:t>
            </a:r>
            <a:r>
              <a:rPr lang="en-US" dirty="0" err="1"/>
              <a:t>паттерну</a:t>
            </a:r>
            <a:r>
              <a:rPr lang="en-US" dirty="0"/>
              <a:t> </a:t>
            </a:r>
            <a:r>
              <a:rPr lang="en-US" b="1" dirty="0"/>
              <a:t>Command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шаге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3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пришли к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формализуем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Введём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Unexecute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Я </a:t>
            </a:r>
            <a:r>
              <a:rPr lang="en-US" dirty="0" err="1"/>
              <a:t>использую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Unexecute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. </a:t>
            </a:r>
            <a:r>
              <a:rPr lang="en-US" dirty="0" err="1"/>
              <a:t>Причина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Это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отменённым</a:t>
            </a:r>
            <a:r>
              <a:rPr lang="en-US" dirty="0"/>
              <a:t> </a:t>
            </a:r>
            <a:r>
              <a:rPr lang="en-US" dirty="0" err="1"/>
              <a:t>действием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и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в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самостоятельного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известно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b="1" dirty="0"/>
              <a:t>Command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Command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специальным</a:t>
            </a:r>
            <a:r>
              <a:rPr lang="en-US" dirty="0"/>
              <a:t> </a:t>
            </a:r>
            <a:r>
              <a:rPr lang="en-US" dirty="0" err="1"/>
              <a:t>паттерном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 и Redo.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шире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превращаем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в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,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,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29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,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смещения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Unexecute</a:t>
            </a:r>
            <a:r>
              <a:rPr lang="en-US" dirty="0"/>
              <a:t> </a:t>
            </a:r>
            <a:r>
              <a:rPr lang="en-US" dirty="0" err="1"/>
              <a:t>применяет</a:t>
            </a:r>
            <a:r>
              <a:rPr lang="en-US" dirty="0"/>
              <a:t> </a:t>
            </a:r>
            <a:r>
              <a:rPr lang="en-US" dirty="0" err="1"/>
              <a:t>противоположный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старый</a:t>
            </a:r>
            <a:r>
              <a:rPr lang="en-US" dirty="0"/>
              <a:t> и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.</a:t>
            </a:r>
          </a:p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старую</a:t>
            </a:r>
            <a:r>
              <a:rPr lang="en-US" dirty="0"/>
              <a:t> и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удаления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позволят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удалённый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.</a:t>
            </a:r>
          </a:p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словами</a:t>
            </a:r>
            <a:r>
              <a:rPr lang="en-US" dirty="0"/>
              <a:t>, Command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callback.</a:t>
            </a:r>
          </a:p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, и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27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</a:t>
            </a:r>
            <a:r>
              <a:rPr lang="en-US" dirty="0" err="1"/>
              <a:t>еперь</a:t>
            </a:r>
            <a:r>
              <a:rPr lang="en-US" dirty="0"/>
              <a:t> </a:t>
            </a:r>
            <a:r>
              <a:rPr lang="en-US" dirty="0" err="1"/>
              <a:t>сопоставим</a:t>
            </a:r>
            <a:r>
              <a:rPr lang="en-US" dirty="0"/>
              <a:t> </a:t>
            </a:r>
            <a:r>
              <a:rPr lang="en-US" dirty="0" err="1"/>
              <a:t>полученную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с </a:t>
            </a:r>
            <a:r>
              <a:rPr lang="en-US" dirty="0" err="1"/>
              <a:t>классическим</a:t>
            </a:r>
            <a:r>
              <a:rPr lang="en-US" dirty="0"/>
              <a:t> </a:t>
            </a:r>
            <a:r>
              <a:rPr lang="en-US" dirty="0" err="1"/>
              <a:t>описанием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Command.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Receiver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реальную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ConcreteCommand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получателя</a:t>
            </a:r>
            <a:r>
              <a:rPr lang="en-US" dirty="0"/>
              <a:t> и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величину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Invoker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и в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Invoker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с </a:t>
            </a:r>
            <a:r>
              <a:rPr lang="en-US" dirty="0" err="1"/>
              <a:t>нужным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Receiver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настроенную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Invoker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обязанности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</a:t>
            </a:r>
            <a:r>
              <a:rPr lang="en-US" dirty="0"/>
              <a:t>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Invoker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ConcreteCommand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Receiver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реальную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механически</a:t>
            </a:r>
            <a:r>
              <a:rPr lang="en-US" dirty="0"/>
              <a:t>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классам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предстоит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попадать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8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самостоятельным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отменена</a:t>
            </a:r>
            <a:r>
              <a:rPr lang="en-US" dirty="0"/>
              <a:t>,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Undo и Redo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решена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настоящему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</a:p>
          <a:p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нажимает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текущем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у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?</a:t>
            </a:r>
          </a:p>
          <a:p>
            <a:r>
              <a:rPr lang="en-US" dirty="0"/>
              <a:t>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нажатия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?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движении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?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отпускания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,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превратится</a:t>
            </a:r>
            <a:r>
              <a:rPr lang="en-US" dirty="0"/>
              <a:t> в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Undo.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/>
              <a:t>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моменту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перемещена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разобраться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представить</a:t>
            </a:r>
            <a:r>
              <a:rPr lang="en-US" b="1" dirty="0"/>
              <a:t> </a:t>
            </a:r>
            <a:r>
              <a:rPr lang="en-US" b="1" dirty="0" err="1"/>
              <a:t>действие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считать</a:t>
            </a:r>
            <a:r>
              <a:rPr lang="en-US" b="1" dirty="0"/>
              <a:t> </a:t>
            </a:r>
            <a:r>
              <a:rPr lang="en-US" b="1" dirty="0" err="1"/>
              <a:t>одним</a:t>
            </a:r>
            <a:r>
              <a:rPr lang="en-US" b="1" dirty="0"/>
              <a:t> </a:t>
            </a:r>
            <a:r>
              <a:rPr lang="en-US" b="1" dirty="0" err="1"/>
              <a:t>действием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и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оно</a:t>
            </a:r>
            <a:r>
              <a:rPr lang="en-US" b="1" dirty="0"/>
              <a:t> </a:t>
            </a:r>
            <a:r>
              <a:rPr lang="en-US" b="1" dirty="0" err="1"/>
              <a:t>становится</a:t>
            </a:r>
            <a:r>
              <a:rPr lang="en-US" b="1" dirty="0"/>
              <a:t> </a:t>
            </a:r>
            <a:r>
              <a:rPr lang="en-US" b="1" dirty="0" err="1"/>
              <a:t>частью</a:t>
            </a:r>
            <a:r>
              <a:rPr lang="en-US" b="1" dirty="0"/>
              <a:t> </a:t>
            </a:r>
            <a:r>
              <a:rPr lang="en-US" b="1" dirty="0" err="1"/>
              <a:t>истории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909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и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Undo и Redo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последовательностью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выполненные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ограничивается</a:t>
            </a:r>
            <a:r>
              <a:rPr lang="en-US" dirty="0"/>
              <a:t> </a:t>
            </a:r>
            <a:r>
              <a:rPr lang="en-US" dirty="0" err="1"/>
              <a:t>хранением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Undo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последнюю</a:t>
            </a:r>
            <a:r>
              <a:rPr lang="en-US" dirty="0"/>
              <a:t> </a:t>
            </a:r>
            <a:r>
              <a:rPr lang="en-US" dirty="0" err="1"/>
              <a:t>выполненную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Unexecute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Redo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терминологии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играет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инициатора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перемещается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.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: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и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двигаться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и </a:t>
            </a:r>
            <a:r>
              <a:rPr lang="en-US" dirty="0" err="1"/>
              <a:t>настраивать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r>
              <a:rPr lang="en-US" dirty="0"/>
              <a:t>К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01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распространённый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выполнены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отменены</a:t>
            </a:r>
            <a:r>
              <a:rPr lang="en-US" dirty="0"/>
              <a:t> и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Redo.</a:t>
            </a:r>
          </a:p>
          <a:p>
            <a:r>
              <a:rPr lang="en-US" dirty="0" err="1"/>
              <a:t>При</a:t>
            </a:r>
            <a:r>
              <a:rPr lang="en-US" dirty="0"/>
              <a:t> Undo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перемещается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в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Redo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перемещается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в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и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.</a:t>
            </a:r>
          </a:p>
          <a:p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слева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 </a:t>
            </a:r>
            <a:r>
              <a:rPr lang="en-US" dirty="0" err="1"/>
              <a:t>считаются</a:t>
            </a:r>
            <a:r>
              <a:rPr lang="en-US" dirty="0"/>
              <a:t> </a:t>
            </a:r>
            <a:r>
              <a:rPr lang="en-US" dirty="0" err="1"/>
              <a:t>выполненными</a:t>
            </a:r>
            <a:r>
              <a:rPr lang="en-US" dirty="0"/>
              <a:t>.</a:t>
            </a:r>
          </a:p>
          <a:p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Redo.</a:t>
            </a:r>
          </a:p>
          <a:p>
            <a:endParaRPr lang="ru-RU" dirty="0"/>
          </a:p>
          <a:p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выражают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разделена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прошлое</a:t>
            </a:r>
            <a:r>
              <a:rPr lang="en-US" dirty="0"/>
              <a:t> и </a:t>
            </a:r>
            <a:r>
              <a:rPr lang="en-US" dirty="0" err="1"/>
              <a:t>доступное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дальнейшем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с </a:t>
            </a:r>
            <a:r>
              <a:rPr lang="en-US" dirty="0" err="1"/>
              <a:t>курсором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Undo, Redo и </a:t>
            </a:r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старой</a:t>
            </a:r>
            <a:r>
              <a:rPr lang="en-US" dirty="0"/>
              <a:t> Redo-</a:t>
            </a:r>
            <a:r>
              <a:rPr lang="en-US" dirty="0" err="1"/>
              <a:t>ветки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21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Курсор</a:t>
            </a:r>
            <a:r>
              <a:rPr lang="en-US" dirty="0"/>
              <a:t> </a:t>
            </a:r>
            <a:r>
              <a:rPr lang="en-US" dirty="0" err="1"/>
              <a:t>разделяет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выполненные</a:t>
            </a:r>
            <a:r>
              <a:rPr lang="en-US" dirty="0"/>
              <a:t> и </a:t>
            </a:r>
            <a:r>
              <a:rPr lang="en-US" dirty="0" err="1"/>
              <a:t>отменённые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Undo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последнюю</a:t>
            </a:r>
            <a:r>
              <a:rPr lang="en-US" dirty="0"/>
              <a:t> </a:t>
            </a:r>
            <a:r>
              <a:rPr lang="en-US" dirty="0" err="1"/>
              <a:t>выполненную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Unexecute</a:t>
            </a:r>
            <a:r>
              <a:rPr lang="en-US" dirty="0"/>
              <a:t> и </a:t>
            </a:r>
            <a:r>
              <a:rPr lang="en-US" dirty="0" err="1"/>
              <a:t>сдвигает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.</a:t>
            </a:r>
          </a:p>
          <a:p>
            <a:r>
              <a:rPr lang="en-US" dirty="0"/>
              <a:t>Redo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обратном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.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 у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отменённой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и </a:t>
            </a:r>
            <a:r>
              <a:rPr lang="en-US" dirty="0" err="1"/>
              <a:t>сдвигает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вперёд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Undo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, </a:t>
            </a:r>
            <a:r>
              <a:rPr lang="en-US" dirty="0" err="1"/>
              <a:t>прежнее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исчезнуть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и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линейную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уровнями</a:t>
            </a:r>
            <a:r>
              <a:rPr lang="en-US" dirty="0"/>
              <a:t> Undo и Redo.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89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последние</a:t>
            </a:r>
            <a:r>
              <a:rPr lang="en-US" dirty="0"/>
              <a:t> </a:t>
            </a:r>
            <a:r>
              <a:rPr lang="en-US" dirty="0" err="1"/>
              <a:t>сто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, </a:t>
            </a:r>
            <a:r>
              <a:rPr lang="en-US" dirty="0" err="1"/>
              <a:t>самая</a:t>
            </a:r>
            <a:r>
              <a:rPr lang="en-US" dirty="0"/>
              <a:t> </a:t>
            </a:r>
            <a:r>
              <a:rPr lang="en-US" dirty="0" err="1"/>
              <a:t>старая</a:t>
            </a:r>
            <a:r>
              <a:rPr lang="en-US" dirty="0"/>
              <a:t> </a:t>
            </a:r>
            <a:r>
              <a:rPr lang="en-US" dirty="0" err="1"/>
              <a:t>удаляется</a:t>
            </a:r>
            <a:r>
              <a:rPr lang="en-US" dirty="0"/>
              <a:t> </a:t>
            </a:r>
            <a:r>
              <a:rPr lang="en-US" dirty="0" err="1"/>
              <a:t>окончательно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неудобство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стеками</a:t>
            </a:r>
            <a:r>
              <a:rPr lang="en-US" dirty="0"/>
              <a:t>.</a:t>
            </a:r>
          </a:p>
          <a:p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 </a:t>
            </a:r>
            <a:r>
              <a:rPr lang="en-US" dirty="0" err="1"/>
              <a:t>удаление</a:t>
            </a:r>
            <a:r>
              <a:rPr lang="en-US" dirty="0"/>
              <a:t> с </a:t>
            </a:r>
            <a:r>
              <a:rPr lang="en-US" dirty="0" err="1"/>
              <a:t>вершины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ограничении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самые</a:t>
            </a:r>
            <a:r>
              <a:rPr lang="en-US" dirty="0"/>
              <a:t> </a:t>
            </a:r>
            <a:r>
              <a:rPr lang="en-US" dirty="0" err="1"/>
              <a:t>старые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с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конца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Разумеется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решается</a:t>
            </a:r>
            <a:r>
              <a:rPr lang="en-US" dirty="0"/>
              <a:t> </a:t>
            </a:r>
            <a:r>
              <a:rPr lang="en-US" dirty="0" err="1"/>
              <a:t>подходящей</a:t>
            </a:r>
            <a:r>
              <a:rPr lang="en-US" dirty="0"/>
              <a:t> </a:t>
            </a:r>
            <a:r>
              <a:rPr lang="en-US" dirty="0" err="1"/>
              <a:t>структурой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набору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окончательное</a:t>
            </a:r>
            <a:r>
              <a:rPr lang="en-US" dirty="0"/>
              <a:t> </a:t>
            </a:r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ставит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37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— </a:t>
            </a:r>
            <a:r>
              <a:rPr lang="en-US" dirty="0" err="1"/>
              <a:t>окончательное</a:t>
            </a:r>
            <a:r>
              <a:rPr lang="en-US" dirty="0"/>
              <a:t> </a:t>
            </a:r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вставлять</a:t>
            </a:r>
            <a:r>
              <a:rPr lang="en-US" dirty="0"/>
              <a:t> </a:t>
            </a:r>
            <a:r>
              <a:rPr lang="en-US" dirty="0" err="1"/>
              <a:t>растровые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в </a:t>
            </a:r>
            <a:r>
              <a:rPr lang="en-US" dirty="0" err="1"/>
              <a:t>рабочем</a:t>
            </a:r>
            <a:r>
              <a:rPr lang="en-US" dirty="0"/>
              <a:t> </a:t>
            </a:r>
            <a:r>
              <a:rPr lang="en-US" dirty="0" err="1"/>
              <a:t>каталоге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отменил</a:t>
            </a:r>
            <a:r>
              <a:rPr lang="en-US" dirty="0"/>
              <a:t> </a:t>
            </a:r>
            <a:r>
              <a:rPr lang="en-US" dirty="0" err="1"/>
              <a:t>вставку</a:t>
            </a:r>
            <a:r>
              <a:rPr lang="en-US" dirty="0"/>
              <a:t>,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.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. Redo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Undo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совершил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, Redo-</a:t>
            </a:r>
            <a:r>
              <a:rPr lang="en-US" dirty="0" err="1"/>
              <a:t>ветка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удалена</a:t>
            </a:r>
            <a:r>
              <a:rPr lang="en-US" dirty="0"/>
              <a:t>.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вставки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окончательно</a:t>
            </a:r>
            <a:r>
              <a:rPr lang="en-US" dirty="0"/>
              <a:t> </a:t>
            </a:r>
            <a:r>
              <a:rPr lang="en-US" dirty="0" err="1"/>
              <a:t>исчезнет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вытесняется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выполненном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,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документ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реализациях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вводят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en-US" dirty="0"/>
              <a:t>.</a:t>
            </a:r>
          </a:p>
          <a:p>
            <a:r>
              <a:rPr lang="en-US" dirty="0"/>
              <a:t>В C++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возложить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деструктор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и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CommandHistory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: </a:t>
            </a:r>
            <a:r>
              <a:rPr lang="en-US" b="1" dirty="0" err="1"/>
              <a:t>жизненный</a:t>
            </a:r>
            <a:r>
              <a:rPr lang="en-US" b="1" dirty="0"/>
              <a:t> </a:t>
            </a:r>
            <a:r>
              <a:rPr lang="en-US" b="1" dirty="0" err="1"/>
              <a:t>цикл</a:t>
            </a:r>
            <a:r>
              <a:rPr lang="en-US" b="1" dirty="0"/>
              <a:t> </a:t>
            </a:r>
            <a:r>
              <a:rPr lang="en-US" b="1" dirty="0" err="1"/>
              <a:t>команды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включать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Execute и Unexecute, </a:t>
            </a:r>
            <a:r>
              <a:rPr lang="en-US" b="1" dirty="0" err="1"/>
              <a:t>но</a:t>
            </a:r>
            <a:r>
              <a:rPr lang="en-US" b="1" dirty="0"/>
              <a:t> и </a:t>
            </a:r>
            <a:r>
              <a:rPr lang="en-US" b="1" dirty="0" err="1"/>
              <a:t>окончательное</a:t>
            </a:r>
            <a:r>
              <a:rPr lang="en-US" b="1" dirty="0"/>
              <a:t> </a:t>
            </a:r>
            <a:r>
              <a:rPr lang="en-US" b="1" dirty="0" err="1"/>
              <a:t>уничтожение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05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49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и </a:t>
            </a:r>
            <a:r>
              <a:rPr lang="en-US" dirty="0" err="1"/>
              <a:t>перемещаться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нажатию</a:t>
            </a:r>
            <a:r>
              <a:rPr lang="en-US" dirty="0"/>
              <a:t> Undo?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вводит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произойти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нажатия</a:t>
            </a:r>
            <a:r>
              <a:rPr lang="en-US" dirty="0"/>
              <a:t> </a:t>
            </a:r>
            <a:r>
              <a:rPr lang="en-US" dirty="0" err="1"/>
              <a:t>клавиши</a:t>
            </a:r>
            <a:r>
              <a:rPr lang="en-US" dirty="0"/>
              <a:t> </a:t>
            </a:r>
            <a:r>
              <a:rPr lang="en-US" dirty="0" err="1"/>
              <a:t>текст</a:t>
            </a:r>
            <a:r>
              <a:rPr lang="en-US" dirty="0"/>
              <a:t> </a:t>
            </a:r>
            <a:r>
              <a:rPr lang="en-US" dirty="0" err="1"/>
              <a:t>менялся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нажать</a:t>
            </a:r>
            <a:r>
              <a:rPr lang="en-US" dirty="0"/>
              <a:t> Undo,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убрать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?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воспринимает</a:t>
            </a:r>
            <a:r>
              <a:rPr lang="en-US" dirty="0"/>
              <a:t> </a:t>
            </a:r>
            <a:r>
              <a:rPr lang="en-US" dirty="0" err="1"/>
              <a:t>непрерывный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</a:t>
            </a:r>
            <a:r>
              <a:rPr lang="en-US" dirty="0" err="1"/>
              <a:t>перемещением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могла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шагом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GUI-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пользовательскому</a:t>
            </a:r>
            <a:r>
              <a:rPr lang="en-US" dirty="0"/>
              <a:t> </a:t>
            </a:r>
            <a:r>
              <a:rPr lang="en-US" dirty="0" err="1"/>
              <a:t>действию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шагу</a:t>
            </a:r>
            <a:r>
              <a:rPr lang="en-US" dirty="0"/>
              <a:t> Undo.</a:t>
            </a:r>
          </a:p>
          <a:p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отражать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техническую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а </a:t>
            </a:r>
            <a:r>
              <a:rPr lang="en-US" dirty="0" err="1"/>
              <a:t>действия</a:t>
            </a:r>
            <a:r>
              <a:rPr lang="en-US" dirty="0"/>
              <a:t> в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гранулярности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понятна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3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правильную</a:t>
            </a:r>
            <a:r>
              <a:rPr lang="en-US" dirty="0"/>
              <a:t> </a:t>
            </a:r>
            <a:r>
              <a:rPr lang="en-US" dirty="0" err="1"/>
              <a:t>гранулярность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GUI-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нажимает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приходят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движения</a:t>
            </a:r>
            <a:r>
              <a:rPr lang="en-US" dirty="0"/>
              <a:t>.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отпускает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непрерывным</a:t>
            </a:r>
            <a:r>
              <a:rPr lang="en-US" dirty="0"/>
              <a:t> </a:t>
            </a:r>
            <a:r>
              <a:rPr lang="en-US" dirty="0" err="1"/>
              <a:t>взаимодействием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думает</a:t>
            </a:r>
            <a:r>
              <a:rPr lang="en-US" dirty="0"/>
              <a:t>: «Я </a:t>
            </a:r>
            <a:r>
              <a:rPr lang="en-US" dirty="0" err="1"/>
              <a:t>переместил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».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перетащил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в </a:t>
            </a:r>
            <a:r>
              <a:rPr lang="en-US" dirty="0" err="1"/>
              <a:t>другое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interaction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единое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и 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объединяем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Четырёх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существовало</a:t>
            </a:r>
            <a:r>
              <a:rPr lang="en-US" dirty="0"/>
              <a:t>.</a:t>
            </a:r>
          </a:p>
          <a:p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interaction,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в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путать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текстовый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нажатия</a:t>
            </a:r>
            <a:r>
              <a:rPr lang="en-US" dirty="0"/>
              <a:t> </a:t>
            </a:r>
            <a:r>
              <a:rPr lang="en-US" dirty="0" err="1"/>
              <a:t>клавиши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применяться</a:t>
            </a:r>
            <a:r>
              <a:rPr lang="en-US" dirty="0"/>
              <a:t> к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оформляться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командой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InsertText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("H")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InsertText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("e")</a:t>
            </a:r>
            <a:r>
              <a:rPr lang="en-US" dirty="0"/>
              <a:t> и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реально</a:t>
            </a:r>
            <a:r>
              <a:rPr lang="en-US" dirty="0"/>
              <a:t> </a:t>
            </a:r>
            <a:r>
              <a:rPr lang="en-US" dirty="0" err="1"/>
              <a:t>существовали</a:t>
            </a:r>
            <a:r>
              <a:rPr lang="en-US" dirty="0"/>
              <a:t> и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выполнены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предыдущую</a:t>
            </a:r>
            <a:r>
              <a:rPr lang="en-US" dirty="0"/>
              <a:t> и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Undo.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последовательных</a:t>
            </a:r>
            <a:r>
              <a:rPr lang="en-US" dirty="0"/>
              <a:t> </a:t>
            </a:r>
            <a:r>
              <a:rPr lang="en-US" dirty="0" err="1"/>
              <a:t>вставок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InsertText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("Hello")</a:t>
            </a:r>
            <a:r>
              <a:rPr lang="en-US" dirty="0"/>
              <a:t>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command merging </a:t>
            </a:r>
            <a:r>
              <a:rPr lang="en-US" dirty="0" err="1"/>
              <a:t>или</a:t>
            </a:r>
            <a:r>
              <a:rPr lang="en-US" dirty="0"/>
              <a:t> coalescing.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drag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промежуточных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merging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совершены</a:t>
            </a:r>
            <a:r>
              <a:rPr lang="en-US" dirty="0"/>
              <a:t>, а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крупный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объединять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подряд</a:t>
            </a:r>
            <a:r>
              <a:rPr lang="en-US" dirty="0"/>
              <a:t>.</a:t>
            </a:r>
          </a:p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вставки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совместимы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 </a:t>
            </a:r>
            <a:r>
              <a:rPr lang="en-US" dirty="0" err="1"/>
              <a:t>продолжается</a:t>
            </a:r>
            <a:r>
              <a:rPr lang="en-US" dirty="0"/>
              <a:t> в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.</a:t>
            </a:r>
          </a:p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последовательных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делится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с </a:t>
            </a:r>
            <a:r>
              <a:rPr lang="en-US" dirty="0" err="1"/>
              <a:t>предыдущей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, </a:t>
            </a:r>
            <a:r>
              <a:rPr lang="en-US" dirty="0" err="1"/>
              <a:t>совместимы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смыслу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объединение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учитываться</a:t>
            </a:r>
            <a:r>
              <a:rPr lang="en-US" dirty="0"/>
              <a:t> и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: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,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интервал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712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третья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пользовательское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состоять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выравнивание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произошли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выполнил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Align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и в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</a:t>
            </a:r>
            <a:r>
              <a:rPr lang="en-US" dirty="0" err="1"/>
              <a:t>вставка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документ</a:t>
            </a:r>
            <a:r>
              <a:rPr lang="en-US" dirty="0"/>
              <a:t>,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Z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Paste.</a:t>
            </a:r>
          </a:p>
          <a:p>
            <a:endParaRPr lang="en-US" dirty="0"/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группировать</a:t>
            </a:r>
            <a:r>
              <a:rPr lang="en-US" dirty="0"/>
              <a:t> и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отменять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единое</a:t>
            </a:r>
            <a:r>
              <a:rPr lang="en-US" dirty="0"/>
              <a:t> </a:t>
            </a:r>
            <a:r>
              <a:rPr lang="en-US" dirty="0" err="1"/>
              <a:t>целое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группу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, </a:t>
            </a:r>
            <a:r>
              <a:rPr lang="en-US" dirty="0" err="1"/>
              <a:t>транзакцию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составную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.</a:t>
            </a:r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отличать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merging.</a:t>
            </a:r>
          </a:p>
          <a:p>
            <a:r>
              <a:rPr lang="en-US" dirty="0" err="1"/>
              <a:t>При</a:t>
            </a:r>
            <a:r>
              <a:rPr lang="en-US" dirty="0"/>
              <a:t> coalescing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соседних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укрупнить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группировке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Итак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Несколько</a:t>
            </a:r>
            <a:r>
              <a:rPr lang="en-US" dirty="0"/>
              <a:t> GUI-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образовывать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interaction.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совершённых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объединяться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сгруппированы</a:t>
            </a:r>
            <a:r>
              <a:rPr lang="en-US" dirty="0"/>
              <a:t> в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атомарную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: </a:t>
            </a:r>
            <a:r>
              <a:rPr lang="en-US" dirty="0" err="1"/>
              <a:t>шаг</a:t>
            </a:r>
            <a:r>
              <a:rPr lang="en-US" dirty="0"/>
              <a:t> Undo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понятный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Command </a:t>
            </a:r>
            <a:r>
              <a:rPr lang="en-US" dirty="0" err="1"/>
              <a:t>ровно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объёме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 и Redo.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ограничиваются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полный</a:t>
            </a:r>
            <a:r>
              <a:rPr lang="en-US" dirty="0"/>
              <a:t> </a:t>
            </a:r>
            <a:r>
              <a:rPr lang="en-US" dirty="0" err="1"/>
              <a:t>разбор</a:t>
            </a:r>
            <a:r>
              <a:rPr lang="en-US" dirty="0"/>
              <a:t> Command я </a:t>
            </a:r>
            <a:r>
              <a:rPr lang="en-US" dirty="0" err="1"/>
              <a:t>предлагаю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ссылка</a:t>
            </a:r>
            <a:r>
              <a:rPr lang="en-US" dirty="0"/>
              <a:t> и QR-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моей</a:t>
            </a:r>
            <a:r>
              <a:rPr lang="en-US" dirty="0"/>
              <a:t> </a:t>
            </a:r>
            <a:r>
              <a:rPr lang="en-US" dirty="0" err="1"/>
              <a:t>прошлогодней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  <a:p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рассматривается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 и с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закончим</a:t>
            </a:r>
            <a:r>
              <a:rPr lang="en-US" dirty="0"/>
              <a:t> </a:t>
            </a:r>
            <a:r>
              <a:rPr lang="en-US" dirty="0" err="1"/>
              <a:t>теоретическую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Command и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, </a:t>
            </a:r>
            <a:r>
              <a:rPr lang="en-US" dirty="0" err="1"/>
              <a:t>история</a:t>
            </a:r>
            <a:r>
              <a:rPr lang="en-US" dirty="0"/>
              <a:t>, Undo и Redo.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встроить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в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пользовательское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обнаружатся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783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Command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режим</a:t>
            </a:r>
            <a:r>
              <a:rPr lang="en-US" dirty="0"/>
              <a:t> drag.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у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Domain Model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в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движения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, </a:t>
            </a:r>
            <a:r>
              <a:rPr lang="en-US" dirty="0" err="1"/>
              <a:t>никаких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отмечаем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drag </a:t>
            </a:r>
            <a:r>
              <a:rPr lang="en-US" dirty="0" err="1"/>
              <a:t>закончился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Undo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и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.</a:t>
            </a:r>
          </a:p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встроить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569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в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переместит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переместит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распознавать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drag </a:t>
            </a:r>
            <a:r>
              <a:rPr lang="en-US" dirty="0" err="1"/>
              <a:t>породит</a:t>
            </a:r>
            <a:r>
              <a:rPr lang="en-US" dirty="0"/>
              <a:t>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, и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пользовательское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превратится</a:t>
            </a:r>
            <a:r>
              <a:rPr lang="en-US" dirty="0"/>
              <a:t> в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Undo.</a:t>
            </a:r>
          </a:p>
          <a:p>
            <a:r>
              <a:rPr lang="en-US" dirty="0"/>
              <a:t>Это </a:t>
            </a:r>
            <a:r>
              <a:rPr lang="en-US" dirty="0" err="1"/>
              <a:t>неправильная</a:t>
            </a:r>
            <a:r>
              <a:rPr lang="en-US" dirty="0"/>
              <a:t> </a:t>
            </a:r>
            <a:r>
              <a:rPr lang="en-US" dirty="0" err="1"/>
              <a:t>гранулярность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.</a:t>
            </a:r>
          </a:p>
          <a:p>
            <a:r>
              <a:rPr lang="en-US" dirty="0"/>
              <a:t>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моменту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и </a:t>
            </a:r>
            <a:r>
              <a:rPr lang="en-US" dirty="0" err="1"/>
              <a:t>конечную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итоговое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Кажется,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найдено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моменту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с </a:t>
            </a:r>
            <a:r>
              <a:rPr lang="en-US" dirty="0" err="1"/>
              <a:t>моделью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21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дождались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r>
              <a:rPr lang="en-US" dirty="0"/>
              <a:t>К </a:t>
            </a:r>
            <a:r>
              <a:rPr lang="en-US" dirty="0" err="1"/>
              <a:t>моменту</a:t>
            </a:r>
            <a:r>
              <a:rPr lang="en-US" dirty="0"/>
              <a:t> </a:t>
            </a:r>
            <a:r>
              <a:rPr lang="en-US" dirty="0" err="1"/>
              <a:t>отпускания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конечной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?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и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двойное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обойти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добавить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AddAlreadyExecutedCommand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, а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: «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произошедшее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ясной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играет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инициатора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, а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узнаёт</a:t>
            </a:r>
            <a:r>
              <a:rPr lang="en-US" dirty="0"/>
              <a:t> о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постфактум</a:t>
            </a:r>
            <a:r>
              <a:rPr lang="en-US" dirty="0"/>
              <a:t>.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всё-таки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?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глубже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правильного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518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изменяем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немедленный</a:t>
            </a:r>
            <a:r>
              <a:rPr lang="en-US" dirty="0"/>
              <a:t> </a:t>
            </a:r>
            <a:r>
              <a:rPr lang="en-US" dirty="0" err="1"/>
              <a:t>визуальный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промежуточное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смешали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стадии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стадия</a:t>
            </a:r>
            <a:r>
              <a:rPr lang="en-US" dirty="0"/>
              <a:t>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двигает</a:t>
            </a:r>
            <a:r>
              <a:rPr lang="en-US" dirty="0"/>
              <a:t> </a:t>
            </a:r>
            <a:r>
              <a:rPr lang="en-US" dirty="0" err="1"/>
              <a:t>мышь</a:t>
            </a:r>
            <a:r>
              <a:rPr lang="en-US" dirty="0"/>
              <a:t> и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предполагаемый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стадия</a:t>
            </a:r>
            <a:r>
              <a:rPr lang="en-US" dirty="0"/>
              <a:t>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закончил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, 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и </a:t>
            </a:r>
            <a:r>
              <a:rPr lang="en-US" dirty="0" err="1"/>
              <a:t>истории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drag </a:t>
            </a:r>
            <a:r>
              <a:rPr lang="en-US" dirty="0" err="1"/>
              <a:t>естественной</a:t>
            </a:r>
            <a:r>
              <a:rPr lang="en-US" dirty="0"/>
              <a:t> </a:t>
            </a:r>
            <a:r>
              <a:rPr lang="en-US" dirty="0" err="1"/>
              <a:t>границей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стадиями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семантическая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незавершённого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зафиксировали</a:t>
            </a:r>
            <a:r>
              <a:rPr lang="en-US" dirty="0"/>
              <a:t> в Domain Model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Undo.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стадии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Каждый</a:t>
            </a:r>
            <a:r>
              <a:rPr lang="en-US" dirty="0"/>
              <a:t> preview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 </a:t>
            </a:r>
            <a:r>
              <a:rPr lang="en-US" dirty="0" err="1"/>
              <a:t>встроить</a:t>
            </a:r>
            <a:r>
              <a:rPr lang="en-US" dirty="0"/>
              <a:t> Command.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Command.</a:t>
            </a:r>
            <a:r>
              <a:rPr lang="ru-RU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незавершённого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долж</a:t>
            </a:r>
            <a:r>
              <a:rPr lang="ru-RU" b="1" dirty="0"/>
              <a:t>но</a:t>
            </a:r>
            <a:r>
              <a:rPr lang="en-US" b="1" dirty="0"/>
              <a:t> </a:t>
            </a:r>
            <a:r>
              <a:rPr lang="en-US" b="1" dirty="0" err="1"/>
              <a:t>жить</a:t>
            </a:r>
            <a:r>
              <a:rPr lang="en-US" b="1" dirty="0"/>
              <a:t> Preview?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032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Preview и Commit.</a:t>
            </a:r>
            <a:r>
              <a:rPr lang="ru-RU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общо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уточняет</a:t>
            </a:r>
            <a:r>
              <a:rPr lang="en-US" dirty="0"/>
              <a:t> </a:t>
            </a:r>
            <a:r>
              <a:rPr lang="en-US" dirty="0" err="1"/>
              <a:t>будущий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отказывается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b="1" dirty="0"/>
              <a:t>drag</a:t>
            </a:r>
            <a:r>
              <a:rPr lang="en-US" dirty="0"/>
              <a:t> </a:t>
            </a:r>
            <a:r>
              <a:rPr lang="en-US" dirty="0" err="1"/>
              <a:t>начало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предполагаемое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и в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интерфейсах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b="1" dirty="0"/>
              <a:t>Color Picker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красный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зелёный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синий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окончательное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принимается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нажатия</a:t>
            </a:r>
            <a:r>
              <a:rPr lang="en-US" dirty="0"/>
              <a:t> OK.</a:t>
            </a:r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нажмёт</a:t>
            </a:r>
            <a:r>
              <a:rPr lang="en-US" dirty="0"/>
              <a:t> Cancel,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к </a:t>
            </a:r>
            <a:r>
              <a:rPr lang="en-US" dirty="0" err="1"/>
              <a:t>исходному</a:t>
            </a:r>
            <a:r>
              <a:rPr lang="en-US" dirty="0"/>
              <a:t> </a:t>
            </a:r>
            <a:r>
              <a:rPr lang="en-US" dirty="0" err="1"/>
              <a:t>цвету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стадии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Cancel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153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радикально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продолжаем</a:t>
            </a:r>
            <a:r>
              <a:rPr lang="en-US" dirty="0"/>
              <a:t> </a:t>
            </a:r>
            <a:r>
              <a:rPr lang="en-US" dirty="0" err="1"/>
              <a:t>двигать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Canvas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Color Picker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поступить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SetColor</a:t>
            </a:r>
            <a:r>
              <a:rPr lang="en-US" dirty="0"/>
              <a:t> у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/>
              <a:t>View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привлекательная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. Preview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.</a:t>
            </a:r>
          </a:p>
          <a:p>
            <a:r>
              <a:rPr lang="en-US" dirty="0"/>
              <a:t>Domain Model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единственным</a:t>
            </a:r>
            <a:r>
              <a:rPr lang="en-US" dirty="0"/>
              <a:t>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Commit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необычным</a:t>
            </a:r>
            <a:r>
              <a:rPr lang="en-US" dirty="0"/>
              <a:t>.</a:t>
            </a:r>
          </a:p>
          <a:p>
            <a:r>
              <a:rPr lang="en-US" dirty="0"/>
              <a:t>К </a:t>
            </a:r>
            <a:r>
              <a:rPr lang="en-US" dirty="0" err="1"/>
              <a:t>моменту</a:t>
            </a:r>
            <a:r>
              <a:rPr lang="en-US" dirty="0"/>
              <a:t> Commit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.</a:t>
            </a:r>
          </a:p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выполнено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Commit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регистрируем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совершённое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подтвердит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56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Cancel.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Preview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Domain Model,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ru-RU" dirty="0"/>
              <a:t>операцию недостаточно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drag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 в </a:t>
            </a:r>
            <a:r>
              <a:rPr lang="en-US" dirty="0" err="1"/>
              <a:t>исходную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Color Picker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будущего</a:t>
            </a:r>
            <a:r>
              <a:rPr lang="en-US" dirty="0"/>
              <a:t> rollback.</a:t>
            </a:r>
            <a:r>
              <a:rPr lang="ru-RU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исходное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восстановление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замена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асимметрия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Domain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фиксируем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Cancel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полноценную</a:t>
            </a:r>
            <a:r>
              <a:rPr lang="en-US" dirty="0"/>
              <a:t>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157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фундаментальный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Domain Model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Preview,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остальной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настоящее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у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Canvas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Timeline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и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слоёв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подписчики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Color Picker.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OK.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Domain Model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поменяла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спросить</a:t>
            </a:r>
            <a:r>
              <a:rPr lang="en-US" dirty="0"/>
              <a:t>: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промежуточное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?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нажмёт</a:t>
            </a:r>
            <a:r>
              <a:rPr lang="en-US" dirty="0"/>
              <a:t> Cancel, </a:t>
            </a:r>
            <a:r>
              <a:rPr lang="en-US" dirty="0" err="1"/>
              <a:t>выяснится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предыдущие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временными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заметной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перетаскивает</a:t>
            </a:r>
            <a:r>
              <a:rPr lang="en-US" dirty="0"/>
              <a:t> в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?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примеряет</a:t>
            </a:r>
            <a:r>
              <a:rPr lang="en-US" dirty="0"/>
              <a:t> в Color Picker?</a:t>
            </a:r>
          </a:p>
          <a:p>
            <a:endParaRPr lang="ru-RU" dirty="0"/>
          </a:p>
          <a:p>
            <a:r>
              <a:rPr lang="en-US" dirty="0" err="1"/>
              <a:t>Похоже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имеем</a:t>
            </a:r>
            <a:r>
              <a:rPr lang="en-US" dirty="0"/>
              <a:t> </a:t>
            </a:r>
            <a:r>
              <a:rPr lang="en-US" dirty="0" err="1"/>
              <a:t>дело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endParaRPr lang="ru-RU" b="1" dirty="0"/>
          </a:p>
          <a:p>
            <a:r>
              <a:rPr lang="en-US" b="1" dirty="0"/>
              <a:t>Preview state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обязательно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быть</a:t>
            </a:r>
            <a:r>
              <a:rPr lang="en-US" b="1" dirty="0"/>
              <a:t> </a:t>
            </a:r>
            <a:r>
              <a:rPr lang="en-US" b="1" dirty="0" err="1"/>
              <a:t>состоянием</a:t>
            </a:r>
            <a:r>
              <a:rPr lang="en-US" b="1" dirty="0"/>
              <a:t> Domain Model.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Domain Model,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Preview?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949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Domain Model,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естественная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ru-RU" dirty="0" err="1"/>
              <a:t>ся</a:t>
            </a:r>
            <a:r>
              <a:rPr lang="ru-RU" dirty="0"/>
              <a:t> внутри</a:t>
            </a:r>
            <a:r>
              <a:rPr lang="en-US" dirty="0"/>
              <a:t> </a:t>
            </a:r>
            <a:r>
              <a:rPr lang="en-US" dirty="0" err="1"/>
              <a:t>представлени</a:t>
            </a:r>
            <a:r>
              <a:rPr lang="ru-RU" dirty="0"/>
              <a:t>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.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дополнительное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берём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прибавляем</a:t>
            </a:r>
            <a:r>
              <a:rPr lang="en-US" dirty="0"/>
              <a:t>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previewOffset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в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варианта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Domain Model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промежуточных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rollback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Cancel.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отменил</a:t>
            </a:r>
            <a:r>
              <a:rPr lang="en-US" dirty="0"/>
              <a:t> interaction,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сбрасываем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View.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View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 Domain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При</a:t>
            </a:r>
            <a:r>
              <a:rPr lang="en-US" dirty="0"/>
              <a:t> Commit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настоящую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,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,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,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сбросить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чище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784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Preview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View,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мелкие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CanvasShapeView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RectangleView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EllipseView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Такой</a:t>
            </a:r>
            <a:r>
              <a:rPr lang="en-US" dirty="0"/>
              <a:t> View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доменную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временный</a:t>
            </a:r>
            <a:r>
              <a:rPr lang="en-US" dirty="0"/>
              <a:t> transform.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previewOffset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Подтверждённая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берётся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берётся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CanvasShapeView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Domain Model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CanvasShapeView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представлении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заодно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перестаёт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единственным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Откуда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узнаем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CanvasShapeView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данной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40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View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правильный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RectangleView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EllipseView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прийти</a:t>
            </a:r>
            <a:r>
              <a:rPr lang="en-US" dirty="0"/>
              <a:t> к </a:t>
            </a:r>
            <a:r>
              <a:rPr lang="en-US" dirty="0" err="1"/>
              <a:t>цепочке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исследовали</a:t>
            </a:r>
            <a:r>
              <a:rPr lang="en-US" dirty="0"/>
              <a:t> в </a:t>
            </a:r>
            <a:r>
              <a:rPr lang="en-US" dirty="0" err="1"/>
              <a:t>прошлой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Visitor.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ShapeViewFactory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, Visitor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и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CanvasShapeView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Visitor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типовой</a:t>
            </a:r>
            <a:r>
              <a:rPr lang="en-US" dirty="0"/>
              <a:t> dispatch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кадре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действии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Visitor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—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связываем</a:t>
            </a:r>
            <a:r>
              <a:rPr lang="en-US" dirty="0"/>
              <a:t> </a:t>
            </a:r>
            <a:r>
              <a:rPr lang="en-US" dirty="0" err="1"/>
              <a:t>доменную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с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RectangleView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EllipseView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введённый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приносить</a:t>
            </a:r>
            <a:r>
              <a:rPr lang="en-US" dirty="0"/>
              <a:t> </a:t>
            </a:r>
            <a:r>
              <a:rPr lang="en-US" dirty="0" err="1"/>
              <a:t>пользу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следующих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View,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 и </a:t>
            </a:r>
            <a:r>
              <a:rPr lang="en-US" dirty="0" err="1"/>
              <a:t>собственный</a:t>
            </a:r>
            <a:r>
              <a:rPr lang="en-US" dirty="0"/>
              <a:t> Controller?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3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CanvasShapeView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ShapeController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распознать</a:t>
            </a:r>
            <a:r>
              <a:rPr lang="en-US" dirty="0"/>
              <a:t> </a:t>
            </a:r>
            <a:r>
              <a:rPr lang="en-US" dirty="0" err="1"/>
              <a:t>начало</a:t>
            </a:r>
            <a:r>
              <a:rPr lang="en-US" dirty="0"/>
              <a:t> interaction,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специфичные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инициировать</a:t>
            </a:r>
            <a:r>
              <a:rPr lang="en-US" dirty="0"/>
              <a:t> </a:t>
            </a:r>
            <a:r>
              <a:rPr lang="en-US" dirty="0" err="1"/>
              <a:t>редактирование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ShapeController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плохим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в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множественное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выбраны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нажимает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 и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перетаскивать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пришло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ShapeController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(A)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.</a:t>
            </a:r>
          </a:p>
          <a:p>
            <a:r>
              <a:rPr lang="en-US" dirty="0" err="1"/>
              <a:t>Перемещаться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согласованный</a:t>
            </a:r>
            <a:r>
              <a:rPr lang="en-US" dirty="0"/>
              <a:t> transform.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ShapeController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делегировать</a:t>
            </a:r>
            <a:r>
              <a:rPr lang="en-US" dirty="0"/>
              <a:t> </a:t>
            </a:r>
            <a:r>
              <a:rPr lang="en-US" dirty="0" err="1"/>
              <a:t>дальнейшее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interaction.</a:t>
            </a:r>
          </a:p>
          <a:p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условно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SelectionDrag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DragSession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, а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selection.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полезное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ShapeController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, </a:t>
            </a:r>
            <a:r>
              <a:rPr lang="en-US" dirty="0" err="1"/>
              <a:t>связанное</a:t>
            </a:r>
            <a:r>
              <a:rPr lang="en-US" dirty="0"/>
              <a:t> с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.</a:t>
            </a:r>
          </a:p>
          <a:p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затрагивает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попытка</a:t>
            </a:r>
            <a:r>
              <a:rPr lang="en-US" dirty="0"/>
              <a:t> </a:t>
            </a:r>
            <a:r>
              <a:rPr lang="en-US" dirty="0" err="1"/>
              <a:t>избавиться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ShapeController</a:t>
            </a:r>
            <a:r>
              <a:rPr lang="en-US" dirty="0"/>
              <a:t>.</a:t>
            </a:r>
          </a:p>
          <a:p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стараемся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полезна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с Preview </a:t>
            </a:r>
            <a:r>
              <a:rPr lang="en-US" dirty="0" err="1"/>
              <a:t>во</a:t>
            </a:r>
            <a:r>
              <a:rPr lang="en-US" dirty="0"/>
              <a:t> View.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и </a:t>
            </a:r>
            <a:r>
              <a:rPr lang="en-US" b="1" dirty="0" err="1"/>
              <a:t>все</a:t>
            </a:r>
            <a:r>
              <a:rPr lang="en-US" b="1" dirty="0"/>
              <a:t> </a:t>
            </a:r>
            <a:r>
              <a:rPr lang="en-US" b="1" dirty="0" err="1"/>
              <a:t>они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видеть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и </a:t>
            </a:r>
            <a:r>
              <a:rPr lang="en-US" b="1" dirty="0" err="1"/>
              <a:t>тот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незавершённый</a:t>
            </a:r>
            <a:r>
              <a:rPr lang="en-US" b="1" dirty="0"/>
              <a:t> interaction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420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с Preview </a:t>
            </a:r>
            <a:r>
              <a:rPr lang="en-US" dirty="0" err="1"/>
              <a:t>во</a:t>
            </a:r>
            <a:r>
              <a:rPr lang="en-US" dirty="0"/>
              <a:t> View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Timeline.</a:t>
            </a:r>
          </a:p>
          <a:p>
            <a:r>
              <a:rPr lang="en-US" dirty="0" err="1"/>
              <a:t>Теперь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TimelineView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и </a:t>
            </a:r>
            <a:r>
              <a:rPr lang="en-US" dirty="0" err="1"/>
              <a:t>исчезновения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в Timeline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слоёв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перетащить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ниже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Z-order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развитие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Preview.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210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перетаскивать</a:t>
            </a:r>
            <a:r>
              <a:rPr lang="en-US" dirty="0"/>
              <a:t> </a:t>
            </a:r>
            <a:r>
              <a:rPr lang="en-US" dirty="0" err="1"/>
              <a:t>слой</a:t>
            </a:r>
            <a:r>
              <a:rPr lang="en-US" dirty="0"/>
              <a:t> в Timeline.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отпустил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зафиксировано</a:t>
            </a:r>
            <a:r>
              <a:rPr lang="en-US" dirty="0"/>
              <a:t> в Domain Model.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немедленную</a:t>
            </a:r>
            <a:r>
              <a:rPr lang="en-US" dirty="0"/>
              <a:t>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На</a:t>
            </a:r>
            <a:r>
              <a:rPr lang="en-US" dirty="0"/>
              <a:t> Timeline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виден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И,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, Canvas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новом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фигура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подняли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,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перекрывать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drag.</a:t>
            </a:r>
          </a:p>
          <a:p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трещать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Preview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локальным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TimelineView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о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Preview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внутренней</a:t>
            </a:r>
            <a:r>
              <a:rPr lang="en-US" dirty="0"/>
              <a:t> </a:t>
            </a:r>
            <a:r>
              <a:rPr lang="en-US" dirty="0" err="1"/>
              <a:t>деталью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View.</a:t>
            </a:r>
          </a:p>
          <a:p>
            <a:r>
              <a:rPr lang="en-US" dirty="0" err="1"/>
              <a:t>Несколько</a:t>
            </a:r>
            <a:r>
              <a:rPr lang="en-US" dirty="0"/>
              <a:t> View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незавершённое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138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Раз</a:t>
            </a:r>
            <a:r>
              <a:rPr lang="en-US" dirty="0"/>
              <a:t> Preview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View,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положим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Domain Model.</a:t>
            </a:r>
            <a:r>
              <a:rPr lang="ru-RU" dirty="0"/>
              <a:t> </a:t>
            </a:r>
            <a:r>
              <a:rPr lang="en-US" dirty="0" err="1"/>
              <a:t>Тогда</a:t>
            </a:r>
            <a:r>
              <a:rPr lang="en-US" dirty="0"/>
              <a:t> и Timeline, и Canvas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увидят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.</a:t>
            </a:r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В </a:t>
            </a:r>
            <a:r>
              <a:rPr lang="en-US" dirty="0" err="1"/>
              <a:t>окне</a:t>
            </a:r>
            <a:r>
              <a:rPr lang="en-US" dirty="0"/>
              <a:t> A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Z-order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Canvas и Timeline </a:t>
            </a:r>
            <a:r>
              <a:rPr lang="en-US" dirty="0" err="1"/>
              <a:t>окна</a:t>
            </a:r>
            <a:r>
              <a:rPr lang="en-US" dirty="0"/>
              <a:t> A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Preview.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 B?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завершил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, </a:t>
            </a:r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незавершённый</a:t>
            </a:r>
            <a:r>
              <a:rPr lang="en-US" dirty="0"/>
              <a:t> drag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влиять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Preview </a:t>
            </a:r>
            <a:r>
              <a:rPr lang="en-US" dirty="0" err="1"/>
              <a:t>хранится</a:t>
            </a:r>
            <a:r>
              <a:rPr lang="en-US" dirty="0"/>
              <a:t> в </a:t>
            </a:r>
            <a:r>
              <a:rPr lang="en-US" dirty="0" err="1"/>
              <a:t>общем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различить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случаи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.</a:t>
            </a:r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видят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Значит</a:t>
            </a:r>
            <a:r>
              <a:rPr lang="en-US" dirty="0"/>
              <a:t>, Domain Model —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широкая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895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397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обнаружил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мысленный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View.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доступен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представлениям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и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Domain Model.</a:t>
            </a:r>
            <a:r>
              <a:rPr lang="ru-RU" dirty="0"/>
              <a:t>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незавершённое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остальным</a:t>
            </a:r>
            <a:r>
              <a:rPr lang="en-US" dirty="0"/>
              <a:t> </a:t>
            </a:r>
            <a:r>
              <a:rPr lang="en-US" dirty="0" err="1"/>
              <a:t>окнам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разделяют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редакторского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r>
              <a:rPr lang="en-US" dirty="0"/>
              <a:t>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selection.</a:t>
            </a:r>
            <a:endParaRPr lang="ru-RU" dirty="0"/>
          </a:p>
          <a:p>
            <a:r>
              <a:rPr lang="en-US" dirty="0"/>
              <a:t>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незавершённый</a:t>
            </a:r>
            <a:r>
              <a:rPr lang="en-US" dirty="0"/>
              <a:t> Preview.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разместить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спросить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жить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ясный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Preview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View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окнам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.</a:t>
            </a:r>
            <a:r>
              <a:rPr lang="ru-RU" dirty="0"/>
              <a:t> 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естественная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—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давать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окончательное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954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Продолжим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мысленный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snapping.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двигает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положению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некотор</a:t>
            </a:r>
            <a:r>
              <a:rPr lang="ru-RU" dirty="0" err="1"/>
              <a:t>ое</a:t>
            </a:r>
            <a:r>
              <a:rPr lang="ru-RU" dirty="0"/>
              <a:t> запрашиваемое перемещение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движения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близко</a:t>
            </a:r>
            <a:r>
              <a:rPr lang="en-US" dirty="0"/>
              <a:t> к </a:t>
            </a:r>
            <a:r>
              <a:rPr lang="en-US" dirty="0" err="1"/>
              <a:t>границе</a:t>
            </a:r>
            <a:r>
              <a:rPr lang="en-US" dirty="0"/>
              <a:t> </a:t>
            </a:r>
            <a:r>
              <a:rPr lang="ru-RU" dirty="0"/>
              <a:t>Холста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направляющей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скорректировать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переместил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47 </a:t>
            </a:r>
            <a:r>
              <a:rPr lang="en-US" dirty="0" err="1"/>
              <a:t>пикселей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осталось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Snapping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коррекцию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В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запросил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47, а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50.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Preview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описать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mouseOffset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пользовательским</a:t>
            </a:r>
            <a:r>
              <a:rPr lang="en-US" dirty="0"/>
              <a:t> </a:t>
            </a:r>
            <a:r>
              <a:rPr lang="en-US" dirty="0" err="1"/>
              <a:t>вводом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покажем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072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множественное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выбрал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тащит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Snapping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к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прилипнет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 </a:t>
            </a:r>
            <a:r>
              <a:rPr lang="en-US" dirty="0" err="1"/>
              <a:t>вправо</a:t>
            </a:r>
            <a:r>
              <a:rPr lang="en-US" dirty="0"/>
              <a:t>, а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,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selection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единое</a:t>
            </a:r>
            <a:r>
              <a:rPr lang="en-US" dirty="0"/>
              <a:t> </a:t>
            </a:r>
            <a:r>
              <a:rPr lang="en-US" dirty="0" err="1"/>
              <a:t>целое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bounding box.</a:t>
            </a:r>
            <a:r>
              <a:rPr lang="ru-RU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selection </a:t>
            </a:r>
            <a:r>
              <a:rPr lang="en-US" dirty="0" err="1"/>
              <a:t>вычисляется</a:t>
            </a:r>
            <a:r>
              <a:rPr lang="en-US" dirty="0"/>
              <a:t> </a:t>
            </a:r>
            <a:r>
              <a:rPr lang="en-US" dirty="0" err="1"/>
              <a:t>одн</a:t>
            </a:r>
            <a:r>
              <a:rPr lang="ru-RU" dirty="0"/>
              <a:t>о</a:t>
            </a:r>
            <a:r>
              <a:rPr lang="en-US" dirty="0"/>
              <a:t> snap correction.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ru-RU" dirty="0"/>
              <a:t>эффективное перемещение.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относительное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drag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относиться</a:t>
            </a:r>
            <a:r>
              <a:rPr lang="en-US" dirty="0"/>
              <a:t>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крупному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— </a:t>
            </a:r>
            <a:r>
              <a:rPr lang="en-US" dirty="0" err="1"/>
              <a:t>всему</a:t>
            </a:r>
            <a:r>
              <a:rPr lang="en-US" dirty="0"/>
              <a:t> selection.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927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, snapping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.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запросил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перемещаемого</a:t>
            </a:r>
            <a:r>
              <a:rPr lang="en-US" dirty="0"/>
              <a:t> 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с </a:t>
            </a:r>
            <a:r>
              <a:rPr lang="en-US" dirty="0" err="1"/>
              <a:t>окружающей</a:t>
            </a:r>
            <a:r>
              <a:rPr lang="en-US" dirty="0"/>
              <a:t> </a:t>
            </a:r>
            <a:r>
              <a:rPr lang="en-US" dirty="0" err="1"/>
              <a:t>сценой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подходящие</a:t>
            </a:r>
            <a:r>
              <a:rPr lang="en-US" dirty="0"/>
              <a:t> </a:t>
            </a:r>
            <a:r>
              <a:rPr lang="ru-RU" dirty="0"/>
              <a:t>кандидаты для прилипания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Отфильтровать</a:t>
            </a:r>
            <a:r>
              <a:rPr lang="en-US" dirty="0"/>
              <a:t> </a:t>
            </a:r>
            <a:r>
              <a:rPr lang="en-US" dirty="0" err="1"/>
              <a:t>кандидатов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порогу</a:t>
            </a:r>
            <a:r>
              <a:rPr lang="en-US" dirty="0"/>
              <a:t> </a:t>
            </a:r>
            <a:r>
              <a:rPr lang="en-US" dirty="0" err="1"/>
              <a:t>расстояния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лучший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коррекцию</a:t>
            </a:r>
            <a:r>
              <a:rPr lang="en-US" dirty="0"/>
              <a:t> и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 transform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transform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направляющие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View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направляющие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View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кандидатов</a:t>
            </a:r>
            <a:r>
              <a:rPr lang="en-US" dirty="0"/>
              <a:t>, </a:t>
            </a:r>
            <a:r>
              <a:rPr lang="en-US" dirty="0" err="1"/>
              <a:t>сравнивать</a:t>
            </a:r>
            <a:r>
              <a:rPr lang="en-US" dirty="0"/>
              <a:t> </a:t>
            </a:r>
            <a:r>
              <a:rPr lang="en-US" dirty="0" err="1"/>
              <a:t>расстояния</a:t>
            </a:r>
            <a:r>
              <a:rPr lang="en-US" dirty="0"/>
              <a:t> и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коррекцию</a:t>
            </a:r>
            <a:r>
              <a:rPr lang="en-US" dirty="0"/>
              <a:t>.</a:t>
            </a:r>
          </a:p>
          <a:p>
            <a:r>
              <a:rPr lang="en-US" dirty="0"/>
              <a:t>View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вычисленный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SnapResult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визуализировать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737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инженерный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тестировать</a:t>
            </a:r>
            <a:r>
              <a:rPr lang="en-US" dirty="0"/>
              <a:t> snapping </a:t>
            </a:r>
            <a:r>
              <a:rPr lang="en-US" dirty="0" err="1"/>
              <a:t>через</a:t>
            </a:r>
            <a:r>
              <a:rPr lang="en-US" dirty="0"/>
              <a:t> SFML?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прилипание</a:t>
            </a:r>
            <a:r>
              <a:rPr lang="en-US" dirty="0"/>
              <a:t> к </a:t>
            </a:r>
            <a:r>
              <a:rPr lang="en-US" dirty="0" err="1"/>
              <a:t>правой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 Canvas,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, </a:t>
            </a:r>
            <a:r>
              <a:rPr lang="en-US" dirty="0" err="1"/>
              <a:t>генерировать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и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нарисованный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?</a:t>
            </a:r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нет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автоматический</a:t>
            </a:r>
            <a:r>
              <a:rPr lang="en-US" dirty="0"/>
              <a:t> </a:t>
            </a:r>
            <a:r>
              <a:rPr lang="en-US" dirty="0" err="1"/>
              <a:t>тест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Передать</a:t>
            </a:r>
            <a:r>
              <a:rPr lang="en-US" dirty="0"/>
              <a:t> 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Передать</a:t>
            </a:r>
            <a:r>
              <a:rPr lang="en-US" dirty="0"/>
              <a:t> requested transform.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Получить</a:t>
            </a:r>
            <a:r>
              <a:rPr lang="en-US" dirty="0"/>
              <a:t> effective transform и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с </a:t>
            </a:r>
            <a:r>
              <a:rPr lang="en-US" dirty="0" err="1"/>
              <a:t>ожидаемым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snapping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GUI-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SFML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UI toolkit, </a:t>
            </a:r>
            <a:r>
              <a:rPr lang="en-US" dirty="0" err="1"/>
              <a:t>алгоритм</a:t>
            </a:r>
            <a:r>
              <a:rPr lang="en-US" dirty="0"/>
              <a:t> snapping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значительная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логики</a:t>
            </a:r>
            <a:r>
              <a:rPr lang="en-US" dirty="0"/>
              <a:t> </a:t>
            </a:r>
            <a:r>
              <a:rPr lang="en-US" dirty="0" err="1"/>
              <a:t>интерактивного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жить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View.</a:t>
            </a:r>
            <a:endParaRPr lang="ru-RU" dirty="0"/>
          </a:p>
          <a:p>
            <a:endParaRPr lang="en-US" dirty="0"/>
          </a:p>
          <a:p>
            <a:r>
              <a:rPr lang="en-US" dirty="0"/>
              <a:t>Timeline View </a:t>
            </a:r>
            <a:r>
              <a:rPr lang="en-US" dirty="0" err="1"/>
              <a:t>дал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.</a:t>
            </a:r>
          </a:p>
          <a:p>
            <a:r>
              <a:rPr lang="en-US" dirty="0"/>
              <a:t>Preview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View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Snapping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Preview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самостоятельная</a:t>
            </a:r>
            <a:r>
              <a:rPr lang="en-US" dirty="0"/>
              <a:t>, </a:t>
            </a:r>
            <a:r>
              <a:rPr lang="en-US" dirty="0" err="1"/>
              <a:t>тестируемая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GUI </a:t>
            </a:r>
            <a:r>
              <a:rPr lang="en-US" dirty="0" err="1"/>
              <a:t>логика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отчётливо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редакторского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незавершённые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и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вычислять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View.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769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к </a:t>
            </a:r>
            <a:r>
              <a:rPr lang="en-US" dirty="0" err="1"/>
              <a:t>чему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привели</a:t>
            </a:r>
            <a:r>
              <a:rPr lang="en-US" dirty="0"/>
              <a:t> </a:t>
            </a:r>
            <a:r>
              <a:rPr lang="en-US" dirty="0" err="1"/>
              <a:t>последние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экспериментов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Сначала</a:t>
            </a:r>
            <a:r>
              <a:rPr lang="en-US" dirty="0"/>
              <a:t> Undo и Redo </a:t>
            </a:r>
            <a:r>
              <a:rPr lang="en-US" dirty="0" err="1"/>
              <a:t>заставили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Preview и Commit.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Затем</a:t>
            </a:r>
            <a:r>
              <a:rPr lang="en-US" dirty="0"/>
              <a:t> Timeline </a:t>
            </a:r>
            <a:r>
              <a:rPr lang="en-US" dirty="0" err="1"/>
              <a:t>показал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Preview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внутренним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View.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слоёв</a:t>
            </a:r>
            <a:r>
              <a:rPr lang="en-US" dirty="0"/>
              <a:t> в Timeline, Canvas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окнами</a:t>
            </a:r>
            <a:r>
              <a:rPr lang="en-US" dirty="0"/>
              <a:t> </a:t>
            </a:r>
            <a:r>
              <a:rPr lang="en-US" dirty="0" err="1"/>
              <a:t>показал</a:t>
            </a:r>
            <a:r>
              <a:rPr lang="en-US" dirty="0"/>
              <a:t> </a:t>
            </a:r>
            <a:r>
              <a:rPr lang="en-US" dirty="0" err="1"/>
              <a:t>противоположную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увидят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Наконец</a:t>
            </a:r>
            <a:r>
              <a:rPr lang="en-US" dirty="0"/>
              <a:t>, snapping </a:t>
            </a:r>
            <a:r>
              <a:rPr lang="en-US" dirty="0" err="1"/>
              <a:t>показал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Preview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полноценная</a:t>
            </a:r>
            <a:r>
              <a:rPr lang="en-US" dirty="0"/>
              <a:t> </a:t>
            </a:r>
            <a:r>
              <a:rPr lang="en-US" dirty="0" err="1"/>
              <a:t>редакторская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. И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тестировать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самостоятельная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придумали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красивой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создали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606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ввести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committed state —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Domain Model,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которого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фигура</a:t>
            </a:r>
            <a:r>
              <a:rPr lang="en-US" dirty="0"/>
              <a:t> в </a:t>
            </a:r>
            <a:r>
              <a:rPr lang="en-US" dirty="0" err="1"/>
              <a:t>документе</a:t>
            </a:r>
            <a:r>
              <a:rPr lang="en-US" dirty="0"/>
              <a:t> </a:t>
            </a:r>
            <a:r>
              <a:rPr lang="ru-RU" dirty="0"/>
              <a:t>стартует в одно время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окне</a:t>
            </a:r>
            <a:r>
              <a:rPr lang="en-US" dirty="0"/>
              <a:t> A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перетаскивает</a:t>
            </a:r>
            <a:r>
              <a:rPr lang="en-US" dirty="0"/>
              <a:t> </a:t>
            </a:r>
            <a:r>
              <a:rPr lang="ru-RU" dirty="0"/>
              <a:t>её на таймлайне влево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ru-RU" dirty="0"/>
              <a:t>фигуры на таймлайне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отличается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 B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старой позиции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View, </a:t>
            </a:r>
            <a:r>
              <a:rPr lang="en-US" dirty="0" err="1"/>
              <a:t>вычисляется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незавершённые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данного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 state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обязательную</a:t>
            </a:r>
            <a:r>
              <a:rPr lang="en-US" dirty="0"/>
              <a:t> </a:t>
            </a:r>
            <a:r>
              <a:rPr lang="en-US" dirty="0" err="1"/>
              <a:t>глубокую</a:t>
            </a:r>
            <a:r>
              <a:rPr lang="en-US" dirty="0"/>
              <a:t> </a:t>
            </a:r>
            <a:r>
              <a:rPr lang="en-US" dirty="0" err="1"/>
              <a:t>копию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ru-RU" dirty="0"/>
              <a:t>переопределения</a:t>
            </a:r>
            <a:r>
              <a:rPr lang="en-US" dirty="0"/>
              <a:t>: </a:t>
            </a:r>
            <a:r>
              <a:rPr lang="en-US" dirty="0" err="1"/>
              <a:t>смещение</a:t>
            </a:r>
            <a:r>
              <a:rPr lang="en-US" dirty="0"/>
              <a:t>, </a:t>
            </a:r>
            <a:r>
              <a:rPr lang="en-US" dirty="0" err="1"/>
              <a:t>новый</a:t>
            </a:r>
            <a:r>
              <a:rPr lang="en-US" dirty="0"/>
              <a:t> Z-order, </a:t>
            </a:r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редактирует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606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редакторского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ru-RU" dirty="0"/>
              <a:t> экземпляр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ссылаться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редактируют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незавершённые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вычисляться</a:t>
            </a:r>
            <a:r>
              <a:rPr lang="en-US" dirty="0"/>
              <a:t> </a:t>
            </a:r>
            <a:r>
              <a:rPr lang="en-US" dirty="0" err="1"/>
              <a:t>эффективная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и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ru-RU" dirty="0"/>
              <a:t>прилипания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View </a:t>
            </a:r>
            <a:r>
              <a:rPr lang="en-US" dirty="0" err="1"/>
              <a:t>данного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литературе</a:t>
            </a:r>
            <a:r>
              <a:rPr lang="en-US" dirty="0"/>
              <a:t> </a:t>
            </a:r>
            <a:r>
              <a:rPr lang="en-US" dirty="0" err="1"/>
              <a:t>похожую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встретить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названиями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Model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ViewModel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отражает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: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развивать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архитектурная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203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interaction.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у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намерение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requested transform.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snapping, </a:t>
            </a:r>
            <a:r>
              <a:rPr lang="en-US" dirty="0" err="1"/>
              <a:t>ограничения</a:t>
            </a:r>
            <a:r>
              <a:rPr lang="en-US" dirty="0"/>
              <a:t> Canvas и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редакторскую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effective transform.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видят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View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слоя</a:t>
            </a:r>
            <a:r>
              <a:rPr lang="en-US" dirty="0"/>
              <a:t> в Timeline.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TimelineController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желаемое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и Timeline, и Canvas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effective state.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Cancel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отбрасываем</a:t>
            </a:r>
            <a:r>
              <a:rPr lang="en-US" dirty="0"/>
              <a:t>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незавершённое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effective state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committed state.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536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собрать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схему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interaction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и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effective state.</a:t>
            </a:r>
          </a:p>
          <a:p>
            <a:endParaRPr lang="en-US" dirty="0"/>
          </a:p>
          <a:p>
            <a:r>
              <a:rPr lang="en-US" dirty="0" err="1"/>
              <a:t>Никакой</a:t>
            </a:r>
            <a:r>
              <a:rPr lang="en-US" dirty="0"/>
              <a:t> Command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.</a:t>
            </a:r>
          </a:p>
          <a:p>
            <a:r>
              <a:rPr lang="en-US" dirty="0"/>
              <a:t>Domain Model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interaction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окончательный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запросил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47 </a:t>
            </a:r>
            <a:r>
              <a:rPr lang="en-US" dirty="0" err="1"/>
              <a:t>пикселей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snapping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50.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семантическое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превращаем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MoveShapesCommand</a:t>
            </a:r>
            <a:r>
              <a:rPr lang="en-US" dirty="0"/>
              <a:t>.</a:t>
            </a:r>
          </a:p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.</a:t>
            </a:r>
          </a:p>
          <a:p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,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Commit </a:t>
            </a:r>
            <a:r>
              <a:rPr lang="en-US" dirty="0" err="1"/>
              <a:t>временные</a:t>
            </a:r>
            <a:r>
              <a:rPr lang="en-US" dirty="0"/>
              <a:t> overrides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сбросить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прыгнуть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Commit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видел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в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Preview.</a:t>
            </a:r>
          </a:p>
          <a:p>
            <a:r>
              <a:rPr lang="en-US" dirty="0" err="1"/>
              <a:t>После</a:t>
            </a:r>
            <a:r>
              <a:rPr lang="en-US" dirty="0"/>
              <a:t> Commit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committed state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Получилась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ясная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в </a:t>
            </a:r>
            <a:r>
              <a:rPr lang="en-US" b="1" dirty="0" err="1"/>
              <a:t>документе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b="1" dirty="0" err="1"/>
              <a:t>сейчас</a:t>
            </a:r>
            <a:r>
              <a:rPr lang="en-US" b="1" dirty="0"/>
              <a:t> </a:t>
            </a:r>
            <a:r>
              <a:rPr lang="en-US" b="1" dirty="0" err="1"/>
              <a:t>видит</a:t>
            </a:r>
            <a:r>
              <a:rPr lang="en-US" b="1" dirty="0"/>
              <a:t> и </a:t>
            </a:r>
            <a:r>
              <a:rPr lang="en-US" b="1" dirty="0" err="1"/>
              <a:t>редактирует</a:t>
            </a:r>
            <a:r>
              <a:rPr lang="en-US" b="1" dirty="0"/>
              <a:t> </a:t>
            </a:r>
            <a:r>
              <a:rPr lang="en-US" b="1" dirty="0" err="1"/>
              <a:t>пользователь</a:t>
            </a:r>
            <a:r>
              <a:rPr lang="en-US" b="1" dirty="0"/>
              <a:t> в </a:t>
            </a:r>
            <a:r>
              <a:rPr lang="en-US" b="1" dirty="0" err="1"/>
              <a:t>конкретном</a:t>
            </a:r>
            <a:r>
              <a:rPr lang="en-US" b="1" dirty="0"/>
              <a:t> </a:t>
            </a:r>
            <a:r>
              <a:rPr lang="en-US" b="1" dirty="0" err="1"/>
              <a:t>окне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«в GUI-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ViewModel</a:t>
            </a:r>
            <a:r>
              <a:rPr lang="en-US" dirty="0"/>
              <a:t>».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дошли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: Undo/Redo, Preview, </a:t>
            </a:r>
            <a:r>
              <a:rPr lang="en-US" dirty="0" err="1"/>
              <a:t>нескольких</a:t>
            </a:r>
            <a:r>
              <a:rPr lang="en-US" dirty="0"/>
              <a:t> View,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окон</a:t>
            </a:r>
            <a:r>
              <a:rPr lang="en-US" dirty="0"/>
              <a:t> и snapping.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53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Preview.</a:t>
            </a:r>
            <a:r>
              <a:rPr lang="ru-RU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в </a:t>
            </a:r>
            <a:r>
              <a:rPr lang="en-US" dirty="0" err="1"/>
              <a:t>другое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Commit.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drag в </a:t>
            </a:r>
            <a:r>
              <a:rPr lang="en-US" dirty="0" err="1"/>
              <a:t>окне</a:t>
            </a:r>
            <a:r>
              <a:rPr lang="en-US" dirty="0"/>
              <a:t> A.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Очевидно</a:t>
            </a:r>
            <a:r>
              <a:rPr lang="en-US" dirty="0"/>
              <a:t>,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A.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 B,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обновиться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Commit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единственный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заинтересованные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узнают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Domain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075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Observer.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наблюдаемой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публикует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документом</a:t>
            </a:r>
            <a:r>
              <a:rPr lang="en-US" dirty="0"/>
              <a:t>, </a:t>
            </a:r>
            <a:r>
              <a:rPr lang="en-US" dirty="0" err="1"/>
              <a:t>подписан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Получив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committed state и </a:t>
            </a:r>
            <a:r>
              <a:rPr lang="en-US" dirty="0" err="1"/>
              <a:t>пересчитывает</a:t>
            </a:r>
            <a:r>
              <a:rPr lang="en-US" dirty="0"/>
              <a:t> effective state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обновляются</a:t>
            </a:r>
            <a:r>
              <a:rPr lang="en-US" dirty="0"/>
              <a:t>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View.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TimelineView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подписчиком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: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. А </a:t>
            </a:r>
            <a:r>
              <a:rPr lang="en-US" dirty="0" err="1"/>
              <a:t>реакция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пределами</a:t>
            </a:r>
            <a:r>
              <a:rPr lang="en-US" dirty="0"/>
              <a:t> Domain Model.</a:t>
            </a:r>
          </a:p>
          <a:p>
            <a:endParaRPr lang="en-US" dirty="0"/>
          </a:p>
          <a:p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гранулярность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—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проектный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грубое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DrawingChanged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публиковать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специализированные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: у </a:t>
            </a:r>
            <a:r>
              <a:rPr lang="en-US" dirty="0" err="1"/>
              <a:t>изменений</a:t>
            </a:r>
            <a:r>
              <a:rPr lang="en-US" dirty="0"/>
              <a:t> Domain Model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единый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распространения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422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наблюдаемым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объекте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заставить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проходить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ResizeShape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SetColor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забирать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наблюдаемой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и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изменил</a:t>
            </a:r>
            <a:r>
              <a:rPr lang="en-US" dirty="0"/>
              <a:t> bounds,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посылает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Заметьте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,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: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владеющий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,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621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следить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добавлением</a:t>
            </a:r>
            <a:r>
              <a:rPr lang="en-US" dirty="0"/>
              <a:t> и </a:t>
            </a:r>
            <a:r>
              <a:rPr lang="en-US" dirty="0" err="1"/>
              <a:t>удалением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множеством</a:t>
            </a:r>
            <a:r>
              <a:rPr lang="en-US" dirty="0"/>
              <a:t> </a:t>
            </a:r>
            <a:r>
              <a:rPr lang="en-US" dirty="0" err="1"/>
              <a:t>подписок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подписывается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«Я </a:t>
            </a:r>
            <a:r>
              <a:rPr lang="en-US" dirty="0" err="1"/>
              <a:t>изменилась</a:t>
            </a:r>
            <a:r>
              <a:rPr lang="en-US" dirty="0"/>
              <a:t>»,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в </a:t>
            </a:r>
            <a:r>
              <a:rPr lang="en-US" dirty="0" err="1"/>
              <a:t>сообщение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«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».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агрегирует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Shape::Resize()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SetColor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dirty="0"/>
              <a:t>и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внешнему</a:t>
            </a:r>
            <a:r>
              <a:rPr lang="en-US" dirty="0"/>
              <a:t> </a:t>
            </a:r>
            <a:r>
              <a:rPr lang="en-US" dirty="0" err="1"/>
              <a:t>миру</a:t>
            </a:r>
            <a:r>
              <a:rPr lang="en-US" dirty="0"/>
              <a:t> </a:t>
            </a:r>
            <a:r>
              <a:rPr lang="en-US" dirty="0" err="1"/>
              <a:t>единую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наблюдения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DrawingChanged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конкретно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6937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::Undo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dirty="0" err="1"/>
              <a:t>какой-нибудь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RefreshAfterUndo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похожий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RefreshAfterRedo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специальное</a:t>
            </a:r>
            <a:r>
              <a:rPr lang="en-US" dirty="0"/>
              <a:t> </a:t>
            </a: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удаления</a:t>
            </a:r>
            <a:r>
              <a:rPr lang="en-US" dirty="0"/>
              <a:t>, </a:t>
            </a:r>
            <a:r>
              <a:rPr lang="en-US" dirty="0" err="1"/>
              <a:t>вставки</a:t>
            </a:r>
            <a:r>
              <a:rPr lang="en-US" dirty="0"/>
              <a:t> 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десятка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кодировать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потребителях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особого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«</a:t>
            </a:r>
            <a:r>
              <a:rPr lang="en-US" dirty="0" err="1"/>
              <a:t>после</a:t>
            </a:r>
            <a:r>
              <a:rPr lang="en-US" dirty="0"/>
              <a:t> Undo».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</a:t>
            </a:r>
            <a:r>
              <a:rPr lang="en-US" dirty="0" err="1"/>
              <a:t>вызвал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Unexecute</a:t>
            </a:r>
            <a:r>
              <a:rPr lang="en-US" dirty="0"/>
              <a:t>.</a:t>
            </a:r>
          </a:p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изменила</a:t>
            </a:r>
            <a:r>
              <a:rPr lang="en-US" dirty="0"/>
              <a:t> Domain Model.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уведомлений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и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Commit.</a:t>
            </a:r>
          </a:p>
          <a:p>
            <a:r>
              <a:rPr lang="en-US" dirty="0"/>
              <a:t>Redo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специальной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dirty="0"/>
              <a:t>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и </a:t>
            </a:r>
            <a:r>
              <a:rPr lang="en-US" dirty="0" err="1"/>
              <a:t>публикует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Получатели</a:t>
            </a:r>
            <a:r>
              <a:rPr lang="en-US" dirty="0"/>
              <a:t> </a:t>
            </a:r>
            <a:r>
              <a:rPr lang="en-US" dirty="0" err="1"/>
              <a:t>реагируют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b="1" dirty="0" err="1"/>
              <a:t>факт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состояния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41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Preview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локально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Controller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View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effective state.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подтверждённым</a:t>
            </a:r>
            <a:r>
              <a:rPr lang="en-US" dirty="0"/>
              <a:t>,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публикует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dirty="0" err="1"/>
              <a:t>работающие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документом</a:t>
            </a:r>
            <a:r>
              <a:rPr lang="en-US" dirty="0"/>
              <a:t>, </a:t>
            </a:r>
            <a:r>
              <a:rPr lang="en-US" dirty="0" err="1"/>
              <a:t>узнают</a:t>
            </a:r>
            <a:r>
              <a:rPr lang="en-US" dirty="0"/>
              <a:t> о </a:t>
            </a:r>
            <a:r>
              <a:rPr lang="en-US" dirty="0" err="1"/>
              <a:t>новом</a:t>
            </a:r>
            <a:r>
              <a:rPr lang="en-US" dirty="0"/>
              <a:t> committed state.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обновляет</a:t>
            </a:r>
            <a:r>
              <a:rPr lang="en-US" dirty="0"/>
              <a:t> effective state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обновляются</a:t>
            </a:r>
            <a:r>
              <a:rPr lang="en-US" dirty="0"/>
              <a:t> View.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в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Command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Observer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распространение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 о </a:t>
            </a:r>
            <a:r>
              <a:rPr lang="en-US" dirty="0" err="1"/>
              <a:t>произошедшем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effective state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редакторского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вставляли</a:t>
            </a:r>
            <a:r>
              <a:rPr lang="en-US" dirty="0"/>
              <a:t> Observer в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в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у </a:t>
            </a:r>
            <a:r>
              <a:rPr lang="en-US" dirty="0" err="1"/>
              <a:t>одного</a:t>
            </a:r>
            <a:r>
              <a:rPr lang="en-US" dirty="0"/>
              <a:t> Domain Model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потребителей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синхронно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подтверждённые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6529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соответствующим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относящееся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к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редакторскому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: </a:t>
            </a:r>
            <a:r>
              <a:rPr lang="en-US" dirty="0" err="1"/>
              <a:t>выделена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и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воспринимать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Vector2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m_previewOffset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универсальное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. Это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resize,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offset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Undo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обратного</a:t>
            </a:r>
            <a:r>
              <a:rPr lang="en-US" dirty="0"/>
              <a:t> </a:t>
            </a:r>
            <a:r>
              <a:rPr lang="en-US" dirty="0" err="1"/>
              <a:t>смещения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-offset</a:t>
            </a:r>
            <a:r>
              <a:rPr lang="en-US" dirty="0"/>
              <a:t>, </a:t>
            </a:r>
            <a:r>
              <a:rPr lang="en-US" dirty="0" err="1"/>
              <a:t>вычисления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en-US" dirty="0"/>
              <a:t> в </a:t>
            </a:r>
            <a:r>
              <a:rPr lang="en-US" dirty="0" err="1"/>
              <a:t>общем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гарантируют</a:t>
            </a:r>
            <a:r>
              <a:rPr lang="en-US" dirty="0"/>
              <a:t> </a:t>
            </a:r>
            <a:r>
              <a:rPr lang="en-US" dirty="0" err="1"/>
              <a:t>точного</a:t>
            </a:r>
            <a:r>
              <a:rPr lang="en-US" dirty="0"/>
              <a:t> </a:t>
            </a:r>
            <a:r>
              <a:rPr lang="en-US" dirty="0" err="1"/>
              <a:t>восстановления</a:t>
            </a:r>
            <a:r>
              <a:rPr lang="en-US" dirty="0"/>
              <a:t> </a:t>
            </a:r>
            <a:r>
              <a:rPr lang="en-US" dirty="0" err="1"/>
              <a:t>исходных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.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строгой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могла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и </a:t>
            </a:r>
            <a:r>
              <a:rPr lang="en-US" dirty="0" err="1"/>
              <a:t>конечный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dirty="0"/>
              <a:t> и </a:t>
            </a:r>
            <a:r>
              <a:rPr lang="en-US" dirty="0" err="1"/>
              <a:t>устанавливать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абсолютно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Vector2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основную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перегружает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деталями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8010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effective state —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доменная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старом</a:t>
            </a:r>
            <a:r>
              <a:rPr lang="en-US" dirty="0"/>
              <a:t> </a:t>
            </a:r>
            <a:r>
              <a:rPr lang="en-US" dirty="0" err="1"/>
              <a:t>положении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к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координатам</a:t>
            </a:r>
            <a:r>
              <a:rPr lang="en-US" dirty="0"/>
              <a:t> preview-offset, </a:t>
            </a:r>
            <a:r>
              <a:rPr lang="en-US" dirty="0" err="1"/>
              <a:t>поэтому</a:t>
            </a:r>
            <a:r>
              <a:rPr lang="en-US" dirty="0"/>
              <a:t> View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обратная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кликает</a:t>
            </a:r>
            <a:r>
              <a:rPr lang="en-US" dirty="0"/>
              <a:t> в </a:t>
            </a:r>
            <a:r>
              <a:rPr lang="en-US" dirty="0" err="1"/>
              <a:t>координатах</a:t>
            </a:r>
            <a:r>
              <a:rPr lang="en-US" dirty="0"/>
              <a:t> effective state, а </a:t>
            </a:r>
            <a:r>
              <a:rPr lang="en-US" dirty="0" err="1"/>
              <a:t>доменная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preview.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вычитаем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в </a:t>
            </a:r>
            <a:r>
              <a:rPr lang="en-US" dirty="0" err="1"/>
              <a:t>её</a:t>
            </a:r>
            <a:r>
              <a:rPr lang="en-US" dirty="0"/>
              <a:t> committed coordinates.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—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масштабирование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поворот</a:t>
            </a:r>
            <a:r>
              <a:rPr lang="en-US" dirty="0"/>
              <a:t>,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309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синхронизирует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с Domain Model,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подписывается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— Commit, Undo </a:t>
            </a:r>
            <a:r>
              <a:rPr lang="en-US" dirty="0" err="1"/>
              <a:t>или</a:t>
            </a:r>
            <a:r>
              <a:rPr lang="en-US" dirty="0"/>
              <a:t> Redo —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счёте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,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синхронизируется</a:t>
            </a:r>
            <a:r>
              <a:rPr lang="en-US" dirty="0"/>
              <a:t> и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своим</a:t>
            </a:r>
            <a:r>
              <a:rPr lang="en-US" dirty="0"/>
              <a:t> </a:t>
            </a:r>
            <a:r>
              <a:rPr lang="en-US" dirty="0" err="1"/>
              <a:t>наблюдателям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effective state </a:t>
            </a:r>
            <a:r>
              <a:rPr lang="en-US" dirty="0" err="1"/>
              <a:t>изменился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— </a:t>
            </a:r>
            <a:r>
              <a:rPr lang="en-US" dirty="0" err="1"/>
              <a:t>отправить</a:t>
            </a:r>
            <a:r>
              <a:rPr lang="en-US" dirty="0"/>
              <a:t> </a:t>
            </a:r>
            <a:r>
              <a:rPr lang="en-US" dirty="0" err="1"/>
              <a:t>готовую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CommandSink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Commit,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прошлым</a:t>
            </a:r>
            <a:r>
              <a:rPr lang="en-US" dirty="0"/>
              <a:t> и </a:t>
            </a:r>
            <a:r>
              <a:rPr lang="en-US" dirty="0" err="1"/>
              <a:t>будущим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 Undo и Redo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SyncShapes</a:t>
            </a:r>
            <a:r>
              <a:rPr lang="en-US" dirty="0"/>
              <a:t> </a:t>
            </a:r>
            <a:r>
              <a:rPr lang="en-US" dirty="0" err="1"/>
              <a:t>намеренно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.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конец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недостающие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изменение</a:t>
            </a:r>
            <a:r>
              <a:rPr lang="en-US" dirty="0"/>
              <a:t> Z-order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восстановление</a:t>
            </a:r>
            <a:r>
              <a:rPr lang="en-US" dirty="0"/>
              <a:t> </a:t>
            </a:r>
            <a:r>
              <a:rPr lang="en-US" dirty="0" err="1"/>
              <a:t>удалённой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Undo,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надёжное</a:t>
            </a:r>
            <a:r>
              <a:rPr lang="en-US" dirty="0"/>
              <a:t> </a:t>
            </a:r>
            <a:r>
              <a:rPr lang="en-US" dirty="0" err="1"/>
              <a:t>сопоставление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стабильный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436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BeginMove</a:t>
            </a:r>
            <a:r>
              <a:rPr lang="en-US" dirty="0"/>
              <a:t> </a:t>
            </a:r>
            <a:r>
              <a:rPr lang="en-US" dirty="0" err="1"/>
              <a:t>фиксирует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редакторская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минимально</a:t>
            </a:r>
            <a:r>
              <a:rPr lang="en-US" dirty="0"/>
              <a:t>: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перемещаем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вызову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UpdateMove</a:t>
            </a:r>
            <a:r>
              <a:rPr lang="en-US" dirty="0"/>
              <a:t>.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очередное</a:t>
            </a:r>
            <a:r>
              <a:rPr lang="en-US" dirty="0"/>
              <a:t> </a:t>
            </a:r>
            <a:r>
              <a:rPr lang="en-US" dirty="0" err="1"/>
              <a:t>маленькое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а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drag.</a:t>
            </a:r>
          </a:p>
          <a:p>
            <a:r>
              <a:rPr lang="en-US" dirty="0" err="1"/>
              <a:t>Сейчас</a:t>
            </a:r>
            <a:r>
              <a:rPr lang="en-US" dirty="0"/>
              <a:t> requested и effective offset </a:t>
            </a:r>
            <a:r>
              <a:rPr lang="en-US" dirty="0" err="1"/>
              <a:t>совпадают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вставится</a:t>
            </a:r>
            <a:r>
              <a:rPr lang="en-US" dirty="0"/>
              <a:t> snapping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requested offset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snapping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 offset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preview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своим</a:t>
            </a:r>
            <a:r>
              <a:rPr lang="en-US" dirty="0"/>
              <a:t> </a:t>
            </a:r>
            <a:r>
              <a:rPr lang="en-US" dirty="0" err="1"/>
              <a:t>наблюдателям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effective state </a:t>
            </a:r>
            <a:r>
              <a:rPr lang="en-US" dirty="0" err="1"/>
              <a:t>изменился</a:t>
            </a:r>
            <a:r>
              <a:rPr lang="en-US" dirty="0"/>
              <a:t>.</a:t>
            </a:r>
          </a:p>
          <a:p>
            <a:r>
              <a:rPr lang="en-US" dirty="0"/>
              <a:t>Domain Model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нетронутой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578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практическое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Cancel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вычислять</a:t>
            </a:r>
            <a:r>
              <a:rPr lang="en-US" dirty="0"/>
              <a:t>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и </a:t>
            </a:r>
            <a:r>
              <a:rPr lang="en-US" dirty="0" err="1"/>
              <a:t>возвращать</a:t>
            </a:r>
            <a:r>
              <a:rPr lang="en-US" dirty="0"/>
              <a:t> </a:t>
            </a:r>
            <a:r>
              <a:rPr lang="en-US" dirty="0" err="1"/>
              <a:t>доменную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очищаем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и </a:t>
            </a:r>
            <a:r>
              <a:rPr lang="en-US" dirty="0" err="1"/>
              <a:t>завершаем</a:t>
            </a:r>
            <a:r>
              <a:rPr lang="en-US" dirty="0"/>
              <a:t> </a:t>
            </a:r>
            <a:r>
              <a:rPr lang="en-US" dirty="0" err="1"/>
              <a:t>активную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перерисовки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вернёт</a:t>
            </a:r>
            <a:r>
              <a:rPr lang="en-US" dirty="0"/>
              <a:t> committed bounds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дополнительного</a:t>
            </a:r>
            <a:r>
              <a:rPr lang="en-US" dirty="0"/>
              <a:t> </a:t>
            </a:r>
            <a:r>
              <a:rPr lang="en-US" dirty="0" err="1"/>
              <a:t>смещения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отмена</a:t>
            </a:r>
            <a:r>
              <a:rPr lang="en-US" dirty="0"/>
              <a:t> </a:t>
            </a:r>
            <a:r>
              <a:rPr lang="en-US" dirty="0" err="1"/>
              <a:t>незавершённого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и Undo </a:t>
            </a:r>
            <a:r>
              <a:rPr lang="en-US" dirty="0" err="1"/>
              <a:t>подтверждённого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механизмами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123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</a:t>
            </a:r>
            <a:r>
              <a:rPr lang="en-US" dirty="0" err="1"/>
              <a:t>соединяет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мира</a:t>
            </a:r>
            <a:r>
              <a:rPr lang="en-US" dirty="0"/>
              <a:t>: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и </a:t>
            </a:r>
            <a:r>
              <a:rPr lang="en-US" dirty="0" err="1"/>
              <a:t>подтверждённое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запоминаем</a:t>
            </a:r>
            <a:r>
              <a:rPr lang="en-US" dirty="0"/>
              <a:t> </a:t>
            </a:r>
            <a:r>
              <a:rPr lang="en-US" dirty="0" err="1"/>
              <a:t>итоговое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preview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::Execute()</a:t>
            </a:r>
            <a:r>
              <a:rPr lang="en-US" dirty="0"/>
              <a:t> </a:t>
            </a:r>
            <a:r>
              <a:rPr lang="en-US" dirty="0" err="1"/>
              <a:t>изменит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пошлёт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агрегирует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Domain Model.</a:t>
            </a:r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старый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previewOffset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, effective state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вычислен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committed-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плюс</a:t>
            </a:r>
            <a:r>
              <a:rPr lang="en-US" dirty="0"/>
              <a:t> </a:t>
            </a:r>
            <a:r>
              <a:rPr lang="en-US" dirty="0" err="1"/>
              <a:t>старое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. 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 </a:t>
            </a:r>
            <a:r>
              <a:rPr lang="en-US" dirty="0" err="1"/>
              <a:t>перемещена</a:t>
            </a:r>
            <a:r>
              <a:rPr lang="en-US" dirty="0"/>
              <a:t> </a:t>
            </a:r>
            <a:r>
              <a:rPr lang="en-US" dirty="0" err="1"/>
              <a:t>дважды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убираем</a:t>
            </a:r>
            <a:r>
              <a:rPr lang="en-US" dirty="0"/>
              <a:t> </a:t>
            </a:r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слой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MoveShapeCommand</a:t>
            </a:r>
            <a:r>
              <a:rPr lang="en-US" dirty="0"/>
              <a:t>.</a:t>
            </a:r>
          </a:p>
          <a:p>
            <a:r>
              <a:rPr lang="ru-RU" dirty="0"/>
              <a:t>Чтобы сохранить команду – отправляем её в </a:t>
            </a:r>
            <a:r>
              <a:rPr lang="en-US" dirty="0"/>
              <a:t>command sink.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m_commandSink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(std::move(command));</a:t>
            </a:r>
          </a:p>
          <a:p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попадёт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и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.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sink </a:t>
            </a:r>
            <a:r>
              <a:rPr lang="en-US" dirty="0" err="1"/>
              <a:t>передаст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::Execute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выполнит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и </a:t>
            </a:r>
            <a:r>
              <a:rPr lang="en-US" dirty="0" err="1"/>
              <a:t>сохранит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Commit,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</a:t>
            </a:r>
            <a:r>
              <a:rPr lang="en-US" dirty="0"/>
              <a:t> Commit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видел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Δ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Commit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committed state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</a:t>
            </a:r>
            <a:r>
              <a:rPr lang="en-US" dirty="0" err="1"/>
              <a:t>Визуального</a:t>
            </a:r>
            <a:r>
              <a:rPr lang="en-US" dirty="0"/>
              <a:t> </a:t>
            </a:r>
            <a:r>
              <a:rPr lang="en-US" dirty="0" err="1"/>
              <a:t>скачка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0848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обязательное</a:t>
            </a:r>
            <a:r>
              <a:rPr lang="en-US" dirty="0"/>
              <a:t> </a:t>
            </a:r>
            <a:r>
              <a:rPr lang="en-US" dirty="0" err="1"/>
              <a:t>архитектурное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самостоятельным</a:t>
            </a:r>
            <a:r>
              <a:rPr lang="en-US" dirty="0"/>
              <a:t> и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,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скорее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: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?</a:t>
            </a:r>
          </a:p>
          <a:p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хочется</a:t>
            </a:r>
            <a:r>
              <a:rPr lang="en-US" dirty="0"/>
              <a:t>.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возможностью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положением</a:t>
            </a:r>
            <a:r>
              <a:rPr lang="en-US" dirty="0"/>
              <a:t> в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: «а </a:t>
            </a:r>
            <a:r>
              <a:rPr lang="en-US" dirty="0" err="1"/>
              <a:t>сейчас</a:t>
            </a:r>
            <a:r>
              <a:rPr lang="en-US" dirty="0"/>
              <a:t> я </a:t>
            </a:r>
            <a:r>
              <a:rPr lang="en-US" dirty="0" err="1"/>
              <a:t>отменю</a:t>
            </a:r>
            <a:r>
              <a:rPr lang="en-US" dirty="0"/>
              <a:t> </a:t>
            </a:r>
            <a:r>
              <a:rPr lang="en-US" dirty="0" err="1"/>
              <a:t>предыдущую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».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узкую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ICommandSink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, </a:t>
            </a:r>
            <a:r>
              <a:rPr lang="en-US" dirty="0" err="1"/>
              <a:t>принимающую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: </a:t>
            </a:r>
            <a:r>
              <a:rPr lang="en-US" dirty="0" err="1"/>
              <a:t>готовую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куда-то</a:t>
            </a:r>
            <a:r>
              <a:rPr lang="en-US" dirty="0"/>
              <a:t> </a:t>
            </a:r>
            <a:r>
              <a:rPr lang="en-US" dirty="0" err="1"/>
              <a:t>отправить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 — </a:t>
            </a:r>
            <a:r>
              <a:rPr lang="en-US" dirty="0" err="1"/>
              <a:t>попадёт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залогирована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обработана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—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: </a:t>
            </a:r>
            <a:r>
              <a:rPr lang="en-US" dirty="0" err="1"/>
              <a:t>давать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, а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088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перевели</a:t>
            </a:r>
            <a:r>
              <a:rPr lang="en-US" dirty="0"/>
              <a:t> View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renderer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посещал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понимал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получал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разделились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Domain Model.</a:t>
            </a:r>
          </a:p>
          <a:p>
            <a:r>
              <a:rPr lang="en-US" dirty="0"/>
              <a:t>А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приходить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учитывается</a:t>
            </a:r>
            <a:r>
              <a:rPr lang="en-US" dirty="0"/>
              <a:t> preview.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GetDomainShape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View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Domain Model.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0344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Введём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visitor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VisitRectangle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renderer'у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VisitEllipse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Аргументом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важно</a:t>
            </a:r>
            <a:r>
              <a:rPr lang="en-US" dirty="0"/>
              <a:t>. Renderer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типе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editor-state.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shape.GetBounds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вернёт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effective bounds, </a:t>
            </a:r>
            <a:r>
              <a:rPr lang="en-US" dirty="0" err="1"/>
              <a:t>включая</a:t>
            </a:r>
            <a:r>
              <a:rPr lang="en-US" dirty="0"/>
              <a:t> preview-offset.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UI и Domain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083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маленький</a:t>
            </a:r>
            <a:r>
              <a:rPr lang="en-US" dirty="0"/>
              <a:t> adapter.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доменная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adapter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VisitRectangle</a:t>
            </a:r>
            <a:r>
              <a:rPr lang="en-US" dirty="0"/>
              <a:t> у editor visitor.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VisitEllipse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доменный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а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старый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Visitor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скрыт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editor-layer.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возвращаем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View.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7215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</a:t>
            </a:r>
            <a:r>
              <a:rPr lang="en-US" dirty="0" err="1"/>
              <a:t>еперь</a:t>
            </a:r>
            <a:r>
              <a:rPr lang="en-US" dirty="0"/>
              <a:t> renderer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ru-RU" dirty="0"/>
              <a:t>фигуры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, и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срабатывает</a:t>
            </a:r>
            <a:r>
              <a:rPr lang="en-US" dirty="0"/>
              <a:t> editor visitor.</a:t>
            </a:r>
          </a:p>
          <a:p>
            <a:r>
              <a:rPr lang="en-US" dirty="0"/>
              <a:t>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VisitRectangle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VisitEllipse</a:t>
            </a:r>
            <a:r>
              <a:rPr lang="en-US" dirty="0"/>
              <a:t> renderer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берутся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effective state.</a:t>
            </a:r>
            <a:endParaRPr lang="ru-RU" dirty="0"/>
          </a:p>
          <a:p>
            <a:endParaRPr lang="en-US" dirty="0"/>
          </a:p>
          <a:p>
            <a:r>
              <a:rPr lang="en-US" dirty="0"/>
              <a:t>Selection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dirty="0"/>
              <a:t>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preview-</a:t>
            </a:r>
            <a:r>
              <a:rPr lang="en-US" dirty="0" err="1"/>
              <a:t>положении</a:t>
            </a:r>
            <a:r>
              <a:rPr lang="en-US" dirty="0"/>
              <a:t>, </a:t>
            </a:r>
            <a:r>
              <a:rPr lang="en-US" dirty="0" err="1"/>
              <a:t>рамка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Итоговая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чище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Domain Model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отображаемое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3813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переведём</a:t>
            </a:r>
            <a:r>
              <a:rPr lang="en-US" dirty="0"/>
              <a:t> Controller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работал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находил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в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сохранял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и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вызывал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интерпретацию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делегируется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: Controller </a:t>
            </a:r>
            <a:r>
              <a:rPr lang="en-US" dirty="0" err="1"/>
              <a:t>понимает</a:t>
            </a:r>
            <a:r>
              <a:rPr lang="en-US" dirty="0"/>
              <a:t> </a:t>
            </a:r>
            <a:r>
              <a:rPr lang="en-US" dirty="0" err="1"/>
              <a:t>жест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preview, selection и commit.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650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drag.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 Controller </a:t>
            </a:r>
            <a:r>
              <a:rPr lang="en-US" dirty="0" err="1"/>
              <a:t>ищет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а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Controller </a:t>
            </a:r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начальной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drag.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маленькие</a:t>
            </a:r>
            <a:r>
              <a:rPr lang="en-US" dirty="0"/>
              <a:t> </a:t>
            </a:r>
            <a:r>
              <a:rPr lang="en-US" dirty="0" err="1"/>
              <a:t>приращения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соседними</a:t>
            </a:r>
            <a:r>
              <a:rPr lang="en-US" dirty="0"/>
              <a:t> </a:t>
            </a:r>
            <a:r>
              <a:rPr lang="en-US" dirty="0" err="1"/>
              <a:t>событиями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requested offset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effective offset, </a:t>
            </a:r>
            <a:r>
              <a:rPr lang="en-US" dirty="0" err="1"/>
              <a:t>например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snapping.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 Controller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обновляет</a:t>
            </a:r>
            <a:r>
              <a:rPr lang="en-US" dirty="0"/>
              <a:t> offset,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отпускание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прийти</a:t>
            </a:r>
            <a:r>
              <a:rPr lang="en-US" dirty="0"/>
              <a:t> в </a:t>
            </a:r>
            <a:r>
              <a:rPr lang="en-US" dirty="0" err="1"/>
              <a:t>точке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CommitMove</a:t>
            </a:r>
            <a:r>
              <a:rPr lang="en-US" dirty="0"/>
              <a:t>. Domain Model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, а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цепочки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Command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386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и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редактируемому</a:t>
            </a:r>
            <a:r>
              <a:rPr lang="en-US" dirty="0"/>
              <a:t> </a:t>
            </a:r>
            <a:r>
              <a:rPr lang="en-US" dirty="0" err="1"/>
              <a:t>документу</a:t>
            </a:r>
            <a:r>
              <a:rPr lang="en-US" dirty="0"/>
              <a:t>: </a:t>
            </a:r>
            <a:r>
              <a:rPr lang="en-US" dirty="0" err="1"/>
              <a:t>доменная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жизненные</a:t>
            </a:r>
            <a:r>
              <a:rPr lang="en-US" dirty="0"/>
              <a:t> </a:t>
            </a:r>
            <a:r>
              <a:rPr lang="en-US" dirty="0" err="1"/>
              <a:t>циклы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dirty="0" err="1"/>
              <a:t>существую</a:t>
            </a:r>
            <a:endParaRPr lang="ru-RU" dirty="0"/>
          </a:p>
          <a:p>
            <a:r>
              <a:rPr lang="en-US" dirty="0" err="1"/>
              <a:t>щий</a:t>
            </a:r>
            <a:r>
              <a:rPr lang="en-US" dirty="0"/>
              <a:t>, </a:t>
            </a:r>
            <a:r>
              <a:rPr lang="en-US" dirty="0" err="1"/>
              <a:t>появляется</a:t>
            </a:r>
            <a:r>
              <a:rPr lang="en-US" dirty="0"/>
              <a:t> и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и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закрывается</a:t>
            </a:r>
            <a:r>
              <a:rPr lang="en-US" dirty="0"/>
              <a:t>,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r>
              <a:rPr lang="en-US" dirty="0"/>
              <a:t> и </a:t>
            </a:r>
            <a:r>
              <a:rPr lang="en-US" dirty="0" err="1"/>
              <a:t>связанной</a:t>
            </a:r>
            <a:r>
              <a:rPr lang="en-US" dirty="0"/>
              <a:t> с </a:t>
            </a:r>
            <a:r>
              <a:rPr lang="en-US" dirty="0" err="1"/>
              <a:t>ней</a:t>
            </a:r>
            <a:r>
              <a:rPr lang="en-US" dirty="0"/>
              <a:t> Undo/Redo-</a:t>
            </a:r>
            <a:r>
              <a:rPr lang="en-US" dirty="0" err="1"/>
              <a:t>историей</a:t>
            </a:r>
            <a:r>
              <a:rPr lang="en-US" dirty="0"/>
              <a:t>: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Domain Model.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открытый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инфраструктурой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своим</a:t>
            </a:r>
            <a:r>
              <a:rPr lang="en-US" dirty="0"/>
              <a:t> selection и preview,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. </a:t>
            </a:r>
            <a:r>
              <a:rPr lang="en-US" dirty="0" err="1"/>
              <a:t>Значит</a:t>
            </a:r>
            <a:r>
              <a:rPr lang="en-US" dirty="0"/>
              <a:t>, committed state и Undo/Redo-</a:t>
            </a:r>
            <a:r>
              <a:rPr lang="en-US" dirty="0" err="1"/>
              <a:t>история</a:t>
            </a:r>
            <a:r>
              <a:rPr lang="en-US" dirty="0"/>
              <a:t>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полей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объявлен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уничтожении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уничтожена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. Это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уничтожаются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естественной</a:t>
            </a:r>
            <a:r>
              <a:rPr lang="en-US" dirty="0"/>
              <a:t> </a:t>
            </a:r>
            <a:r>
              <a:rPr lang="en-US" dirty="0" err="1"/>
              <a:t>точкой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ExecuteCommand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Commit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Drawing&amp;</a:t>
            </a:r>
            <a:r>
              <a:rPr lang="en-US" dirty="0"/>
              <a:t> и </a:t>
            </a:r>
            <a:r>
              <a:rPr lang="en-US" dirty="0" err="1"/>
              <a:t>узкого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CommandSink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Undo </a:t>
            </a:r>
            <a:r>
              <a:rPr lang="en-US" dirty="0" err="1"/>
              <a:t>или</a:t>
            </a:r>
            <a:r>
              <a:rPr lang="en-US" dirty="0"/>
              <a:t> Redo,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8274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Undo и Redo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Canvas: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drag, preview и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Undo и Redo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историей</a:t>
            </a:r>
            <a:r>
              <a:rPr lang="en-US" dirty="0"/>
              <a:t> </a:t>
            </a:r>
            <a:r>
              <a:rPr lang="en-US" b="1" dirty="0" err="1"/>
              <a:t>всего</a:t>
            </a:r>
            <a:r>
              <a:rPr lang="en-US" b="1" dirty="0"/>
              <a:t> </a:t>
            </a:r>
            <a:r>
              <a:rPr lang="en-US" b="1" dirty="0" err="1"/>
              <a:t>документа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у </a:t>
            </a:r>
            <a:r>
              <a:rPr lang="en-US" dirty="0" err="1"/>
              <a:t>редакторского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TimelineView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Timeline,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нажать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Ctrl+Z</a:t>
            </a:r>
            <a:r>
              <a:rPr lang="en-US" dirty="0"/>
              <a:t>. </a:t>
            </a:r>
            <a:endParaRPr lang="ru-RU" dirty="0"/>
          </a:p>
          <a:p>
            <a:r>
              <a:rPr lang="en-US" dirty="0"/>
              <a:t>Undo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сработать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View </a:t>
            </a:r>
            <a:r>
              <a:rPr lang="en-US" dirty="0" err="1"/>
              <a:t>инициировало</a:t>
            </a:r>
            <a:r>
              <a:rPr lang="en-US" dirty="0"/>
              <a:t> </a:t>
            </a:r>
            <a:r>
              <a:rPr lang="en-US" dirty="0" err="1"/>
              <a:t>предыдущую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и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фокус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ru-RU" dirty="0"/>
              <a:t>редактирования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историей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маленький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переводит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 в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контроллеров</a:t>
            </a:r>
            <a:r>
              <a:rPr lang="en-US" dirty="0"/>
              <a:t> с </a:t>
            </a:r>
            <a:r>
              <a:rPr lang="en-US" dirty="0" err="1"/>
              <a:t>разной</a:t>
            </a:r>
            <a:r>
              <a:rPr lang="en-US" dirty="0"/>
              <a:t> </a:t>
            </a:r>
            <a:r>
              <a:rPr lang="en-US" dirty="0" err="1"/>
              <a:t>областью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команды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взаимодействия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конкретным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Canvas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команды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редактора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документа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целом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цепочке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 и Redo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узнает</a:t>
            </a:r>
            <a:r>
              <a:rPr lang="en-US" dirty="0"/>
              <a:t> о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косвенно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отменит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повторит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пошлёт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, и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синхронизируются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 и Redo </a:t>
            </a:r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распространения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специальных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 </a:t>
            </a:r>
            <a:r>
              <a:rPr lang="en-US" dirty="0" err="1"/>
              <a:t>обновления</a:t>
            </a:r>
            <a:r>
              <a:rPr lang="en-US" dirty="0"/>
              <a:t>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6307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относящиеся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участникам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: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CommandSink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committed state,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Commit и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Undo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— в </a:t>
            </a:r>
            <a:r>
              <a:rPr lang="en-US" dirty="0" err="1"/>
              <a:t>частности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Undo и Redo.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а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Preview и Commit.</a:t>
            </a:r>
          </a:p>
          <a:p>
            <a:endParaRPr lang="ru-RU" dirty="0"/>
          </a:p>
          <a:p>
            <a:r>
              <a:rPr lang="en-US" dirty="0" err="1"/>
              <a:t>Маршрутизация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явной</a:t>
            </a:r>
            <a:r>
              <a:rPr lang="en-US" dirty="0"/>
              <a:t>.</a:t>
            </a:r>
          </a:p>
          <a:p>
            <a:r>
              <a:rPr lang="en-US" dirty="0" err="1"/>
              <a:t>Комбинации</a:t>
            </a:r>
            <a:r>
              <a:rPr lang="en-US" dirty="0"/>
              <a:t> </a:t>
            </a:r>
            <a:r>
              <a:rPr lang="en-US" dirty="0" err="1"/>
              <a:t>клавиш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Ctrl+Z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Ctrl+Y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</a:t>
            </a:r>
            <a:r>
              <a:rPr lang="en-US" dirty="0" err="1"/>
              <a:t>редакторскому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.</a:t>
            </a:r>
          </a:p>
          <a:p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относящиеся</a:t>
            </a:r>
            <a:r>
              <a:rPr lang="en-US" dirty="0"/>
              <a:t> к Canvas, </a:t>
            </a:r>
            <a:r>
              <a:rPr lang="en-US" dirty="0" err="1"/>
              <a:t>передаются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события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всего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редактора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события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конкретного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Canvas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сходятся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,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уведомляет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,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своим</a:t>
            </a:r>
            <a:r>
              <a:rPr lang="en-US" dirty="0"/>
              <a:t> selection и preview.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и, </a:t>
            </a:r>
            <a:r>
              <a:rPr lang="en-US" dirty="0" err="1"/>
              <a:t>следовательно</a:t>
            </a:r>
            <a:r>
              <a:rPr lang="en-US" dirty="0"/>
              <a:t>,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Undo/Redo-</a:t>
            </a:r>
            <a:r>
              <a:rPr lang="en-US" dirty="0" err="1"/>
              <a:t>историей</a:t>
            </a:r>
            <a:r>
              <a:rPr lang="en-US" dirty="0"/>
              <a:t>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composition root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и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и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открытый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3756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с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понятной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и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в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MVC </a:t>
            </a:r>
            <a:r>
              <a:rPr lang="en-US" dirty="0" err="1"/>
              <a:t>выглядел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убедительно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Preview,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— и в </a:t>
            </a:r>
            <a:r>
              <a:rPr lang="en-US" dirty="0" err="1"/>
              <a:t>какой-то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естественное</a:t>
            </a:r>
            <a:r>
              <a:rPr lang="en-US" dirty="0"/>
              <a:t> </a:t>
            </a:r>
            <a:r>
              <a:rPr lang="en-US" dirty="0" err="1"/>
              <a:t>ощущение</a:t>
            </a:r>
            <a:r>
              <a:rPr lang="en-US" dirty="0"/>
              <a:t>: «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настолько</a:t>
            </a:r>
            <a:r>
              <a:rPr lang="en-US" dirty="0"/>
              <a:t> </a:t>
            </a:r>
            <a:r>
              <a:rPr lang="en-US" dirty="0" err="1"/>
              <a:t>сложно</a:t>
            </a:r>
            <a:r>
              <a:rPr lang="en-US" dirty="0"/>
              <a:t>?»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нормальный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в </a:t>
            </a:r>
            <a:r>
              <a:rPr lang="en-US" dirty="0" err="1"/>
              <a:t>развитии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откуда</a:t>
            </a:r>
            <a:r>
              <a:rPr lang="en-US" dirty="0"/>
              <a:t> </a:t>
            </a:r>
            <a:r>
              <a:rPr lang="en-US" dirty="0" err="1"/>
              <a:t>взялась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красивой</a:t>
            </a:r>
            <a:r>
              <a:rPr lang="en-US" dirty="0"/>
              <a:t> UML-</a:t>
            </a:r>
            <a:r>
              <a:rPr lang="en-US" dirty="0" err="1"/>
              <a:t>диаграммы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в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и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неужели</a:t>
            </a:r>
            <a:r>
              <a:rPr lang="en-US" b="1" dirty="0"/>
              <a:t> </a:t>
            </a:r>
            <a:r>
              <a:rPr lang="en-US" b="1" dirty="0" err="1"/>
              <a:t>ради</a:t>
            </a:r>
            <a:r>
              <a:rPr lang="en-US" b="1" dirty="0"/>
              <a:t> Undo/Redo </a:t>
            </a:r>
            <a:r>
              <a:rPr lang="en-US" b="1" dirty="0" err="1"/>
              <a:t>всё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было</a:t>
            </a:r>
            <a:r>
              <a:rPr lang="en-US" b="1" dirty="0"/>
              <a:t> </a:t>
            </a:r>
            <a:r>
              <a:rPr lang="en-US" b="1" dirty="0" err="1"/>
              <a:t>необходимо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1878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, к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en-US" dirty="0"/>
              <a:t>,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,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контроллеров</a:t>
            </a:r>
            <a:r>
              <a:rPr lang="en-US" dirty="0"/>
              <a:t>.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Visitor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адаптировать</a:t>
            </a:r>
            <a:r>
              <a:rPr lang="en-US" dirty="0"/>
              <a:t> к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началось</a:t>
            </a:r>
            <a:r>
              <a:rPr lang="en-US" dirty="0"/>
              <a:t> с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понятного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: </a:t>
            </a:r>
            <a:r>
              <a:rPr lang="en-US" dirty="0" err="1"/>
              <a:t>добавить</a:t>
            </a:r>
            <a:r>
              <a:rPr lang="en-US" dirty="0"/>
              <a:t> Undo и Redo.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Ctrl+Z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садились</a:t>
            </a:r>
            <a:r>
              <a:rPr lang="en-US" dirty="0"/>
              <a:t> 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проектировали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схему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появлялся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становилось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в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сторону</a:t>
            </a:r>
            <a:r>
              <a:rPr lang="en-US" dirty="0"/>
              <a:t> и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8865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выглядела</a:t>
            </a:r>
            <a:r>
              <a:rPr lang="en-US" dirty="0"/>
              <a:t> </a:t>
            </a:r>
            <a:r>
              <a:rPr lang="en-US" dirty="0" err="1"/>
              <a:t>локальной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отменять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en-US" dirty="0"/>
              <a:t>, а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попытались</a:t>
            </a:r>
            <a:r>
              <a:rPr lang="en-US" dirty="0"/>
              <a:t> </a:t>
            </a:r>
            <a:r>
              <a:rPr lang="en-US" dirty="0" err="1"/>
              <a:t>встроить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в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мышью</a:t>
            </a:r>
            <a:r>
              <a:rPr lang="en-US" dirty="0"/>
              <a:t> и </a:t>
            </a:r>
            <a:r>
              <a:rPr lang="en-US" dirty="0" err="1"/>
              <a:t>обнаружили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двигается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к </a:t>
            </a:r>
            <a:r>
              <a:rPr lang="en-US" dirty="0" err="1"/>
              <a:t>моменту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возникло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Preview и Commit.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храниться</a:t>
            </a:r>
            <a:r>
              <a:rPr lang="en-US" dirty="0"/>
              <a:t> Preview?</a:t>
            </a:r>
          </a:p>
          <a:p>
            <a:r>
              <a:rPr lang="en-US" dirty="0" err="1"/>
              <a:t>Мысленные</a:t>
            </a:r>
            <a:r>
              <a:rPr lang="en-US" dirty="0"/>
              <a:t> </a:t>
            </a:r>
            <a:r>
              <a:rPr lang="en-US" dirty="0" err="1"/>
              <a:t>эксперименты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окнами</a:t>
            </a:r>
            <a:r>
              <a:rPr lang="en-US" dirty="0"/>
              <a:t>, Timeline и snapping </a:t>
            </a:r>
            <a:r>
              <a:rPr lang="en-US" dirty="0" err="1"/>
              <a:t>показали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самому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сеансу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прыжком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выросла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состоянием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5730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Главным</a:t>
            </a:r>
            <a:r>
              <a:rPr lang="en-US" dirty="0"/>
              <a:t> </a:t>
            </a:r>
            <a:r>
              <a:rPr lang="en-US" dirty="0" err="1"/>
              <a:t>архитектурным</a:t>
            </a:r>
            <a:r>
              <a:rPr lang="en-US" dirty="0"/>
              <a:t> </a:t>
            </a:r>
            <a:r>
              <a:rPr lang="en-US" dirty="0" err="1"/>
              <a:t>результатом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двухуровневая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содержится</a:t>
            </a:r>
            <a:r>
              <a:rPr lang="en-US" dirty="0"/>
              <a:t> в </a:t>
            </a:r>
            <a:r>
              <a:rPr lang="en-US" dirty="0" err="1"/>
              <a:t>документе</a:t>
            </a:r>
            <a:r>
              <a:rPr lang="en-US" dirty="0"/>
              <a:t>?</a:t>
            </a:r>
          </a:p>
          <a:p>
            <a:r>
              <a:rPr lang="en-US" dirty="0"/>
              <a:t>Это committed state.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 и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окон</a:t>
            </a:r>
            <a:r>
              <a:rPr lang="en-US" dirty="0"/>
              <a:t>, </a:t>
            </a:r>
            <a:r>
              <a:rPr lang="en-US" dirty="0" err="1"/>
              <a:t>работающих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?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selection, </a:t>
            </a:r>
            <a:r>
              <a:rPr lang="en-US" dirty="0" err="1"/>
              <a:t>незавершённый</a:t>
            </a:r>
            <a:r>
              <a:rPr lang="en-US" dirty="0"/>
              <a:t> Preview и effective state.</a:t>
            </a:r>
          </a:p>
          <a:p>
            <a:endParaRPr lang="ru-RU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копия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дублировать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Domain Model,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одинаковых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ссылается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доменную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следствием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обнаружили</a:t>
            </a:r>
            <a:r>
              <a:rPr lang="en-US" dirty="0"/>
              <a:t> </a:t>
            </a:r>
            <a:r>
              <a:rPr lang="en-US" b="1" dirty="0" err="1"/>
              <a:t>два</a:t>
            </a:r>
            <a:r>
              <a:rPr lang="en-US" b="1" dirty="0"/>
              <a:t> </a:t>
            </a:r>
            <a:r>
              <a:rPr lang="en-US" b="1" dirty="0" err="1"/>
              <a:t>разных</a:t>
            </a:r>
            <a:r>
              <a:rPr lang="en-US" b="1" dirty="0"/>
              <a:t> </a:t>
            </a:r>
            <a:r>
              <a:rPr lang="en-US" b="1" dirty="0" err="1"/>
              <a:t>вида</a:t>
            </a:r>
            <a:r>
              <a:rPr lang="en-US" b="1" dirty="0"/>
              <a:t> </a:t>
            </a:r>
            <a:r>
              <a:rPr lang="en-US" b="1" dirty="0" err="1"/>
              <a:t>состояния</a:t>
            </a:r>
            <a:r>
              <a:rPr lang="en-US" b="1" dirty="0"/>
              <a:t> с </a:t>
            </a:r>
            <a:r>
              <a:rPr lang="en-US" b="1" dirty="0" err="1"/>
              <a:t>разным</a:t>
            </a:r>
            <a:r>
              <a:rPr lang="en-US" b="1" dirty="0"/>
              <a:t> </a:t>
            </a:r>
            <a:r>
              <a:rPr lang="en-US" b="1" dirty="0" err="1"/>
              <a:t>временем</a:t>
            </a:r>
            <a:r>
              <a:rPr lang="en-US" b="1" dirty="0"/>
              <a:t> </a:t>
            </a:r>
            <a:r>
              <a:rPr lang="en-US" b="1" dirty="0" err="1"/>
              <a:t>жизни</a:t>
            </a:r>
            <a:r>
              <a:rPr lang="en-US" b="1" dirty="0"/>
              <a:t> и </a:t>
            </a:r>
            <a:r>
              <a:rPr lang="en-US" b="1" dirty="0" err="1"/>
              <a:t>областью</a:t>
            </a:r>
            <a:r>
              <a:rPr lang="en-US" b="1" dirty="0"/>
              <a:t> </a:t>
            </a:r>
            <a:r>
              <a:rPr lang="en-US" b="1" dirty="0" err="1"/>
              <a:t>видимости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1461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появившиеся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и </a:t>
            </a:r>
            <a:r>
              <a:rPr lang="en-US" dirty="0" err="1"/>
              <a:t>отменить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CommandHistory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последовательностью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EditorShape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effective state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жесты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Canvas,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командами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в </a:t>
            </a:r>
            <a:r>
              <a:rPr lang="en-US" dirty="0" err="1"/>
              <a:t>целом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выросло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выросло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различимых</a:t>
            </a:r>
            <a:r>
              <a:rPr lang="en-US" dirty="0"/>
              <a:t> </a:t>
            </a:r>
            <a:r>
              <a:rPr lang="en-US" dirty="0" err="1"/>
              <a:t>ответственностей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критерий</a:t>
            </a:r>
            <a:r>
              <a:rPr lang="en-US" dirty="0"/>
              <a:t>.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хорошей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попытка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ценой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старых</a:t>
            </a:r>
            <a:r>
              <a:rPr lang="en-US" dirty="0"/>
              <a:t> </a:t>
            </a:r>
            <a:r>
              <a:rPr lang="en-US" dirty="0" err="1"/>
              <a:t>классах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смешиваться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5184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.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, </a:t>
            </a:r>
            <a:r>
              <a:rPr lang="en-US" dirty="0" err="1"/>
              <a:t>уведомления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жизненного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неправильно</a:t>
            </a:r>
            <a:r>
              <a:rPr lang="en-US" dirty="0"/>
              <a:t> </a:t>
            </a:r>
            <a:r>
              <a:rPr lang="en-US" dirty="0" err="1"/>
              <a:t>закончить</a:t>
            </a:r>
            <a:r>
              <a:rPr lang="en-US" dirty="0"/>
              <a:t> </a:t>
            </a:r>
            <a:r>
              <a:rPr lang="en-US" dirty="0" err="1"/>
              <a:t>лекцию</a:t>
            </a:r>
            <a:r>
              <a:rPr lang="en-US" dirty="0"/>
              <a:t> </a:t>
            </a:r>
            <a:r>
              <a:rPr lang="en-US" dirty="0" err="1"/>
              <a:t>выводом</a:t>
            </a:r>
            <a:r>
              <a:rPr lang="en-US" dirty="0"/>
              <a:t>: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слоёв</a:t>
            </a:r>
            <a:r>
              <a:rPr lang="en-US" dirty="0"/>
              <a:t> и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заплатили</a:t>
            </a:r>
            <a:r>
              <a:rPr lang="en-US" dirty="0"/>
              <a:t> </a:t>
            </a:r>
            <a:r>
              <a:rPr lang="en-US" dirty="0" err="1"/>
              <a:t>сложностью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загрязняет</a:t>
            </a:r>
            <a:r>
              <a:rPr lang="en-US" dirty="0"/>
              <a:t> Domain Model. Cancel </a:t>
            </a:r>
            <a:r>
              <a:rPr lang="en-US" dirty="0" err="1"/>
              <a:t>незавершённой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откатывать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.</a:t>
            </a:r>
          </a:p>
          <a:p>
            <a:r>
              <a:rPr lang="en-US" dirty="0"/>
              <a:t>Commit, Undo и Redo </a:t>
            </a:r>
            <a:r>
              <a:rPr lang="en-US" dirty="0" err="1"/>
              <a:t>изменяют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RefreshAfterUndo</a:t>
            </a:r>
            <a:r>
              <a:rPr lang="en-US" dirty="0"/>
              <a:t>.</a:t>
            </a:r>
          </a:p>
          <a:p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окон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документом</a:t>
            </a:r>
            <a:r>
              <a:rPr lang="en-US" dirty="0"/>
              <a:t>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selection и preview.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snapping,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разместить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editor logic и </a:t>
            </a:r>
            <a:r>
              <a:rPr lang="en-US" dirty="0" err="1"/>
              <a:t>тестировать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идей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4256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Undo/Redo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хорошей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затрагивает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Ctrl+Z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фундаментальные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считается</a:t>
            </a:r>
            <a:r>
              <a:rPr lang="en-US" dirty="0"/>
              <a:t> </a:t>
            </a:r>
            <a:r>
              <a:rPr lang="en-US" dirty="0" err="1"/>
              <a:t>завершённым</a:t>
            </a:r>
            <a:r>
              <a:rPr lang="en-US" dirty="0"/>
              <a:t>?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?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историей</a:t>
            </a:r>
            <a:r>
              <a:rPr lang="en-US" dirty="0"/>
              <a:t>?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я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делал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следовало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с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прежних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достаточной</a:t>
            </a:r>
            <a:r>
              <a:rPr lang="en-US" dirty="0"/>
              <a:t>.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EditorModel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и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Preview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пригодиться</a:t>
            </a:r>
            <a:r>
              <a:rPr lang="en-US" dirty="0"/>
              <a:t>,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преждевременным</a:t>
            </a:r>
            <a:r>
              <a:rPr lang="en-US" dirty="0"/>
              <a:t> </a:t>
            </a:r>
            <a:r>
              <a:rPr lang="en-US" dirty="0" err="1"/>
              <a:t>усложнением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реальными</a:t>
            </a:r>
            <a:r>
              <a:rPr lang="en-US" dirty="0"/>
              <a:t>, </a:t>
            </a:r>
            <a:r>
              <a:rPr lang="en-US" dirty="0" err="1"/>
              <a:t>старая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перестала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выражать</a:t>
            </a:r>
            <a:r>
              <a:rPr lang="en-US" dirty="0"/>
              <a:t> — и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и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идей</a:t>
            </a:r>
            <a:r>
              <a:rPr lang="en-US" dirty="0"/>
              <a:t> </a:t>
            </a:r>
            <a:r>
              <a:rPr lang="en-US" dirty="0" err="1"/>
              <a:t>объектно-ориентированного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угадывать</a:t>
            </a:r>
            <a:r>
              <a:rPr lang="en-US" b="1" dirty="0"/>
              <a:t> </a:t>
            </a:r>
            <a:r>
              <a:rPr lang="en-US" b="1" dirty="0" err="1"/>
              <a:t>идеальную</a:t>
            </a:r>
            <a:r>
              <a:rPr lang="en-US" b="1" dirty="0"/>
              <a:t> </a:t>
            </a:r>
            <a:r>
              <a:rPr lang="en-US" b="1" dirty="0" err="1"/>
              <a:t>архитектуру</a:t>
            </a:r>
            <a:r>
              <a:rPr lang="en-US" b="1" dirty="0"/>
              <a:t> </a:t>
            </a:r>
            <a:r>
              <a:rPr lang="en-US" b="1" dirty="0" err="1"/>
              <a:t>заранее</a:t>
            </a:r>
            <a:r>
              <a:rPr lang="en-US" b="1" dirty="0"/>
              <a:t>, а </a:t>
            </a:r>
            <a:r>
              <a:rPr lang="en-US" b="1" dirty="0" err="1"/>
              <a:t>уметь</a:t>
            </a:r>
            <a:r>
              <a:rPr lang="en-US" b="1" dirty="0"/>
              <a:t> </a:t>
            </a:r>
            <a:r>
              <a:rPr lang="en-US" b="1" dirty="0" err="1"/>
              <a:t>замечать</a:t>
            </a:r>
            <a:r>
              <a:rPr lang="en-US" b="1" dirty="0"/>
              <a:t> </a:t>
            </a:r>
            <a:r>
              <a:rPr lang="en-US" b="1" dirty="0" err="1"/>
              <a:t>изменение</a:t>
            </a:r>
            <a:r>
              <a:rPr lang="en-US" b="1" dirty="0"/>
              <a:t> </a:t>
            </a:r>
            <a:r>
              <a:rPr lang="en-US" b="1" dirty="0" err="1"/>
              <a:t>ответственностей</a:t>
            </a:r>
            <a:r>
              <a:rPr lang="en-US" b="1" dirty="0"/>
              <a:t> и </a:t>
            </a:r>
            <a:r>
              <a:rPr lang="en-US" b="1" dirty="0" err="1"/>
              <a:t>перестраивать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вслед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требованиями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4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0014-DCD6-1D50-2EF4-D0DA13150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2DFA0-3FB0-E41B-AE63-2E877D801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4196C-4760-F8D8-595D-D2FF6205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1AD6A-CA85-816E-0A3F-DF6A8420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10E7F-AF33-F562-6E28-AC087BE4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7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7AE6-6FBC-7E5A-1BD4-009DE5F4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2137A-CDFD-229E-A8CF-A0E661EFD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E4EF6-EB17-A807-B146-D228EA3D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9B812-9856-F2C3-B478-C2DD6AE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C8D6B-FB41-D1C8-2FF4-2A2260E0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9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CEDC-CD4C-7D61-7B98-E631823A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7799B-E633-DA09-D938-1A0CF2EA4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FCB5C-364D-B18D-39A0-B57776F5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18622-AECF-16A3-0026-BC4D3E0C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CA771-005E-4368-E7E4-76FDF8F5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7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C986-212D-5241-DE9F-302FFA085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4CF4-4FD1-35D5-9219-C5BA779F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C47E0-9087-2AB3-A902-FA3B511C6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6316C-1976-81B1-AA5C-60E4C5DD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4F262-92FA-38EB-B140-9F790F4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C815F-9F69-E654-B263-98439434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0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C986-212D-5241-DE9F-302FFA085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4CF4-4FD1-35D5-9219-C5BA779F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25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C47E0-9087-2AB3-A902-FA3B511C6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25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6316C-1976-81B1-AA5C-60E4C5DD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4F262-92FA-38EB-B140-9F790F4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C815F-9F69-E654-B263-98439434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9A3A17-40B6-DB83-10DC-360717CB732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214937"/>
            <a:ext cx="10515600" cy="10116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07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9EEF-BF94-15F0-C04E-5A05045D0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703BD-25DF-40FB-E82E-CCFD658FB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8C7D9-1EE9-C08A-5B0B-E89E7E754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89241-512B-9AB1-CCEF-60227A947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1D294-670C-C3D8-D15A-C884BA388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BC108-63F6-49F1-07B7-519FC0A0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5BA9F-DCB9-7787-8CCD-9670D8DC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12835-89BC-6ECF-88CD-FD124E5B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4F1B-7B2A-B0C5-D6ED-1F8E7AC0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9D6A0-FB00-7955-CC5E-C1F2330F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6A20F-56F7-60B7-3E4D-E615E67A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63C8C-9CED-0053-213D-D700D780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5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C02BF-72A4-1831-75D4-57CAE06D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80A40-A112-C8B9-0E08-12A81E0A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3A937-453F-66EB-8AB6-2C9C97D8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A7E4-A063-6405-AF0E-8ACCE052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C557-0C80-11A4-7675-9384459C7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930A2-60DD-FF62-1A32-9809AE022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AE1AF-E908-B7EB-E2C2-7F53A217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21E79-752B-F121-D8C7-37411DAB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75BE7-8C0F-CF4B-3DF9-69243C45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496A-0205-1DC3-4867-646FDBD8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B1E5D-3D5D-B2D3-30C8-705BFCEDC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27176-1828-DD1D-BF69-40E8EB401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EA943-974B-CC29-A0AE-3E13BE81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381E4-8132-1B9F-A190-2D9E5F1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236C5-8448-2FEF-6A23-4B59C30E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96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EBCD-0357-375D-2764-7F8196C4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EF216-C101-9646-9EF3-281DCCA79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A850B-9FF0-F49C-D16F-185D853D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4154-48F6-9252-D157-F4B877F1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65348-580E-6D57-6D88-C88550E3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31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3D440-6829-4171-DB48-C95A9F4C8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74F9E-7D68-29B7-EAAB-8B66A488E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024B-C8C0-AB26-B9E6-8E0B07BD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2DDD8-5A9D-8E0F-9413-F9A2142A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C6899-435D-4C04-BC43-BCACF6A8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0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993BE-E052-8A5B-D083-0F41EC39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8975A-AE36-3853-C657-60915B33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FB79-8B0C-7402-3D0B-B076C0E3D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36BDA-1F87-45CF-9312-9EA46498820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BB75C-0FFE-0C27-A46F-5C62E8940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A0806-BBD4-8ED3-6510-54713FAF5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73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hyperlink" Target="https://youtu.be/L2zysYzTZKI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8DDC-4749-6C4F-02EC-2BF96A71B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02012"/>
          </a:xfrm>
        </p:spPr>
        <p:txBody>
          <a:bodyPr>
            <a:normAutofit/>
          </a:bodyPr>
          <a:lstStyle/>
          <a:p>
            <a:r>
              <a:rPr lang="en-US" dirty="0"/>
              <a:t>Undo/Redo</a:t>
            </a:r>
            <a:br>
              <a:rPr lang="en-US" dirty="0"/>
            </a:br>
            <a:r>
              <a:rPr lang="ru-RU" dirty="0"/>
              <a:t>проверка архитектуры</a:t>
            </a:r>
            <a:r>
              <a:rPr lang="en-US" dirty="0"/>
              <a:t> </a:t>
            </a:r>
            <a:r>
              <a:rPr lang="ru-RU" dirty="0"/>
              <a:t>на прочность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5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6C2D-B277-E0A1-323C-6C10F77A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1F949-C423-13B0-7F8C-EF55BDCB83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щелчком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сохранять в файл и загружать из файла.</a:t>
            </a:r>
            <a:endParaRPr lang="en-US" dirty="0"/>
          </a:p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прост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интерактивен</a:t>
            </a:r>
            <a:r>
              <a:rPr lang="en-US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5D47C0-2D43-4D40-433A-10D3BE20B9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4094"/>
            <a:ext cx="5181600" cy="345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2DAB-8932-C1D9-11AA-43A78047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устроен редактор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F6008F-D728-08CA-170C-0E16A09AFD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Drawing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endParaRPr lang="en-US" dirty="0"/>
          </a:p>
          <a:p>
            <a:r>
              <a:rPr lang="en-US" b="1" dirty="0" err="1"/>
              <a:t>EditorSession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endParaRPr lang="en-US" dirty="0"/>
          </a:p>
          <a:p>
            <a:r>
              <a:rPr lang="en-US" b="1" dirty="0" err="1"/>
              <a:t>CanvasController</a:t>
            </a:r>
            <a:r>
              <a:rPr lang="en-US" dirty="0"/>
              <a:t> — </a:t>
            </a:r>
            <a:r>
              <a:rPr lang="en-US" dirty="0" err="1"/>
              <a:t>интерпретация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endParaRPr lang="en-US" dirty="0"/>
          </a:p>
          <a:p>
            <a:r>
              <a:rPr lang="en-US" b="1" dirty="0" err="1"/>
              <a:t>CanvasView</a:t>
            </a:r>
            <a:r>
              <a:rPr lang="en-US" dirty="0"/>
              <a:t> — GUI-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отображение</a:t>
            </a:r>
            <a:endParaRPr lang="en-US" dirty="0"/>
          </a:p>
          <a:p>
            <a:r>
              <a:rPr lang="en-US" b="1" dirty="0" err="1"/>
              <a:t>DrawingRenderer</a:t>
            </a:r>
            <a:r>
              <a:rPr lang="en-US" dirty="0"/>
              <a:t> — </a:t>
            </a:r>
            <a:r>
              <a:rPr lang="en-US" dirty="0" err="1"/>
              <a:t>визуализация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ru-RU" dirty="0"/>
          </a:p>
          <a:p>
            <a:r>
              <a:rPr lang="en-US" b="1" dirty="0"/>
              <a:t>EditorWindow</a:t>
            </a:r>
            <a:r>
              <a:rPr lang="ru-RU" dirty="0"/>
              <a:t> владеет объектами, связанными с окном редактора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E07D43-7BB3-60AA-AF48-BACD70F04F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199" y="1825626"/>
            <a:ext cx="5520935" cy="409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3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6283-AF8B-2D32-7A51-869DF089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сегодня изменяется документ</a:t>
            </a:r>
            <a:endParaRPr lang="en-US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9E492B6C-1178-42AF-095C-891EF9807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55450" y="1825625"/>
            <a:ext cx="18811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4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A1DC4-A8CB-1F70-624E-0C303BA7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 </a:t>
            </a:r>
            <a:r>
              <a:rPr lang="en-US" dirty="0"/>
              <a:t>Undo/Redo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E2B1E-DD46-96CC-9BF7-6E0D8ABCA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7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EF1A04-C892-6762-EBFC-6C20070B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Сделаем редактор более взрослым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1BED7A-C74D-2347-C4D4-1B801AC84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15" y="1825625"/>
            <a:ext cx="10473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6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7738-92D3-6A6D-8EFA-20480EF7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Undo</a:t>
            </a:r>
            <a:r>
              <a:rPr lang="ru-RU" dirty="0"/>
              <a:t> и </a:t>
            </a:r>
            <a:r>
              <a:rPr lang="ru-RU" dirty="0" err="1"/>
              <a:t>Redo</a:t>
            </a:r>
            <a:r>
              <a:rPr lang="ru-RU" dirty="0"/>
              <a:t> </a:t>
            </a:r>
            <a:r>
              <a:rPr lang="ru-RU" b="1" dirty="0"/>
              <a:t>перемещают</a:t>
            </a:r>
            <a:r>
              <a:rPr lang="ru-RU" dirty="0"/>
              <a:t> нас </a:t>
            </a:r>
            <a:r>
              <a:rPr lang="ru-RU" b="1" dirty="0"/>
              <a:t>по истории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C636C-E998-FC5D-0EFA-F39DA44CF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1451822"/>
            <a:ext cx="4819650" cy="1789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FEC1E6-A08A-32F3-5719-0D70E9ADA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175" y="3085695"/>
            <a:ext cx="4707824" cy="1789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729756-0A71-57C1-09F5-D6206EA29B3D}"/>
              </a:ext>
            </a:extLst>
          </p:cNvPr>
          <p:cNvSpPr txBox="1"/>
          <p:nvPr/>
        </p:nvSpPr>
        <p:spPr>
          <a:xfrm>
            <a:off x="3791404" y="2901029"/>
            <a:ext cx="1944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C9EA1-90D5-B99B-62DB-94A0E54A48F1}"/>
              </a:ext>
            </a:extLst>
          </p:cNvPr>
          <p:cNvSpPr txBox="1"/>
          <p:nvPr/>
        </p:nvSpPr>
        <p:spPr>
          <a:xfrm>
            <a:off x="3791404" y="4575952"/>
            <a:ext cx="1944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Redo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02B60-145A-4590-8898-6166D36C2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4851700"/>
            <a:ext cx="4819650" cy="178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46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1EB4-8AEE-30D3-F57E-A3DBAB127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«</a:t>
            </a:r>
            <a:r>
              <a:rPr lang="en-US" dirty="0" err="1"/>
              <a:t>будущим</a:t>
            </a:r>
            <a:r>
              <a:rPr lang="en-US" dirty="0"/>
              <a:t>»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E082B6-B00A-F3F5-2178-6998577B9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81350" y="1690688"/>
            <a:ext cx="5829300" cy="49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7080-308B-9FE9-7C2E-691B169E7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просто сохранять состояния документа?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D0332-9915-D359-2C9C-A027DFEBB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История хранит готовые состояния документа</a:t>
            </a:r>
          </a:p>
          <a:p>
            <a:r>
              <a:rPr lang="en-US" dirty="0"/>
              <a:t>Undo – </a:t>
            </a:r>
            <a:r>
              <a:rPr lang="ru-RU" dirty="0"/>
              <a:t>перейти к предыдущему </a:t>
            </a:r>
            <a:r>
              <a:rPr lang="en-US" dirty="0"/>
              <a:t>snapshot-</a:t>
            </a:r>
            <a:r>
              <a:rPr lang="ru-RU" dirty="0"/>
              <a:t>у</a:t>
            </a:r>
          </a:p>
          <a:p>
            <a:r>
              <a:rPr lang="en-US" dirty="0"/>
              <a:t>Redo – </a:t>
            </a:r>
            <a:r>
              <a:rPr lang="ru-RU" dirty="0"/>
              <a:t>перейти к следующему </a:t>
            </a:r>
            <a:r>
              <a:rPr lang="en-US" dirty="0"/>
              <a:t>snapshot-</a:t>
            </a:r>
            <a:r>
              <a:rPr lang="ru-RU" dirty="0"/>
              <a:t>у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D9EFBC-4E4B-07D8-0AD2-DF07E95529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97303" y="1825625"/>
            <a:ext cx="45313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0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EE59-6575-79C6-61CB-72F26F09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Главное достоинство </a:t>
            </a:r>
            <a:r>
              <a:rPr lang="en-US" dirty="0"/>
              <a:t>snapshots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9ACF4-738E-8203-88FD-691C438C8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Разные операции приводят к одному результату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Новое состояние </a:t>
            </a:r>
            <a:r>
              <a:rPr lang="en-US" dirty="0"/>
              <a:t>Drawing – </a:t>
            </a:r>
            <a:r>
              <a:rPr lang="ru-RU" dirty="0"/>
              <a:t>сохранить </a:t>
            </a:r>
            <a:r>
              <a:rPr lang="en-US" dirty="0"/>
              <a:t>snapshot</a:t>
            </a:r>
          </a:p>
          <a:p>
            <a:r>
              <a:rPr lang="en-US" dirty="0"/>
              <a:t>Undo </a:t>
            </a:r>
            <a:r>
              <a:rPr lang="ru-RU" dirty="0"/>
              <a:t>и</a:t>
            </a:r>
            <a:r>
              <a:rPr lang="en-US" dirty="0"/>
              <a:t> Redo </a:t>
            </a:r>
            <a:r>
              <a:rPr lang="ru-RU" dirty="0"/>
              <a:t>просто восстанавливают  состояние</a:t>
            </a:r>
          </a:p>
          <a:p>
            <a:r>
              <a:rPr lang="ru-RU" dirty="0"/>
              <a:t>Сложность </a:t>
            </a:r>
            <a:r>
              <a:rPr lang="en-US" dirty="0"/>
              <a:t>Undo</a:t>
            </a:r>
            <a:r>
              <a:rPr lang="ru-RU" dirty="0"/>
              <a:t> слабо зависит от сложности операции редактирования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68074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9443-86AD-2D48-84F4-CC984F45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 простоту приходится платить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A6B16-7EB6-9A85-493A-7458B700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snapshots </a:t>
            </a:r>
            <a:r>
              <a:rPr lang="en-US" dirty="0" err="1"/>
              <a:t>нужно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клонировать</a:t>
            </a:r>
            <a:r>
              <a:rPr lang="en-US" dirty="0"/>
              <a:t> Drawing;</a:t>
            </a:r>
          </a:p>
          <a:p>
            <a:pPr lvl="1"/>
            <a:r>
              <a:rPr lang="en-US" dirty="0" err="1"/>
              <a:t>клонировать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версий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ограничивать</a:t>
            </a:r>
            <a:r>
              <a:rPr lang="en-US" dirty="0"/>
              <a:t> </a:t>
            </a:r>
            <a:r>
              <a:rPr lang="en-US" dirty="0" err="1"/>
              <a:t>глубину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расход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ru-RU" dirty="0"/>
              <a:t>Копии могут быть слишком дорогими</a:t>
            </a:r>
          </a:p>
          <a:p>
            <a:pPr lvl="1"/>
            <a:r>
              <a:rPr lang="en-US" dirty="0"/>
              <a:t>Copy-on-Write</a:t>
            </a:r>
          </a:p>
          <a:p>
            <a:pPr lvl="1"/>
            <a:r>
              <a:rPr lang="ru-RU" dirty="0"/>
              <a:t>Переиспользовать неизменяемые части состояний</a:t>
            </a:r>
          </a:p>
          <a:p>
            <a:pPr lvl="1"/>
            <a:r>
              <a:rPr lang="ru-RU" dirty="0"/>
              <a:t>Хранить разницу между версиями</a:t>
            </a:r>
          </a:p>
        </p:txBody>
      </p:sp>
    </p:spTree>
    <p:extLst>
      <p:ext uri="{BB962C8B-B14F-4D97-AF65-F5344CB8AC3E}">
        <p14:creationId xmlns:p14="http://schemas.microsoft.com/office/powerpoint/2010/main" val="282298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6B74-F1C5-5A8C-A19B-D1EE80E1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модель активна?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7D1211-6C33-955F-454E-1535B0611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1250"/>
            <a:ext cx="10515600" cy="434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1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AC3C-7871-DD3B-1ED2-FBB07EB7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что, если хранить не состояния, а изменения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B484E-8B32-A4B4-E108-FD447946E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0700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смотрели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ru-RU" dirty="0"/>
              <a:t>так:</a:t>
            </a:r>
          </a:p>
          <a:p>
            <a:pPr lvl="1"/>
            <a:r>
              <a:rPr lang="en-US" dirty="0"/>
              <a:t>History = [S0, S1, S2]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: S0 → S1</a:t>
            </a:r>
          </a:p>
          <a:p>
            <a:pPr lvl="1"/>
            <a:r>
              <a:rPr lang="en-US" dirty="0"/>
              <a:t>B : S1 → S2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ru-RU" dirty="0"/>
              <a:t>, а изменения состояний.</a:t>
            </a:r>
          </a:p>
          <a:p>
            <a:r>
              <a:rPr lang="ru-RU" dirty="0"/>
              <a:t>Изменение должно позволять двигаться в обе стороны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051E30-1675-64EC-7B4B-339B2E8632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5202" y="1825625"/>
            <a:ext cx="4175992" cy="402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5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EBA4-6512-2EDA-BFE1-BA720802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должно уметь идти в обе стороны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8A5FA-C22C-A1B9-29F6-6F13014CA6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Move shape by (+40, +10)</a:t>
            </a:r>
          </a:p>
          <a:p>
            <a:pPr lvl="1"/>
            <a:r>
              <a:rPr lang="ru-RU" dirty="0"/>
              <a:t>Выполнить действие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MoveBy</a:t>
            </a:r>
            <a:r>
              <a:rPr lang="en-US" dirty="0"/>
              <a:t>(+40, +10)</a:t>
            </a:r>
          </a:p>
          <a:p>
            <a:pPr lvl="1"/>
            <a:r>
              <a:rPr lang="ru-RU" dirty="0"/>
              <a:t>Отменить действие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MoveBy</a:t>
            </a:r>
            <a:r>
              <a:rPr lang="en-US" dirty="0"/>
              <a:t>(-40, -10)</a:t>
            </a:r>
          </a:p>
          <a:p>
            <a:r>
              <a:rPr lang="ru-RU" dirty="0"/>
              <a:t>Операция – это объект, который знает как выполнить и как отменить действие</a:t>
            </a:r>
          </a:p>
          <a:p>
            <a:r>
              <a:rPr lang="ru-RU" dirty="0"/>
              <a:t>История хранит список таких объектов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DBA370-8EFC-3A14-327D-B8286ADD2C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65571"/>
            <a:ext cx="5181600" cy="307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02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E3DF18-C1A8-F9A7-18BE-1C8EAFB1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Команда:</a:t>
            </a:r>
            <a:br>
              <a:rPr lang="ru-RU" dirty="0"/>
            </a:br>
            <a:r>
              <a:rPr lang="ru-RU" dirty="0"/>
              <a:t>действие становится объектом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DA921-1BAA-3E39-D3FB-3BC07AD97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5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8D6B66-90F5-236D-4B6A-22429100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BD466-7D1E-8348-F318-57A13508A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82406" cy="4351338"/>
          </a:xfrm>
        </p:spPr>
        <p:txBody>
          <a:bodyPr/>
          <a:lstStyle/>
          <a:p>
            <a:r>
              <a:rPr lang="en-US" b="1" dirty="0"/>
              <a:t>Command</a:t>
            </a:r>
            <a:r>
              <a:rPr lang="en-US" dirty="0"/>
              <a:t> —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представляющий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системой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Execute</a:t>
            </a:r>
            <a:r>
              <a:rPr lang="ru-RU" dirty="0"/>
              <a:t>()</a:t>
            </a:r>
            <a:r>
              <a:rPr lang="en-US" dirty="0"/>
              <a:t> </a:t>
            </a:r>
            <a:r>
              <a:rPr lang="ru-RU" dirty="0"/>
              <a:t>выполняет изменение</a:t>
            </a:r>
          </a:p>
          <a:p>
            <a:pPr lvl="1"/>
            <a:r>
              <a:rPr lang="en-US" dirty="0"/>
              <a:t>Unexecute() </a:t>
            </a:r>
            <a:r>
              <a:rPr lang="ru-RU" dirty="0"/>
              <a:t>выполняет обратное изменение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D1F18F-7E82-5046-6082-FB5081241D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20606" y="3861671"/>
            <a:ext cx="3388606" cy="23152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E33AEC-D593-47EC-41FC-A045D0C7B34F}"/>
              </a:ext>
            </a:extLst>
          </p:cNvPr>
          <p:cNvSpPr txBox="1"/>
          <p:nvPr/>
        </p:nvSpPr>
        <p:spPr>
          <a:xfrm>
            <a:off x="7220606" y="1825625"/>
            <a:ext cx="43801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0779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BEC3-81EF-C78D-2406-D8EBB762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должна помнить команда?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724B92-F351-290F-856B-D03E555AF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8086" cy="4351338"/>
          </a:xfrm>
        </p:spPr>
        <p:txBody>
          <a:bodyPr>
            <a:normAutofit/>
          </a:bodyPr>
          <a:lstStyle/>
          <a:p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отмены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.</a:t>
            </a:r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MoveShape</a:t>
            </a:r>
            <a:endParaRPr lang="en-US" dirty="0"/>
          </a:p>
          <a:p>
            <a:pPr lvl="2"/>
            <a:r>
              <a:rPr lang="en-US" dirty="0"/>
              <a:t>shape + offset</a:t>
            </a:r>
          </a:p>
          <a:p>
            <a:pPr lvl="1"/>
            <a:r>
              <a:rPr lang="en-US" dirty="0" err="1"/>
              <a:t>ChangeColor</a:t>
            </a:r>
            <a:endParaRPr lang="en-US" dirty="0"/>
          </a:p>
          <a:p>
            <a:pPr lvl="2"/>
            <a:r>
              <a:rPr lang="en-US" dirty="0"/>
              <a:t>shape + </a:t>
            </a:r>
            <a:r>
              <a:rPr lang="en-US" dirty="0" err="1"/>
              <a:t>oldColor</a:t>
            </a:r>
            <a:r>
              <a:rPr lang="en-US" dirty="0"/>
              <a:t> + </a:t>
            </a:r>
            <a:r>
              <a:rPr lang="en-US" dirty="0" err="1"/>
              <a:t>newColor</a:t>
            </a:r>
            <a:endParaRPr lang="en-US" dirty="0"/>
          </a:p>
          <a:p>
            <a:pPr lvl="1"/>
            <a:r>
              <a:rPr lang="en-US" dirty="0" err="1"/>
              <a:t>ChangeZOrder</a:t>
            </a:r>
            <a:endParaRPr lang="en-US" dirty="0"/>
          </a:p>
          <a:p>
            <a:pPr lvl="2"/>
            <a:r>
              <a:rPr lang="en-US" dirty="0"/>
              <a:t>shape + </a:t>
            </a:r>
            <a:r>
              <a:rPr lang="en-US" dirty="0" err="1"/>
              <a:t>oldPosition</a:t>
            </a:r>
            <a:r>
              <a:rPr lang="en-US" dirty="0"/>
              <a:t> + </a:t>
            </a:r>
            <a:r>
              <a:rPr lang="en-US" dirty="0" err="1"/>
              <a:t>newPosition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4D938-A262-850E-FFC1-B80ECD492126}"/>
              </a:ext>
            </a:extLst>
          </p:cNvPr>
          <p:cNvSpPr txBox="1"/>
          <p:nvPr/>
        </p:nvSpPr>
        <p:spPr>
          <a:xfrm>
            <a:off x="6386286" y="1825625"/>
            <a:ext cx="58057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MoveShapeCommand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MoveShapeCommand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Unexecute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({-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m_offset.x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m_offset.y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1734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A71F-FB95-052B-A0D2-B8B9CB18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Command: </a:t>
            </a:r>
            <a:r>
              <a:rPr lang="ru-RU" dirty="0"/>
              <a:t>классическая структура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F48F4-908F-11F6-CA37-CF6DD11E0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4849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Command</a:t>
            </a:r>
            <a:r>
              <a:rPr lang="en-US" dirty="0"/>
              <a:t> —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endParaRPr lang="en-US" dirty="0"/>
          </a:p>
          <a:p>
            <a:r>
              <a:rPr lang="en-US" b="1" dirty="0" err="1"/>
              <a:t>ConcreteCommand</a:t>
            </a:r>
            <a:r>
              <a:rPr lang="en-US" dirty="0"/>
              <a:t> —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ru-RU" dirty="0"/>
              <a:t> и данные для его выполнения и отмены</a:t>
            </a:r>
            <a:endParaRPr lang="en-US" dirty="0"/>
          </a:p>
          <a:p>
            <a:r>
              <a:rPr lang="en-US" b="1" dirty="0"/>
              <a:t>Receiver</a:t>
            </a:r>
            <a:r>
              <a:rPr lang="en-US" dirty="0"/>
              <a:t> </a:t>
            </a:r>
            <a:r>
              <a:rPr lang="ru-RU" dirty="0"/>
              <a:t>(Получатель) </a:t>
            </a:r>
            <a:r>
              <a:rPr lang="en-US" dirty="0"/>
              <a:t>—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ru-RU" dirty="0"/>
              <a:t>реальную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endParaRPr lang="en-US" dirty="0"/>
          </a:p>
          <a:p>
            <a:r>
              <a:rPr lang="en-US" b="1" dirty="0"/>
              <a:t>Invoker</a:t>
            </a:r>
            <a:r>
              <a:rPr lang="en-US" dirty="0"/>
              <a:t> </a:t>
            </a:r>
            <a:r>
              <a:rPr lang="ru-RU" dirty="0"/>
              <a:t>(Инициатор) </a:t>
            </a:r>
            <a:r>
              <a:rPr lang="en-US" dirty="0"/>
              <a:t>—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и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её</a:t>
            </a:r>
            <a:endParaRPr lang="en-US" dirty="0"/>
          </a:p>
          <a:p>
            <a:r>
              <a:rPr lang="en-US" b="1" dirty="0"/>
              <a:t>Client</a:t>
            </a:r>
            <a:r>
              <a:rPr lang="en-US" dirty="0"/>
              <a:t> — </a:t>
            </a:r>
            <a:r>
              <a:rPr lang="en-US" dirty="0" err="1"/>
              <a:t>создаёт</a:t>
            </a:r>
            <a:r>
              <a:rPr lang="en-US" dirty="0"/>
              <a:t> и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Invoker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9519BD-1B60-230B-6CE8-B88440FA50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86694" y="1825625"/>
            <a:ext cx="45671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04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4D23-B6D0-59A9-8546-C26EE6BB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Command решает только часть задачи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9C514-83A0-56D3-9860-BCE128AABE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endParaRPr lang="en-US" dirty="0"/>
          </a:p>
          <a:p>
            <a:pPr lvl="1"/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endParaRPr lang="en-US" dirty="0"/>
          </a:p>
          <a:p>
            <a:pPr lvl="1"/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endParaRPr lang="en-US" dirty="0"/>
          </a:p>
          <a:p>
            <a:pPr lvl="1"/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endParaRPr lang="en-US" dirty="0"/>
          </a:p>
          <a:p>
            <a:pPr lvl="1"/>
            <a:r>
              <a:rPr lang="en-US" dirty="0" err="1"/>
              <a:t>отменённое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endParaRPr lang="ru-RU" dirty="0"/>
          </a:p>
          <a:p>
            <a:r>
              <a:rPr lang="ru-RU" dirty="0"/>
              <a:t>В какой момент должна создаваться команда</a:t>
            </a:r>
            <a:r>
              <a:rPr lang="en-US" dirty="0"/>
              <a:t>?</a:t>
            </a:r>
          </a:p>
          <a:p>
            <a:r>
              <a:rPr lang="ru-RU" dirty="0"/>
              <a:t>Когда она должна попасть в историю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BFF2A5-FC52-8D47-0B70-D3F0CAAC7E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91940" y="1825625"/>
            <a:ext cx="43421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62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4FBB7E-2198-48CD-43D9-4C450B39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команд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DA5E6-6A6E-F7BE-EE72-9F29FDB6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98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2475CB-C433-34B3-0FAF-CDE9B569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CommandHistory</a:t>
            </a:r>
            <a:r>
              <a:rPr lang="ru-RU" dirty="0"/>
              <a:t> хранит и запускает команды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CB32B-DD2B-E399-E377-834B42B5FB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обратимое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Undo/Redo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.</a:t>
            </a:r>
          </a:p>
          <a:p>
            <a:r>
              <a:rPr lang="en-US" dirty="0" err="1"/>
              <a:t>CommandHistory</a:t>
            </a:r>
            <a:r>
              <a:rPr lang="en-US" dirty="0"/>
              <a:t> </a:t>
            </a:r>
            <a:r>
              <a:rPr lang="ru-RU" dirty="0"/>
              <a:t>играет роль инициатора команд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B3318-6849-58B1-1DC3-C96C0F9C4229}"/>
              </a:ext>
            </a:extLst>
          </p:cNvPr>
          <p:cNvSpPr txBox="1"/>
          <p:nvPr/>
        </p:nvSpPr>
        <p:spPr>
          <a:xfrm>
            <a:off x="6172200" y="4142569"/>
            <a:ext cx="58483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CommandHistory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5B45DCC-4115-5E76-15C2-9D6B083906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4"/>
            <a:ext cx="5657850" cy="214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2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6E14-1476-E7C2-CCF3-3476033D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хранить историю?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F200-5481-BC22-F647-BBDF79009F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Вариант 1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Два стека</a:t>
            </a:r>
          </a:p>
          <a:p>
            <a:r>
              <a:rPr lang="ru-RU" dirty="0"/>
              <a:t>Вариант 2:</a:t>
            </a:r>
          </a:p>
          <a:p>
            <a:pPr lvl="1"/>
            <a:r>
              <a:rPr lang="ru-RU" dirty="0"/>
              <a:t>Одна последовательность + позиция</a:t>
            </a:r>
          </a:p>
          <a:p>
            <a:r>
              <a:rPr lang="ru-RU" dirty="0"/>
              <a:t>Обе структуры описывают одну идею:</a:t>
            </a:r>
          </a:p>
          <a:p>
            <a:pPr lvl="1"/>
            <a:r>
              <a:rPr lang="ru-RU" dirty="0"/>
              <a:t>Прошлое и доступное для </a:t>
            </a:r>
            <a:r>
              <a:rPr lang="en-US" dirty="0"/>
              <a:t>Redo </a:t>
            </a:r>
            <a:r>
              <a:rPr lang="ru-RU" dirty="0"/>
              <a:t>будущее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32ADC-5F51-A4C7-DFBB-61236D26C6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44456" y="1825625"/>
            <a:ext cx="38370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8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E18F-A785-6388-202E-2AB36232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Двигаемся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и </a:t>
            </a:r>
            <a:r>
              <a:rPr lang="en-US" dirty="0" err="1"/>
              <a:t>переписываем</a:t>
            </a:r>
            <a:r>
              <a:rPr lang="en-US" dirty="0"/>
              <a:t> </a:t>
            </a:r>
            <a:r>
              <a:rPr lang="en-US" dirty="0" err="1"/>
              <a:t>её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56E62-B5CE-E243-AC9D-DBCB2E845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Undo/Redo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2C295D-0474-2776-AC1B-C547E6F17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Новое действие после </a:t>
            </a:r>
            <a:r>
              <a:rPr lang="en-US" dirty="0"/>
              <a:t>Undo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D8A8078-6A46-C0A9-EA94-3A53F94FC2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568575"/>
            <a:ext cx="5157787" cy="3557587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9792C40-4381-D57D-BFF5-8290EC96FC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4427" y="2592422"/>
            <a:ext cx="5183188" cy="25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81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26BC-CBB9-0F60-E148-6EE03DB3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бесконечной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46067D-6566-54D6-478B-D2266BCFF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ограничивать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объёмом</a:t>
            </a:r>
            <a:r>
              <a:rPr lang="en-US" dirty="0"/>
              <a:t> </a:t>
            </a:r>
            <a:r>
              <a:rPr lang="en-US" dirty="0" err="1"/>
              <a:t>занимаемой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ru-RU" dirty="0"/>
              <a:t>Удобнее становится реализация на основе одного списка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7CF4D9-5F25-6614-D18D-C8A47FEB67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198" y="4001294"/>
            <a:ext cx="5811983" cy="233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09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A5DE-5F4E-9202-966E-7F125790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происходит, когда команда покидает историю?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5BA55-BD21-0379-3FBA-27AABD711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Жизненный цикл команды</a:t>
            </a:r>
          </a:p>
          <a:p>
            <a:pPr lvl="1"/>
            <a:r>
              <a:rPr lang="en-US" dirty="0"/>
              <a:t>Execute()</a:t>
            </a:r>
          </a:p>
          <a:p>
            <a:pPr lvl="2"/>
            <a:r>
              <a:rPr lang="ru-RU" dirty="0"/>
              <a:t>Команда выполнена</a:t>
            </a:r>
          </a:p>
          <a:p>
            <a:pPr lvl="1"/>
            <a:r>
              <a:rPr lang="en-US" dirty="0"/>
              <a:t>Unexecute()</a:t>
            </a:r>
          </a:p>
          <a:p>
            <a:pPr lvl="2"/>
            <a:r>
              <a:rPr lang="ru-RU" dirty="0"/>
              <a:t>Команда отменена</a:t>
            </a:r>
          </a:p>
          <a:p>
            <a:pPr lvl="1"/>
            <a:r>
              <a:rPr lang="ru-RU" dirty="0"/>
              <a:t>…</a:t>
            </a:r>
            <a:endParaRPr lang="en-US" dirty="0"/>
          </a:p>
          <a:p>
            <a:pPr lvl="1"/>
            <a:r>
              <a:rPr lang="en-US" dirty="0"/>
              <a:t>Destroy()</a:t>
            </a:r>
            <a:endParaRPr lang="ru-RU" dirty="0"/>
          </a:p>
          <a:p>
            <a:pPr lvl="2"/>
            <a:r>
              <a:rPr lang="ru-RU" dirty="0"/>
              <a:t>Освободить ресурсы</a:t>
            </a:r>
          </a:p>
          <a:p>
            <a:r>
              <a:rPr lang="ru-RU" dirty="0"/>
              <a:t>В </a:t>
            </a:r>
            <a:r>
              <a:rPr lang="en-US" dirty="0"/>
              <a:t>C++</a:t>
            </a:r>
            <a:r>
              <a:rPr lang="ru-RU" dirty="0"/>
              <a:t> роль </a:t>
            </a:r>
            <a:r>
              <a:rPr lang="en-US" dirty="0"/>
              <a:t>Destroy</a:t>
            </a:r>
            <a:r>
              <a:rPr lang="ru-RU" dirty="0"/>
              <a:t> можно передать деструктору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4C18E-B92D-70F5-BCF2-AD0FF1D66E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Удалить команду из истории – не то же самое, что </a:t>
            </a:r>
            <a:r>
              <a:rPr lang="en-US" dirty="0"/>
              <a:t>Undo</a:t>
            </a:r>
          </a:p>
          <a:p>
            <a:r>
              <a:rPr lang="ru-RU" dirty="0"/>
              <a:t>Пример: </a:t>
            </a:r>
            <a:r>
              <a:rPr lang="en-US" dirty="0" err="1"/>
              <a:t>InsertImageCommand</a:t>
            </a:r>
            <a:endParaRPr lang="en-US" dirty="0"/>
          </a:p>
          <a:p>
            <a:pPr lvl="1"/>
            <a:r>
              <a:rPr lang="ru-RU" dirty="0"/>
              <a:t>После </a:t>
            </a:r>
            <a:r>
              <a:rPr lang="en-US" dirty="0"/>
              <a:t>Undo:</a:t>
            </a:r>
          </a:p>
          <a:p>
            <a:pPr lvl="2"/>
            <a:r>
              <a:rPr lang="ru-RU" dirty="0"/>
              <a:t>Изображения в документе нет</a:t>
            </a:r>
          </a:p>
          <a:p>
            <a:pPr lvl="2"/>
            <a:r>
              <a:rPr lang="ru-RU" dirty="0"/>
              <a:t>Файл остаётся на диске</a:t>
            </a:r>
          </a:p>
          <a:p>
            <a:pPr lvl="2"/>
            <a:r>
              <a:rPr lang="en-US" dirty="0"/>
              <a:t>Redo </a:t>
            </a:r>
            <a:r>
              <a:rPr lang="ru-RU" dirty="0"/>
              <a:t>возможен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Redo-</a:t>
            </a:r>
            <a:r>
              <a:rPr lang="ru-RU" dirty="0"/>
              <a:t>ветка уничтожена:</a:t>
            </a:r>
          </a:p>
          <a:p>
            <a:pPr lvl="2"/>
            <a:r>
              <a:rPr lang="en-US" dirty="0" err="1"/>
              <a:t>InsertImageCommand</a:t>
            </a:r>
            <a:r>
              <a:rPr lang="ru-RU" dirty="0"/>
              <a:t> удаляется в отменённом состоянии</a:t>
            </a:r>
          </a:p>
          <a:p>
            <a:pPr lvl="2"/>
            <a:r>
              <a:rPr lang="ru-RU" dirty="0"/>
              <a:t>Файл больше не нужен </a:t>
            </a:r>
            <a:r>
              <a:rPr lang="en-US" dirty="0"/>
              <a:t>– </a:t>
            </a:r>
            <a:r>
              <a:rPr lang="ru-RU" dirty="0"/>
              <a:t>удаляем</a:t>
            </a:r>
          </a:p>
          <a:p>
            <a:pPr lvl="1"/>
            <a:r>
              <a:rPr lang="ru-RU" dirty="0"/>
              <a:t>Если команда вытеснена из старой истории</a:t>
            </a:r>
          </a:p>
          <a:p>
            <a:pPr lvl="2"/>
            <a:r>
              <a:rPr lang="en-US" dirty="0" err="1"/>
              <a:t>InsertImageCommand</a:t>
            </a:r>
            <a:r>
              <a:rPr lang="ru-RU" dirty="0"/>
              <a:t> удаляется в выполненном состоянии</a:t>
            </a:r>
          </a:p>
          <a:p>
            <a:pPr lvl="2"/>
            <a:r>
              <a:rPr lang="ru-RU" dirty="0"/>
              <a:t>Изображение </a:t>
            </a:r>
            <a:r>
              <a:rPr lang="ru-RU" dirty="0" err="1"/>
              <a:t>остётся</a:t>
            </a:r>
            <a:r>
              <a:rPr lang="ru-RU" dirty="0"/>
              <a:t> в документе</a:t>
            </a:r>
          </a:p>
          <a:p>
            <a:pPr lvl="2"/>
            <a:r>
              <a:rPr lang="ru-RU" dirty="0"/>
              <a:t>Файл сохраняем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5DD6E-CD9A-23F7-8BF4-A9987896673C}"/>
              </a:ext>
            </a:extLst>
          </p:cNvPr>
          <p:cNvSpPr txBox="1"/>
          <p:nvPr/>
        </p:nvSpPr>
        <p:spPr>
          <a:xfrm>
            <a:off x="838200" y="4711462"/>
            <a:ext cx="5181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Destroy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23645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7A6A-4FED-D008-F9FE-1765E6D3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Гранулярность изменений в истории команд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22028-08E2-93D6-6193-CD5210B60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48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E18981-089D-4FB2-5752-CAD6AA2B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 </a:t>
            </a:r>
            <a:r>
              <a:rPr lang="en-US" dirty="0"/>
              <a:t>Undo – </a:t>
            </a:r>
            <a:r>
              <a:rPr lang="ru-RU" dirty="0"/>
              <a:t>сколько изменений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6A05B8-351F-DF7C-B61E-466DD8FAC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Пользователь набирает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H e l </a:t>
            </a:r>
            <a:r>
              <a:rPr lang="en-US" dirty="0" err="1">
                <a:latin typeface="Consolas" panose="020B0609020204030204" pitchFamily="49" charset="0"/>
              </a:rPr>
              <a:t>l</a:t>
            </a:r>
            <a:r>
              <a:rPr lang="en-US" dirty="0">
                <a:latin typeface="Consolas" panose="020B0609020204030204" pitchFamily="49" charset="0"/>
              </a:rPr>
              <a:t> o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↓ ↓ ↓ ↓ ↓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1 2 3 4 5 </a:t>
            </a:r>
            <a:r>
              <a:rPr lang="en-US" dirty="0" err="1">
                <a:latin typeface="Consolas" panose="020B0609020204030204" pitchFamily="49" charset="0"/>
              </a:rPr>
              <a:t>изменений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модели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Как должно работать </a:t>
            </a:r>
            <a:r>
              <a:rPr lang="en-US" dirty="0"/>
              <a:t>Undo?</a:t>
            </a:r>
          </a:p>
          <a:p>
            <a:pPr lvl="2"/>
            <a:r>
              <a:rPr lang="en-US" dirty="0"/>
              <a:t>Hello  →  Hell  →  Hel  →  He  →  H  →  ""</a:t>
            </a:r>
          </a:p>
          <a:p>
            <a:pPr lvl="2"/>
            <a:r>
              <a:rPr lang="en-US" dirty="0"/>
              <a:t>Hello  ──Undo──→  ""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/>
              <a:t>Move right, Move right, Move right</a:t>
            </a:r>
          </a:p>
          <a:p>
            <a:pPr lvl="1"/>
            <a:r>
              <a:rPr lang="en-US" dirty="0"/>
              <a:t>3</a:t>
            </a:r>
            <a:r>
              <a:rPr lang="ru-RU" dirty="0"/>
              <a:t> шага </a:t>
            </a:r>
            <a:r>
              <a:rPr lang="en-US" dirty="0"/>
              <a:t>Undo</a:t>
            </a:r>
            <a:r>
              <a:rPr lang="ru-RU" dirty="0"/>
              <a:t> или одно перемещение</a:t>
            </a:r>
            <a:r>
              <a:rPr lang="en-US" dirty="0"/>
              <a:t>?</a:t>
            </a:r>
          </a:p>
          <a:p>
            <a:r>
              <a:rPr lang="en-US" dirty="0"/>
              <a:t>GUI event ≠ user action</a:t>
            </a:r>
          </a:p>
          <a:p>
            <a:r>
              <a:rPr lang="en-US" dirty="0"/>
              <a:t>Model change ≠ undo step</a:t>
            </a:r>
          </a:p>
          <a:p>
            <a:r>
              <a:rPr lang="en-US" dirty="0" err="1"/>
              <a:t>Гранулярность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действиям</a:t>
            </a:r>
            <a:r>
              <a:rPr lang="en-US" dirty="0"/>
              <a:t>, </a:t>
            </a:r>
            <a:r>
              <a:rPr lang="en-US" dirty="0" err="1"/>
              <a:t>значимым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2706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B93D-D3A6-BC38-5078-CD88622C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 событий — одно взаимодействие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A35FA3-32D6-5C3D-4B72-F31CFC4EA9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 перетаскивании фигуры</a:t>
            </a:r>
          </a:p>
          <a:p>
            <a:pPr lvl="1"/>
            <a:r>
              <a:rPr lang="ru-RU" dirty="0"/>
              <a:t>Для </a:t>
            </a:r>
            <a:r>
              <a:rPr lang="en-US" dirty="0"/>
              <a:t>GUI – </a:t>
            </a:r>
            <a:r>
              <a:rPr lang="ru-RU" dirty="0"/>
              <a:t>много событий</a:t>
            </a:r>
          </a:p>
          <a:p>
            <a:pPr lvl="1"/>
            <a:r>
              <a:rPr lang="ru-RU" dirty="0"/>
              <a:t>Для пользователя – одно действие</a:t>
            </a:r>
          </a:p>
          <a:p>
            <a:r>
              <a:rPr lang="ru-RU" dirty="0"/>
              <a:t>Несколько событий одного жеста могут породить одну команду истории</a:t>
            </a:r>
            <a:endParaRPr lang="en-US" dirty="0"/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73477E8D-3694-6F5A-F416-AF6B5E044A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06311" y="1825625"/>
            <a:ext cx="31133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53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D457-EC4F-69CF-E458-4FAC9C28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Иногда команды объединяются уже после выполнения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2C09E-9585-7A6D-C77D-20121874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Несколько команд редактирования текста могут стать в истории одной командой ввода</a:t>
            </a:r>
            <a:endParaRPr lang="en-US" dirty="0"/>
          </a:p>
          <a:p>
            <a:r>
              <a:rPr lang="en-US" dirty="0"/>
              <a:t>Command merging / coalescing</a:t>
            </a:r>
          </a:p>
          <a:p>
            <a:pPr lvl="1"/>
            <a:r>
              <a:rPr lang="en-US" dirty="0"/>
              <a:t>[A], [B] </a:t>
            </a:r>
            <a:r>
              <a:rPr lang="ru-RU" dirty="0"/>
              <a:t>– можно объединить в </a:t>
            </a:r>
            <a:r>
              <a:rPr lang="en-US" dirty="0"/>
              <a:t>[A+B]?</a:t>
            </a:r>
          </a:p>
          <a:p>
            <a:pPr lvl="1"/>
            <a:r>
              <a:rPr lang="en-US" dirty="0" err="1"/>
              <a:t>InsertText</a:t>
            </a:r>
            <a:r>
              <a:rPr lang="en-US" dirty="0"/>
              <a:t> + </a:t>
            </a:r>
            <a:r>
              <a:rPr lang="en-US" dirty="0" err="1"/>
              <a:t>InsertText</a:t>
            </a:r>
            <a:r>
              <a:rPr lang="en-US" dirty="0"/>
              <a:t> ✓</a:t>
            </a:r>
          </a:p>
          <a:p>
            <a:pPr lvl="1"/>
            <a:r>
              <a:rPr lang="en-US" dirty="0" err="1"/>
              <a:t>MoveShape</a:t>
            </a:r>
            <a:r>
              <a:rPr lang="en-US" dirty="0"/>
              <a:t>(A) + </a:t>
            </a:r>
            <a:r>
              <a:rPr lang="en-US" dirty="0" err="1"/>
              <a:t>MoveShape</a:t>
            </a:r>
            <a:r>
              <a:rPr lang="en-US" dirty="0"/>
              <a:t>(A) ✓</a:t>
            </a:r>
          </a:p>
          <a:p>
            <a:pPr lvl="1"/>
            <a:r>
              <a:rPr lang="en-US" dirty="0" err="1"/>
              <a:t>MoveShape</a:t>
            </a:r>
            <a:r>
              <a:rPr lang="en-US" dirty="0"/>
              <a:t>(A) + </a:t>
            </a:r>
            <a:r>
              <a:rPr lang="en-US" dirty="0" err="1"/>
              <a:t>MoveShape</a:t>
            </a:r>
            <a:r>
              <a:rPr lang="en-US" dirty="0"/>
              <a:t>(B) ✗</a:t>
            </a:r>
          </a:p>
          <a:p>
            <a:pPr lvl="1"/>
            <a:r>
              <a:rPr lang="en-US" dirty="0" err="1"/>
              <a:t>MoveShape</a:t>
            </a:r>
            <a:r>
              <a:rPr lang="en-US" dirty="0"/>
              <a:t>    + </a:t>
            </a:r>
            <a:r>
              <a:rPr lang="en-US" dirty="0" err="1"/>
              <a:t>ChangeColor</a:t>
            </a:r>
            <a:r>
              <a:rPr lang="en-US" dirty="0"/>
              <a:t> ✗</a:t>
            </a:r>
          </a:p>
          <a:p>
            <a:r>
              <a:rPr lang="en-US" dirty="0"/>
              <a:t>Coalescing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гранулярность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сформированной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0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FB44-CCC0-042A-70B7-EF5811FE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 действие может менять модель несколько раз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A76B6-81CE-E193-989F-49B79E8AC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Выравнивание объектов</a:t>
            </a:r>
          </a:p>
          <a:p>
            <a:pPr lvl="1"/>
            <a:r>
              <a:rPr lang="en-US" dirty="0"/>
              <a:t>[Move A] [Move B] [Move C] → [Align Shapes]</a:t>
            </a:r>
          </a:p>
          <a:p>
            <a:r>
              <a:rPr lang="ru-RU" dirty="0"/>
              <a:t>Вставка объекта</a:t>
            </a:r>
            <a:r>
              <a:rPr lang="en-US" dirty="0"/>
              <a:t> </a:t>
            </a:r>
            <a:r>
              <a:rPr lang="ru-RU" dirty="0"/>
              <a:t>из буфера обмена</a:t>
            </a:r>
          </a:p>
          <a:p>
            <a:pPr lvl="1"/>
            <a:r>
              <a:rPr lang="en-US" dirty="0"/>
              <a:t>[Insert Object][Change Selection]</a:t>
            </a:r>
            <a:r>
              <a:rPr lang="ru-RU" dirty="0"/>
              <a:t>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/>
              <a:t>[Paste]</a:t>
            </a:r>
          </a:p>
          <a:p>
            <a:r>
              <a:rPr lang="ru-RU" dirty="0"/>
              <a:t>Итого имеем:</a:t>
            </a:r>
          </a:p>
          <a:p>
            <a:pPr lvl="1"/>
            <a:r>
              <a:rPr lang="ru-RU" dirty="0"/>
              <a:t>Несколько </a:t>
            </a:r>
            <a:r>
              <a:rPr lang="en-US" dirty="0"/>
              <a:t>GUI </a:t>
            </a:r>
            <a:r>
              <a:rPr lang="ru-RU" dirty="0"/>
              <a:t>событий – одно действие пользователя</a:t>
            </a:r>
          </a:p>
          <a:p>
            <a:pPr lvl="1"/>
            <a:r>
              <a:rPr lang="ru-RU" dirty="0"/>
              <a:t>Несколько совершённых команд объединяются в истории</a:t>
            </a:r>
          </a:p>
          <a:p>
            <a:pPr lvl="1"/>
            <a:r>
              <a:rPr lang="ru-RU" dirty="0"/>
              <a:t>Несколько разных изменений могут быть сгруппированы в одну атомарную операцию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80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6363-9045-0EAD-76C2-09639E73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— </a:t>
            </a:r>
            <a:r>
              <a:rPr lang="ru-RU" dirty="0"/>
              <a:t>самостоятельное изучение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BBF57-5C33-E67A-BA0C-519527EA2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34809" cy="4351338"/>
          </a:xfrm>
        </p:spPr>
        <p:txBody>
          <a:bodyPr/>
          <a:lstStyle/>
          <a:p>
            <a:r>
              <a:rPr lang="ru-RU" dirty="0"/>
              <a:t>М</a:t>
            </a:r>
            <a:r>
              <a:rPr lang="en-US" dirty="0"/>
              <a:t>ы </a:t>
            </a:r>
            <a:r>
              <a:rPr lang="en-US" dirty="0" err="1"/>
              <a:t>использовали</a:t>
            </a:r>
            <a:r>
              <a:rPr lang="en-US" dirty="0"/>
              <a:t> Command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Undo/Redo и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ru-RU" dirty="0"/>
              <a:t>Рекомендация для самостоятельного изучения – лекция по паттернам «Команда» и «Хранитель»</a:t>
            </a:r>
          </a:p>
          <a:p>
            <a:r>
              <a:rPr lang="ru-RU" dirty="0"/>
              <a:t>А пока приступим к интеграции </a:t>
            </a:r>
            <a:r>
              <a:rPr lang="en-US" dirty="0"/>
              <a:t>Undo/Redo</a:t>
            </a:r>
            <a:r>
              <a:rPr lang="ru-RU" dirty="0"/>
              <a:t> в наш редактор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F846B-8057-2CDD-7E54-B6BF1382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489" y="4803440"/>
            <a:ext cx="1898613" cy="19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EA378C-9832-00C7-17AB-BFF08A51642E}"/>
              </a:ext>
            </a:extLst>
          </p:cNvPr>
          <p:cNvSpPr txBox="1"/>
          <p:nvPr/>
        </p:nvSpPr>
        <p:spPr>
          <a:xfrm>
            <a:off x="7777489" y="4299171"/>
            <a:ext cx="3299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https://youtu.be/L2zysYzTZKI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C60D9D-BA06-7B2C-6A3F-70433B85EF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36"/>
          <a:stretch>
            <a:fillRect/>
          </a:stretch>
        </p:blipFill>
        <p:spPr>
          <a:xfrm>
            <a:off x="7777489" y="1825625"/>
            <a:ext cx="3576311" cy="233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94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A2B4-E846-986A-4127-35F6B38D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Подключаем </a:t>
            </a:r>
            <a:r>
              <a:rPr lang="en-US" dirty="0"/>
              <a:t>Command </a:t>
            </a:r>
            <a:r>
              <a:rPr lang="ru-RU" dirty="0"/>
              <a:t>к нашему редактору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AC05A-D07B-E9D0-85D9-34EC4A013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52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FCD096-1A29-8A3E-C35D-5C50EF17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Вернёмся к настоящему </a:t>
            </a:r>
            <a:r>
              <a:rPr lang="en-US" dirty="0"/>
              <a:t>drag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8EE96B-2804-566A-B3B2-D3D1049AF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CanvasController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движения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MousePressed</a:t>
            </a:r>
            <a:endParaRPr lang="en-US" dirty="0"/>
          </a:p>
          <a:p>
            <a:pPr lvl="1"/>
            <a:r>
              <a:rPr lang="en-US" dirty="0"/>
              <a:t>MouseMoved ───→ shape-&gt;</a:t>
            </a:r>
            <a:r>
              <a:rPr lang="en-US" dirty="0" err="1"/>
              <a:t>MoveBy</a:t>
            </a:r>
            <a:r>
              <a:rPr lang="en-US" dirty="0"/>
              <a:t>(...)</a:t>
            </a:r>
          </a:p>
          <a:p>
            <a:pPr lvl="1"/>
            <a:r>
              <a:rPr lang="en-US" dirty="0"/>
              <a:t>MouseMoved ───→ shape-&gt;</a:t>
            </a:r>
            <a:r>
              <a:rPr lang="en-US" dirty="0" err="1"/>
              <a:t>MoveBy</a:t>
            </a:r>
            <a:r>
              <a:rPr lang="en-US" dirty="0"/>
              <a:t>(...)</a:t>
            </a:r>
          </a:p>
          <a:p>
            <a:pPr lvl="1"/>
            <a:r>
              <a:rPr lang="en-US" dirty="0"/>
              <a:t>MouseMoved ───→ shape-&gt;</a:t>
            </a:r>
            <a:r>
              <a:rPr lang="en-US" dirty="0" err="1"/>
              <a:t>MoveBy</a:t>
            </a:r>
            <a:r>
              <a:rPr lang="en-US" dirty="0"/>
              <a:t>(...)</a:t>
            </a:r>
          </a:p>
          <a:p>
            <a:pPr lvl="1"/>
            <a:r>
              <a:rPr lang="en-US" dirty="0" err="1"/>
              <a:t>MouseReleased</a:t>
            </a:r>
            <a:r>
              <a:rPr lang="en-US" dirty="0"/>
              <a:t> ─→ drag </a:t>
            </a:r>
            <a:r>
              <a:rPr lang="en-US" dirty="0" err="1"/>
              <a:t>закончен</a:t>
            </a:r>
            <a:endParaRPr lang="en-US" dirty="0"/>
          </a:p>
          <a:p>
            <a:r>
              <a:rPr lang="en-US" dirty="0" err="1"/>
              <a:t>MouseReleased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фиксирует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b="1" dirty="0"/>
              <a:t>к </a:t>
            </a:r>
            <a:r>
              <a:rPr lang="en-US" b="1" dirty="0" err="1"/>
              <a:t>этому</a:t>
            </a:r>
            <a:r>
              <a:rPr lang="en-US" b="1" dirty="0"/>
              <a:t> </a:t>
            </a:r>
            <a:r>
              <a:rPr lang="en-US" b="1" dirty="0" err="1"/>
              <a:t>моменту</a:t>
            </a:r>
            <a:r>
              <a:rPr lang="en-US" b="1" dirty="0"/>
              <a:t> </a:t>
            </a:r>
            <a:r>
              <a:rPr lang="en-US" b="1" dirty="0" err="1"/>
              <a:t>фигура</a:t>
            </a:r>
            <a:r>
              <a:rPr lang="en-US" b="1" dirty="0"/>
              <a:t> </a:t>
            </a:r>
            <a:r>
              <a:rPr lang="en-US" b="1" dirty="0" err="1"/>
              <a:t>уже</a:t>
            </a:r>
            <a:r>
              <a:rPr lang="en-US" b="1" dirty="0"/>
              <a:t> </a:t>
            </a:r>
            <a:r>
              <a:rPr lang="en-US" b="1" dirty="0" err="1"/>
              <a:t>перемещена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19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A350-BBC5-8FCC-140B-A06916B9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создавать </a:t>
            </a:r>
            <a:r>
              <a:rPr lang="en-US" dirty="0" err="1"/>
              <a:t>MoveShapeCommand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FF8FE-E8D6-55D8-6033-7B9F50433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На </a:t>
            </a:r>
            <a:r>
              <a:rPr lang="en-US" dirty="0" err="1"/>
              <a:t>MousePressed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MoveShapeCommand</a:t>
            </a:r>
            <a:r>
              <a:rPr lang="en-US" dirty="0"/>
              <a:t>(shape, ???)</a:t>
            </a:r>
            <a:endParaRPr lang="ru-RU" dirty="0"/>
          </a:p>
          <a:p>
            <a:pPr lvl="1"/>
            <a:r>
              <a:rPr lang="en-US" dirty="0" err="1"/>
              <a:t>Итоговое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неизвестно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На каждом </a:t>
            </a:r>
            <a:r>
              <a:rPr lang="en-US" dirty="0"/>
              <a:t>MouseMoved?</a:t>
            </a:r>
            <a:endParaRPr lang="ru-RU" dirty="0"/>
          </a:p>
          <a:p>
            <a:pPr lvl="1"/>
            <a:r>
              <a:rPr lang="en-US" dirty="0"/>
              <a:t>[Move(+2,+1)]</a:t>
            </a:r>
            <a:br>
              <a:rPr lang="ru-RU" dirty="0"/>
            </a:br>
            <a:r>
              <a:rPr lang="en-US" dirty="0"/>
              <a:t>[Move(+3,+1)]</a:t>
            </a:r>
            <a:br>
              <a:rPr lang="ru-RU" dirty="0"/>
            </a:br>
            <a:r>
              <a:rPr lang="en-US" dirty="0"/>
              <a:t>[Move(+2,+1)]</a:t>
            </a:r>
            <a:br>
              <a:rPr lang="ru-RU" dirty="0"/>
            </a:br>
            <a:r>
              <a:rPr lang="ru-RU" dirty="0"/>
              <a:t>…</a:t>
            </a:r>
            <a:endParaRPr lang="en-US" dirty="0"/>
          </a:p>
          <a:p>
            <a:pPr lvl="1"/>
            <a:r>
              <a:rPr lang="en-US" dirty="0" err="1"/>
              <a:t>Один</a:t>
            </a:r>
            <a:r>
              <a:rPr lang="en-US" dirty="0"/>
              <a:t> drag →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Undo</a:t>
            </a:r>
            <a:endParaRPr lang="ru-RU" dirty="0"/>
          </a:p>
          <a:p>
            <a:r>
              <a:rPr lang="ru-RU" dirty="0"/>
              <a:t>На </a:t>
            </a:r>
            <a:r>
              <a:rPr lang="en-US" dirty="0" err="1"/>
              <a:t>MouseReleased</a:t>
            </a:r>
            <a:r>
              <a:rPr lang="en-US" dirty="0"/>
              <a:t>?</a:t>
            </a:r>
            <a:br>
              <a:rPr lang="ru-RU" dirty="0"/>
            </a:br>
            <a:r>
              <a:rPr lang="ru-RU" dirty="0"/>
              <a:t>	</a:t>
            </a:r>
            <a:r>
              <a:rPr lang="en-US" dirty="0" err="1"/>
              <a:t>Один</a:t>
            </a:r>
            <a:r>
              <a:rPr lang="en-US" dirty="0"/>
              <a:t> drag →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Undo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MouseReleased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start = (100, 100)</a:t>
            </a:r>
            <a:br>
              <a:rPr lang="ru-RU" dirty="0"/>
            </a:br>
            <a:r>
              <a:rPr lang="en-US" dirty="0"/>
              <a:t>end   = (240, 130)</a:t>
            </a:r>
          </a:p>
          <a:p>
            <a:pPr lvl="1"/>
            <a:r>
              <a:rPr lang="en-US" dirty="0" err="1"/>
              <a:t>MoveShapeCommand</a:t>
            </a:r>
            <a:r>
              <a:rPr lang="en-US" dirty="0"/>
              <a:t>(shape, {140, 30})</a:t>
            </a:r>
          </a:p>
          <a:p>
            <a:pPr lvl="1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—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69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3806-3B9E-84F0-1120-36E32977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MouseReleased</a:t>
            </a:r>
            <a:r>
              <a:rPr lang="ru-RU" dirty="0"/>
              <a:t> уже слишком поздно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E8FA5-8A9C-0618-3A07-669F3C264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На </a:t>
            </a:r>
            <a:r>
              <a:rPr lang="en-US" dirty="0"/>
              <a:t>MouseMoved </a:t>
            </a:r>
            <a:r>
              <a:rPr lang="ru-RU" dirty="0"/>
              <a:t>фигура несколько раз получила </a:t>
            </a:r>
            <a:r>
              <a:rPr lang="en-US" dirty="0" err="1"/>
              <a:t>MoveBy</a:t>
            </a:r>
            <a:endParaRPr lang="en-US" dirty="0"/>
          </a:p>
          <a:p>
            <a:r>
              <a:rPr lang="ru-RU" dirty="0"/>
              <a:t>На </a:t>
            </a:r>
            <a:r>
              <a:rPr lang="en-US" dirty="0" err="1"/>
              <a:t>MouseReleased</a:t>
            </a:r>
            <a:r>
              <a:rPr lang="en-US" dirty="0"/>
              <a:t> </a:t>
            </a:r>
            <a:r>
              <a:rPr lang="ru-RU" dirty="0"/>
              <a:t>создаём команду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auto command = std::</a:t>
            </a:r>
            <a:r>
              <a:rPr lang="en-US" dirty="0" err="1">
                <a:latin typeface="Consolas" panose="020B0609020204030204" pitchFamily="49" charset="0"/>
              </a:rPr>
              <a:t>make_unique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MoveShapeCommand</a:t>
            </a:r>
            <a:r>
              <a:rPr lang="en-US" dirty="0">
                <a:latin typeface="Consolas" panose="020B0609020204030204" pitchFamily="49" charset="0"/>
              </a:rPr>
              <a:t>&gt;(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*shape,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totalOffset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history.Execute</a:t>
            </a:r>
            <a:r>
              <a:rPr lang="en-US" dirty="0">
                <a:latin typeface="Consolas" panose="020B0609020204030204" pitchFamily="49" charset="0"/>
              </a:rPr>
              <a:t>(std::move(command));</a:t>
            </a:r>
          </a:p>
          <a:p>
            <a:pPr lvl="1"/>
            <a:r>
              <a:rPr lang="en-US" dirty="0" err="1"/>
              <a:t>Но</a:t>
            </a:r>
            <a:r>
              <a:rPr lang="en-US" dirty="0"/>
              <a:t> Execute()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m_shape.MoveBy</a:t>
            </a:r>
            <a:r>
              <a:rPr lang="en-US" dirty="0"/>
              <a:t>(</a:t>
            </a:r>
            <a:r>
              <a:rPr lang="en-US" dirty="0" err="1"/>
              <a:t>m_offset</a:t>
            </a:r>
            <a:r>
              <a:rPr lang="en-US" dirty="0"/>
              <a:t>);</a:t>
            </a:r>
          </a:p>
          <a:p>
            <a:pPr lvl="2"/>
            <a:r>
              <a:rPr lang="ru-RU" dirty="0"/>
              <a:t>Команда появилась после того, как изменение уже произошло.</a:t>
            </a:r>
            <a:endParaRPr lang="en-US" dirty="0"/>
          </a:p>
          <a:p>
            <a:r>
              <a:rPr lang="ru-RU" dirty="0"/>
              <a:t>Может,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положи</a:t>
            </a:r>
            <a:r>
              <a:rPr lang="ru-RU" dirty="0" err="1"/>
              <a:t>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выполненную</a:t>
            </a:r>
            <a:r>
              <a:rPr lang="ru-RU" dirty="0"/>
              <a:t> </a:t>
            </a:r>
            <a:r>
              <a:rPr lang="en-US" dirty="0" err="1"/>
              <a:t>команду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history.AddExecutedCommand</a:t>
            </a:r>
            <a:r>
              <a:rPr lang="en-US" dirty="0">
                <a:latin typeface="Consolas" panose="020B0609020204030204" pitchFamily="49" charset="0"/>
              </a:rPr>
              <a:t>(std::move(command));</a:t>
            </a:r>
            <a:endParaRPr lang="en-US" dirty="0"/>
          </a:p>
          <a:p>
            <a:endParaRPr lang="en-US" dirty="0"/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38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E6A5-503F-3A88-9BD1-F957973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 смешали </a:t>
            </a:r>
            <a:r>
              <a:rPr lang="en-US" dirty="0"/>
              <a:t>Preview </a:t>
            </a:r>
            <a:r>
              <a:rPr lang="ru-RU" dirty="0"/>
              <a:t>и </a:t>
            </a:r>
            <a:r>
              <a:rPr lang="en-US" dirty="0"/>
              <a:t>Commit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7EDA79-2C72-1D4C-D7EE-8EDD6A203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8907" y="1825625"/>
            <a:ext cx="10074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69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501E22-D03C-DB84-EDA7-1695F5DC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</a:t>
            </a:r>
            <a:r>
              <a:rPr lang="ru-RU" dirty="0"/>
              <a:t>и </a:t>
            </a:r>
            <a:r>
              <a:rPr lang="en-US" dirty="0"/>
              <a:t>Commit – </a:t>
            </a:r>
            <a:r>
              <a:rPr lang="ru-RU" dirty="0"/>
              <a:t>разные состояния изменения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0D2B8-ED3C-A771-6238-65F05DC27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71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2C5B80-A809-598D-C4C1-96B6567C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тоже имеет жизненный цикл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B73789-2F84-5376-E72D-C0458068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редактирование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мгновенно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Begin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Commit / Cancel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en-US" dirty="0"/>
              <a:t>Drag</a:t>
            </a:r>
          </a:p>
          <a:p>
            <a:pPr lvl="1"/>
            <a:r>
              <a:rPr lang="en-US" dirty="0"/>
              <a:t>Resize</a:t>
            </a:r>
          </a:p>
          <a:p>
            <a:pPr lvl="1"/>
            <a:r>
              <a:rPr lang="en-US" dirty="0"/>
              <a:t>Color Picker</a:t>
            </a:r>
          </a:p>
          <a:p>
            <a:r>
              <a:rPr lang="ru-RU" dirty="0"/>
              <a:t>Интерактивное изменение существует некоторое время до того, как становится окончательным.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28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7991-43AD-5E05-431E-69543365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Первый вариант: </a:t>
            </a:r>
            <a:r>
              <a:rPr lang="ru-RU" dirty="0" err="1"/>
              <a:t>Preview</a:t>
            </a:r>
            <a:r>
              <a:rPr lang="ru-RU" dirty="0"/>
              <a:t> прямо в Domain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A91FE-9F42-6914-0F4B-1AC9DC013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interaction.</a:t>
            </a:r>
          </a:p>
          <a:p>
            <a:pPr lvl="1"/>
            <a:r>
              <a:rPr lang="en-US" dirty="0"/>
              <a:t>Drag:</a:t>
            </a:r>
          </a:p>
          <a:p>
            <a:pPr lvl="2"/>
            <a:r>
              <a:rPr lang="en-US" dirty="0"/>
              <a:t>Begin: </a:t>
            </a:r>
            <a:r>
              <a:rPr lang="ru-RU" dirty="0"/>
              <a:t>запомнить исходное положение</a:t>
            </a:r>
          </a:p>
          <a:p>
            <a:pPr lvl="2"/>
            <a:r>
              <a:rPr lang="en-US" dirty="0"/>
              <a:t>Update: </a:t>
            </a:r>
            <a:r>
              <a:rPr lang="en-US" dirty="0" err="1"/>
              <a:t>shape.MoveBy</a:t>
            </a:r>
            <a:r>
              <a:rPr lang="en-US" dirty="0"/>
              <a:t>(…)</a:t>
            </a:r>
          </a:p>
          <a:p>
            <a:pPr lvl="3"/>
            <a:r>
              <a:rPr lang="en-US" dirty="0"/>
              <a:t>Drawing </a:t>
            </a:r>
            <a:r>
              <a:rPr lang="ru-RU" dirty="0"/>
              <a:t>изменён</a:t>
            </a:r>
          </a:p>
          <a:p>
            <a:pPr lvl="3"/>
            <a:r>
              <a:rPr lang="en-US" dirty="0"/>
              <a:t>View</a:t>
            </a:r>
            <a:r>
              <a:rPr lang="ru-RU" dirty="0"/>
              <a:t> показывает результат</a:t>
            </a:r>
          </a:p>
          <a:p>
            <a:pPr lvl="2"/>
            <a:r>
              <a:rPr lang="en-US" dirty="0"/>
              <a:t>Commit: </a:t>
            </a:r>
            <a:r>
              <a:rPr lang="ru-RU" dirty="0"/>
              <a:t>создать </a:t>
            </a:r>
            <a:r>
              <a:rPr lang="en-US" dirty="0" err="1"/>
              <a:t>MoveShapeCommand</a:t>
            </a:r>
            <a:r>
              <a:rPr lang="en-US" dirty="0"/>
              <a:t> </a:t>
            </a:r>
            <a:r>
              <a:rPr lang="ru-RU" dirty="0"/>
              <a:t>для перемещения и добавить в историю</a:t>
            </a:r>
          </a:p>
          <a:p>
            <a:pPr lvl="1"/>
            <a:r>
              <a:rPr lang="en-US" dirty="0"/>
              <a:t>Color Picker:</a:t>
            </a:r>
          </a:p>
          <a:p>
            <a:pPr lvl="2"/>
            <a:r>
              <a:rPr lang="en-US" dirty="0"/>
              <a:t>Begin: </a:t>
            </a:r>
            <a:r>
              <a:rPr lang="en-US" dirty="0" err="1"/>
              <a:t>oldColor</a:t>
            </a:r>
            <a:r>
              <a:rPr lang="en-US" dirty="0"/>
              <a:t> = </a:t>
            </a:r>
            <a:r>
              <a:rPr lang="en-US" dirty="0" err="1"/>
              <a:t>shape.GetColor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Update: </a:t>
            </a:r>
            <a:r>
              <a:rPr lang="en-US" dirty="0" err="1"/>
              <a:t>shape.SetColor</a:t>
            </a:r>
            <a:r>
              <a:rPr lang="en-US" dirty="0"/>
              <a:t>(color)</a:t>
            </a:r>
          </a:p>
          <a:p>
            <a:pPr lvl="2"/>
            <a:r>
              <a:rPr lang="en-US" dirty="0"/>
              <a:t>Commit: </a:t>
            </a:r>
            <a:r>
              <a:rPr lang="ru-RU" dirty="0"/>
              <a:t>Зарегистрировать </a:t>
            </a:r>
            <a:r>
              <a:rPr lang="en-US" dirty="0" err="1"/>
              <a:t>ChangeColorCommand</a:t>
            </a:r>
            <a:endParaRPr lang="en-US" dirty="0"/>
          </a:p>
          <a:p>
            <a:r>
              <a:rPr lang="ru-RU" dirty="0"/>
              <a:t>Преимущество: </a:t>
            </a:r>
            <a:r>
              <a:rPr lang="en-US" dirty="0"/>
              <a:t>Preview </a:t>
            </a:r>
            <a:r>
              <a:rPr lang="ru-RU" dirty="0"/>
              <a:t>почти бесплатен</a:t>
            </a:r>
          </a:p>
          <a:p>
            <a:pPr lvl="1"/>
            <a:r>
              <a:rPr lang="en-US" dirty="0"/>
              <a:t>View </a:t>
            </a:r>
            <a:r>
              <a:rPr lang="ru-RU" dirty="0"/>
              <a:t>отображает текущее состояние модели</a:t>
            </a:r>
          </a:p>
          <a:p>
            <a:r>
              <a:rPr lang="ru-RU" dirty="0"/>
              <a:t>Но:</a:t>
            </a:r>
          </a:p>
          <a:p>
            <a:pPr lvl="1"/>
            <a:r>
              <a:rPr lang="en-US" dirty="0"/>
              <a:t>Update </a:t>
            </a:r>
            <a:r>
              <a:rPr lang="ru-RU" dirty="0"/>
              <a:t>изменяет </a:t>
            </a:r>
            <a:r>
              <a:rPr lang="en-US" dirty="0"/>
              <a:t>Domain Model</a:t>
            </a:r>
          </a:p>
          <a:p>
            <a:pPr lvl="1"/>
            <a:r>
              <a:rPr lang="en-US" dirty="0"/>
              <a:t>Commit </a:t>
            </a:r>
            <a:r>
              <a:rPr lang="ru-RU" dirty="0"/>
              <a:t>не выполняет изменение, а регистрирует его постфактум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3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4178-EC61-5054-BCE2-C28B2916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Cancel </a:t>
            </a:r>
            <a:r>
              <a:rPr lang="ru-RU" dirty="0"/>
              <a:t>требует </a:t>
            </a:r>
            <a:r>
              <a:rPr lang="en-US" dirty="0"/>
              <a:t>rollback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FCFDD-F5B1-4AB9-26FD-7ACACC3241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Если</a:t>
            </a:r>
            <a:r>
              <a:rPr lang="en-US" dirty="0"/>
              <a:t> Preview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изменил</a:t>
            </a:r>
            <a:r>
              <a:rPr lang="en-US" dirty="0"/>
              <a:t> Domain Model, </a:t>
            </a:r>
            <a:r>
              <a:rPr lang="en-US" dirty="0" err="1"/>
              <a:t>при</a:t>
            </a:r>
            <a:r>
              <a:rPr lang="en-US" dirty="0"/>
              <a:t> Cancel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.</a:t>
            </a:r>
          </a:p>
          <a:p>
            <a:r>
              <a:rPr lang="ru-RU" dirty="0"/>
              <a:t>Алгоритм:</a:t>
            </a:r>
          </a:p>
          <a:p>
            <a:pPr lvl="1"/>
            <a:r>
              <a:rPr lang="en-US" dirty="0"/>
              <a:t>Begin: </a:t>
            </a:r>
            <a:r>
              <a:rPr lang="ru-RU" dirty="0"/>
              <a:t>сохранить исходное состояние</a:t>
            </a:r>
          </a:p>
          <a:p>
            <a:pPr lvl="1"/>
            <a:r>
              <a:rPr lang="en-US" dirty="0"/>
              <a:t>Update: </a:t>
            </a:r>
            <a:r>
              <a:rPr lang="ru-RU" dirty="0"/>
              <a:t>изменить </a:t>
            </a:r>
            <a:r>
              <a:rPr lang="en-US" dirty="0"/>
              <a:t>Domain Model</a:t>
            </a:r>
          </a:p>
          <a:p>
            <a:pPr lvl="1"/>
            <a:r>
              <a:rPr lang="en-US" dirty="0"/>
              <a:t>Commit: </a:t>
            </a:r>
            <a:r>
              <a:rPr lang="ru-RU" dirty="0"/>
              <a:t>сохранить текущее состояние и зарегистрировать команду</a:t>
            </a:r>
          </a:p>
          <a:p>
            <a:pPr lvl="1"/>
            <a:r>
              <a:rPr lang="en-US" dirty="0"/>
              <a:t>Cancel: </a:t>
            </a:r>
            <a:r>
              <a:rPr lang="ru-RU" dirty="0"/>
              <a:t>восстановить исходное состояние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10E00-F055-5B27-0EEF-735ED2E61A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45721"/>
            <a:ext cx="5181600" cy="351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00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DD3C-0C64-B8BE-705D-CE3CA8AE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Должно ли </a:t>
            </a:r>
            <a:r>
              <a:rPr lang="ru-RU" dirty="0" err="1"/>
              <a:t>Preview</a:t>
            </a:r>
            <a:r>
              <a:rPr lang="ru-RU" dirty="0"/>
              <a:t> быть состоянием документа?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A0DA00-FE63-AA46-936E-8D4C44177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38" y="1690688"/>
            <a:ext cx="996632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00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3740F1-0ADB-B31E-86B2-0BD35A20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Может быть, </a:t>
            </a:r>
            <a:r>
              <a:rPr lang="en-US" dirty="0"/>
              <a:t>Preview </a:t>
            </a:r>
            <a:r>
              <a:rPr lang="ru-RU" dirty="0"/>
              <a:t>должно жить внутри </a:t>
            </a:r>
            <a:r>
              <a:rPr lang="en-US" dirty="0"/>
              <a:t>View?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4DD11-E850-DBDE-D671-FFDCF7E5C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6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289F4-0C6A-623A-47B9-A4F4A9F5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Может быть, </a:t>
            </a:r>
            <a:r>
              <a:rPr lang="ru-RU" dirty="0" err="1"/>
              <a:t>Preview</a:t>
            </a:r>
            <a:r>
              <a:rPr lang="ru-RU" dirty="0"/>
              <a:t> должен жить во View?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6FDCC1F-0456-5230-FCDC-56D46F591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38" y="1690688"/>
            <a:ext cx="996632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45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F6F7-4E53-EACC-8486-6C231963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Может быть, каждой фигуре нужен свой </a:t>
            </a:r>
            <a:r>
              <a:rPr lang="ru-RU" dirty="0" err="1"/>
              <a:t>CanvasShapeView</a:t>
            </a:r>
            <a:r>
              <a:rPr lang="ru-RU" dirty="0"/>
              <a:t>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54D82-8113-4E20-6397-AD2AAF406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59" y="1690688"/>
            <a:ext cx="11208682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691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5FBA-7047-1FF6-7F56-28915043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создаст правильный </a:t>
            </a:r>
            <a:r>
              <a:rPr lang="en-US" dirty="0" err="1"/>
              <a:t>ShapeView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DD2AA-5958-2065-76AD-2C6F9156E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сопоставить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Rectangle → </a:t>
            </a:r>
            <a:r>
              <a:rPr lang="en-US" dirty="0" err="1"/>
              <a:t>RectangleView</a:t>
            </a:r>
            <a:endParaRPr lang="en-US" dirty="0"/>
          </a:p>
          <a:p>
            <a:pPr lvl="1"/>
            <a:r>
              <a:rPr lang="en-US" dirty="0"/>
              <a:t>Ellipse   → </a:t>
            </a:r>
            <a:r>
              <a:rPr lang="en-US" dirty="0" err="1"/>
              <a:t>EllipseView</a:t>
            </a:r>
            <a:endParaRPr lang="en-US" dirty="0"/>
          </a:p>
          <a:p>
            <a:pPr lvl="1"/>
            <a:r>
              <a:rPr lang="en-US" dirty="0"/>
              <a:t>...</a:t>
            </a:r>
          </a:p>
          <a:p>
            <a:r>
              <a:rPr lang="ru-RU" dirty="0"/>
              <a:t>Здесь подходит </a:t>
            </a:r>
            <a:r>
              <a:rPr lang="en-US" dirty="0"/>
              <a:t>Visitor</a:t>
            </a:r>
            <a:endParaRPr lang="ru-RU" dirty="0"/>
          </a:p>
          <a:p>
            <a:pPr lvl="1"/>
            <a:r>
              <a:rPr lang="en-US" dirty="0" err="1"/>
              <a:t>ShapeViewFactory</a:t>
            </a:r>
            <a:r>
              <a:rPr lang="en-US" dirty="0"/>
              <a:t> + Visitor</a:t>
            </a:r>
          </a:p>
          <a:p>
            <a:r>
              <a:rPr lang="ru-RU" dirty="0"/>
              <a:t>Созданный </a:t>
            </a:r>
            <a:r>
              <a:rPr lang="en-US" dirty="0"/>
              <a:t>View </a:t>
            </a:r>
            <a:r>
              <a:rPr lang="ru-RU" dirty="0"/>
              <a:t>можно сохранить внутри </a:t>
            </a:r>
            <a:r>
              <a:rPr lang="en-US" dirty="0" err="1"/>
              <a:t>CanvasView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12D9C30-59DC-0DF2-E029-0A23A15DF2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72574" y="1825625"/>
            <a:ext cx="63808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46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8787-4A6B-AD25-9997-AFAC8FFB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заканчивается ответственность </a:t>
            </a:r>
            <a:r>
              <a:rPr lang="en-US" dirty="0" err="1"/>
              <a:t>ShapeController</a:t>
            </a:r>
            <a:r>
              <a:rPr lang="en-US" dirty="0"/>
              <a:t>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1BBF94-6FF2-9D53-06BD-820B9ACAE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43" y="1690688"/>
            <a:ext cx="981171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509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7FB85F-BA3A-5CAF-9620-24B6B07E0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Мысленный эксперимент:</a:t>
            </a:r>
            <a:br>
              <a:rPr lang="ru-RU" dirty="0"/>
            </a:br>
            <a:r>
              <a:rPr lang="en-US" dirty="0"/>
              <a:t>Timeline 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9A7B2-9B91-2CAA-C110-7C493F804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928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E99548-B1FC-F1C7-2E68-1A1FB4AD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Добавим ещё одно представление документа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C4E06F6-695A-131A-D4F8-B43785A9A3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 окне есть два представления одного документа:</a:t>
            </a:r>
          </a:p>
          <a:p>
            <a:pPr lvl="1"/>
            <a:r>
              <a:rPr lang="en-US" dirty="0"/>
              <a:t>Canvas View </a:t>
            </a:r>
            <a:r>
              <a:rPr lang="ru-RU" dirty="0"/>
              <a:t>показывает геометрию фигур</a:t>
            </a:r>
          </a:p>
          <a:p>
            <a:pPr lvl="1"/>
            <a:r>
              <a:rPr lang="en-US" dirty="0"/>
              <a:t>Timeline View </a:t>
            </a:r>
            <a:r>
              <a:rPr lang="ru-RU" dirty="0"/>
              <a:t>показывает время появления и исчезновения и </a:t>
            </a:r>
            <a:r>
              <a:rPr lang="en-US" dirty="0"/>
              <a:t>z-order</a:t>
            </a:r>
            <a:endParaRPr lang="ru-RU" dirty="0"/>
          </a:p>
          <a:p>
            <a:endParaRPr lang="en-US" dirty="0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12689BBE-6FE3-D40B-95E9-3F6F2046D1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25626"/>
            <a:ext cx="5539019" cy="408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905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236D-E5CF-0F20-2505-5B8C645D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Preview</a:t>
            </a:r>
            <a:r>
              <a:rPr lang="ru-RU" dirty="0"/>
              <a:t> начался в </a:t>
            </a:r>
            <a:r>
              <a:rPr lang="ru-RU" dirty="0" err="1"/>
              <a:t>Timeline</a:t>
            </a:r>
            <a:r>
              <a:rPr lang="ru-RU" dirty="0"/>
              <a:t> — кто должен его увидеть?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B8CAED-5237-B215-A5EE-7C870B8B1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596" y="1690688"/>
            <a:ext cx="7670808" cy="4049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B6A42-77B1-0522-7063-E41781AECA25}"/>
              </a:ext>
            </a:extLst>
          </p:cNvPr>
          <p:cNvSpPr txBox="1"/>
          <p:nvPr/>
        </p:nvSpPr>
        <p:spPr>
          <a:xfrm>
            <a:off x="2160105" y="5984437"/>
            <a:ext cx="7670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Несколько</a:t>
            </a:r>
            <a:r>
              <a:rPr lang="en-US" sz="2000" dirty="0"/>
              <a:t> View </a:t>
            </a:r>
            <a:r>
              <a:rPr lang="en-US" sz="2000" dirty="0" err="1"/>
              <a:t>одного</a:t>
            </a:r>
            <a:r>
              <a:rPr lang="en-US" sz="2000" dirty="0"/>
              <a:t> </a:t>
            </a:r>
            <a:r>
              <a:rPr lang="en-US" sz="2000" dirty="0" err="1"/>
              <a:t>окна</a:t>
            </a:r>
            <a:r>
              <a:rPr lang="en-US" sz="2000" dirty="0"/>
              <a:t> </a:t>
            </a:r>
            <a:r>
              <a:rPr lang="en-US" sz="2000" dirty="0" err="1"/>
              <a:t>должны</a:t>
            </a:r>
            <a:r>
              <a:rPr lang="en-US" sz="2000" dirty="0"/>
              <a:t> </a:t>
            </a:r>
            <a:r>
              <a:rPr lang="en-US" sz="2000" dirty="0" err="1"/>
              <a:t>видеть</a:t>
            </a:r>
            <a:r>
              <a:rPr lang="en-US" sz="2000" dirty="0"/>
              <a:t> </a:t>
            </a:r>
            <a:r>
              <a:rPr lang="en-US" sz="2000" dirty="0" err="1"/>
              <a:t>одно</a:t>
            </a:r>
            <a:r>
              <a:rPr lang="en-US" sz="2000" dirty="0"/>
              <a:t> и </a:t>
            </a:r>
            <a:r>
              <a:rPr lang="en-US" sz="2000" dirty="0" err="1"/>
              <a:t>то</a:t>
            </a:r>
            <a:r>
              <a:rPr lang="en-US" sz="2000" dirty="0"/>
              <a:t> </a:t>
            </a:r>
            <a:r>
              <a:rPr lang="en-US" sz="2000" dirty="0" err="1"/>
              <a:t>же</a:t>
            </a:r>
            <a:r>
              <a:rPr lang="en-US" sz="2000" dirty="0"/>
              <a:t> </a:t>
            </a:r>
            <a:r>
              <a:rPr lang="en-US" sz="2000" dirty="0" err="1"/>
              <a:t>незавершённое</a:t>
            </a:r>
            <a:r>
              <a:rPr lang="en-US" sz="2000" dirty="0"/>
              <a:t> </a:t>
            </a:r>
            <a:r>
              <a:rPr lang="en-US" sz="2000" dirty="0" err="1"/>
              <a:t>изменение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31020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1911-B70D-FDA8-99A6-DD6C8EC3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Может быть, положить </a:t>
            </a:r>
            <a:r>
              <a:rPr lang="ru-RU" dirty="0" err="1"/>
              <a:t>Preview</a:t>
            </a:r>
            <a:r>
              <a:rPr lang="ru-RU" dirty="0"/>
              <a:t> обратно в Domain Model?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5D2FFA-49E5-B864-0D5F-29F34276B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13" y="1690688"/>
            <a:ext cx="963097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33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60A7780-3524-C0EB-2FD9-97E6E5E6F754}"/>
              </a:ext>
            </a:extLst>
          </p:cNvPr>
          <p:cNvSpPr/>
          <p:nvPr/>
        </p:nvSpPr>
        <p:spPr>
          <a:xfrm>
            <a:off x="6501277" y="4387038"/>
            <a:ext cx="5320145" cy="2028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6E3FAA-083C-D5C6-9CC2-8ACD67AF9F6B}"/>
              </a:ext>
            </a:extLst>
          </p:cNvPr>
          <p:cNvSpPr/>
          <p:nvPr/>
        </p:nvSpPr>
        <p:spPr>
          <a:xfrm>
            <a:off x="7482178" y="5853838"/>
            <a:ext cx="2255389" cy="3823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DA740F-C087-706A-A743-8E6EC809A646}"/>
              </a:ext>
            </a:extLst>
          </p:cNvPr>
          <p:cNvSpPr/>
          <p:nvPr/>
        </p:nvSpPr>
        <p:spPr>
          <a:xfrm>
            <a:off x="7742709" y="5410672"/>
            <a:ext cx="2255389" cy="3823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00C882-3BFB-567C-91FE-AD65E9F4E0BC}"/>
              </a:ext>
            </a:extLst>
          </p:cNvPr>
          <p:cNvSpPr/>
          <p:nvPr/>
        </p:nvSpPr>
        <p:spPr>
          <a:xfrm>
            <a:off x="7557585" y="4504029"/>
            <a:ext cx="1662481" cy="38238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C1E107-ABF2-0F56-EC32-7061C709867B}"/>
              </a:ext>
            </a:extLst>
          </p:cNvPr>
          <p:cNvSpPr/>
          <p:nvPr/>
        </p:nvSpPr>
        <p:spPr>
          <a:xfrm>
            <a:off x="8033654" y="4947195"/>
            <a:ext cx="2255389" cy="3823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611453-71BB-2E86-D15C-502A0D5C571E}"/>
              </a:ext>
            </a:extLst>
          </p:cNvPr>
          <p:cNvSpPr/>
          <p:nvPr/>
        </p:nvSpPr>
        <p:spPr>
          <a:xfrm>
            <a:off x="295828" y="587170"/>
            <a:ext cx="5320145" cy="3674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4EFBF2-00BA-0F03-D40E-5AE2E6FEB731}"/>
              </a:ext>
            </a:extLst>
          </p:cNvPr>
          <p:cNvSpPr/>
          <p:nvPr/>
        </p:nvSpPr>
        <p:spPr>
          <a:xfrm>
            <a:off x="1276730" y="2299591"/>
            <a:ext cx="2443941" cy="159604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FE9C2-F401-12F3-81E3-F8F03FDEFF16}"/>
              </a:ext>
            </a:extLst>
          </p:cNvPr>
          <p:cNvSpPr/>
          <p:nvPr/>
        </p:nvSpPr>
        <p:spPr>
          <a:xfrm>
            <a:off x="2041501" y="1767577"/>
            <a:ext cx="2560320" cy="1463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9797B47-BAA7-FD77-54EF-269530D16F29}"/>
              </a:ext>
            </a:extLst>
          </p:cNvPr>
          <p:cNvSpPr/>
          <p:nvPr/>
        </p:nvSpPr>
        <p:spPr>
          <a:xfrm>
            <a:off x="844468" y="1056838"/>
            <a:ext cx="3042457" cy="1878677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9E53912A-B0AF-73C9-4FB9-C7AF24017F6B}"/>
              </a:ext>
            </a:extLst>
          </p:cNvPr>
          <p:cNvSpPr/>
          <p:nvPr/>
        </p:nvSpPr>
        <p:spPr>
          <a:xfrm>
            <a:off x="2743924" y="1641935"/>
            <a:ext cx="2443941" cy="2299421"/>
          </a:xfrm>
          <a:prstGeom prst="star5">
            <a:avLst>
              <a:gd name="adj" fmla="val 25714"/>
              <a:gd name="hf" fmla="val 105146"/>
              <a:gd name="vf" fmla="val 11055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1C9DA-0C7D-0863-9FCB-4CD607D1AECA}"/>
              </a:ext>
            </a:extLst>
          </p:cNvPr>
          <p:cNvSpPr/>
          <p:nvPr/>
        </p:nvSpPr>
        <p:spPr>
          <a:xfrm>
            <a:off x="295828" y="4387038"/>
            <a:ext cx="5320145" cy="2028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C8F56-A0B8-EAF8-1F50-70313A74958E}"/>
              </a:ext>
            </a:extLst>
          </p:cNvPr>
          <p:cNvSpPr/>
          <p:nvPr/>
        </p:nvSpPr>
        <p:spPr>
          <a:xfrm>
            <a:off x="1276729" y="5853838"/>
            <a:ext cx="2255389" cy="3823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1B93ED-6EA5-011C-E064-42BFF52385B5}"/>
              </a:ext>
            </a:extLst>
          </p:cNvPr>
          <p:cNvSpPr/>
          <p:nvPr/>
        </p:nvSpPr>
        <p:spPr>
          <a:xfrm>
            <a:off x="1537260" y="5410672"/>
            <a:ext cx="2255389" cy="3823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7572FC-985E-B4B6-627E-783F01BDB4A7}"/>
              </a:ext>
            </a:extLst>
          </p:cNvPr>
          <p:cNvSpPr/>
          <p:nvPr/>
        </p:nvSpPr>
        <p:spPr>
          <a:xfrm>
            <a:off x="1276729" y="4972133"/>
            <a:ext cx="1662481" cy="38238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2A78A6-0ED6-1A1D-CFC0-853D7BBDEA59}"/>
              </a:ext>
            </a:extLst>
          </p:cNvPr>
          <p:cNvSpPr/>
          <p:nvPr/>
        </p:nvSpPr>
        <p:spPr>
          <a:xfrm>
            <a:off x="1944384" y="4528967"/>
            <a:ext cx="2255389" cy="3823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E43B3D-AFC3-9647-4796-BDBE2E67DFAE}"/>
              </a:ext>
            </a:extLst>
          </p:cNvPr>
          <p:cNvSpPr/>
          <p:nvPr/>
        </p:nvSpPr>
        <p:spPr>
          <a:xfrm>
            <a:off x="6501277" y="587170"/>
            <a:ext cx="5320145" cy="3674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5C947F-BB92-FE4B-7136-62E0A83DCB9C}"/>
              </a:ext>
            </a:extLst>
          </p:cNvPr>
          <p:cNvSpPr/>
          <p:nvPr/>
        </p:nvSpPr>
        <p:spPr>
          <a:xfrm>
            <a:off x="7482179" y="2299591"/>
            <a:ext cx="2443941" cy="159604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11E381-4299-38E6-2AF8-541ADA1F7D61}"/>
              </a:ext>
            </a:extLst>
          </p:cNvPr>
          <p:cNvSpPr/>
          <p:nvPr/>
        </p:nvSpPr>
        <p:spPr>
          <a:xfrm>
            <a:off x="8246950" y="1767577"/>
            <a:ext cx="2560320" cy="1463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7EB8739F-FE77-2990-E87A-CCD682674914}"/>
              </a:ext>
            </a:extLst>
          </p:cNvPr>
          <p:cNvSpPr/>
          <p:nvPr/>
        </p:nvSpPr>
        <p:spPr>
          <a:xfrm>
            <a:off x="8949373" y="1641935"/>
            <a:ext cx="2443941" cy="2299421"/>
          </a:xfrm>
          <a:prstGeom prst="star5">
            <a:avLst>
              <a:gd name="adj" fmla="val 25714"/>
              <a:gd name="hf" fmla="val 105146"/>
              <a:gd name="vf" fmla="val 11055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CC7EB3A-C92E-1618-393D-3D75C636583A}"/>
              </a:ext>
            </a:extLst>
          </p:cNvPr>
          <p:cNvSpPr/>
          <p:nvPr/>
        </p:nvSpPr>
        <p:spPr>
          <a:xfrm>
            <a:off x="7049917" y="1056838"/>
            <a:ext cx="3042457" cy="1878677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646B6B-F0D1-38DD-95F4-6D3F9117ADF0}"/>
              </a:ext>
            </a:extLst>
          </p:cNvPr>
          <p:cNvCxnSpPr/>
          <p:nvPr/>
        </p:nvCxnSpPr>
        <p:spPr>
          <a:xfrm>
            <a:off x="2107969" y="4387038"/>
            <a:ext cx="0" cy="2028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7CD743-B379-95E9-1F06-584D11C3CCA1}"/>
              </a:ext>
            </a:extLst>
          </p:cNvPr>
          <p:cNvCxnSpPr/>
          <p:nvPr/>
        </p:nvCxnSpPr>
        <p:spPr>
          <a:xfrm>
            <a:off x="8392223" y="4396534"/>
            <a:ext cx="0" cy="2028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3DB1BF9E-35CF-9782-7C00-8EBA8512ECB8}"/>
              </a:ext>
            </a:extLst>
          </p:cNvPr>
          <p:cNvSpPr/>
          <p:nvPr/>
        </p:nvSpPr>
        <p:spPr>
          <a:xfrm>
            <a:off x="517224" y="4445280"/>
            <a:ext cx="399570" cy="375942"/>
          </a:xfrm>
          <a:prstGeom prst="star5">
            <a:avLst>
              <a:gd name="adj" fmla="val 25714"/>
              <a:gd name="hf" fmla="val 105146"/>
              <a:gd name="vf" fmla="val 11055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8678D4-8201-470F-75B4-12DCF96ED295}"/>
              </a:ext>
            </a:extLst>
          </p:cNvPr>
          <p:cNvSpPr/>
          <p:nvPr/>
        </p:nvSpPr>
        <p:spPr>
          <a:xfrm>
            <a:off x="517224" y="5418777"/>
            <a:ext cx="399570" cy="3823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2103366-6940-9689-6CAF-FDBC6C647C49}"/>
              </a:ext>
            </a:extLst>
          </p:cNvPr>
          <p:cNvSpPr/>
          <p:nvPr/>
        </p:nvSpPr>
        <p:spPr>
          <a:xfrm>
            <a:off x="519393" y="4928807"/>
            <a:ext cx="395233" cy="382385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18EF0F4-5C34-413F-80C9-FE4CB97F1F3C}"/>
              </a:ext>
            </a:extLst>
          </p:cNvPr>
          <p:cNvSpPr/>
          <p:nvPr/>
        </p:nvSpPr>
        <p:spPr>
          <a:xfrm>
            <a:off x="519393" y="5852961"/>
            <a:ext cx="395233" cy="38238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63EDDC9E-CD36-A447-2F9E-4507786D3A6E}"/>
              </a:ext>
            </a:extLst>
          </p:cNvPr>
          <p:cNvSpPr/>
          <p:nvPr/>
        </p:nvSpPr>
        <p:spPr>
          <a:xfrm>
            <a:off x="6772619" y="4950416"/>
            <a:ext cx="399570" cy="375942"/>
          </a:xfrm>
          <a:prstGeom prst="star5">
            <a:avLst>
              <a:gd name="adj" fmla="val 25714"/>
              <a:gd name="hf" fmla="val 105146"/>
              <a:gd name="vf" fmla="val 11055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8286F6-2EAF-104D-7BDA-6549D1B094FD}"/>
              </a:ext>
            </a:extLst>
          </p:cNvPr>
          <p:cNvSpPr/>
          <p:nvPr/>
        </p:nvSpPr>
        <p:spPr>
          <a:xfrm>
            <a:off x="6781114" y="5405907"/>
            <a:ext cx="399570" cy="3823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4FF03551-A6FB-760E-D3AB-7BD1D4CA7C91}"/>
              </a:ext>
            </a:extLst>
          </p:cNvPr>
          <p:cNvSpPr/>
          <p:nvPr/>
        </p:nvSpPr>
        <p:spPr>
          <a:xfrm>
            <a:off x="6772148" y="4477535"/>
            <a:ext cx="395233" cy="382385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EA034C-13F3-DA7F-3800-42F6EC337F44}"/>
              </a:ext>
            </a:extLst>
          </p:cNvPr>
          <p:cNvSpPr/>
          <p:nvPr/>
        </p:nvSpPr>
        <p:spPr>
          <a:xfrm>
            <a:off x="6783283" y="5840091"/>
            <a:ext cx="395233" cy="38238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0433FE-A7B6-1838-F23F-8FA48A8212FF}"/>
              </a:ext>
            </a:extLst>
          </p:cNvPr>
          <p:cNvSpPr txBox="1"/>
          <p:nvPr/>
        </p:nvSpPr>
        <p:spPr>
          <a:xfrm>
            <a:off x="295828" y="165100"/>
            <a:ext cx="532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Окно </a:t>
            </a:r>
            <a:r>
              <a:rPr lang="en-US" dirty="0"/>
              <a:t>A – Preview state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CD3DAA-CB57-8BAC-C644-AB00545930C5}"/>
              </a:ext>
            </a:extLst>
          </p:cNvPr>
          <p:cNvSpPr txBox="1"/>
          <p:nvPr/>
        </p:nvSpPr>
        <p:spPr>
          <a:xfrm>
            <a:off x="6501276" y="187448"/>
            <a:ext cx="532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Окно </a:t>
            </a:r>
            <a:r>
              <a:rPr lang="en-US" dirty="0"/>
              <a:t>B – committed state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CE4F66-2107-E966-A552-12EFCF65226B}"/>
              </a:ext>
            </a:extLst>
          </p:cNvPr>
          <p:cNvSpPr/>
          <p:nvPr/>
        </p:nvSpPr>
        <p:spPr>
          <a:xfrm>
            <a:off x="844468" y="1056838"/>
            <a:ext cx="3042457" cy="187867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65A4FDE5-8F26-A730-46B5-70F6702816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2025" y="49615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246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3598-2DF9-84B2-840B-02B2781F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— </a:t>
            </a:r>
            <a:r>
              <a:rPr lang="ru-RU" dirty="0"/>
              <a:t>состояние редакторского окна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387BE-98F4-7BA6-6DE6-9B4FE0631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41" y="1509713"/>
            <a:ext cx="972251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06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D74903-9320-744E-EFEE-E78BA2EC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Мысленный эксперимент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Snapping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D5CD0-4364-C616-D8FD-0D6F1E89C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90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2D4F5D-A407-A742-4FD4-AE6D28D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Добавим </a:t>
            </a:r>
            <a:r>
              <a:rPr lang="en-US" dirty="0"/>
              <a:t>snapping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65F56-E9EC-A376-149C-65D08315301E}"/>
              </a:ext>
            </a:extLst>
          </p:cNvPr>
          <p:cNvSpPr/>
          <p:nvPr/>
        </p:nvSpPr>
        <p:spPr>
          <a:xfrm>
            <a:off x="1016000" y="2247900"/>
            <a:ext cx="4584700" cy="337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7FF5F6-E1B7-E754-904C-1F4BC628D781}"/>
              </a:ext>
            </a:extLst>
          </p:cNvPr>
          <p:cNvSpPr/>
          <p:nvPr/>
        </p:nvSpPr>
        <p:spPr>
          <a:xfrm>
            <a:off x="3308350" y="2908300"/>
            <a:ext cx="1651000" cy="13589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1947BF-F605-7435-8BEE-3E4A1B7A9D0A}"/>
              </a:ext>
            </a:extLst>
          </p:cNvPr>
          <p:cNvSpPr/>
          <p:nvPr/>
        </p:nvSpPr>
        <p:spPr>
          <a:xfrm>
            <a:off x="3854450" y="2527300"/>
            <a:ext cx="1651000" cy="13589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D40DFE2C-4986-26BB-1871-EAE53BAC1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950" y="3194050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200461-DE76-EA23-6F55-DAE6E83A7F7A}"/>
              </a:ext>
            </a:extLst>
          </p:cNvPr>
          <p:cNvSpPr txBox="1"/>
          <p:nvPr/>
        </p:nvSpPr>
        <p:spPr>
          <a:xfrm>
            <a:off x="990600" y="1790700"/>
            <a:ext cx="421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Запрошенное перемещение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46A23-FC45-31BD-FCB8-3255C17E6C36}"/>
              </a:ext>
            </a:extLst>
          </p:cNvPr>
          <p:cNvSpPr/>
          <p:nvPr/>
        </p:nvSpPr>
        <p:spPr>
          <a:xfrm>
            <a:off x="6330950" y="2247900"/>
            <a:ext cx="4584700" cy="337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687B82-F451-37FC-166D-AEFD3BC3C24F}"/>
              </a:ext>
            </a:extLst>
          </p:cNvPr>
          <p:cNvSpPr/>
          <p:nvPr/>
        </p:nvSpPr>
        <p:spPr>
          <a:xfrm>
            <a:off x="8623300" y="2908300"/>
            <a:ext cx="1651000" cy="13589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C36F3-05DF-4DC6-D55B-5FD6C24B0A3E}"/>
              </a:ext>
            </a:extLst>
          </p:cNvPr>
          <p:cNvSpPr/>
          <p:nvPr/>
        </p:nvSpPr>
        <p:spPr>
          <a:xfrm>
            <a:off x="9169400" y="2527300"/>
            <a:ext cx="1651000" cy="1358900"/>
          </a:xfrm>
          <a:prstGeom prst="ellipse">
            <a:avLst/>
          </a:prstGeom>
          <a:solidFill>
            <a:srgbClr val="E97132">
              <a:alpha val="34902"/>
            </a:srgbClr>
          </a:solidFill>
          <a:ln>
            <a:solidFill>
              <a:srgbClr val="622C0F">
                <a:alpha val="32941"/>
              </a:srgb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BB7A2-D7E8-B342-FF78-DB4A222D9727}"/>
              </a:ext>
            </a:extLst>
          </p:cNvPr>
          <p:cNvSpPr txBox="1"/>
          <p:nvPr/>
        </p:nvSpPr>
        <p:spPr>
          <a:xfrm>
            <a:off x="6305550" y="1790700"/>
            <a:ext cx="421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Эффективное перемещение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FF99219-3896-A038-F047-C6F6914D1022}"/>
              </a:ext>
            </a:extLst>
          </p:cNvPr>
          <p:cNvSpPr/>
          <p:nvPr/>
        </p:nvSpPr>
        <p:spPr>
          <a:xfrm>
            <a:off x="9258300" y="2527300"/>
            <a:ext cx="1651000" cy="13589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0862D328-CF5E-D3B1-3FD7-511DDBE45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900" y="31940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622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918D-8B93-2EAF-D49B-9E7E9B40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выделено несколько фигур?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183D3-2DB9-3693-941C-C255A98326D5}"/>
              </a:ext>
            </a:extLst>
          </p:cNvPr>
          <p:cNvSpPr/>
          <p:nvPr/>
        </p:nvSpPr>
        <p:spPr>
          <a:xfrm>
            <a:off x="100208" y="2079320"/>
            <a:ext cx="3807913" cy="2730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05AC38-F033-FF06-E723-85016F334F8F}"/>
              </a:ext>
            </a:extLst>
          </p:cNvPr>
          <p:cNvSpPr/>
          <p:nvPr/>
        </p:nvSpPr>
        <p:spPr>
          <a:xfrm>
            <a:off x="1496861" y="2329838"/>
            <a:ext cx="1941534" cy="140291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B7BA0A4D-2358-E54A-C1CE-8F93E973895E}"/>
              </a:ext>
            </a:extLst>
          </p:cNvPr>
          <p:cNvSpPr/>
          <p:nvPr/>
        </p:nvSpPr>
        <p:spPr>
          <a:xfrm>
            <a:off x="563672" y="3509049"/>
            <a:ext cx="1866378" cy="1127342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13C829-2D5A-14C6-6EEA-7D20C5D7F44E}"/>
              </a:ext>
            </a:extLst>
          </p:cNvPr>
          <p:cNvCxnSpPr>
            <a:cxnSpLocks/>
          </p:cNvCxnSpPr>
          <p:nvPr/>
        </p:nvCxnSpPr>
        <p:spPr>
          <a:xfrm>
            <a:off x="2467628" y="3031295"/>
            <a:ext cx="385893" cy="83380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26F7B42-4A37-6D6B-EB72-DE8DD0CAAFF4}"/>
              </a:ext>
            </a:extLst>
          </p:cNvPr>
          <p:cNvSpPr/>
          <p:nvPr/>
        </p:nvSpPr>
        <p:spPr>
          <a:xfrm>
            <a:off x="1496861" y="2329838"/>
            <a:ext cx="1941534" cy="140291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9F4670-2DA8-4B20-87A3-D8CFBE736824}"/>
              </a:ext>
            </a:extLst>
          </p:cNvPr>
          <p:cNvSpPr/>
          <p:nvPr/>
        </p:nvSpPr>
        <p:spPr>
          <a:xfrm>
            <a:off x="563672" y="3509049"/>
            <a:ext cx="1866378" cy="11273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9654B0-37E4-C056-48EB-9DAE79889523}"/>
              </a:ext>
            </a:extLst>
          </p:cNvPr>
          <p:cNvSpPr/>
          <p:nvPr/>
        </p:nvSpPr>
        <p:spPr>
          <a:xfrm>
            <a:off x="4195958" y="2079320"/>
            <a:ext cx="3807913" cy="2730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A16659-4DCA-81D1-A9AA-15EDB0085E6D}"/>
              </a:ext>
            </a:extLst>
          </p:cNvPr>
          <p:cNvCxnSpPr>
            <a:cxnSpLocks/>
          </p:cNvCxnSpPr>
          <p:nvPr/>
        </p:nvCxnSpPr>
        <p:spPr>
          <a:xfrm>
            <a:off x="6563378" y="3031295"/>
            <a:ext cx="469726" cy="83380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A4FF0689-CBF7-2B71-3C77-EBF976C86E21}"/>
              </a:ext>
            </a:extLst>
          </p:cNvPr>
          <p:cNvSpPr/>
          <p:nvPr/>
        </p:nvSpPr>
        <p:spPr>
          <a:xfrm>
            <a:off x="6059206" y="2413217"/>
            <a:ext cx="1941534" cy="140291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FEF2AF-40DA-D14B-4E26-660EF8DB2F62}"/>
              </a:ext>
            </a:extLst>
          </p:cNvPr>
          <p:cNvCxnSpPr>
            <a:cxnSpLocks/>
          </p:cNvCxnSpPr>
          <p:nvPr/>
        </p:nvCxnSpPr>
        <p:spPr>
          <a:xfrm>
            <a:off x="6563378" y="3031709"/>
            <a:ext cx="469726" cy="83380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9A9E322D-996F-27F2-8B98-8750F18E21A3}"/>
              </a:ext>
            </a:extLst>
          </p:cNvPr>
          <p:cNvSpPr/>
          <p:nvPr/>
        </p:nvSpPr>
        <p:spPr>
          <a:xfrm>
            <a:off x="5041628" y="3682652"/>
            <a:ext cx="1866378" cy="1127342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AD63CE-BA74-021A-99B3-E2CB4A84CE61}"/>
              </a:ext>
            </a:extLst>
          </p:cNvPr>
          <p:cNvCxnSpPr>
            <a:cxnSpLocks/>
          </p:cNvCxnSpPr>
          <p:nvPr/>
        </p:nvCxnSpPr>
        <p:spPr>
          <a:xfrm>
            <a:off x="5592611" y="4076141"/>
            <a:ext cx="382206" cy="170182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34C9B94-7893-6E25-F89F-D7D621CB4D6C}"/>
              </a:ext>
            </a:extLst>
          </p:cNvPr>
          <p:cNvSpPr/>
          <p:nvPr/>
        </p:nvSpPr>
        <p:spPr>
          <a:xfrm>
            <a:off x="8283879" y="2079320"/>
            <a:ext cx="3807913" cy="2730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F6F760B-E43E-EF12-E5A8-CD76DEE71E44}"/>
              </a:ext>
            </a:extLst>
          </p:cNvPr>
          <p:cNvSpPr/>
          <p:nvPr/>
        </p:nvSpPr>
        <p:spPr>
          <a:xfrm>
            <a:off x="10066425" y="2503441"/>
            <a:ext cx="1941534" cy="140291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E30EE3CD-F3D2-47BE-C7A7-352D5A805463}"/>
              </a:ext>
            </a:extLst>
          </p:cNvPr>
          <p:cNvSpPr/>
          <p:nvPr/>
        </p:nvSpPr>
        <p:spPr>
          <a:xfrm>
            <a:off x="9133236" y="3682652"/>
            <a:ext cx="1866378" cy="1127342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24FAE4C-F8C7-037B-DB2C-DAD5E52AB85B}"/>
              </a:ext>
            </a:extLst>
          </p:cNvPr>
          <p:cNvCxnSpPr>
            <a:cxnSpLocks/>
          </p:cNvCxnSpPr>
          <p:nvPr/>
        </p:nvCxnSpPr>
        <p:spPr>
          <a:xfrm>
            <a:off x="9680532" y="4162943"/>
            <a:ext cx="385893" cy="83380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B25FD2E-9F6A-9E5A-A9C4-9BA91FA793F9}"/>
              </a:ext>
            </a:extLst>
          </p:cNvPr>
          <p:cNvCxnSpPr>
            <a:cxnSpLocks/>
          </p:cNvCxnSpPr>
          <p:nvPr/>
        </p:nvCxnSpPr>
        <p:spPr>
          <a:xfrm>
            <a:off x="10651299" y="3121518"/>
            <a:ext cx="385893" cy="83380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227E0C7-B880-EB39-7C5E-5D8B21632426}"/>
              </a:ext>
            </a:extLst>
          </p:cNvPr>
          <p:cNvSpPr txBox="1"/>
          <p:nvPr/>
        </p:nvSpPr>
        <p:spPr>
          <a:xfrm>
            <a:off x="5592611" y="4959225"/>
            <a:ext cx="1008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9829C3-0695-B361-99EA-E5B5615842E5}"/>
              </a:ext>
            </a:extLst>
          </p:cNvPr>
          <p:cNvSpPr txBox="1"/>
          <p:nvPr/>
        </p:nvSpPr>
        <p:spPr>
          <a:xfrm>
            <a:off x="9795405" y="4959225"/>
            <a:ext cx="784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558212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>
            <a:extLst>
              <a:ext uri="{FF2B5EF4-FFF2-40B4-BE49-F238E27FC236}">
                <a16:creationId xmlns:a16="http://schemas.microsoft.com/office/drawing/2014/main" id="{1D382B09-126F-F5F0-464D-38D0507A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Snapping — </a:t>
            </a:r>
            <a:r>
              <a:rPr lang="ru-RU" dirty="0"/>
              <a:t>это </a:t>
            </a:r>
            <a:r>
              <a:rPr lang="en-US" dirty="0"/>
              <a:t>pipeline </a:t>
            </a:r>
            <a:r>
              <a:rPr lang="ru-RU" dirty="0"/>
              <a:t>вычислений</a:t>
            </a:r>
            <a:endParaRPr lang="en-US" dirty="0"/>
          </a:p>
        </p:txBody>
      </p:sp>
      <p:pic>
        <p:nvPicPr>
          <p:cNvPr id="59" name="Content Placeholder 58">
            <a:extLst>
              <a:ext uri="{FF2B5EF4-FFF2-40B4-BE49-F238E27FC236}">
                <a16:creationId xmlns:a16="http://schemas.microsoft.com/office/drawing/2014/main" id="{1AD70DDB-90CD-D6F5-A758-8CE01A516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23" y="1690688"/>
            <a:ext cx="1091675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8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D618-D8C2-68C0-DC6D-ED2B6AAF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Хотим ли мы тестировать </a:t>
            </a:r>
            <a:r>
              <a:rPr lang="ru-RU" dirty="0" err="1"/>
              <a:t>snapping</a:t>
            </a:r>
            <a:r>
              <a:rPr lang="ru-RU" dirty="0"/>
              <a:t> через SFML?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1F180-3CF8-4606-6318-5F1B18189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Прилипание</a:t>
            </a:r>
            <a:r>
              <a:rPr lang="en-US" dirty="0"/>
              <a:t> к </a:t>
            </a:r>
            <a:r>
              <a:rPr lang="en-US" dirty="0" err="1"/>
              <a:t>границе</a:t>
            </a:r>
            <a:r>
              <a:rPr lang="en-US" dirty="0"/>
              <a:t> Canvas</a:t>
            </a:r>
          </a:p>
          <a:p>
            <a:pPr lvl="1"/>
            <a:r>
              <a:rPr lang="ru-RU" dirty="0"/>
              <a:t>Прилипание</a:t>
            </a:r>
            <a:r>
              <a:rPr lang="en-US" dirty="0"/>
              <a:t> к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endParaRPr lang="en-US" dirty="0"/>
          </a:p>
          <a:p>
            <a:pPr lvl="1"/>
            <a:r>
              <a:rPr lang="ru-RU" dirty="0"/>
              <a:t>П</a:t>
            </a:r>
            <a:r>
              <a:rPr lang="en-US" dirty="0" err="1"/>
              <a:t>орог</a:t>
            </a:r>
            <a:r>
              <a:rPr lang="en-US" dirty="0"/>
              <a:t> </a:t>
            </a:r>
            <a:r>
              <a:rPr lang="en-US" dirty="0" err="1"/>
              <a:t>срабатывания</a:t>
            </a:r>
            <a:endParaRPr lang="en-US" dirty="0"/>
          </a:p>
          <a:p>
            <a:pPr lvl="1"/>
            <a:r>
              <a:rPr lang="ru-RU" dirty="0"/>
              <a:t>В</a:t>
            </a:r>
            <a:r>
              <a:rPr lang="en-US" dirty="0" err="1"/>
              <a:t>ыбор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кандидатами</a:t>
            </a:r>
            <a:endParaRPr lang="en-US" dirty="0"/>
          </a:p>
          <a:p>
            <a:pPr lvl="1"/>
            <a:r>
              <a:rPr lang="ru-RU" dirty="0"/>
              <a:t>Прилипание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Selection</a:t>
            </a:r>
          </a:p>
          <a:p>
            <a:pPr lvl="1"/>
            <a:r>
              <a:rPr lang="ru-RU" dirty="0"/>
              <a:t>С</a:t>
            </a:r>
            <a:r>
              <a:rPr lang="en-US" dirty="0" err="1"/>
              <a:t>охранение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ru-RU" dirty="0"/>
          </a:p>
          <a:p>
            <a:r>
              <a:rPr lang="ru-RU" dirty="0"/>
              <a:t>Для этого не нужны</a:t>
            </a:r>
            <a:r>
              <a:rPr lang="en-US" dirty="0"/>
              <a:t> </a:t>
            </a:r>
            <a:r>
              <a:rPr lang="ru-RU" dirty="0"/>
              <a:t>ни </a:t>
            </a:r>
            <a:r>
              <a:rPr lang="en-US" dirty="0" err="1"/>
              <a:t>RenderWindow</a:t>
            </a:r>
            <a:r>
              <a:rPr lang="en-US" dirty="0"/>
              <a:t>, </a:t>
            </a:r>
            <a:r>
              <a:rPr lang="ru-RU" dirty="0"/>
              <a:t>ни </a:t>
            </a:r>
            <a:r>
              <a:rPr lang="en-US" dirty="0"/>
              <a:t>SFML events,</a:t>
            </a:r>
            <a:r>
              <a:rPr lang="ru-RU" dirty="0"/>
              <a:t> ни</a:t>
            </a:r>
            <a:r>
              <a:rPr lang="en-US" dirty="0"/>
              <a:t> </a:t>
            </a:r>
            <a:r>
              <a:rPr lang="ru-RU" dirty="0"/>
              <a:t>рендеринг кадров</a:t>
            </a:r>
          </a:p>
          <a:p>
            <a:r>
              <a:rPr lang="ru-RU" dirty="0"/>
              <a:t>Значительная часть логики интерактивного редактирования не должна жить во View.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4384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923C01-A8D0-E2E0-404F-74F6CD6B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EditorModel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новая ответственность обусловленная требованиями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1A874-11D7-39C4-20A2-9B43EA528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757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0B4DDA-FC69-0ABF-3460-4841887D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72CA88-7D04-AEAE-2302-2B3D2DE30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пытались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Preview.</a:t>
            </a:r>
          </a:p>
          <a:p>
            <a:r>
              <a:rPr lang="ru-RU" dirty="0"/>
              <a:t>Вот что получилось из требований:</a:t>
            </a:r>
          </a:p>
          <a:p>
            <a:pPr lvl="1"/>
            <a:r>
              <a:rPr lang="en-US" dirty="0"/>
              <a:t>Drag</a:t>
            </a:r>
            <a:r>
              <a:rPr lang="ru-RU" dirty="0"/>
              <a:t>: </a:t>
            </a:r>
            <a:r>
              <a:rPr lang="en-US" dirty="0"/>
              <a:t>Preview ≠ Commit</a:t>
            </a:r>
          </a:p>
          <a:p>
            <a:pPr lvl="1"/>
            <a:r>
              <a:rPr lang="en-US" dirty="0"/>
              <a:t>Timeline View</a:t>
            </a:r>
            <a:r>
              <a:rPr lang="ru-RU" dirty="0"/>
              <a:t>: </a:t>
            </a:r>
            <a:r>
              <a:rPr lang="en-US" dirty="0"/>
              <a:t>Preview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View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endParaRPr lang="en-US" dirty="0"/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EditorWindow</a:t>
            </a:r>
            <a:r>
              <a:rPr lang="ru-RU" dirty="0"/>
              <a:t>: </a:t>
            </a:r>
            <a:r>
              <a:rPr lang="en-US" dirty="0"/>
              <a:t>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попадать</a:t>
            </a:r>
            <a:r>
              <a:rPr lang="en-US" dirty="0"/>
              <a:t> в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окна</a:t>
            </a:r>
            <a:endParaRPr lang="en-US" dirty="0"/>
          </a:p>
          <a:p>
            <a:pPr lvl="1"/>
            <a:r>
              <a:rPr lang="en-US" dirty="0"/>
              <a:t>Snapping</a:t>
            </a:r>
            <a:r>
              <a:rPr lang="ru-RU" dirty="0"/>
              <a:t>: </a:t>
            </a:r>
            <a:r>
              <a:rPr lang="en-US" dirty="0"/>
              <a:t>Preview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нетривиальной</a:t>
            </a:r>
            <a:r>
              <a:rPr lang="ru-RU" dirty="0"/>
              <a:t> </a:t>
            </a:r>
            <a:r>
              <a:rPr lang="en-US" dirty="0" err="1"/>
              <a:t>логики</a:t>
            </a:r>
            <a:endParaRPr lang="en-US" dirty="0"/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Л</a:t>
            </a:r>
            <a:r>
              <a:rPr lang="en-US" dirty="0" err="1"/>
              <a:t>окально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EditorWindow;</a:t>
            </a:r>
          </a:p>
          <a:p>
            <a:pPr lvl="1"/>
            <a:r>
              <a:rPr lang="ru-RU" dirty="0"/>
              <a:t>О</a:t>
            </a:r>
            <a:r>
              <a:rPr lang="en-US" dirty="0" err="1"/>
              <a:t>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CanvasView</a:t>
            </a:r>
            <a:r>
              <a:rPr lang="en-US" dirty="0"/>
              <a:t>, </a:t>
            </a:r>
            <a:r>
              <a:rPr lang="en-US" dirty="0" err="1"/>
              <a:t>TimelineView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View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С</a:t>
            </a:r>
            <a:r>
              <a:rPr lang="en-US" dirty="0" err="1"/>
              <a:t>одержит</a:t>
            </a:r>
            <a:r>
              <a:rPr lang="en-US" dirty="0"/>
              <a:t> </a:t>
            </a:r>
            <a:r>
              <a:rPr lang="en-US" dirty="0" err="1"/>
              <a:t>незавершённые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П</a:t>
            </a:r>
            <a:r>
              <a:rPr lang="en-US" dirty="0" err="1"/>
              <a:t>озволяет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Cancel </a:t>
            </a:r>
            <a:r>
              <a:rPr lang="en-US" dirty="0" err="1"/>
              <a:t>без</a:t>
            </a:r>
            <a:r>
              <a:rPr lang="en-US" dirty="0"/>
              <a:t> rollback Drawing;</a:t>
            </a:r>
          </a:p>
          <a:p>
            <a:pPr lvl="1"/>
            <a:r>
              <a:rPr lang="ru-RU" dirty="0"/>
              <a:t>С</a:t>
            </a:r>
            <a:r>
              <a:rPr lang="en-US" dirty="0" err="1"/>
              <a:t>одержит</a:t>
            </a:r>
            <a:r>
              <a:rPr lang="en-US" dirty="0"/>
              <a:t> </a:t>
            </a:r>
            <a:r>
              <a:rPr lang="en-US" dirty="0" err="1"/>
              <a:t>тестируемую</a:t>
            </a:r>
            <a:r>
              <a:rPr lang="en-US" dirty="0"/>
              <a:t> </a:t>
            </a:r>
            <a:r>
              <a:rPr lang="en-US" dirty="0" err="1"/>
              <a:t>редакторскую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Н</a:t>
            </a:r>
            <a:r>
              <a:rPr lang="en-US" dirty="0"/>
              <a:t>е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SFML.</a:t>
            </a:r>
          </a:p>
          <a:p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уже</a:t>
            </a:r>
            <a:r>
              <a:rPr lang="en-US" b="1" dirty="0"/>
              <a:t> </a:t>
            </a:r>
            <a:r>
              <a:rPr lang="en-US" b="1" dirty="0" err="1"/>
              <a:t>существует</a:t>
            </a:r>
            <a:r>
              <a:rPr lang="en-US" b="1" dirty="0"/>
              <a:t>. </a:t>
            </a:r>
            <a:r>
              <a:rPr lang="en-US" b="1" dirty="0" err="1"/>
              <a:t>Осталось</a:t>
            </a:r>
            <a:r>
              <a:rPr lang="en-US" b="1" dirty="0"/>
              <a:t> </a:t>
            </a:r>
            <a:r>
              <a:rPr lang="en-US" b="1" dirty="0" err="1"/>
              <a:t>дать</a:t>
            </a:r>
            <a:r>
              <a:rPr lang="en-US" b="1" dirty="0"/>
              <a:t> </a:t>
            </a:r>
            <a:r>
              <a:rPr lang="en-US" b="1" dirty="0" err="1"/>
              <a:t>ей</a:t>
            </a:r>
            <a:r>
              <a:rPr lang="en-US" b="1" dirty="0"/>
              <a:t> </a:t>
            </a:r>
            <a:r>
              <a:rPr lang="en-US" b="1" dirty="0" err="1"/>
              <a:t>объект</a:t>
            </a:r>
            <a:r>
              <a:rPr lang="en-US" b="1" dirty="0"/>
              <a:t> и </a:t>
            </a:r>
            <a:r>
              <a:rPr lang="en-US" b="1" dirty="0" err="1"/>
              <a:t>имя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63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1E89-89A1-43C2-43AD-C7BCF267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Committed state и Effective state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вещи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0F084E-1E62-B57E-C4E6-C6D7101CC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802" y="1793615"/>
            <a:ext cx="10234396" cy="46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415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FF9D-78F5-CA44-822F-B9012023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EditorModel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CAAA47-A1DE-E3C8-9978-387F830CD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40176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Введём объект уровня окна редактирования: </a:t>
            </a:r>
            <a:r>
              <a:rPr lang="en-US" dirty="0" err="1"/>
              <a:t>EditorModel</a:t>
            </a:r>
            <a:endParaRPr lang="en-US" dirty="0"/>
          </a:p>
          <a:p>
            <a:pPr lvl="1"/>
            <a:r>
              <a:rPr lang="en-US" dirty="0" err="1"/>
              <a:t>EditorModel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ru-RU" dirty="0"/>
              <a:t>редактирования прямо сейчас</a:t>
            </a:r>
          </a:p>
          <a:p>
            <a:r>
              <a:rPr lang="en-US" dirty="0" err="1"/>
              <a:t>EditorMode</a:t>
            </a:r>
            <a:r>
              <a:rPr lang="en-US" dirty="0"/>
              <a:t> </a:t>
            </a:r>
            <a:r>
              <a:rPr lang="ru-RU" dirty="0"/>
              <a:t>может содержать:</a:t>
            </a:r>
          </a:p>
          <a:p>
            <a:pPr lvl="1"/>
            <a:r>
              <a:rPr lang="ru-RU" dirty="0"/>
              <a:t>Ссылку на </a:t>
            </a:r>
            <a:r>
              <a:rPr lang="en-US" dirty="0"/>
              <a:t>drawing</a:t>
            </a:r>
          </a:p>
          <a:p>
            <a:pPr lvl="1"/>
            <a:r>
              <a:rPr lang="en-US" dirty="0"/>
              <a:t>Active tool</a:t>
            </a:r>
          </a:p>
          <a:p>
            <a:pPr lvl="1"/>
            <a:r>
              <a:rPr lang="en-US" dirty="0"/>
              <a:t>Preview edits</a:t>
            </a:r>
          </a:p>
          <a:p>
            <a:pPr lvl="1"/>
            <a:r>
              <a:rPr lang="en-US" dirty="0"/>
              <a:t>Effective geometry</a:t>
            </a:r>
          </a:p>
          <a:p>
            <a:pPr lvl="1"/>
            <a:r>
              <a:rPr lang="en-US" dirty="0"/>
              <a:t>Effective Z-order</a:t>
            </a:r>
          </a:p>
          <a:p>
            <a:pPr lvl="1"/>
            <a:r>
              <a:rPr lang="ru-RU" dirty="0"/>
              <a:t>Результаты прилипания</a:t>
            </a:r>
            <a:endParaRPr lang="en-US" dirty="0"/>
          </a:p>
          <a:p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встречаются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именами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Application Model</a:t>
            </a:r>
          </a:p>
          <a:p>
            <a:pPr lvl="1"/>
            <a:r>
              <a:rPr lang="en-US" dirty="0"/>
              <a:t>View Model</a:t>
            </a: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EC5EE4EE-A360-CEA5-0343-EF33B5595C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78376" y="2560321"/>
            <a:ext cx="529231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442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F16D-F7E3-02F1-A179-358538EB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EditorModel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7FDBF5-E397-18E9-6D8C-ADA760D2E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340" y="1690688"/>
            <a:ext cx="1191132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601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C759-AB50-E1AC-FB77-3FB1007A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 </a:t>
            </a:r>
            <a:r>
              <a:rPr lang="en-US" dirty="0" err="1"/>
              <a:t>превращает</a:t>
            </a:r>
            <a:r>
              <a:rPr lang="en-US" dirty="0"/>
              <a:t> Preview в Command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1C183-CB1D-10E8-A484-60133A68B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08" y="1509713"/>
            <a:ext cx="995418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080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7F5067-07A6-8DD5-3343-AC923560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Model </a:t>
            </a:r>
            <a:r>
              <a:rPr lang="ru-RU" dirty="0"/>
              <a:t>становится наблюдаемой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6FA75-5FF8-A4B0-D0E8-88544490F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393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7D6AE-793B-1A42-FBCF-9F958C92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Drawing</a:t>
            </a:r>
            <a:r>
              <a:rPr lang="ru-RU" dirty="0"/>
              <a:t> изменился — кто об этом узнает?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BD010-1ECE-D512-56A0-522A6CEFFA11}"/>
              </a:ext>
            </a:extLst>
          </p:cNvPr>
          <p:cNvSpPr/>
          <p:nvPr/>
        </p:nvSpPr>
        <p:spPr>
          <a:xfrm>
            <a:off x="4976553" y="2163387"/>
            <a:ext cx="2360814" cy="74814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A55261-FD56-770E-226D-78D460C94D2F}"/>
              </a:ext>
            </a:extLst>
          </p:cNvPr>
          <p:cNvSpPr/>
          <p:nvPr/>
        </p:nvSpPr>
        <p:spPr>
          <a:xfrm>
            <a:off x="3463636" y="3717868"/>
            <a:ext cx="2360814" cy="74814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EditorModel</a:t>
            </a:r>
            <a:r>
              <a:rPr lang="en-US" dirty="0"/>
              <a:t>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25BB6-217D-5B15-EC43-C30B94141F1B}"/>
              </a:ext>
            </a:extLst>
          </p:cNvPr>
          <p:cNvSpPr/>
          <p:nvPr/>
        </p:nvSpPr>
        <p:spPr>
          <a:xfrm>
            <a:off x="6688974" y="3717868"/>
            <a:ext cx="2360814" cy="74814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EditorModel B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949A3E-6B2F-0110-5058-153FE58C3023}"/>
              </a:ext>
            </a:extLst>
          </p:cNvPr>
          <p:cNvSpPr/>
          <p:nvPr/>
        </p:nvSpPr>
        <p:spPr>
          <a:xfrm>
            <a:off x="2283229" y="5272349"/>
            <a:ext cx="1679171" cy="74814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Timeline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713FC-E0AA-B019-3ABF-BE8FEEC1E449}"/>
              </a:ext>
            </a:extLst>
          </p:cNvPr>
          <p:cNvSpPr/>
          <p:nvPr/>
        </p:nvSpPr>
        <p:spPr>
          <a:xfrm>
            <a:off x="4228405" y="5272349"/>
            <a:ext cx="1679171" cy="74814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Canvas View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E81A7-C900-2872-9110-86F937EF04AC}"/>
              </a:ext>
            </a:extLst>
          </p:cNvPr>
          <p:cNvSpPr/>
          <p:nvPr/>
        </p:nvSpPr>
        <p:spPr>
          <a:xfrm>
            <a:off x="6497781" y="5255726"/>
            <a:ext cx="1679171" cy="74814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Timeline View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DEF0F-CAC3-6CB7-984F-EF908A78F9FA}"/>
              </a:ext>
            </a:extLst>
          </p:cNvPr>
          <p:cNvSpPr/>
          <p:nvPr/>
        </p:nvSpPr>
        <p:spPr>
          <a:xfrm>
            <a:off x="8442957" y="5272349"/>
            <a:ext cx="1679171" cy="74814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Canvas View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41FFBB-91CC-248E-3E52-E27BD62A7861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4644043" y="2911533"/>
            <a:ext cx="1512917" cy="80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3705FF-9C71-BDFB-26A1-9E2A56ABCEB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4644043" y="4466014"/>
            <a:ext cx="423948" cy="80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B2FF53-C3F7-2B2F-74E3-DC56E0A54589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3122815" y="4466014"/>
            <a:ext cx="1521228" cy="80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500DB3-48DD-1C5A-32B5-E8123FBD209E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7869381" y="4466014"/>
            <a:ext cx="1413162" cy="80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272802-CA02-270A-F313-B628FB7739EB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7337367" y="4466014"/>
            <a:ext cx="532014" cy="789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E4221E-D86E-9045-3F67-EA6F8AF0F49F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6156960" y="2911533"/>
            <a:ext cx="1712421" cy="806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B34DD0C0-B091-C0F5-7486-5E24694191F5}"/>
              </a:ext>
            </a:extLst>
          </p:cNvPr>
          <p:cNvSpPr/>
          <p:nvPr/>
        </p:nvSpPr>
        <p:spPr>
          <a:xfrm>
            <a:off x="5539163" y="3498532"/>
            <a:ext cx="547484" cy="54101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D73F5870-2645-AF1C-0A84-E812355E192E}"/>
              </a:ext>
            </a:extLst>
          </p:cNvPr>
          <p:cNvSpPr/>
          <p:nvPr/>
        </p:nvSpPr>
        <p:spPr>
          <a:xfrm>
            <a:off x="7032566" y="1892877"/>
            <a:ext cx="547484" cy="54101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3AEAC6-C5B8-D28D-9994-DDFF1DC3061E}"/>
              </a:ext>
            </a:extLst>
          </p:cNvPr>
          <p:cNvSpPr txBox="1"/>
          <p:nvPr/>
        </p:nvSpPr>
        <p:spPr>
          <a:xfrm>
            <a:off x="8962505" y="3432173"/>
            <a:ext cx="83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258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9B00-D3CF-B13E-5C70-A3FB66B2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Model </a:t>
            </a:r>
            <a:r>
              <a:rPr lang="ru-RU" dirty="0"/>
              <a:t>становится наблюдаемой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A3C063-B764-6583-6E32-E088F332C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607" y="1690688"/>
            <a:ext cx="1109278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960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A2AFC5-BD88-3997-9A18-3CED60BE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Фигура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наблюдаемой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5F4C6-946B-42F6-30DE-39BC97CB94FA}"/>
              </a:ext>
            </a:extLst>
          </p:cNvPr>
          <p:cNvSpPr txBox="1"/>
          <p:nvPr/>
        </p:nvSpPr>
        <p:spPr>
          <a:xfrm>
            <a:off x="838200" y="1810464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boost::signals2::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scoped_connection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boost::signals2::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[[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DoOnChange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slot_type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DoOnChange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slot_type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794172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FAB6-2CE1-EA3E-C8BB-FBAC6820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</a:t>
            </a:r>
            <a:r>
              <a:rPr lang="ru-RU" dirty="0"/>
              <a:t>агрегирует изменения фигур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777B0-B027-4924-8735-AB6BB2E7E611}"/>
              </a:ext>
            </a:extLst>
          </p:cNvPr>
          <p:cNvSpPr txBox="1"/>
          <p:nvPr/>
        </p:nvSpPr>
        <p:spPr>
          <a:xfrm>
            <a:off x="838200" y="1812175"/>
            <a:ext cx="7594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boost::signals2::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Shape cannot be null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DoOnChange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[[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DoOnChange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slot_type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ShapeEntry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connection;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ShapeEntry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EE2FB-6B4F-5231-0BF7-7AD0DE13F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0" y="3353699"/>
            <a:ext cx="3759200" cy="327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35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2027-BBDE-37BB-B688-DD1A7B03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Undo</a:t>
            </a:r>
            <a:r>
              <a:rPr lang="ru-RU" dirty="0"/>
              <a:t> — обычное изменение Domain Model</a:t>
            </a:r>
            <a:endParaRPr lang="en-US" dirty="0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EE8E9169-0CC9-9918-E259-D227CF6496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46"/>
          <a:stretch>
            <a:fillRect/>
          </a:stretch>
        </p:blipFill>
        <p:spPr>
          <a:xfrm>
            <a:off x="838200" y="1609071"/>
            <a:ext cx="4869544" cy="4883804"/>
          </a:xfrm>
          <a:prstGeom prst="rect">
            <a:avLst/>
          </a:prstGeom>
        </p:spPr>
      </p:pic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AD4B4C62-9D36-D10B-4C42-3CC584A029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46"/>
          <a:stretch>
            <a:fillRect/>
          </a:stretch>
        </p:blipFill>
        <p:spPr>
          <a:xfrm>
            <a:off x="6484256" y="1609071"/>
            <a:ext cx="4869544" cy="488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7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92FC-1759-449C-8979-2A63E483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Один путь для всех </a:t>
            </a:r>
            <a:r>
              <a:rPr lang="ru-RU" dirty="0" err="1"/>
              <a:t>committed</a:t>
            </a:r>
            <a:r>
              <a:rPr lang="ru-RU" dirty="0"/>
              <a:t> </a:t>
            </a:r>
            <a:r>
              <a:rPr lang="ru-RU" dirty="0" err="1"/>
              <a:t>changes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90B6C4-AC22-FECB-1044-E8532F856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452" y="1509713"/>
            <a:ext cx="982309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745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D15D6F-70A6-82C1-EC69-E8847543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EditorModel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824A0-5C24-669D-A609-410D15ABD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195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EF2BB8-8053-3E34-E670-0F785002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EditorShape</a:t>
            </a:r>
            <a:r>
              <a:rPr lang="en-US" dirty="0"/>
              <a:t>: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0A2835-1C61-7EDE-2640-63F89965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9547"/>
            <a:ext cx="10515600" cy="887416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Effective state =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IShape</a:t>
            </a:r>
            <a:r>
              <a:rPr lang="en-US" dirty="0">
                <a:latin typeface="Consolas" panose="020B0609020204030204" pitchFamily="49" charset="0"/>
              </a:rPr>
              <a:t>&amp; committed state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window-local state</a:t>
            </a:r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Preview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previewOffset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editor-state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C997C-6261-032B-4B8B-7F9CEFD61312}"/>
              </a:ext>
            </a:extLst>
          </p:cNvPr>
          <p:cNvSpPr txBox="1"/>
          <p:nvPr/>
        </p:nvSpPr>
        <p:spPr>
          <a:xfrm>
            <a:off x="838200" y="1803400"/>
            <a:ext cx="8305800" cy="3486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m_previewOffset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750461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5DCC-1333-A504-1851-9965DE57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EditorShape</a:t>
            </a:r>
            <a:r>
              <a:rPr lang="en-US" dirty="0"/>
              <a:t> </a:t>
            </a:r>
            <a:r>
              <a:rPr lang="en-US" dirty="0" err="1"/>
              <a:t>вычисляет</a:t>
            </a:r>
            <a:r>
              <a:rPr lang="en-US" dirty="0"/>
              <a:t> effective state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CEED4A-64BF-48BE-4B26-41132CCA7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0993"/>
            <a:ext cx="10515600" cy="1085970"/>
          </a:xfrm>
        </p:spPr>
        <p:txBody>
          <a:bodyPr/>
          <a:lstStyle/>
          <a:p>
            <a:r>
              <a:rPr lang="en-US" dirty="0" err="1"/>
              <a:t>EditorShape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br>
              <a:rPr lang="ru-RU" dirty="0"/>
            </a:br>
            <a:r>
              <a:rPr lang="en-US" dirty="0"/>
              <a:t>«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?»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0D6738-4AF4-DC20-CE26-72336CCAFE51}"/>
              </a:ext>
            </a:extLst>
          </p:cNvPr>
          <p:cNvSpPr txBox="1"/>
          <p:nvPr/>
        </p:nvSpPr>
        <p:spPr>
          <a:xfrm>
            <a:off x="838200" y="1767006"/>
            <a:ext cx="458152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m_previewOffset.x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m_previewOffset.y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m_previewOffset.x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m_previewOffset.y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43508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46A4-3A22-8D8A-0562-6982CC17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EditorModel</a:t>
            </a:r>
            <a:r>
              <a:rPr lang="en-US" dirty="0"/>
              <a:t> </a:t>
            </a:r>
            <a:r>
              <a:rPr lang="en-US" dirty="0" err="1"/>
              <a:t>синхронизируется</a:t>
            </a:r>
            <a:r>
              <a:rPr lang="en-US" dirty="0"/>
              <a:t> с Drawing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C27F6-28F0-2FEB-2AF9-011495C4A1D7}"/>
              </a:ext>
            </a:extLst>
          </p:cNvPr>
          <p:cNvSpPr txBox="1"/>
          <p:nvPr/>
        </p:nvSpPr>
        <p:spPr>
          <a:xfrm>
            <a:off x="838200" y="1619747"/>
            <a:ext cx="103600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ChangeSignal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boost::signals2::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&gt;)&gt;;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DoOnChange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OnDrawingChanged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m_drawing.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GetShape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m_shapes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())));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OnDrawingChanged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m_commandSink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497778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1E89-1303-8777-53C0-4F027DEE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BeginMove</a:t>
            </a:r>
            <a:r>
              <a:rPr lang="en-US" dirty="0"/>
              <a:t> и </a:t>
            </a:r>
            <a:r>
              <a:rPr lang="en-US" dirty="0" err="1"/>
              <a:t>UpdateMove</a:t>
            </a:r>
            <a:r>
              <a:rPr lang="en-US" dirty="0"/>
              <a:t>: </a:t>
            </a:r>
            <a:r>
              <a:rPr lang="en-US" dirty="0" err="1"/>
              <a:t>запускаем</a:t>
            </a:r>
            <a:r>
              <a:rPr lang="en-US" dirty="0"/>
              <a:t> Preview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ABA1D-C331-5485-9D7B-C89CD669BADD}"/>
              </a:ext>
            </a:extLst>
          </p:cNvPr>
          <p:cNvSpPr txBox="1"/>
          <p:nvPr/>
        </p:nvSpPr>
        <p:spPr>
          <a:xfrm>
            <a:off x="838199" y="1690687"/>
            <a:ext cx="105155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MovePreview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EditorShape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shape = 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MovePreview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m_movePreview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Move operation is already in progress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.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requestedOffset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effectiveOffset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requestedOffset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SetPreviewOffset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effectiveOffset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84602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B69A-8E09-1503-79CF-0147E8F7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CancelMove</a:t>
            </a:r>
            <a:r>
              <a:rPr lang="en-US" dirty="0"/>
              <a:t>: </a:t>
            </a:r>
            <a:r>
              <a:rPr lang="en-US" dirty="0" err="1"/>
              <a:t>отбрасываем</a:t>
            </a:r>
            <a:r>
              <a:rPr lang="en-US" dirty="0"/>
              <a:t> Preview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0FB56-2E92-7320-D60F-9CD814B1D5D4}"/>
              </a:ext>
            </a:extLst>
          </p:cNvPr>
          <p:cNvSpPr txBox="1"/>
          <p:nvPr/>
        </p:nvSpPr>
        <p:spPr>
          <a:xfrm>
            <a:off x="838200" y="1690688"/>
            <a:ext cx="83026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88312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9B2D-0C68-D640-0644-D0F3DA00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CommitMove</a:t>
            </a:r>
            <a:r>
              <a:rPr lang="en-US" dirty="0"/>
              <a:t>: Preview </a:t>
            </a:r>
            <a:r>
              <a:rPr lang="en-US" dirty="0" err="1"/>
              <a:t>становится</a:t>
            </a:r>
            <a:r>
              <a:rPr lang="en-US" dirty="0"/>
              <a:t> Command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58F7E-3B69-15A3-E0C8-CE1157BB4903}"/>
              </a:ext>
            </a:extLst>
          </p:cNvPr>
          <p:cNvSpPr txBox="1"/>
          <p:nvPr/>
        </p:nvSpPr>
        <p:spPr>
          <a:xfrm>
            <a:off x="838200" y="1690688"/>
            <a:ext cx="83026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CommitMove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-&gt;shape;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GetPreviewOffset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m_movePreview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MoveShapeCommand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GetDomainShape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m_commandSink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9405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24A1-B6DF-90A3-2ECE-AF0A3DD5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9442-3AA8-78A7-D8AD-FAB0D70A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Команда не обязана создаваться в </a:t>
            </a:r>
            <a:r>
              <a:rPr lang="en-US" dirty="0" err="1"/>
              <a:t>EditorModel</a:t>
            </a:r>
            <a:endParaRPr lang="ru-RU" dirty="0"/>
          </a:p>
          <a:p>
            <a:pPr lvl="1"/>
            <a:r>
              <a:rPr lang="ru-RU" dirty="0"/>
              <a:t>Некоторые команды могут создаваться и внутри </a:t>
            </a:r>
            <a:r>
              <a:rPr lang="en-US" dirty="0" err="1"/>
              <a:t>EditorShape</a:t>
            </a:r>
            <a:endParaRPr lang="en-US" dirty="0"/>
          </a:p>
          <a:p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Command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принимается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о </a:t>
            </a:r>
            <a:r>
              <a:rPr lang="en-US" dirty="0" err="1"/>
              <a:t>завершённом</a:t>
            </a:r>
            <a:r>
              <a:rPr lang="en-US" dirty="0"/>
              <a:t>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действии</a:t>
            </a:r>
            <a:endParaRPr lang="en-US" dirty="0"/>
          </a:p>
          <a:p>
            <a:r>
              <a:rPr lang="ru-RU" dirty="0"/>
              <a:t>Вместо </a:t>
            </a:r>
            <a:r>
              <a:rPr lang="en-US" dirty="0" err="1"/>
              <a:t>CommandHistory</a:t>
            </a:r>
            <a:r>
              <a:rPr lang="en-US" dirty="0"/>
              <a:t> </a:t>
            </a:r>
            <a:r>
              <a:rPr lang="ru-RU" dirty="0"/>
              <a:t>в подобъект лучше передавать более узкий интерфейс:</a:t>
            </a:r>
          </a:p>
          <a:p>
            <a:pPr lvl="1"/>
            <a:r>
              <a:rPr lang="en-US" dirty="0"/>
              <a:t>std::function&lt;void(std::</a:t>
            </a:r>
            <a:r>
              <a:rPr lang="en-US" dirty="0" err="1"/>
              <a:t>unique_ptr</a:t>
            </a:r>
            <a:r>
              <a:rPr lang="en-US" dirty="0"/>
              <a:t>&lt;</a:t>
            </a:r>
            <a:r>
              <a:rPr lang="en-US" dirty="0" err="1"/>
              <a:t>ICommand</a:t>
            </a:r>
            <a:r>
              <a:rPr lang="en-US" dirty="0"/>
              <a:t>&gt;)&gt;</a:t>
            </a:r>
            <a:r>
              <a:rPr lang="ru-RU" dirty="0"/>
              <a:t> </a:t>
            </a:r>
            <a:r>
              <a:rPr lang="en-US" dirty="0" err="1"/>
              <a:t>commandSink</a:t>
            </a:r>
            <a:endParaRPr lang="en-US" dirty="0"/>
          </a:p>
          <a:p>
            <a:r>
              <a:rPr lang="en-US" dirty="0"/>
              <a:t>ISP: </a:t>
            </a:r>
            <a:r>
              <a:rPr lang="ru-RU" dirty="0"/>
              <a:t>объекту лучше давать не весь сервис, а только те возможности, которые важны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21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25258B-EADA-4E88-4C7C-12306CE7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Пере</a:t>
            </a:r>
            <a:r>
              <a:rPr lang="ru-RU" dirty="0"/>
              <a:t>водим</a:t>
            </a:r>
            <a:r>
              <a:rPr lang="en-US" dirty="0"/>
              <a:t> Rendering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использование </a:t>
            </a:r>
            <a:r>
              <a:rPr lang="en-US" dirty="0" err="1"/>
              <a:t>EditorModel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8FEC4-3BF3-5B9F-1019-9C1591FAA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692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A95C13-677C-5138-4668-38509230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Старый </a:t>
            </a:r>
            <a:r>
              <a:rPr lang="ru-RU" dirty="0" err="1"/>
              <a:t>DrawingRenderer</a:t>
            </a:r>
            <a:r>
              <a:rPr lang="ru-RU" dirty="0"/>
              <a:t> больше не подходит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F47299-1C4F-0E2B-60E8-92AE75A25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Раньше</a:t>
            </a:r>
            <a:r>
              <a:rPr lang="en-US" dirty="0"/>
              <a:t> renderer </a:t>
            </a:r>
            <a:r>
              <a:rPr lang="en-US" dirty="0" err="1"/>
              <a:t>работал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с Domain Model:</a:t>
            </a:r>
          </a:p>
          <a:p>
            <a:pPr lvl="1"/>
            <a:r>
              <a:rPr lang="en-US" dirty="0"/>
              <a:t>class </a:t>
            </a:r>
            <a:r>
              <a:rPr lang="en-US" dirty="0" err="1"/>
              <a:t>DrawingRenderer</a:t>
            </a:r>
            <a:r>
              <a:rPr lang="en-US" dirty="0"/>
              <a:t> : public </a:t>
            </a:r>
            <a:r>
              <a:rPr lang="en-US" dirty="0" err="1"/>
              <a:t>IShapeVisitor</a:t>
            </a:r>
            <a:r>
              <a:rPr lang="ru-RU" dirty="0"/>
              <a:t> </a:t>
            </a:r>
            <a:r>
              <a:rPr lang="en-US" dirty="0"/>
              <a:t>{</a:t>
            </a:r>
            <a:br>
              <a:rPr lang="ru-RU" dirty="0"/>
            </a:br>
            <a:r>
              <a:rPr lang="en-US" dirty="0"/>
              <a:t>public:</a:t>
            </a:r>
            <a:br>
              <a:rPr lang="ru-RU" dirty="0"/>
            </a:br>
            <a:r>
              <a:rPr lang="en-US" dirty="0"/>
              <a:t>    void Draw(const Drawing&amp; drawing);</a:t>
            </a:r>
            <a:br>
              <a:rPr lang="ru-RU" dirty="0"/>
            </a:br>
            <a:r>
              <a:rPr lang="en-US" dirty="0"/>
              <a:t>    void Visit(const Rectangle&amp; rectangle) override;</a:t>
            </a:r>
            <a:br>
              <a:rPr lang="ru-RU" dirty="0"/>
            </a:br>
            <a:r>
              <a:rPr lang="en-US" dirty="0"/>
              <a:t>    void Visit(const Ellipse&amp; ellipse) override;</a:t>
            </a:r>
            <a:br>
              <a:rPr lang="ru-RU" dirty="0"/>
            </a:br>
            <a:r>
              <a:rPr lang="en-US" dirty="0"/>
              <a:t>};</a:t>
            </a:r>
          </a:p>
          <a:p>
            <a:r>
              <a:rPr lang="en-US" dirty="0" err="1"/>
              <a:t>Теперь</a:t>
            </a:r>
            <a:r>
              <a:rPr lang="en-US" dirty="0"/>
              <a:t> View </a:t>
            </a:r>
            <a:r>
              <a:rPr lang="en-US" dirty="0" err="1"/>
              <a:t>получает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EditorModel</a:t>
            </a:r>
            <a:endParaRPr lang="en-US" dirty="0"/>
          </a:p>
          <a:p>
            <a:r>
              <a:rPr lang="ru-RU" dirty="0"/>
              <a:t>При этом </a:t>
            </a:r>
            <a:r>
              <a:rPr lang="en-US" dirty="0" err="1"/>
              <a:t>EditorShape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отдаёт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.</a:t>
            </a:r>
          </a:p>
          <a:p>
            <a:r>
              <a:rPr lang="ru-RU" dirty="0"/>
              <a:t>Как </a:t>
            </a:r>
            <a:r>
              <a:rPr lang="ru-RU" dirty="0" err="1"/>
              <a:t>renderer</a:t>
            </a:r>
            <a:r>
              <a:rPr lang="ru-RU" dirty="0"/>
              <a:t> узнает тип фигуры, не разрушая границу </a:t>
            </a:r>
            <a:r>
              <a:rPr lang="ru-RU" dirty="0" err="1"/>
              <a:t>EditorModel</a:t>
            </a:r>
            <a:r>
              <a:rPr lang="ru-RU" dirty="0"/>
              <a:t>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099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1899-D73E-8803-239D-A6BB2BDD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Visitor</a:t>
            </a:r>
            <a:r>
              <a:rPr lang="ru-RU" dirty="0"/>
              <a:t> теперь работает с </a:t>
            </a:r>
            <a:r>
              <a:rPr lang="ru-RU" dirty="0" err="1"/>
              <a:t>EditorShape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71928-CD5B-F817-8FFD-73DEB022530C}"/>
              </a:ext>
            </a:extLst>
          </p:cNvPr>
          <p:cNvSpPr txBox="1"/>
          <p:nvPr/>
        </p:nvSpPr>
        <p:spPr>
          <a:xfrm>
            <a:off x="838200" y="1690689"/>
            <a:ext cx="83026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IEditorShapeVisitor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IEditorShapeVisitor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IEditorShapeVisitor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249471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1657-1A7F-B3A8-4EA8-E89111D0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EditorShape</a:t>
            </a:r>
            <a:r>
              <a:rPr lang="en-US" dirty="0"/>
              <a:t> </a:t>
            </a:r>
            <a:r>
              <a:rPr lang="ru-RU" dirty="0"/>
              <a:t>адаптирует </a:t>
            </a:r>
            <a:r>
              <a:rPr lang="en-US" dirty="0"/>
              <a:t>Domain Visitor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AD1B7-2859-CF98-6AE6-F7CC2748B03E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IEditorShapeVisitor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VisitorAdapter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VisitorAdapter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IEditorShapeVisitor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m_visitor.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m_visitor.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IEditorShapeVisitor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VisitorAdapter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adapter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adapter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AAEC1-20E7-1EC3-3B24-27602F073E5F}"/>
              </a:ext>
            </a:extLst>
          </p:cNvPr>
          <p:cNvSpPr txBox="1"/>
          <p:nvPr/>
        </p:nvSpPr>
        <p:spPr>
          <a:xfrm>
            <a:off x="6096000" y="54752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latin typeface="+mn-lt"/>
              </a:rPr>
              <a:t>IShape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выходит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>
                <a:latin typeface="+mn-lt"/>
              </a:rPr>
              <a:t>EditorShape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81247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321D2-7B83-8F08-419B-3CC6E542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DrawingRenderer</a:t>
            </a:r>
            <a:r>
              <a:rPr lang="en-US" dirty="0"/>
              <a:t> </a:t>
            </a:r>
            <a:r>
              <a:rPr lang="ru-RU" dirty="0"/>
              <a:t>рисует </a:t>
            </a:r>
            <a:r>
              <a:rPr lang="en-US" dirty="0"/>
              <a:t>effective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19969-560B-6FBD-AEC4-FA0D89737FC7}"/>
              </a:ext>
            </a:extLst>
          </p:cNvPr>
          <p:cNvSpPr txBox="1"/>
          <p:nvPr/>
        </p:nvSpPr>
        <p:spPr>
          <a:xfrm>
            <a:off x="838199" y="1690688"/>
            <a:ext cx="105155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IEditorShapeVisitor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DrawSelection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draw rectangle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draw ellipse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924253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8C9983-25AF-0393-F806-F944AA01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Собираем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EditorModel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E3E28-3169-297E-5302-D81846284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548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A16B5-4751-47C2-8BBF-883D6200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CanvasController</a:t>
            </a:r>
            <a:r>
              <a:rPr lang="ru-RU" dirty="0"/>
              <a:t> больше не работает с Domain Model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24AC9-3142-CDB0-A603-19F258B4F82D}"/>
              </a:ext>
            </a:extLst>
          </p:cNvPr>
          <p:cNvSpPr txBox="1"/>
          <p:nvPr/>
        </p:nvSpPr>
        <p:spPr>
          <a:xfrm>
            <a:off x="838200" y="1690688"/>
            <a:ext cx="10071970" cy="397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CanvasController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CanvasController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}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OnMouseReleased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m_dragStartPosition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081338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950E-5CB2-0041-0A09-7B1FD611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Drag: Begin → Update → Commit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DB696-D6E0-074C-6C04-84E6E8C20018}"/>
              </a:ext>
            </a:extLst>
          </p:cNvPr>
          <p:cNvSpPr txBox="1"/>
          <p:nvPr/>
        </p:nvSpPr>
        <p:spPr>
          <a:xfrm>
            <a:off x="838199" y="1590805"/>
            <a:ext cx="105155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m_dragStartPosition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OnMouseMoved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m_dragStartPosition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OnMouseReleased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m_dragStartPosition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CommitMove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5929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5B7715-BE27-66D6-BA85-1EEC305B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DrawingDocument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и </a:t>
            </a:r>
            <a:r>
              <a:rPr lang="en-US" dirty="0" err="1"/>
              <a:t>историю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FCA67-C212-0460-7106-48420882D5A0}"/>
              </a:ext>
            </a:extLst>
          </p:cNvPr>
          <p:cNvSpPr txBox="1"/>
          <p:nvPr/>
        </p:nvSpPr>
        <p:spPr>
          <a:xfrm>
            <a:off x="939452" y="1690687"/>
            <a:ext cx="82014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DrawingDocument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История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уничтожается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раньше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Drawing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CommandHistory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m_commandHistory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069821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E3B3-6540-7305-F683-D1E84987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Undo</a:t>
            </a:r>
            <a:r>
              <a:rPr lang="ru-RU" dirty="0"/>
              <a:t> и </a:t>
            </a:r>
            <a:r>
              <a:rPr lang="ru-RU" dirty="0" err="1"/>
              <a:t>Redo</a:t>
            </a:r>
            <a:r>
              <a:rPr lang="ru-RU" dirty="0"/>
              <a:t> — команды всего редактора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D25A8-805B-6532-90B8-E20280E37F58}"/>
              </a:ext>
            </a:extLst>
          </p:cNvPr>
          <p:cNvSpPr txBox="1"/>
          <p:nvPr/>
        </p:nvSpPr>
        <p:spPr>
          <a:xfrm>
            <a:off x="838199" y="1690688"/>
            <a:ext cx="868158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DrawingDocument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DrawingDocument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m_document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855604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62B2-ABE0-BC34-6F54-F0D7B30B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EditorWindow </a:t>
            </a:r>
            <a:r>
              <a:rPr lang="ru-RU" dirty="0"/>
              <a:t>связывает всё вместе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1FF5E-5664-02E9-485E-35909B38743A}"/>
              </a:ext>
            </a:extLst>
          </p:cNvPr>
          <p:cNvSpPr txBox="1"/>
          <p:nvPr/>
        </p:nvSpPr>
        <p:spPr>
          <a:xfrm>
            <a:off x="838200" y="1410355"/>
            <a:ext cx="1084897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EditorWindow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EditorWindow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DrawingDocument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m_window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VideoMode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}),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SFML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GetDrawing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[&amp;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m_editorController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m_canvasView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HandleEvent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sf::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…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keyPressed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KeyPressed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keyPressed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-&gt;code == sf::Keyboard::Key::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keyPressed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-&gt;control)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m_editorController.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keyPressed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-&gt;code == sf::Keyboard::Key::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keyPressed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-&gt;control)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m_editorController.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m_canvasView.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HandleEvent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sf::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RenderWindow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m_window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m_editorController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CanvasView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m_canvasView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3096720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CC3F38-FDEC-B68F-F344-168FEE785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114" y="235857"/>
            <a:ext cx="7412028" cy="55590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72F100-B755-FB01-9B11-AF700F14D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3403" y="3305281"/>
            <a:ext cx="4422482" cy="331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854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950009-5BEF-29F7-E9F3-7A62A6DB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Неужели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Ctrl+Z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7AA92B-5602-3194-E92C-A918DABA1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1300" y="1690688"/>
            <a:ext cx="9169400" cy="505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044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438F-BC20-01E5-3563-66CDE369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с Undo/Redo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D004-ACB2-CAB6-C4C5-DBE04833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Хотим</a:t>
            </a:r>
            <a:r>
              <a:rPr lang="en-US" dirty="0"/>
              <a:t> Undo / Redo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  <a:p>
            <a:pPr lvl="1"/>
            <a:r>
              <a:rPr lang="en-US" dirty="0"/>
              <a:t>Command + </a:t>
            </a:r>
            <a:r>
              <a:rPr lang="en-US" dirty="0" err="1"/>
              <a:t>CommandHistory</a:t>
            </a:r>
            <a:endParaRPr lang="en-US" dirty="0"/>
          </a:p>
          <a:p>
            <a:r>
              <a:rPr lang="en-US" dirty="0"/>
              <a:t>Drag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Drawing</a:t>
            </a:r>
            <a:r>
              <a:rPr lang="ru-RU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Command</a:t>
            </a:r>
          </a:p>
          <a:p>
            <a:r>
              <a:rPr lang="en-US" dirty="0"/>
              <a:t>Preview ≠ Commit</a:t>
            </a:r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жить</a:t>
            </a:r>
            <a:r>
              <a:rPr lang="en-US" dirty="0"/>
              <a:t> Preview?</a:t>
            </a:r>
          </a:p>
          <a:p>
            <a:pPr lvl="1"/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сеансу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к </a:t>
            </a:r>
            <a:r>
              <a:rPr lang="en-US" dirty="0" err="1"/>
              <a:t>самому</a:t>
            </a:r>
            <a:r>
              <a:rPr lang="en-US" dirty="0"/>
              <a:t> </a:t>
            </a:r>
            <a:r>
              <a:rPr lang="en-US" dirty="0" err="1"/>
              <a:t>документу</a:t>
            </a:r>
            <a:endParaRPr lang="en-US" dirty="0"/>
          </a:p>
          <a:p>
            <a:r>
              <a:rPr lang="ru-RU" dirty="0"/>
              <a:t>Вводим </a:t>
            </a:r>
            <a:r>
              <a:rPr lang="en-US" dirty="0" err="1"/>
              <a:t>EditorModel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4854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43BF-5FF6-E1AA-DBA9-904232FA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двухуровневой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C16A6E-0250-6BB0-0C9F-2AF9E2E0FB1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1713011"/>
              </p:ext>
            </p:extLst>
          </p:nvPr>
        </p:nvGraphicFramePr>
        <p:xfrm>
          <a:off x="838199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935943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04165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Domain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Editor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96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Что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записано</a:t>
                      </a:r>
                      <a:r>
                        <a:rPr lang="en-US" dirty="0"/>
                        <a:t> в </a:t>
                      </a:r>
                      <a:r>
                        <a:rPr lang="en-US" dirty="0" err="1"/>
                        <a:t>документе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Что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пользователь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видит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сейчас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18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Общее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всех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окон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Состояние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конкретного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окна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99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Committed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и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33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Меняется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командами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Меняется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время</a:t>
                      </a:r>
                      <a:r>
                        <a:rPr lang="en-US" dirty="0"/>
                        <a:t>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50577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82AA9E-BDB5-AFD9-2E9C-675A4978F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622481"/>
            <a:ext cx="10515600" cy="1554481"/>
          </a:xfrm>
        </p:spPr>
        <p:txBody>
          <a:bodyPr>
            <a:normAutofit/>
          </a:bodyPr>
          <a:lstStyle/>
          <a:p>
            <a:r>
              <a:rPr lang="en-US" dirty="0" err="1"/>
              <a:t>EditorModel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копия</a:t>
            </a:r>
            <a:r>
              <a:rPr lang="en-US" dirty="0"/>
              <a:t> Drawing</a:t>
            </a:r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с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смыслом</a:t>
            </a:r>
            <a:r>
              <a:rPr lang="en-US" dirty="0"/>
              <a:t> и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14376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4D6F-D8B3-EB4A-D4E1-9FC7DD746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новыми</a:t>
            </a:r>
            <a:r>
              <a:rPr lang="en-US" dirty="0"/>
              <a:t> </a:t>
            </a:r>
            <a:r>
              <a:rPr lang="en-US" dirty="0" err="1"/>
              <a:t>ответственностями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DC63-F0D7-B485-88A9-48C92448A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Command</a:t>
            </a:r>
            <a:endParaRPr lang="ru-RU" b="1" dirty="0"/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завершённое</a:t>
            </a:r>
            <a:r>
              <a:rPr lang="en-US" dirty="0"/>
              <a:t> </a:t>
            </a:r>
            <a:r>
              <a:rPr lang="en-US" dirty="0" err="1"/>
              <a:t>обратимое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  <a:p>
            <a:r>
              <a:rPr lang="en-US" b="1" dirty="0" err="1"/>
              <a:t>CommandHistory</a:t>
            </a:r>
            <a:endParaRPr lang="ru-RU" b="1" dirty="0"/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прошлое</a:t>
            </a:r>
            <a:r>
              <a:rPr lang="en-US" dirty="0"/>
              <a:t> и </a:t>
            </a:r>
            <a:r>
              <a:rPr lang="en-US" dirty="0" err="1"/>
              <a:t>будущее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?</a:t>
            </a:r>
          </a:p>
          <a:p>
            <a:r>
              <a:rPr lang="en-US" b="1" dirty="0" err="1"/>
              <a:t>DrawingDocument</a:t>
            </a:r>
            <a:endParaRPr lang="ru-RU" b="1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Drawing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историей</a:t>
            </a:r>
            <a:r>
              <a:rPr lang="en-US" dirty="0"/>
              <a:t>?</a:t>
            </a:r>
          </a:p>
          <a:p>
            <a:r>
              <a:rPr lang="en-US" b="1" dirty="0" err="1"/>
              <a:t>EditorModel</a:t>
            </a:r>
            <a:endParaRPr lang="ru-RU" b="1" dirty="0"/>
          </a:p>
          <a:p>
            <a:pPr lvl="1"/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?</a:t>
            </a:r>
          </a:p>
          <a:p>
            <a:r>
              <a:rPr lang="en-US" b="1" dirty="0" err="1"/>
              <a:t>EditorShape</a:t>
            </a:r>
            <a:endParaRPr lang="ru-RU" b="1" dirty="0"/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effective state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r>
              <a:rPr lang="en-US" b="1" dirty="0" err="1"/>
              <a:t>CanvasController</a:t>
            </a:r>
            <a:endParaRPr lang="ru-RU" b="1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Canvas?</a:t>
            </a:r>
          </a:p>
          <a:p>
            <a:r>
              <a:rPr lang="en-US" b="1" dirty="0" err="1"/>
              <a:t>EditorController</a:t>
            </a:r>
            <a:endParaRPr lang="ru-RU" b="1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в </a:t>
            </a:r>
            <a:r>
              <a:rPr lang="en-US" dirty="0" err="1"/>
              <a:t>целом</a:t>
            </a:r>
            <a:r>
              <a:rPr lang="en-US" dirty="0"/>
              <a:t>?</a:t>
            </a:r>
          </a:p>
          <a:p>
            <a:r>
              <a:rPr lang="ru-RU" dirty="0"/>
              <a:t>Каждый н</a:t>
            </a:r>
            <a:r>
              <a:rPr lang="en-US" dirty="0" err="1"/>
              <a:t>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оправдан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ответственностью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желанием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«</a:t>
            </a:r>
            <a:r>
              <a:rPr lang="en-US" dirty="0" err="1"/>
              <a:t>красивее</a:t>
            </a:r>
            <a:r>
              <a:rPr lang="en-US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1646777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9913-5972-3E75-CF18-49340C2E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заплатить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872C-1C8C-8250-E243-E582A83CE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Цена:</a:t>
            </a:r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endParaRPr lang="en-US" dirty="0"/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endParaRPr lang="en-US" dirty="0"/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протоколов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endParaRPr lang="en-US" dirty="0"/>
          </a:p>
          <a:p>
            <a:pPr lvl="1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следить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жизненными</a:t>
            </a:r>
            <a:r>
              <a:rPr lang="en-US" dirty="0"/>
              <a:t> </a:t>
            </a:r>
            <a:r>
              <a:rPr lang="en-US" dirty="0" err="1"/>
              <a:t>циклами</a:t>
            </a:r>
            <a:endParaRPr lang="en-US" dirty="0"/>
          </a:p>
          <a:p>
            <a:pPr lvl="1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endParaRPr lang="en-US" dirty="0"/>
          </a:p>
          <a:p>
            <a:r>
              <a:rPr lang="ru-RU" dirty="0"/>
              <a:t>Что получили</a:t>
            </a:r>
          </a:p>
          <a:p>
            <a:pPr lvl="1"/>
            <a:r>
              <a:rPr lang="en-US" dirty="0"/>
              <a:t>Preview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Drawing</a:t>
            </a:r>
          </a:p>
          <a:p>
            <a:pPr lvl="1"/>
            <a:r>
              <a:rPr lang="en-US" dirty="0"/>
              <a:t>Cancel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ru-RU" dirty="0"/>
              <a:t>откатывать</a:t>
            </a:r>
            <a:r>
              <a:rPr lang="en-US" dirty="0"/>
              <a:t> </a:t>
            </a:r>
            <a:r>
              <a:rPr lang="ru-RU" dirty="0"/>
              <a:t>доменную модель</a:t>
            </a:r>
            <a:endParaRPr lang="en-US" dirty="0"/>
          </a:p>
          <a:p>
            <a:pPr lvl="1"/>
            <a:r>
              <a:rPr lang="en-US" dirty="0"/>
              <a:t>Undo / Redo </a:t>
            </a:r>
            <a:r>
              <a:rPr lang="en-US" dirty="0" err="1"/>
              <a:t>идут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путём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что</a:t>
            </a:r>
            <a:r>
              <a:rPr lang="en-US" dirty="0"/>
              <a:t> и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ru-RU" dirty="0" err="1"/>
              <a:t>зафиксированне</a:t>
            </a:r>
            <a:r>
              <a:rPr lang="ru-RU" dirty="0"/>
              <a:t> изменения</a:t>
            </a:r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окон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endParaRPr lang="en-US" dirty="0"/>
          </a:p>
          <a:p>
            <a:pPr lvl="1"/>
            <a:r>
              <a:rPr lang="en-US" dirty="0"/>
              <a:t>Canvas и Timeline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editor-state</a:t>
            </a:r>
          </a:p>
          <a:p>
            <a:pPr lvl="1"/>
            <a:r>
              <a:rPr lang="en-US" dirty="0"/>
              <a:t>Snapping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вынести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GUI и </a:t>
            </a:r>
            <a:r>
              <a:rPr lang="en-US" dirty="0" err="1"/>
              <a:t>тестировать</a:t>
            </a:r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управляемыми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9653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F95E-E2DF-C2DC-2C4D-37C93D88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Undo/Redo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68BD-3BE7-54BE-80D4-C0FEBED7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Undo/Redo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Ctrl+Z</a:t>
            </a:r>
            <a:endParaRPr lang="ru-RU" dirty="0"/>
          </a:p>
          <a:p>
            <a:r>
              <a:rPr lang="ru-RU" dirty="0"/>
              <a:t>Оно заставило нас пересмотреть:</a:t>
            </a:r>
          </a:p>
          <a:p>
            <a:pPr lvl="1"/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committed?</a:t>
            </a:r>
          </a:p>
          <a:p>
            <a:pPr lvl="1"/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незавершённое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Каков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View и </a:t>
            </a:r>
            <a:r>
              <a:rPr lang="en-US" dirty="0" err="1"/>
              <a:t>окон</a:t>
            </a:r>
            <a:r>
              <a:rPr lang="en-US" dirty="0"/>
              <a:t> </a:t>
            </a:r>
            <a:r>
              <a:rPr lang="en-US" dirty="0" err="1"/>
              <a:t>видят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  <a:p>
            <a:r>
              <a:rPr lang="ru-RU" dirty="0"/>
              <a:t>Одни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добавляют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.</a:t>
            </a:r>
            <a:r>
              <a:rPr lang="ru-RU" dirty="0"/>
              <a:t> Другие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меняют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предсказывать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ru-RU" dirty="0"/>
              <a:t>, н</a:t>
            </a:r>
            <a:r>
              <a:rPr lang="en-US" dirty="0"/>
              <a:t>о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ru-RU" dirty="0"/>
              <a:t>станет необходимо.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27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5262</TotalTime>
  <Words>16565</Words>
  <Application>Microsoft Office PowerPoint</Application>
  <PresentationFormat>Widescreen</PresentationFormat>
  <Paragraphs>2166</Paragraphs>
  <Slides>96</Slides>
  <Notes>84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1" baseType="lpstr">
      <vt:lpstr>Aptos</vt:lpstr>
      <vt:lpstr>Aptos Display</vt:lpstr>
      <vt:lpstr>Arial</vt:lpstr>
      <vt:lpstr>Consolas</vt:lpstr>
      <vt:lpstr>Office Theme</vt:lpstr>
      <vt:lpstr>Undo/Redo проверка архитектуры на прочность</vt:lpstr>
      <vt:lpstr>Что уже умеет наш редактор</vt:lpstr>
      <vt:lpstr>Как устроен редактор</vt:lpstr>
      <vt:lpstr>Как сегодня изменяется документ</vt:lpstr>
      <vt:lpstr>Добавляем Undo/Redo</vt:lpstr>
      <vt:lpstr>Сделаем редактор более взрослым</vt:lpstr>
      <vt:lpstr>Undo и Redo перемещают нас по истории</vt:lpstr>
      <vt:lpstr>Что происходит с «будущим» после нового действия?</vt:lpstr>
      <vt:lpstr>А если просто сохранять состояния документа?</vt:lpstr>
      <vt:lpstr>Главное достоинство snapshots</vt:lpstr>
      <vt:lpstr>За простоту приходится платить</vt:lpstr>
      <vt:lpstr>А если модель активна?</vt:lpstr>
      <vt:lpstr>А что, если хранить не состояния, а изменения?</vt:lpstr>
      <vt:lpstr>Изменение должно уметь идти в обе стороны</vt:lpstr>
      <vt:lpstr>Команда: действие становится объектом</vt:lpstr>
      <vt:lpstr>Действие становится объектом</vt:lpstr>
      <vt:lpstr>Что должна помнить команда?</vt:lpstr>
      <vt:lpstr>Command: классическая структура</vt:lpstr>
      <vt:lpstr>Command решает только часть задачи</vt:lpstr>
      <vt:lpstr>История команд</vt:lpstr>
      <vt:lpstr>CommandHistory хранит и запускает команды</vt:lpstr>
      <vt:lpstr>Как хранить историю?</vt:lpstr>
      <vt:lpstr>Двигаемся по истории и переписываем её</vt:lpstr>
      <vt:lpstr>История не обязана быть бесконечной</vt:lpstr>
      <vt:lpstr>Что происходит, когда команда покидает историю?</vt:lpstr>
      <vt:lpstr>Гранулярность изменений в истории команд</vt:lpstr>
      <vt:lpstr>Одно Undo – сколько изменений?</vt:lpstr>
      <vt:lpstr>Много событий — одно взаимодействие</vt:lpstr>
      <vt:lpstr>Иногда команды объединяются уже после выполнения</vt:lpstr>
      <vt:lpstr>Одно действие может менять модель несколько раз</vt:lpstr>
      <vt:lpstr>Command — самостоятельное изучение</vt:lpstr>
      <vt:lpstr>Подключаем Command к нашему редактору</vt:lpstr>
      <vt:lpstr>Вернёмся к настоящему drag</vt:lpstr>
      <vt:lpstr>Когда создавать MoveShapeCommand?</vt:lpstr>
      <vt:lpstr>На MouseReleased уже слишком поздно</vt:lpstr>
      <vt:lpstr>Мы смешали Preview и Commit</vt:lpstr>
      <vt:lpstr>Preview и Commit – разные состояния изменения</vt:lpstr>
      <vt:lpstr>Изменение тоже имеет жизненный цикл</vt:lpstr>
      <vt:lpstr>Первый вариант: Preview прямо в Domain Model</vt:lpstr>
      <vt:lpstr>Cancel требует rollback</vt:lpstr>
      <vt:lpstr>Должно ли Preview быть состоянием документа?</vt:lpstr>
      <vt:lpstr>Может быть, Preview должно жить внутри View?</vt:lpstr>
      <vt:lpstr>Может быть, Preview должен жить во View?</vt:lpstr>
      <vt:lpstr>Может быть, каждой фигуре нужен свой CanvasShapeView?</vt:lpstr>
      <vt:lpstr>Кто создаст правильный ShapeView?</vt:lpstr>
      <vt:lpstr>Где заканчивается ответственность ShapeController?</vt:lpstr>
      <vt:lpstr>Мысленный эксперимент: Timeline View</vt:lpstr>
      <vt:lpstr>Добавим ещё одно представление документа</vt:lpstr>
      <vt:lpstr>Preview начался в Timeline — кто должен его увидеть?</vt:lpstr>
      <vt:lpstr>Может быть, положить Preview обратно в Domain Model?</vt:lpstr>
      <vt:lpstr>PowerPoint Presentation</vt:lpstr>
      <vt:lpstr>Preview — состояние редакторского окна</vt:lpstr>
      <vt:lpstr>Мысленный эксперимент: Snapping</vt:lpstr>
      <vt:lpstr>Добавим snapping</vt:lpstr>
      <vt:lpstr>А если выделено несколько фигур?</vt:lpstr>
      <vt:lpstr>Snapping — это pipeline вычислений</vt:lpstr>
      <vt:lpstr>Хотим ли мы тестировать snapping через SFML?</vt:lpstr>
      <vt:lpstr>EditorModel: новая ответственность обусловленная требованиями</vt:lpstr>
      <vt:lpstr>Новая ответственность уже появилась</vt:lpstr>
      <vt:lpstr>Committed state и Effective state — разные вещи</vt:lpstr>
      <vt:lpstr>Назовём эту ответственность EditorModel</vt:lpstr>
      <vt:lpstr>Preview проходит через EditorModel</vt:lpstr>
      <vt:lpstr>Commit превращает Preview в Command</vt:lpstr>
      <vt:lpstr>Domain Model становится наблюдаемой</vt:lpstr>
      <vt:lpstr>Drawing изменился — кто об этом узнает?</vt:lpstr>
      <vt:lpstr>Domain Model становится наблюдаемой</vt:lpstr>
      <vt:lpstr>Фигура тоже становится наблюдаемой</vt:lpstr>
      <vt:lpstr>Drawing агрегирует изменения фигур</vt:lpstr>
      <vt:lpstr>Undo — обычное изменение Domain Model</vt:lpstr>
      <vt:lpstr>Один путь для всех committed changes</vt:lpstr>
      <vt:lpstr>Реализуем EditorModel</vt:lpstr>
      <vt:lpstr>EditorShape: состояние фигуры в редакторе</vt:lpstr>
      <vt:lpstr>EditorShape вычисляет effective state</vt:lpstr>
      <vt:lpstr>EditorModel синхронизируется с Drawing</vt:lpstr>
      <vt:lpstr>BeginMove и UpdateMove: запускаем Preview</vt:lpstr>
      <vt:lpstr>CancelMove: отбрасываем Preview</vt:lpstr>
      <vt:lpstr>CommitMove: Preview становится Command</vt:lpstr>
      <vt:lpstr>Кто может отправлять команды в историю?</vt:lpstr>
      <vt:lpstr>Переводим Rendering на использование EditorModel</vt:lpstr>
      <vt:lpstr>Старый DrawingRenderer больше не подходит</vt:lpstr>
      <vt:lpstr>Visitor теперь работает с EditorShape</vt:lpstr>
      <vt:lpstr>EditorShape адаптирует Domain Visitor</vt:lpstr>
      <vt:lpstr>DrawingRenderer рисует effective state</vt:lpstr>
      <vt:lpstr>Собираем редактор вокруг EditorModel</vt:lpstr>
      <vt:lpstr>CanvasController больше не работает с Domain Model</vt:lpstr>
      <vt:lpstr>Drag: Begin → Update → Commit</vt:lpstr>
      <vt:lpstr>DrawingDocument объединяет модель и историю</vt:lpstr>
      <vt:lpstr>Undo и Redo — команды всего редактора</vt:lpstr>
      <vt:lpstr>EditorWindow связывает всё вместе</vt:lpstr>
      <vt:lpstr>PowerPoint Presentation</vt:lpstr>
      <vt:lpstr>Неужели ради Ctrl+Z всё это было необходимо?</vt:lpstr>
      <vt:lpstr>Мы начинали всего лишь с Undo/Redo</vt:lpstr>
      <vt:lpstr>Почему модель стала двухуровневой</vt:lpstr>
      <vt:lpstr>Новые классы появились вместе с новыми ответственностями</vt:lpstr>
      <vt:lpstr>За архитектуру пришлось заплатить</vt:lpstr>
      <vt:lpstr>Undo/Redo оказалось проверкой архитектуры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88</cp:revision>
  <dcterms:created xsi:type="dcterms:W3CDTF">2026-09-28T17:31:15Z</dcterms:created>
  <dcterms:modified xsi:type="dcterms:W3CDTF">2026-10-15T17:51:18Z</dcterms:modified>
</cp:coreProperties>
</file>