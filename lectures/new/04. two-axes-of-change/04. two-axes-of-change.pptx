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0533" autoAdjust="0"/>
  </p:normalViewPr>
  <p:slideViewPr>
    <p:cSldViewPr snapToGrid="0" showGuides="1">
      <p:cViewPr varScale="1">
        <p:scale>
          <a:sx n="63" d="100"/>
          <a:sy n="63" d="100"/>
        </p:scale>
        <p:origin x="235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6525A-0839-4847-88A7-9BC4FCEA9EA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B753F-C273-495E-BED1-AA948513E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5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44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прошлой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к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содержащий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Renderer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очередную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какая-то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рисуются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Renderer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«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— </a:t>
            </a:r>
            <a:r>
              <a:rPr lang="en-US" dirty="0" err="1"/>
              <a:t>плохо</a:t>
            </a:r>
            <a:r>
              <a:rPr lang="en-US" dirty="0"/>
              <a:t>,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срочно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».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плохая</a:t>
            </a:r>
            <a:r>
              <a:rPr lang="en-US" dirty="0"/>
              <a:t>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и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выполнялась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и </a:t>
            </a:r>
            <a:r>
              <a:rPr lang="en-US" dirty="0" err="1"/>
              <a:t>пошли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решению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: Renderer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вынесен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Model, </a:t>
            </a:r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98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конструкция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Domain Model.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 Это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перемещаться</a:t>
            </a:r>
            <a:r>
              <a:rPr lang="en-US" dirty="0"/>
              <a:t>, </a:t>
            </a:r>
            <a:r>
              <a:rPr lang="en-US" dirty="0" err="1"/>
              <a:t>участвует</a:t>
            </a:r>
            <a:r>
              <a:rPr lang="en-US" dirty="0"/>
              <a:t> в hit testing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захотели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в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SFML — и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исчезла</a:t>
            </a:r>
            <a:r>
              <a:rPr lang="en-US" dirty="0"/>
              <a:t>.</a:t>
            </a:r>
          </a:p>
          <a:p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другим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нашли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b="1" dirty="0" err="1"/>
              <a:t>перераспределили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и </a:t>
            </a:r>
            <a:r>
              <a:rPr lang="en-US" b="1" dirty="0" err="1"/>
              <a:t>зависимости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зависит от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Rectangle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зависит от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Ellipse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меня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пугают</a:t>
            </a:r>
            <a:r>
              <a:rPr lang="en-US" dirty="0"/>
              <a:t>. Renderer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своему</a:t>
            </a:r>
            <a:r>
              <a:rPr lang="en-US" dirty="0"/>
              <a:t> </a:t>
            </a:r>
            <a:r>
              <a:rPr lang="en-US" dirty="0" err="1"/>
              <a:t>смыслу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, к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,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: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выражено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знание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32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я </a:t>
            </a:r>
            <a:r>
              <a:rPr lang="en-US" dirty="0" err="1"/>
              <a:t>хочу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уточнить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собираемся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—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так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b="1" dirty="0"/>
              <a:t> </a:t>
            </a:r>
            <a:r>
              <a:rPr lang="en-US" b="1" dirty="0" err="1"/>
              <a:t>перестал</a:t>
            </a:r>
            <a:r>
              <a:rPr lang="en-US" b="1" dirty="0"/>
              <a:t> </a:t>
            </a:r>
            <a:r>
              <a:rPr lang="en-US" b="1" dirty="0" err="1"/>
              <a:t>знать</a:t>
            </a:r>
            <a:r>
              <a:rPr lang="en-US" b="1" dirty="0"/>
              <a:t> о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b="1" dirty="0"/>
              <a:t> и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странным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Renderer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, к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придём</a:t>
            </a:r>
            <a:r>
              <a:rPr lang="en-US" dirty="0"/>
              <a:t>,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уничтожит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выражено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слабо</a:t>
            </a:r>
            <a:r>
              <a:rPr lang="en-US" dirty="0"/>
              <a:t>.</a:t>
            </a:r>
          </a:p>
          <a:p>
            <a:r>
              <a:rPr lang="en-US" dirty="0"/>
              <a:t>Renderer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абстрактную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выяснять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Rectangle?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Ellipse?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Что-то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ещё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endParaRPr lang="ru-RU" dirty="0"/>
          </a:p>
          <a:p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поддерживаемых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спрятан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цепочки</a:t>
            </a:r>
            <a:r>
              <a:rPr lang="en-US" dirty="0"/>
              <a:t> </a:t>
            </a:r>
            <a:r>
              <a:rPr lang="en-US" dirty="0" err="1"/>
              <a:t>условных</a:t>
            </a:r>
            <a:r>
              <a:rPr lang="en-US" dirty="0"/>
              <a:t> </a:t>
            </a:r>
            <a:r>
              <a:rPr lang="en-US" dirty="0" err="1"/>
              <a:t>конструкций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точный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избавиться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?»</a:t>
            </a:r>
          </a:p>
          <a:p>
            <a:r>
              <a:rPr lang="en-US" dirty="0"/>
              <a:t>А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выразить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, </a:t>
            </a:r>
            <a:r>
              <a:rPr lang="en-US" b="1" dirty="0" err="1"/>
              <a:t>зависящие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конкретного</a:t>
            </a:r>
            <a:r>
              <a:rPr lang="en-US" b="1" dirty="0"/>
              <a:t> </a:t>
            </a:r>
            <a:r>
              <a:rPr lang="en-US" b="1" dirty="0" err="1"/>
              <a:t>типа</a:t>
            </a:r>
            <a:r>
              <a:rPr lang="en-US" b="1" dirty="0"/>
              <a:t> </a:t>
            </a:r>
            <a:r>
              <a:rPr lang="en-US" b="1" dirty="0" err="1"/>
              <a:t>объекта</a:t>
            </a:r>
            <a:r>
              <a:rPr lang="en-US" b="1" dirty="0"/>
              <a:t>,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явно</a:t>
            </a:r>
            <a:r>
              <a:rPr lang="en-US" b="1" dirty="0"/>
              <a:t> и </a:t>
            </a:r>
            <a:r>
              <a:rPr lang="en-US" b="1" dirty="0" err="1"/>
              <a:t>структурированно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rendering.</a:t>
            </a:r>
          </a:p>
          <a:p>
            <a:endParaRPr lang="ru-RU" dirty="0"/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архитектурная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34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8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а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и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endParaRPr lang="ru-RU" dirty="0"/>
          </a:p>
          <a:p>
            <a:r>
              <a:rPr lang="en-US" dirty="0"/>
              <a:t>.</a:t>
            </a:r>
          </a:p>
          <a:p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уточнить</a:t>
            </a:r>
            <a:r>
              <a:rPr lang="en-US" dirty="0"/>
              <a:t>: </a:t>
            </a:r>
            <a:r>
              <a:rPr lang="en-US" b="1" dirty="0"/>
              <a:t>а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сохраняем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видов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: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,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расположения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активен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: </a:t>
            </a:r>
            <a:r>
              <a:rPr lang="en-US" dirty="0" err="1"/>
              <a:t>масштаб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 viewport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выделен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—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повторного</a:t>
            </a:r>
            <a:r>
              <a:rPr lang="en-US" dirty="0"/>
              <a:t> </a:t>
            </a:r>
            <a:r>
              <a:rPr lang="en-US" dirty="0" err="1"/>
              <a:t>открытия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оставался</a:t>
            </a:r>
            <a:r>
              <a:rPr lang="en-US" dirty="0"/>
              <a:t> </a:t>
            </a:r>
            <a:r>
              <a:rPr lang="en-US" dirty="0" err="1"/>
              <a:t>выделенным</a:t>
            </a:r>
            <a:r>
              <a:rPr lang="en-US" dirty="0"/>
              <a:t>.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текущему</a:t>
            </a:r>
            <a:r>
              <a:rPr lang="en-US" dirty="0"/>
              <a:t> </a:t>
            </a:r>
            <a:r>
              <a:rPr lang="en-US" dirty="0" err="1"/>
              <a:t>масштабу</a:t>
            </a:r>
            <a:r>
              <a:rPr lang="en-US" dirty="0"/>
              <a:t> Canvas.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заодно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b="1" dirty="0"/>
              <a:t>document state</a:t>
            </a:r>
            <a:r>
              <a:rPr lang="en-US" dirty="0"/>
              <a:t> и </a:t>
            </a:r>
            <a:r>
              <a:rPr lang="en-US" b="1" dirty="0"/>
              <a:t>session state</a:t>
            </a:r>
            <a:r>
              <a:rPr lang="en-US" dirty="0"/>
              <a:t>.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смыслу</a:t>
            </a:r>
            <a:r>
              <a:rPr lang="en-US" dirty="0"/>
              <a:t>,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и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ru-RU" dirty="0"/>
              <a:t>.</a:t>
            </a:r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в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записать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50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XML, JSON, YAML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какой-нибудь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бинарный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уйдём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темы</a:t>
            </a:r>
            <a:r>
              <a:rPr lang="en-US" dirty="0"/>
              <a:t> в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сериализации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возьмём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текстовый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строка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,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и </a:t>
            </a:r>
            <a:r>
              <a:rPr lang="en-US" dirty="0" err="1"/>
              <a:t>размеры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строку</a:t>
            </a:r>
            <a:r>
              <a:rPr lang="en-US" dirty="0"/>
              <a:t>, </a:t>
            </a:r>
            <a:r>
              <a:rPr lang="en-US" dirty="0" err="1"/>
              <a:t>начинающуюся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слова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слова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условный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поменять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сериализовать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код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сериализовать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b="1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,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b="1" dirty="0" err="1"/>
              <a:t>конкретного</a:t>
            </a:r>
            <a:r>
              <a:rPr lang="en-US" b="1" dirty="0"/>
              <a:t> </a:t>
            </a:r>
            <a:r>
              <a:rPr lang="en-US" b="1" dirty="0" err="1"/>
              <a:t>типа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специальную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2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понятная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, и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минут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и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записываем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</a:t>
            </a:r>
            <a:r>
              <a:rPr lang="en-US" dirty="0" err="1"/>
              <a:t>записываем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остановиться</a:t>
            </a:r>
            <a:r>
              <a:rPr lang="en-US" dirty="0"/>
              <a:t> и </a:t>
            </a:r>
            <a:r>
              <a:rPr lang="en-US" dirty="0" err="1"/>
              <a:t>сказать</a:t>
            </a:r>
            <a:r>
              <a:rPr lang="en-US" dirty="0"/>
              <a:t>: «</a:t>
            </a:r>
            <a:r>
              <a:rPr lang="en-US" dirty="0" err="1"/>
              <a:t>Опять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плохое</a:t>
            </a:r>
            <a:r>
              <a:rPr lang="en-US" dirty="0"/>
              <a:t>»?</a:t>
            </a:r>
          </a:p>
          <a:p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 с </a:t>
            </a:r>
            <a:r>
              <a:rPr lang="en-US" dirty="0" err="1"/>
              <a:t>прошлой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 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поставленную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KISS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разумный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кое-что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следующее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Rectangle?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сделать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Ellipse?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сделать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другое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И </a:t>
            </a:r>
            <a:r>
              <a:rPr lang="en-US" dirty="0" err="1"/>
              <a:t>где-то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с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структурой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Rectangle?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нарисовать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Ellipse?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нарисовать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иначе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два</a:t>
            </a:r>
            <a:r>
              <a:rPr lang="en-US" b="1" dirty="0"/>
              <a:t> </a:t>
            </a:r>
            <a:r>
              <a:rPr lang="en-US" b="1" dirty="0" err="1"/>
              <a:t>раза</a:t>
            </a:r>
            <a:r>
              <a:rPr lang="en-US" b="1" dirty="0"/>
              <a:t> </a:t>
            </a:r>
            <a:r>
              <a:rPr lang="en-US" b="1" dirty="0" err="1"/>
              <a:t>случайно</a:t>
            </a:r>
            <a:r>
              <a:rPr lang="en-US" b="1" dirty="0"/>
              <a:t> </a:t>
            </a:r>
            <a:r>
              <a:rPr lang="en-US" b="1" dirty="0" err="1"/>
              <a:t>написали</a:t>
            </a:r>
            <a:r>
              <a:rPr lang="en-US" b="1" dirty="0"/>
              <a:t> </a:t>
            </a:r>
            <a:r>
              <a:rPr lang="en-US" b="1" dirty="0" err="1"/>
              <a:t>похожий</a:t>
            </a:r>
            <a:r>
              <a:rPr lang="en-US" b="1" dirty="0"/>
              <a:t> </a:t>
            </a:r>
            <a:r>
              <a:rPr lang="en-US" b="1" dirty="0" err="1"/>
              <a:t>код</a:t>
            </a:r>
            <a:r>
              <a:rPr lang="en-US" b="1" dirty="0"/>
              <a:t> — </a:t>
            </a:r>
            <a:r>
              <a:rPr lang="en-US" b="1" dirty="0" err="1"/>
              <a:t>или</a:t>
            </a:r>
            <a:r>
              <a:rPr lang="en-US" b="1" dirty="0"/>
              <a:t> </a:t>
            </a:r>
            <a:r>
              <a:rPr lang="en-US" b="1" dirty="0" err="1"/>
              <a:t>здесь</a:t>
            </a:r>
            <a:r>
              <a:rPr lang="en-US" b="1" dirty="0"/>
              <a:t> </a:t>
            </a:r>
            <a:r>
              <a:rPr lang="en-US" b="1" dirty="0" err="1"/>
              <a:t>проявляется</a:t>
            </a:r>
            <a:r>
              <a:rPr lang="en-US" b="1" dirty="0"/>
              <a:t> </a:t>
            </a:r>
            <a:r>
              <a:rPr lang="en-US" b="1" dirty="0" err="1"/>
              <a:t>какая-то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общая</a:t>
            </a:r>
            <a:r>
              <a:rPr lang="en-US" b="1" dirty="0"/>
              <a:t> </a:t>
            </a:r>
            <a:r>
              <a:rPr lang="en-US" b="1" dirty="0" err="1"/>
              <a:t>структура</a:t>
            </a:r>
            <a:r>
              <a:rPr lang="en-US" b="1" dirty="0"/>
              <a:t> </a:t>
            </a:r>
            <a:r>
              <a:rPr lang="en-US" b="1" dirty="0" err="1"/>
              <a:t>задачи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71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похожего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веток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разная</a:t>
            </a:r>
            <a:r>
              <a:rPr lang="en-US" dirty="0"/>
              <a:t>.</a:t>
            </a:r>
          </a:p>
          <a:p>
            <a:r>
              <a:rPr lang="en-US" dirty="0"/>
              <a:t>Renderer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SFML и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r>
              <a:rPr lang="en-US" dirty="0"/>
              <a:t>Serializer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вынести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 в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—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. Это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Повторяется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выясняет</a:t>
            </a:r>
            <a:r>
              <a:rPr lang="en-US" dirty="0"/>
              <a:t>:</a:t>
            </a:r>
          </a:p>
          <a:p>
            <a:r>
              <a:rPr lang="en-US" dirty="0"/>
              <a:t>«Это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?»</a:t>
            </a:r>
          </a:p>
          <a:p>
            <a:r>
              <a:rPr lang="en-US" dirty="0"/>
              <a:t>«А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?»</a:t>
            </a:r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rendering и </a:t>
            </a:r>
            <a:r>
              <a:rPr lang="en-US" dirty="0" err="1"/>
              <a:t>не</a:t>
            </a:r>
            <a:r>
              <a:rPr lang="en-US" dirty="0"/>
              <a:t> serialization.</a:t>
            </a:r>
          </a:p>
          <a:p>
            <a:r>
              <a:rPr lang="en-US" dirty="0" err="1"/>
              <a:t>Повторяется</a:t>
            </a:r>
            <a:r>
              <a:rPr lang="en-US" dirty="0"/>
              <a:t> </a:t>
            </a:r>
            <a:r>
              <a:rPr lang="en-US" b="1" dirty="0" err="1"/>
              <a:t>механизм</a:t>
            </a:r>
            <a:r>
              <a:rPr lang="en-US" b="1" dirty="0"/>
              <a:t> </a:t>
            </a:r>
            <a:r>
              <a:rPr lang="en-US" b="1" dirty="0" err="1"/>
              <a:t>выбора</a:t>
            </a:r>
            <a:r>
              <a:rPr lang="en-US" b="1" dirty="0"/>
              <a:t> </a:t>
            </a:r>
            <a:r>
              <a:rPr lang="en-US" b="1" dirty="0" err="1"/>
              <a:t>поведения</a:t>
            </a:r>
            <a:r>
              <a:rPr lang="en-US" b="1" dirty="0"/>
              <a:t> в </a:t>
            </a:r>
            <a:r>
              <a:rPr lang="en-US" b="1" dirty="0" err="1"/>
              <a:t>зависимости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конкретного</a:t>
            </a:r>
            <a:r>
              <a:rPr lang="en-US" b="1" dirty="0"/>
              <a:t> </a:t>
            </a:r>
            <a:r>
              <a:rPr lang="en-US" b="1" dirty="0" err="1"/>
              <a:t>типа</a:t>
            </a:r>
            <a:r>
              <a:rPr lang="en-US" b="1" dirty="0"/>
              <a:t> </a:t>
            </a:r>
            <a:r>
              <a:rPr lang="en-US" b="1" dirty="0" err="1"/>
              <a:t>объекта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прошлый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находился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, и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приемлема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с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структурой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6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Пока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 </a:t>
            </a:r>
            <a:r>
              <a:rPr lang="en-US" dirty="0" err="1"/>
              <a:t>отображение</a:t>
            </a:r>
            <a:r>
              <a:rPr lang="en-US" dirty="0"/>
              <a:t> и </a:t>
            </a:r>
            <a:r>
              <a:rPr lang="en-US" dirty="0" err="1"/>
              <a:t>сериализация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с </a:t>
            </a:r>
            <a:r>
              <a:rPr lang="en-US" dirty="0" err="1"/>
              <a:t>развитием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SVG.</a:t>
            </a:r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спросит</a:t>
            </a:r>
            <a:r>
              <a:rPr lang="en-US" dirty="0"/>
              <a:t>:</a:t>
            </a:r>
          </a:p>
          <a:p>
            <a:r>
              <a:rPr lang="en-US" dirty="0"/>
              <a:t>«Это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экспортирую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».</a:t>
            </a:r>
          </a:p>
          <a:p>
            <a:r>
              <a:rPr lang="en-US" dirty="0"/>
              <a:t>«Это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?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».</a:t>
            </a:r>
          </a:p>
          <a:p>
            <a:r>
              <a:rPr lang="en-US" dirty="0" err="1"/>
              <a:t>Потом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сбора</a:t>
            </a:r>
            <a:r>
              <a:rPr lang="en-US" dirty="0"/>
              <a:t> </a:t>
            </a:r>
            <a:r>
              <a:rPr lang="en-US" dirty="0" err="1"/>
              <a:t>какой-нибудь</a:t>
            </a:r>
            <a:r>
              <a:rPr lang="en-US" dirty="0"/>
              <a:t> </a:t>
            </a:r>
            <a:r>
              <a:rPr lang="en-US" dirty="0" err="1"/>
              <a:t>статистики</a:t>
            </a:r>
            <a:r>
              <a:rPr lang="en-US" dirty="0"/>
              <a:t> —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приносит</a:t>
            </a:r>
            <a:r>
              <a:rPr lang="en-US" dirty="0"/>
              <a:t> с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проверок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некоторая</a:t>
            </a:r>
            <a:r>
              <a:rPr lang="en-US" dirty="0"/>
              <a:t> </a:t>
            </a:r>
            <a:r>
              <a:rPr lang="en-US" dirty="0" err="1"/>
              <a:t>странность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прямоугольником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.</a:t>
            </a:r>
          </a:p>
          <a:p>
            <a:r>
              <a:rPr lang="en-US" dirty="0" err="1"/>
              <a:t>Будущий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выяснять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прекрасно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каким-то</a:t>
            </a:r>
            <a:r>
              <a:rPr lang="en-US" b="1" dirty="0"/>
              <a:t> </a:t>
            </a:r>
            <a:r>
              <a:rPr lang="en-US" b="1" dirty="0" err="1"/>
              <a:t>образом</a:t>
            </a:r>
            <a:r>
              <a:rPr lang="en-US" b="1" dirty="0"/>
              <a:t> </a:t>
            </a:r>
            <a:r>
              <a:rPr lang="en-US" b="1" dirty="0" err="1"/>
              <a:t>использовать</a:t>
            </a:r>
            <a:r>
              <a:rPr lang="en-US" b="1" dirty="0"/>
              <a:t> </a:t>
            </a:r>
            <a:r>
              <a:rPr lang="en-US" b="1" dirty="0" err="1"/>
              <a:t>уже</a:t>
            </a:r>
            <a:r>
              <a:rPr lang="en-US" b="1" dirty="0"/>
              <a:t> </a:t>
            </a:r>
            <a:r>
              <a:rPr lang="en-US" b="1" dirty="0" err="1"/>
              <a:t>существующий</a:t>
            </a:r>
            <a:r>
              <a:rPr lang="en-US" b="1" dirty="0"/>
              <a:t> </a:t>
            </a:r>
            <a:r>
              <a:rPr lang="en-US" b="1" dirty="0" err="1"/>
              <a:t>полиморфизм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определить</a:t>
            </a:r>
            <a:r>
              <a:rPr lang="en-US" b="1" dirty="0"/>
              <a:t> </a:t>
            </a:r>
            <a:r>
              <a:rPr lang="en-US" b="1" dirty="0" err="1"/>
              <a:t>конкретный</a:t>
            </a:r>
            <a:r>
              <a:rPr lang="en-US" b="1" dirty="0"/>
              <a:t> </a:t>
            </a:r>
            <a:r>
              <a:rPr lang="en-US" b="1" dirty="0" err="1"/>
              <a:t>тип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раз</a:t>
            </a:r>
            <a:r>
              <a:rPr lang="en-US" b="1" dirty="0"/>
              <a:t>, а </a:t>
            </a:r>
            <a:r>
              <a:rPr lang="en-US" b="1" dirty="0" err="1"/>
              <a:t>затем</a:t>
            </a:r>
            <a:r>
              <a:rPr lang="en-US" b="1" dirty="0"/>
              <a:t> </a:t>
            </a:r>
            <a:r>
              <a:rPr lang="en-US" b="1" dirty="0" err="1"/>
              <a:t>передать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знание</a:t>
            </a:r>
            <a:r>
              <a:rPr lang="en-US" b="1" dirty="0"/>
              <a:t> </a:t>
            </a:r>
            <a:r>
              <a:rPr lang="en-US" b="1" dirty="0" err="1"/>
              <a:t>той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, </a:t>
            </a:r>
            <a:r>
              <a:rPr lang="en-US" b="1" dirty="0" err="1"/>
              <a:t>которую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хотим</a:t>
            </a:r>
            <a:r>
              <a:rPr lang="en-US" b="1" dirty="0"/>
              <a:t> </a:t>
            </a:r>
            <a:r>
              <a:rPr lang="en-US" b="1" dirty="0" err="1"/>
              <a:t>выполнить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отвечать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и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обнаруживаются</a:t>
            </a:r>
            <a:r>
              <a:rPr lang="en-US" dirty="0"/>
              <a:t> </a:t>
            </a:r>
            <a:r>
              <a:rPr lang="en-US" b="1" dirty="0" err="1"/>
              <a:t>две</a:t>
            </a:r>
            <a:r>
              <a:rPr lang="en-US" b="1" dirty="0"/>
              <a:t> </a:t>
            </a:r>
            <a:r>
              <a:rPr lang="en-US" b="1" dirty="0" err="1"/>
              <a:t>независимые</a:t>
            </a:r>
            <a:r>
              <a:rPr lang="en-US" b="1" dirty="0"/>
              <a:t> </a:t>
            </a:r>
            <a:r>
              <a:rPr lang="en-US" b="1" dirty="0" err="1"/>
              <a:t>оси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23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8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забудем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нашу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чуть</a:t>
            </a:r>
            <a:r>
              <a:rPr lang="en-US" dirty="0"/>
              <a:t> </a:t>
            </a:r>
            <a:r>
              <a:rPr lang="en-US" dirty="0" err="1"/>
              <a:t>шире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вероятно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другая</a:t>
            </a:r>
            <a:r>
              <a:rPr lang="en-US" dirty="0"/>
              <a:t>.</a:t>
            </a:r>
          </a:p>
          <a:p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выполняем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rendering и serialization.</a:t>
            </a:r>
          </a:p>
          <a:p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в SVG, </a:t>
            </a:r>
            <a:r>
              <a:rPr lang="en-US" dirty="0" err="1"/>
              <a:t>подсчёт</a:t>
            </a:r>
            <a:r>
              <a:rPr lang="en-US" dirty="0"/>
              <a:t> </a:t>
            </a:r>
            <a:r>
              <a:rPr lang="en-US" dirty="0" err="1"/>
              <a:t>статистики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что-нибудь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ячейка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?»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Rendering × Rectangle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Serialization × Ellipse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 Export × Rectangle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b="1" dirty="0" err="1"/>
              <a:t>новый</a:t>
            </a:r>
            <a:r>
              <a:rPr lang="en-US" b="1" dirty="0"/>
              <a:t> </a:t>
            </a:r>
            <a:r>
              <a:rPr lang="en-US" b="1" dirty="0" err="1"/>
              <a:t>столбец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</a:t>
            </a:r>
            <a:r>
              <a:rPr lang="en-US" b="1" dirty="0" err="1"/>
              <a:t>новую</a:t>
            </a:r>
            <a:r>
              <a:rPr lang="en-US" b="1" dirty="0"/>
              <a:t> </a:t>
            </a:r>
            <a:r>
              <a:rPr lang="en-US" b="1" dirty="0" err="1"/>
              <a:t>строку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проблема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наблюдаем</a:t>
            </a:r>
            <a:r>
              <a:rPr lang="en-US" dirty="0"/>
              <a:t>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шире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необходимостью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находящийся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двумерной</a:t>
            </a:r>
            <a:r>
              <a:rPr lang="en-US" dirty="0"/>
              <a:t> </a:t>
            </a:r>
            <a:r>
              <a:rPr lang="en-US" dirty="0" err="1"/>
              <a:t>таблице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5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разложить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— </a:t>
            </a:r>
            <a:r>
              <a:rPr lang="en-US" dirty="0" err="1"/>
              <a:t>группировать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типам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и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с </a:t>
            </a:r>
            <a:r>
              <a:rPr lang="en-US" dirty="0" err="1"/>
              <a:t>прямоугольником</a:t>
            </a:r>
            <a:r>
              <a:rPr lang="en-US" dirty="0"/>
              <a:t>: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сериализовать</a:t>
            </a:r>
            <a:r>
              <a:rPr lang="en-US" dirty="0"/>
              <a:t>, </a:t>
            </a:r>
            <a:r>
              <a:rPr lang="en-US" dirty="0" err="1"/>
              <a:t>экспортировать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представлении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b="1" dirty="0" err="1"/>
              <a:t>столбцу</a:t>
            </a:r>
            <a:r>
              <a:rPr lang="en-US" b="1" dirty="0"/>
              <a:t> </a:t>
            </a:r>
            <a:r>
              <a:rPr lang="en-US" b="1" dirty="0" err="1"/>
              <a:t>нашей</a:t>
            </a:r>
            <a:r>
              <a:rPr lang="en-US" b="1" dirty="0"/>
              <a:t> </a:t>
            </a:r>
            <a:r>
              <a:rPr lang="en-US" b="1" dirty="0" err="1"/>
              <a:t>таблицы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Renderer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отображению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Serializer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сериализации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Exporter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b="1" dirty="0" err="1"/>
              <a:t>строке</a:t>
            </a:r>
            <a:r>
              <a:rPr lang="en-US" b="1" dirty="0"/>
              <a:t> </a:t>
            </a:r>
            <a:r>
              <a:rPr lang="en-US" b="1" dirty="0" err="1"/>
              <a:t>таблицы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исчезла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, </a:t>
            </a:r>
            <a:r>
              <a:rPr lang="en-US" b="1" dirty="0"/>
              <a:t>в </a:t>
            </a:r>
            <a:r>
              <a:rPr lang="en-US" b="1" dirty="0" err="1"/>
              <a:t>каком</a:t>
            </a:r>
            <a:r>
              <a:rPr lang="en-US" b="1" dirty="0"/>
              <a:t> </a:t>
            </a:r>
            <a:r>
              <a:rPr lang="en-US" b="1" dirty="0" err="1"/>
              <a:t>направлении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разрезать</a:t>
            </a:r>
            <a:r>
              <a:rPr lang="en-US" dirty="0"/>
              <a:t>.</a:t>
            </a:r>
          </a:p>
          <a:p>
            <a:r>
              <a:rPr lang="en-US" dirty="0"/>
              <a:t>И у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разная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организован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типам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: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, и </a:t>
            </a:r>
            <a:r>
              <a:rPr lang="en-US" dirty="0" err="1"/>
              <a:t>связанное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классах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организован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операциям</a:t>
            </a:r>
            <a:r>
              <a:rPr lang="en-US" dirty="0"/>
              <a:t> — </a:t>
            </a:r>
            <a:r>
              <a:rPr lang="en-US" dirty="0" err="1"/>
              <a:t>наоборот</a:t>
            </a:r>
            <a:r>
              <a:rPr lang="en-US" dirty="0"/>
              <a:t>.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компонентом</a:t>
            </a:r>
            <a:r>
              <a:rPr lang="en-US" dirty="0"/>
              <a:t>, </a:t>
            </a:r>
            <a:r>
              <a:rPr lang="en-US" dirty="0" err="1"/>
              <a:t>зато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затронет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правильное</a:t>
            </a:r>
            <a:r>
              <a:rPr lang="en-US" dirty="0"/>
              <a:t>?»</a:t>
            </a:r>
          </a:p>
          <a:p>
            <a:r>
              <a:rPr lang="en-US" dirty="0"/>
              <a:t>А:</a:t>
            </a:r>
          </a:p>
          <a:p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ось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</a:t>
            </a:r>
            <a:r>
              <a:rPr lang="en-US" b="1" dirty="0" err="1"/>
              <a:t>имеет</a:t>
            </a:r>
            <a:r>
              <a:rPr lang="en-US" b="1" dirty="0"/>
              <a:t> </a:t>
            </a:r>
            <a:r>
              <a:rPr lang="en-US" b="1" dirty="0" err="1"/>
              <a:t>смысл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дешёвой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в </a:t>
            </a:r>
            <a:r>
              <a:rPr lang="en-US" b="1" dirty="0" err="1"/>
              <a:t>нашей</a:t>
            </a:r>
            <a:r>
              <a:rPr lang="en-US" b="1" dirty="0"/>
              <a:t> </a:t>
            </a:r>
            <a:r>
              <a:rPr lang="en-US" b="1" dirty="0" err="1"/>
              <a:t>системе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: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группировать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операциям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разделения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тут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техническая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вынуждена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выяснять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отказаться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и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?</a:t>
            </a:r>
          </a:p>
          <a:p>
            <a:r>
              <a:rPr lang="en-US" dirty="0"/>
              <a:t>Это и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36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и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конкретно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скрывается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объектно-ориентированного</a:t>
            </a:r>
            <a:r>
              <a:rPr lang="en-US" dirty="0"/>
              <a:t> </a:t>
            </a:r>
            <a:r>
              <a:rPr lang="en-US" dirty="0" err="1"/>
              <a:t>программирования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.</a:t>
            </a:r>
          </a:p>
          <a:p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Serialize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с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конкретно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пишем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shape.Draw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(target);</a:t>
            </a:r>
          </a:p>
          <a:p>
            <a:r>
              <a:rPr lang="en-US" dirty="0"/>
              <a:t>и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приведёт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Rectangle::Draw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Ellipse::Draw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с </a:t>
            </a:r>
            <a:r>
              <a:rPr lang="en-US" dirty="0" err="1"/>
              <a:t>сериализацией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идеально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en-US" dirty="0"/>
              <a:t>.</a:t>
            </a:r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организовали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осей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: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типам</a:t>
            </a:r>
            <a:r>
              <a:rPr lang="en-US" b="1" dirty="0"/>
              <a:t> </a:t>
            </a:r>
            <a:r>
              <a:rPr lang="en-US" b="1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к </a:t>
            </a:r>
            <a:r>
              <a:rPr lang="en-US" dirty="0" err="1"/>
              <a:t>ней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убедительно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, а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96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превращаться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Serialize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в SVG —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ExportToSvg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захотели</a:t>
            </a:r>
            <a:r>
              <a:rPr lang="en-US" dirty="0"/>
              <a:t> </a:t>
            </a:r>
            <a:r>
              <a:rPr lang="en-US" dirty="0" err="1"/>
              <a:t>собрать</a:t>
            </a:r>
            <a:r>
              <a:rPr lang="en-US" dirty="0"/>
              <a:t> </a:t>
            </a:r>
            <a:r>
              <a:rPr lang="en-US" dirty="0" err="1"/>
              <a:t>статистику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рисунку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debug dump.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обо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операциях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когда-либо</a:t>
            </a:r>
            <a:r>
              <a:rPr lang="en-US" dirty="0"/>
              <a:t> </a:t>
            </a:r>
            <a:r>
              <a:rPr lang="en-US" dirty="0" err="1"/>
              <a:t>кому-нибудь</a:t>
            </a:r>
            <a:r>
              <a:rPr lang="en-US" dirty="0"/>
              <a:t> </a:t>
            </a:r>
            <a:r>
              <a:rPr lang="en-US" dirty="0" err="1"/>
              <a:t>потребовалось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обязанности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модели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задавали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в </a:t>
            </a:r>
            <a:r>
              <a:rPr lang="en-US" dirty="0" err="1"/>
              <a:t>прошлой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SFML,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ru-RU" dirty="0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убирал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убирал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сериализацией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рассуждать</a:t>
            </a:r>
            <a:r>
              <a:rPr lang="en-US" dirty="0"/>
              <a:t> </a:t>
            </a:r>
            <a:r>
              <a:rPr lang="en-US" dirty="0" err="1"/>
              <a:t>похожим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форматов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/>
              <a:t>XML, JSON, SVG, </a:t>
            </a:r>
            <a:r>
              <a:rPr lang="en-US" dirty="0" err="1"/>
              <a:t>какой-нибудь</a:t>
            </a:r>
            <a:r>
              <a:rPr lang="en-US" dirty="0"/>
              <a:t> </a:t>
            </a:r>
            <a:r>
              <a:rPr lang="en-US" dirty="0" err="1"/>
              <a:t>внутренний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?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начинаем</a:t>
            </a:r>
            <a:r>
              <a:rPr lang="en-US" dirty="0"/>
              <a:t> </a:t>
            </a:r>
            <a:r>
              <a:rPr lang="en-US" dirty="0" err="1"/>
              <a:t>втягивать</a:t>
            </a:r>
            <a:r>
              <a:rPr lang="en-US" dirty="0"/>
              <a:t> в Domain Model </a:t>
            </a:r>
            <a:r>
              <a:rPr lang="en-US" dirty="0" err="1"/>
              <a:t>обязанности</a:t>
            </a:r>
            <a:r>
              <a:rPr lang="en-US" dirty="0"/>
              <a:t>, у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ExportToSvg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b="1" dirty="0" err="1"/>
              <a:t>новые</a:t>
            </a:r>
            <a:r>
              <a:rPr lang="en-US" b="1" dirty="0"/>
              <a:t> </a:t>
            </a:r>
            <a:r>
              <a:rPr lang="en-US" b="1" dirty="0" err="1"/>
              <a:t>типы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b="1" dirty="0" err="1"/>
              <a:t>новые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осей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—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оказываются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endParaRPr lang="ru-RU" b="1" dirty="0"/>
          </a:p>
          <a:p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оставить</a:t>
            </a:r>
            <a:r>
              <a:rPr lang="en-US" b="1" dirty="0"/>
              <a:t> Rendering, Serialization и </a:t>
            </a:r>
            <a:r>
              <a:rPr lang="en-US" b="1" dirty="0" err="1"/>
              <a:t>другие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 </a:t>
            </a:r>
            <a:r>
              <a:rPr lang="en-US" b="1" dirty="0" err="1"/>
              <a:t>снаружи</a:t>
            </a:r>
            <a:r>
              <a:rPr lang="en-US" b="1" dirty="0"/>
              <a:t> Domain Model — и </a:t>
            </a:r>
            <a:r>
              <a:rPr lang="en-US" b="1" dirty="0" err="1"/>
              <a:t>всё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каким-то</a:t>
            </a:r>
            <a:r>
              <a:rPr lang="en-US" b="1" dirty="0"/>
              <a:t> </a:t>
            </a:r>
            <a:r>
              <a:rPr lang="en-US" b="1" dirty="0" err="1"/>
              <a:t>образом</a:t>
            </a:r>
            <a:r>
              <a:rPr lang="en-US" b="1" dirty="0"/>
              <a:t> </a:t>
            </a:r>
            <a:r>
              <a:rPr lang="en-US" b="1" dirty="0" err="1"/>
              <a:t>воспользоваться</a:t>
            </a:r>
            <a:r>
              <a:rPr lang="en-US" b="1" dirty="0"/>
              <a:t> </a:t>
            </a:r>
            <a:r>
              <a:rPr lang="en-US" b="1" dirty="0" err="1"/>
              <a:t>полиморфизмом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87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66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возвращать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Serialize</a:t>
            </a:r>
            <a:r>
              <a:rPr lang="en-US" dirty="0"/>
              <a:t> и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будущие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хочется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пользовательскому</a:t>
            </a:r>
            <a:r>
              <a:rPr lang="en-US" dirty="0"/>
              <a:t> </a:t>
            </a:r>
            <a:r>
              <a:rPr lang="en-US" dirty="0" err="1"/>
              <a:t>интерфейсу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.</a:t>
            </a:r>
          </a:p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сериализации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.</a:t>
            </a:r>
          </a:p>
          <a:p>
            <a:r>
              <a:rPr lang="en-US" dirty="0" err="1"/>
              <a:t>Экспорт</a:t>
            </a:r>
            <a:r>
              <a:rPr lang="en-US" dirty="0"/>
              <a:t> в SVG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третью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особого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 </a:t>
            </a:r>
            <a:r>
              <a:rPr lang="en-US" dirty="0" err="1"/>
              <a:t>собирать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прямоугольником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оставим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, к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сохранение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SVG —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организуем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операциям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типам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приятное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идём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—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перемешиваются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Domain Model.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старую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решило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разный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49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.</a:t>
            </a:r>
          </a:p>
          <a:p>
            <a:r>
              <a:rPr lang="en-US" dirty="0"/>
              <a:t>У Renderer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и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</a:p>
          <a:p>
            <a:r>
              <a:rPr lang="en-US" dirty="0"/>
              <a:t>У Serializer —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структурированно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перечислено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я </a:t>
            </a:r>
            <a:r>
              <a:rPr lang="en-US" dirty="0" err="1"/>
              <a:t>делаю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.»</a:t>
            </a:r>
          </a:p>
          <a:p>
            <a:r>
              <a:rPr lang="en-US" dirty="0"/>
              <a:t>«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я </a:t>
            </a:r>
            <a:r>
              <a:rPr lang="en-US" dirty="0" err="1"/>
              <a:t>делаю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.»</a:t>
            </a:r>
          </a:p>
          <a:p>
            <a:r>
              <a:rPr lang="en-US" dirty="0"/>
              <a:t>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сериализации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исчезло</a:t>
            </a:r>
            <a:r>
              <a:rPr lang="en-US" dirty="0"/>
              <a:t> — и </a:t>
            </a:r>
            <a:r>
              <a:rPr lang="en-US" dirty="0" err="1"/>
              <a:t>исчезать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.</a:t>
            </a:r>
          </a:p>
          <a:p>
            <a:r>
              <a:rPr lang="en-US" dirty="0"/>
              <a:t>Renderer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/>
              <a:t>Serializer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техническая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перебираем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Rectangle&amp;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Ellipse&amp;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shape;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перегруженные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Draw(const Rectangle&amp;);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Draw(const Ellipse&amp;);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Draw(shape);</a:t>
            </a:r>
          </a:p>
          <a:p>
            <a:r>
              <a:rPr lang="en-US" dirty="0" err="1"/>
              <a:t>Как</a:t>
            </a:r>
            <a:r>
              <a:rPr lang="en-US" dirty="0"/>
              <a:t> C++ </a:t>
            </a:r>
            <a:r>
              <a:rPr lang="en-US" dirty="0" err="1"/>
              <a:t>поймёт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обнаруживается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b="1" dirty="0" err="1"/>
              <a:t>виртуальным</a:t>
            </a:r>
            <a:r>
              <a:rPr lang="en-US" b="1" dirty="0"/>
              <a:t> </a:t>
            </a:r>
            <a:r>
              <a:rPr lang="en-US" b="1" dirty="0" err="1"/>
              <a:t>вызовом</a:t>
            </a:r>
            <a:r>
              <a:rPr lang="en-US" dirty="0"/>
              <a:t> и </a:t>
            </a:r>
            <a:r>
              <a:rPr lang="en-US" b="1" dirty="0" err="1"/>
              <a:t>перегрузкой</a:t>
            </a:r>
            <a:r>
              <a:rPr lang="en-US" b="1" dirty="0"/>
              <a:t> </a:t>
            </a:r>
            <a:r>
              <a:rPr lang="en-US" b="1" dirty="0" err="1"/>
              <a:t>функций</a:t>
            </a:r>
            <a:r>
              <a:rPr lang="en-US" dirty="0"/>
              <a:t>.</a:t>
            </a:r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— </a:t>
            </a:r>
            <a:r>
              <a:rPr lang="en-US" dirty="0" err="1"/>
              <a:t>разобраться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overload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нашу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52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перегрузки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Draw(const Rectangle&amp;);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Draw(const Ellipse&amp;);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C++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перегрузку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shape.Draw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(...);</a:t>
            </a:r>
          </a:p>
          <a:p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реальный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, и virtual dispatch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Rectangle::Draw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перегруженную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Draw(shape);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перегрузку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— </a:t>
            </a:r>
            <a:r>
              <a:rPr lang="en-US" dirty="0" err="1"/>
              <a:t>исходя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b="1" dirty="0" err="1"/>
              <a:t>статического</a:t>
            </a:r>
            <a:r>
              <a:rPr lang="en-US" b="1" dirty="0"/>
              <a:t> </a:t>
            </a:r>
            <a:r>
              <a:rPr lang="en-US" b="1" dirty="0" err="1"/>
              <a:t>типа</a:t>
            </a:r>
            <a:r>
              <a:rPr lang="en-US" b="1" dirty="0"/>
              <a:t> </a:t>
            </a:r>
            <a:r>
              <a:rPr lang="en-US" b="1" dirty="0" err="1"/>
              <a:t>аргумента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».</a:t>
            </a:r>
          </a:p>
          <a:p>
            <a:r>
              <a:rPr lang="en-US" dirty="0" err="1"/>
              <a:t>Для</a:t>
            </a:r>
            <a:r>
              <a:rPr lang="en-US" dirty="0"/>
              <a:t> overload resolution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Draw(const Rectangle&amp;);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Draw(const Ellipse&amp;);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объясняет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вынуждены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: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любопытная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виртуального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хватает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runtime-</a:t>
            </a:r>
            <a:r>
              <a:rPr lang="en-US" dirty="0" err="1"/>
              <a:t>типу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перенесём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и </a:t>
            </a:r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перегрузок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теряется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:</a:t>
            </a:r>
          </a:p>
          <a:p>
            <a:r>
              <a:rPr lang="en-US" b="1" dirty="0" err="1"/>
              <a:t>можем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воспользоваться</a:t>
            </a:r>
            <a:r>
              <a:rPr lang="en-US" b="1" dirty="0"/>
              <a:t> virtual dispatch,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попасть</a:t>
            </a:r>
            <a:r>
              <a:rPr lang="en-US" b="1" dirty="0"/>
              <a:t> в </a:t>
            </a:r>
            <a:r>
              <a:rPr lang="en-US" b="1" dirty="0" err="1"/>
              <a:t>код</a:t>
            </a:r>
            <a:r>
              <a:rPr lang="en-US" b="1" dirty="0"/>
              <a:t> </a:t>
            </a:r>
            <a:r>
              <a:rPr lang="en-US" b="1" dirty="0" err="1"/>
              <a:t>конкретной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, а </a:t>
            </a:r>
            <a:r>
              <a:rPr lang="en-US" b="1" dirty="0" err="1"/>
              <a:t>уже</a:t>
            </a:r>
            <a:r>
              <a:rPr lang="en-US" b="1" dirty="0"/>
              <a:t> </a:t>
            </a:r>
            <a:r>
              <a:rPr lang="en-US" b="1" dirty="0" err="1"/>
              <a:t>оттуда</a:t>
            </a:r>
            <a:r>
              <a:rPr lang="en-US" b="1" dirty="0"/>
              <a:t> </a:t>
            </a:r>
            <a:r>
              <a:rPr lang="en-US" b="1" dirty="0" err="1"/>
              <a:t>передать</a:t>
            </a:r>
            <a:r>
              <a:rPr lang="en-US" b="1" dirty="0"/>
              <a:t> </a:t>
            </a:r>
            <a:r>
              <a:rPr lang="en-US" b="1" dirty="0" err="1"/>
              <a:t>наружу</a:t>
            </a:r>
            <a:r>
              <a:rPr lang="en-US" b="1" dirty="0"/>
              <a:t> </a:t>
            </a:r>
            <a:r>
              <a:rPr lang="en-US" b="1" dirty="0" err="1"/>
              <a:t>знание</a:t>
            </a:r>
            <a:r>
              <a:rPr lang="en-US" b="1" dirty="0"/>
              <a:t> о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конкретном</a:t>
            </a:r>
            <a:r>
              <a:rPr lang="en-US" b="1" dirty="0"/>
              <a:t> </a:t>
            </a:r>
            <a:r>
              <a:rPr lang="en-US" b="1" dirty="0" err="1"/>
              <a:t>типе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шагом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10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shape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перегрузка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ссылкой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скрываться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выяснять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(operation);</a:t>
            </a:r>
          </a:p>
          <a:p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виртуальный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смотрит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реальный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попадаем</a:t>
            </a:r>
            <a:r>
              <a:rPr lang="en-US" dirty="0"/>
              <a:t> в: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в: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вещь</a:t>
            </a:r>
            <a:r>
              <a:rPr lang="en-US" dirty="0"/>
              <a:t>.</a:t>
            </a:r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угадывать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Rectangle*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*this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Rectangle&amp;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virtual dispatch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сделал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писали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r>
              <a:rPr lang="en-US" dirty="0" err="1"/>
              <a:t>Снаружи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абстрактная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виртуального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зацепку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оставалась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:</a:t>
            </a:r>
          </a:p>
          <a:p>
            <a:r>
              <a:rPr lang="en-US" b="1" dirty="0" err="1"/>
              <a:t>передать</a:t>
            </a:r>
            <a:r>
              <a:rPr lang="en-US" b="1" dirty="0"/>
              <a:t> </a:t>
            </a:r>
            <a:r>
              <a:rPr lang="en-US" b="1" dirty="0" err="1"/>
              <a:t>себя</a:t>
            </a:r>
            <a:r>
              <a:rPr lang="en-US" b="1" dirty="0"/>
              <a:t> </a:t>
            </a:r>
            <a:r>
              <a:rPr lang="en-US" b="1" dirty="0" err="1"/>
              <a:t>внешней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 </a:t>
            </a:r>
            <a:r>
              <a:rPr lang="en-US" b="1" dirty="0" err="1"/>
              <a:t>уже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operation.Apply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—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перегрузка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?</a:t>
            </a:r>
          </a:p>
          <a:p>
            <a:r>
              <a:rPr lang="en-US" dirty="0"/>
              <a:t>Это и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05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переписать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.</a:t>
            </a:r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 </a:t>
            </a:r>
            <a:r>
              <a:rPr lang="en-US" dirty="0" err="1"/>
              <a:t>передавался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Draw(drawing,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target);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(Rectangle)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(Ellipse)</a:t>
            </a:r>
            <a:r>
              <a:rPr lang="en-US" dirty="0"/>
              <a:t>, и </a:t>
            </a:r>
            <a:r>
              <a:rPr lang="en-US" dirty="0" err="1"/>
              <a:t>обоим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протащить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(operation, target);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потребностей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 Renderer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, </a:t>
            </a:r>
            <a:r>
              <a:rPr lang="en-US" dirty="0" err="1"/>
              <a:t>сериализатору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что-то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. В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начнут</a:t>
            </a:r>
            <a:r>
              <a:rPr lang="en-US" dirty="0"/>
              <a:t> </a:t>
            </a:r>
            <a:r>
              <a:rPr lang="en-US" dirty="0" err="1"/>
              <a:t>просачиваться</a:t>
            </a:r>
            <a:r>
              <a:rPr lang="en-US" dirty="0"/>
              <a:t> в Domain Model.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: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dirty="0"/>
              <a:t> и </a:t>
            </a:r>
            <a:r>
              <a:rPr lang="en-US" dirty="0" err="1"/>
              <a:t>передадим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renderer{ target };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m_target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Rectangle&amp; rectangle)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m_target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уже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доступен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конструкции</a:t>
            </a:r>
            <a:r>
              <a:rPr lang="en-US" dirty="0"/>
              <a:t>: </a:t>
            </a:r>
            <a:r>
              <a:rPr lang="en-US" b="1" dirty="0" err="1"/>
              <a:t>фигура</a:t>
            </a:r>
            <a:r>
              <a:rPr lang="en-US" b="1" dirty="0"/>
              <a:t> </a:t>
            </a:r>
            <a:r>
              <a:rPr lang="en-US" b="1" dirty="0" err="1"/>
              <a:t>передаёт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</a:t>
            </a:r>
            <a:r>
              <a:rPr lang="en-US" b="1" dirty="0" err="1"/>
              <a:t>себя</a:t>
            </a:r>
            <a:r>
              <a:rPr lang="en-US" b="1" dirty="0"/>
              <a:t>, а </a:t>
            </a:r>
            <a:r>
              <a:rPr lang="en-US" b="1" dirty="0" err="1"/>
              <a:t>весь</a:t>
            </a:r>
            <a:r>
              <a:rPr lang="en-US" b="1" dirty="0"/>
              <a:t> </a:t>
            </a:r>
            <a:r>
              <a:rPr lang="en-US" b="1" dirty="0" err="1"/>
              <a:t>дополнительный</a:t>
            </a:r>
            <a:r>
              <a:rPr lang="en-US" b="1" dirty="0"/>
              <a:t> </a:t>
            </a:r>
            <a:r>
              <a:rPr lang="en-US" b="1" dirty="0" err="1"/>
              <a:t>контекст</a:t>
            </a:r>
            <a:r>
              <a:rPr lang="en-US" b="1" dirty="0"/>
              <a:t> </a:t>
            </a:r>
            <a:r>
              <a:rPr lang="en-US" b="1" dirty="0" err="1"/>
              <a:t>операция</a:t>
            </a:r>
            <a:r>
              <a:rPr lang="en-US" b="1" dirty="0"/>
              <a:t> </a:t>
            </a:r>
            <a:r>
              <a:rPr lang="en-US" b="1" dirty="0" err="1"/>
              <a:t>хранит</a:t>
            </a:r>
            <a:r>
              <a:rPr lang="en-US" b="1" dirty="0"/>
              <a:t> </a:t>
            </a:r>
            <a:r>
              <a:rPr lang="en-US" b="1" dirty="0" err="1"/>
              <a:t>внутри</a:t>
            </a:r>
            <a:r>
              <a:rPr lang="en-US" b="1" dirty="0"/>
              <a:t> </a:t>
            </a:r>
            <a:r>
              <a:rPr lang="en-US" b="1" dirty="0" err="1"/>
              <a:t>себя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, у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en-US" dirty="0"/>
              <a:t>, а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накопленное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.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с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, </a:t>
            </a:r>
            <a:r>
              <a:rPr lang="en-US" dirty="0" err="1"/>
              <a:t>передавая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параметром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Renderer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сохранили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operation.ApplyTo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stateful.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остался</a:t>
            </a:r>
            <a:r>
              <a:rPr lang="en-US" dirty="0"/>
              <a:t> </a:t>
            </a:r>
            <a:r>
              <a:rPr lang="en-US" dirty="0" err="1"/>
              <a:t>независимым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582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сложное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использовала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,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IShapeOperation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Renderer.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, </a:t>
            </a:r>
            <a:r>
              <a:rPr lang="en-US" dirty="0" err="1"/>
              <a:t>необходимый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, —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—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(IShapeOperation&amp;)</a:t>
            </a:r>
          </a:p>
          <a:p>
            <a:r>
              <a:rPr lang="en-US" dirty="0"/>
              <a:t>А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Serialize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обход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в: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Rectangle&amp;)</a:t>
            </a:r>
          </a:p>
          <a:p>
            <a:r>
              <a:rPr lang="en-US" dirty="0" err="1"/>
              <a:t>либо</a:t>
            </a:r>
            <a:r>
              <a:rPr lang="en-US" dirty="0"/>
              <a:t> в: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Ellipse&amp;)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сериализации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впервые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придуманный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51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выиграли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решали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техническую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содержала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бизнес-логику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и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b="1" dirty="0"/>
              <a:t>dispatch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типу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IShapeOperation</a:t>
            </a:r>
          </a:p>
          <a:p>
            <a:r>
              <a:rPr lang="en-US" dirty="0"/>
              <a:t>и </a:t>
            </a:r>
            <a:r>
              <a:rPr lang="en-US" dirty="0" err="1"/>
              <a:t>описываем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с </a:t>
            </a:r>
            <a:r>
              <a:rPr lang="en-US" dirty="0" err="1"/>
              <a:t>каждым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Rectangle&amp;);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Ellipse&amp;);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и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: </a:t>
            </a:r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локализованным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сильный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них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уничтожили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b="1" dirty="0" err="1"/>
              <a:t>явной</a:t>
            </a:r>
            <a:r>
              <a:rPr lang="en-US" b="1" dirty="0"/>
              <a:t> и </a:t>
            </a:r>
            <a:r>
              <a:rPr lang="en-US" b="1" dirty="0" err="1"/>
              <a:t>одинаково</a:t>
            </a:r>
            <a:r>
              <a:rPr lang="en-US" b="1" dirty="0"/>
              <a:t> </a:t>
            </a:r>
            <a:r>
              <a:rPr lang="en-US" b="1" dirty="0" err="1"/>
              <a:t>организованной</a:t>
            </a:r>
            <a:r>
              <a:rPr lang="en-US" b="1" dirty="0"/>
              <a:t> </a:t>
            </a:r>
            <a:r>
              <a:rPr lang="en-US" b="1" dirty="0" err="1"/>
              <a:t>во</a:t>
            </a:r>
            <a:r>
              <a:rPr lang="en-US" b="1" dirty="0"/>
              <a:t> </a:t>
            </a:r>
            <a:r>
              <a:rPr lang="en-US" b="1" dirty="0" err="1"/>
              <a:t>всех</a:t>
            </a:r>
            <a:r>
              <a:rPr lang="en-US" b="1" dirty="0"/>
              <a:t> </a:t>
            </a:r>
            <a:r>
              <a:rPr lang="en-US" b="1" dirty="0" err="1"/>
              <a:t>операциях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экспорт</a:t>
            </a:r>
            <a:r>
              <a:rPr lang="en-US" dirty="0"/>
              <a:t> в SVG,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public IShapeOperation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Rectangle&amp;) override;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(const Ellipse&amp;) override;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Похоже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частный</a:t>
            </a:r>
            <a:r>
              <a:rPr lang="en-US" dirty="0"/>
              <a:t> </a:t>
            </a:r>
            <a:r>
              <a:rPr lang="en-US" dirty="0" err="1"/>
              <a:t>трюк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Renderer.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.</a:t>
            </a:r>
          </a:p>
          <a:p>
            <a:r>
              <a:rPr lang="en-US" dirty="0"/>
              <a:t>И у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конструкции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известное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892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32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 </a:t>
            </a:r>
            <a:r>
              <a:rPr lang="en-US" dirty="0" err="1"/>
              <a:t>работающую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IShapeOperation</a:t>
            </a:r>
            <a:r>
              <a:rPr lang="en-US" dirty="0"/>
              <a:t>,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ApplyOperation</a:t>
            </a:r>
            <a:r>
              <a:rPr lang="en-US" dirty="0"/>
              <a:t> у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ApplyTo</a:t>
            </a:r>
            <a:r>
              <a:rPr lang="en-US" dirty="0"/>
              <a:t> у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конструкция</a:t>
            </a:r>
            <a:r>
              <a:rPr lang="en-US" dirty="0"/>
              <a:t> </a:t>
            </a:r>
            <a:r>
              <a:rPr lang="en-US" dirty="0" err="1"/>
              <a:t>давно</a:t>
            </a:r>
            <a:r>
              <a:rPr lang="en-US" dirty="0"/>
              <a:t> </a:t>
            </a:r>
            <a:r>
              <a:rPr lang="en-US" dirty="0" err="1"/>
              <a:t>известна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— </a:t>
            </a:r>
            <a:r>
              <a:rPr lang="en-US" b="1" dirty="0"/>
              <a:t>Visitor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Посетитель</a:t>
            </a:r>
            <a:r>
              <a:rPr lang="en-US" dirty="0"/>
              <a:t>».</a:t>
            </a:r>
          </a:p>
          <a:p>
            <a:r>
              <a:rPr lang="en-US" dirty="0"/>
              <a:t>В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терминологии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Visitor.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принимающий</a:t>
            </a:r>
            <a:r>
              <a:rPr lang="en-US" dirty="0"/>
              <a:t> Visitor, </a:t>
            </a:r>
            <a:r>
              <a:rPr lang="en-US" dirty="0" err="1"/>
              <a:t>традиционно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типоспецифичные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имена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общепринятые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выглядело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shape.ApplyOperation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(operation);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shape.Accept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(visitor);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А: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operation.ApplyTo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(rectangle);</a:t>
            </a:r>
          </a:p>
          <a:p>
            <a:r>
              <a:rPr lang="en-US" dirty="0" err="1"/>
              <a:t>становится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visitor.Visit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(rectangle);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 </a:t>
            </a:r>
            <a:r>
              <a:rPr lang="ru-RU" dirty="0"/>
              <a:t>– это </a:t>
            </a:r>
            <a:r>
              <a:rPr lang="en-US" dirty="0" err="1"/>
              <a:t>стандартн</a:t>
            </a:r>
            <a:r>
              <a:rPr lang="ru-RU" dirty="0" err="1"/>
              <a:t>ые</a:t>
            </a:r>
            <a:r>
              <a:rPr lang="en-US" dirty="0"/>
              <a:t> </a:t>
            </a:r>
            <a:r>
              <a:rPr lang="en-US" dirty="0" err="1"/>
              <a:t>термин</a:t>
            </a:r>
            <a:r>
              <a:rPr lang="ru-RU" dirty="0"/>
              <a:t>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построенного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протокола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34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отвлечёмся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классическом</a:t>
            </a:r>
            <a:r>
              <a:rPr lang="en-US" dirty="0"/>
              <a:t> Visitor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b="1" dirty="0" err="1"/>
              <a:t>элементы</a:t>
            </a:r>
            <a:r>
              <a:rPr lang="en-US" dirty="0"/>
              <a:t>,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en-US" dirty="0"/>
              <a:t> и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ConcreteElementA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ConcreteElementB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— </a:t>
            </a:r>
            <a:r>
              <a:rPr lang="en-US" b="1" dirty="0"/>
              <a:t>Visitor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IVisitor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определена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Visitor.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Один</a:t>
            </a:r>
            <a:r>
              <a:rPr lang="en-US" dirty="0"/>
              <a:t> Visitor </a:t>
            </a:r>
            <a:r>
              <a:rPr lang="en-US" dirty="0" err="1"/>
              <a:t>выполняет</a:t>
            </a:r>
            <a:r>
              <a:rPr lang="en-US" dirty="0"/>
              <a:t> rendering.</a:t>
            </a:r>
          </a:p>
          <a:p>
            <a:r>
              <a:rPr lang="en-US" dirty="0" err="1"/>
              <a:t>Другой</a:t>
            </a:r>
            <a:r>
              <a:rPr lang="en-US" dirty="0"/>
              <a:t> — serialization.</a:t>
            </a:r>
          </a:p>
          <a:p>
            <a:endParaRPr lang="en-US" dirty="0"/>
          </a:p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 —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ConcreteElementA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::Accept(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IVisitor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visitor)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visitor.Visit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Visitor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обязанности</a:t>
            </a:r>
            <a:r>
              <a:rPr lang="en-US" dirty="0"/>
              <a:t> </a:t>
            </a:r>
            <a:r>
              <a:rPr lang="en-US" dirty="0" err="1"/>
              <a:t>разделены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чётко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ConcreteElementA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:</a:t>
            </a:r>
          </a:p>
          <a:p>
            <a:r>
              <a:rPr lang="en-US" dirty="0"/>
              <a:t>«Я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ConcreteElementA</a:t>
            </a:r>
            <a:r>
              <a:rPr lang="en-US" dirty="0"/>
              <a:t>».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dirty="0"/>
              <a:t> Visitor </a:t>
            </a:r>
            <a:r>
              <a:rPr lang="en-US" dirty="0" err="1"/>
              <a:t>собирается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</a:p>
          <a:p>
            <a:r>
              <a:rPr lang="en-US" dirty="0"/>
              <a:t>Visitor,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знает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мне</a:t>
            </a:r>
            <a:r>
              <a:rPr lang="en-US" dirty="0"/>
              <a:t> </a:t>
            </a:r>
            <a:r>
              <a:rPr lang="en-US" dirty="0" err="1"/>
              <a:t>дали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ConcreteElementA</a:t>
            </a:r>
            <a:r>
              <a:rPr lang="en-US" dirty="0"/>
              <a:t>, я </a:t>
            </a:r>
            <a:r>
              <a:rPr lang="en-US" dirty="0" err="1"/>
              <a:t>выполняю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».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самостоятельным</a:t>
            </a:r>
            <a:r>
              <a:rPr lang="en-US" dirty="0"/>
              <a:t> </a:t>
            </a:r>
            <a:r>
              <a:rPr lang="en-US" dirty="0" err="1"/>
              <a:t>определением</a:t>
            </a:r>
            <a:r>
              <a:rPr lang="en-US" dirty="0"/>
              <a:t> runtime-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 —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99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06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разберёмся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построенная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конструкция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</a:t>
            </a:r>
          </a:p>
          <a:p>
            <a:r>
              <a:rPr lang="en-US" dirty="0" err="1"/>
              <a:t>Начинаем</a:t>
            </a:r>
            <a:r>
              <a:rPr lang="en-US" dirty="0"/>
              <a:t> с </a:t>
            </a:r>
            <a:r>
              <a:rPr lang="en-US" dirty="0" err="1"/>
              <a:t>ситуации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создавала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shape;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ссылке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какая-нибудь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есть</a:t>
            </a:r>
            <a:r>
              <a:rPr lang="en-US" dirty="0"/>
              <a:t> Visitor: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visitor;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shape.Accept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(visitor);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—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runtime-dispatch.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реальный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в: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Rectangle::Accept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Ellipse::Accept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пытались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перегруженную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.</a:t>
            </a:r>
          </a:p>
          <a:p>
            <a:r>
              <a:rPr lang="en-US" dirty="0" err="1"/>
              <a:t>Снаружи</a:t>
            </a:r>
            <a:r>
              <a:rPr lang="en-US" dirty="0"/>
              <a:t>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Rectangle::Accept</a:t>
            </a:r>
            <a:r>
              <a:rPr lang="en-US" dirty="0"/>
              <a:t> </a:t>
            </a:r>
            <a:r>
              <a:rPr lang="en-US" dirty="0" err="1"/>
              <a:t>выражение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*this</a:t>
            </a:r>
          </a:p>
          <a:p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Rectangle&amp;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virtual dispatch </a:t>
            </a:r>
            <a:r>
              <a:rPr lang="en-US" dirty="0" err="1"/>
              <a:t>использовал</a:t>
            </a:r>
            <a:r>
              <a:rPr lang="en-US" dirty="0"/>
              <a:t> runtime-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и </a:t>
            </a:r>
            <a:r>
              <a:rPr lang="en-US" dirty="0" err="1"/>
              <a:t>привёл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в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Rectangle::Accept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пишем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visitor.Visit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слайдах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выполнении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523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вторую</a:t>
            </a:r>
            <a:r>
              <a:rPr lang="en-US" dirty="0"/>
              <a:t> </a:t>
            </a:r>
            <a:r>
              <a:rPr lang="en-US" dirty="0" err="1"/>
              <a:t>половину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находимся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Rectangle::Accept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*this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Rectangle&amp;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вызываем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visitor.Visit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происходят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C++,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смешивать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подходящую</a:t>
            </a:r>
            <a:r>
              <a:rPr lang="en-US" dirty="0"/>
              <a:t> </a:t>
            </a:r>
            <a:r>
              <a:rPr lang="en-US" b="1" dirty="0" err="1"/>
              <a:t>перегрузку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.</a:t>
            </a:r>
          </a:p>
          <a:p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*this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Rectangle&amp;</a:t>
            </a:r>
            <a:r>
              <a:rPr lang="en-US" dirty="0"/>
              <a:t>, </a:t>
            </a:r>
            <a:r>
              <a:rPr lang="en-US" dirty="0" err="1"/>
              <a:t>выбирается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Visit(const Rectangle&amp;)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C++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перегрузку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runtime-</a:t>
            </a:r>
            <a:r>
              <a:rPr lang="en-US" dirty="0" err="1"/>
              <a:t>типу</a:t>
            </a:r>
            <a:r>
              <a:rPr lang="en-US" dirty="0"/>
              <a:t> </a:t>
            </a:r>
            <a:r>
              <a:rPr lang="en-US" dirty="0" err="1"/>
              <a:t>аргумента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Draw(shape);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работал</a:t>
            </a:r>
            <a:r>
              <a:rPr lang="en-US" dirty="0"/>
              <a:t>: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статическим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virtual dispatch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привёл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overload resolution </a:t>
            </a:r>
            <a:r>
              <a:rPr lang="en-US" dirty="0" err="1"/>
              <a:t>доступен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</a:p>
          <a:p>
            <a:r>
              <a:rPr lang="en-US" dirty="0"/>
              <a:t>а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определил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Visit(const Rectangle&amp;)</a:t>
            </a:r>
          </a:p>
          <a:p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virtual dispatch —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runtime-</a:t>
            </a:r>
            <a:r>
              <a:rPr lang="en-US" dirty="0" err="1"/>
              <a:t>типу</a:t>
            </a:r>
            <a:r>
              <a:rPr lang="en-US" dirty="0"/>
              <a:t> Visitor.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Visitor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вызван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::Visit(const Rectangle&amp;)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::Visit(const Rectangle&amp;)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конечное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b="1" dirty="0" err="1"/>
              <a:t>какая</a:t>
            </a:r>
            <a:r>
              <a:rPr lang="en-US" b="1" dirty="0"/>
              <a:t> </a:t>
            </a:r>
            <a:r>
              <a:rPr lang="en-US" b="1" dirty="0" err="1"/>
              <a:t>конкретно</a:t>
            </a:r>
            <a:r>
              <a:rPr lang="en-US" b="1" dirty="0"/>
              <a:t> </a:t>
            </a:r>
            <a:r>
              <a:rPr lang="en-US" b="1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скрывается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b="1" dirty="0" err="1"/>
              <a:t>какая</a:t>
            </a:r>
            <a:r>
              <a:rPr lang="en-US" b="1" dirty="0"/>
              <a:t> </a:t>
            </a:r>
            <a:r>
              <a:rPr lang="en-US" b="1" dirty="0" err="1"/>
              <a:t>конкретно</a:t>
            </a:r>
            <a:r>
              <a:rPr lang="en-US" b="1" dirty="0"/>
              <a:t> </a:t>
            </a:r>
            <a:r>
              <a:rPr lang="en-US" b="1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скрывается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Rectangle::Accept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в </a:t>
            </a:r>
            <a:r>
              <a:rPr lang="en-US" dirty="0" err="1"/>
              <a:t>нужную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Visit(Rectangle)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Visitor.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Double Dispatch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 в C++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встроенной</a:t>
            </a:r>
            <a:r>
              <a:rPr lang="en-US" dirty="0"/>
              <a:t> </a:t>
            </a:r>
            <a:r>
              <a:rPr lang="en-US" dirty="0" err="1"/>
              <a:t>магической</a:t>
            </a:r>
            <a:r>
              <a:rPr lang="en-US" dirty="0"/>
              <a:t> «</a:t>
            </a:r>
            <a:r>
              <a:rPr lang="en-US" dirty="0" err="1"/>
              <a:t>двойной</a:t>
            </a:r>
            <a:r>
              <a:rPr lang="en-US" dirty="0"/>
              <a:t> </a:t>
            </a:r>
            <a:r>
              <a:rPr lang="en-US" dirty="0" err="1"/>
              <a:t>диспетчеризации</a:t>
            </a:r>
            <a:r>
              <a:rPr lang="en-US" dirty="0"/>
              <a:t>».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собрали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 dispatch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+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overload resolution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+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 dispatch</a:t>
            </a:r>
          </a:p>
          <a:p>
            <a:r>
              <a:rPr lang="en-US" dirty="0"/>
              <a:t>Visitor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оформляет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комбинацию</a:t>
            </a:r>
            <a:r>
              <a:rPr lang="en-US" dirty="0"/>
              <a:t> в </a:t>
            </a:r>
            <a:r>
              <a:rPr lang="en-US" dirty="0" err="1"/>
              <a:t>устойчивый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55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Visitor.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Посмотрите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инфраструктуры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Accept(visitor);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visitor.Visit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понадобилась</a:t>
            </a:r>
            <a:r>
              <a:rPr lang="en-US" dirty="0"/>
              <a:t>?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каких-то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.</a:t>
            </a:r>
          </a:p>
          <a:p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реальная</a:t>
            </a:r>
            <a:r>
              <a:rPr lang="en-US" dirty="0"/>
              <a:t> </a:t>
            </a:r>
            <a:r>
              <a:rPr lang="en-US" dirty="0" err="1"/>
              <a:t>потребность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:</a:t>
            </a:r>
          </a:p>
          <a:p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b="1" dirty="0"/>
              <a:t>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double dispatch.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C++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учитывает</a:t>
            </a:r>
            <a:r>
              <a:rPr lang="en-US" dirty="0"/>
              <a:t> runtime-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у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.</a:t>
            </a:r>
          </a:p>
          <a:p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в Java, Kotlin и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распространённых</a:t>
            </a:r>
            <a:r>
              <a:rPr lang="en-US" dirty="0"/>
              <a:t> </a:t>
            </a:r>
            <a:r>
              <a:rPr lang="en-US" dirty="0" err="1"/>
              <a:t>объектно-ориентированных</a:t>
            </a:r>
            <a:r>
              <a:rPr lang="en-US" dirty="0"/>
              <a:t> </a:t>
            </a:r>
            <a:r>
              <a:rPr lang="en-US" dirty="0" err="1"/>
              <a:t>языках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берём</a:t>
            </a:r>
            <a:r>
              <a:rPr lang="en-US" dirty="0"/>
              <a:t> </a:t>
            </a:r>
            <a:r>
              <a:rPr lang="en-US" dirty="0" err="1"/>
              <a:t>имеющийся</a:t>
            </a:r>
            <a:r>
              <a:rPr lang="en-US" dirty="0"/>
              <a:t> single dispatch и </a:t>
            </a:r>
            <a:r>
              <a:rPr lang="en-US" dirty="0" err="1"/>
              <a:t>дважды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нужное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Visitor.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известная</a:t>
            </a:r>
            <a:r>
              <a:rPr lang="en-US" dirty="0"/>
              <a:t> </a:t>
            </a:r>
            <a:r>
              <a:rPr lang="en-US" dirty="0" err="1"/>
              <a:t>программистская</a:t>
            </a:r>
            <a:r>
              <a:rPr lang="en-US" dirty="0"/>
              <a:t> </a:t>
            </a:r>
            <a:r>
              <a:rPr lang="en-US" dirty="0" err="1"/>
              <a:t>фраза</a:t>
            </a:r>
            <a:r>
              <a:rPr lang="en-US" dirty="0"/>
              <a:t>:</a:t>
            </a:r>
          </a:p>
          <a:p>
            <a:r>
              <a:rPr lang="en-US" b="1" dirty="0"/>
              <a:t>«</a:t>
            </a:r>
            <a:r>
              <a:rPr lang="en-US" b="1" dirty="0" err="1"/>
              <a:t>Паттерн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 — </a:t>
            </a:r>
            <a:r>
              <a:rPr lang="en-US" b="1" dirty="0" err="1"/>
              <a:t>это</a:t>
            </a:r>
            <a:r>
              <a:rPr lang="en-US" b="1" dirty="0"/>
              <a:t> bug report </a:t>
            </a:r>
            <a:r>
              <a:rPr lang="en-US" b="1" dirty="0" err="1"/>
              <a:t>авторам</a:t>
            </a:r>
            <a:r>
              <a:rPr lang="en-US" b="1" dirty="0"/>
              <a:t> </a:t>
            </a:r>
            <a:r>
              <a:rPr lang="en-US" b="1" dirty="0" err="1"/>
              <a:t>языка</a:t>
            </a:r>
            <a:r>
              <a:rPr lang="en-US" b="1" dirty="0"/>
              <a:t>».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C++ </a:t>
            </a:r>
            <a:r>
              <a:rPr lang="en-US" dirty="0" err="1"/>
              <a:t>или</a:t>
            </a:r>
            <a:r>
              <a:rPr lang="en-US" dirty="0"/>
              <a:t> Java «</a:t>
            </a:r>
            <a:r>
              <a:rPr lang="en-US" dirty="0" err="1"/>
              <a:t>плохие</a:t>
            </a:r>
            <a:r>
              <a:rPr lang="en-US" dirty="0"/>
              <a:t>».</a:t>
            </a:r>
          </a:p>
          <a:p>
            <a:r>
              <a:rPr lang="en-US" dirty="0" err="1"/>
              <a:t>Смысл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выражаем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, </a:t>
            </a:r>
            <a:r>
              <a:rPr lang="en-US" b="1" dirty="0" err="1"/>
              <a:t>которую</a:t>
            </a:r>
            <a:r>
              <a:rPr lang="en-US" b="1" dirty="0"/>
              <a:t> </a:t>
            </a:r>
            <a:r>
              <a:rPr lang="en-US" b="1" dirty="0" err="1"/>
              <a:t>язык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умеет</a:t>
            </a:r>
            <a:r>
              <a:rPr lang="en-US" b="1" dirty="0"/>
              <a:t> </a:t>
            </a:r>
            <a:r>
              <a:rPr lang="en-US" b="1" dirty="0" err="1"/>
              <a:t>выразить</a:t>
            </a:r>
            <a:r>
              <a:rPr lang="en-US" b="1" dirty="0"/>
              <a:t> </a:t>
            </a:r>
            <a:r>
              <a:rPr lang="en-US" b="1" dirty="0" err="1"/>
              <a:t>непосредственно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язык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поддерживал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runtime-</a:t>
            </a:r>
            <a:r>
              <a:rPr lang="en-US" dirty="0" err="1"/>
              <a:t>типам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аргументов</a:t>
            </a:r>
            <a:r>
              <a:rPr lang="en-US" dirty="0"/>
              <a:t>, </a:t>
            </a:r>
            <a:r>
              <a:rPr lang="en-US" dirty="0" err="1"/>
              <a:t>значительная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механики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Accept(...)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Visit(...)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понадобилась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Visitor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уровнях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вынести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механики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b="1" dirty="0"/>
              <a:t>single dispatch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b="1" dirty="0"/>
              <a:t>double dispatch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языках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средства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а, </a:t>
            </a:r>
            <a:r>
              <a:rPr lang="en-US" dirty="0" err="1"/>
              <a:t>например</a:t>
            </a:r>
            <a:r>
              <a:rPr lang="en-US" dirty="0"/>
              <a:t>, C#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сценариев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механизме</a:t>
            </a:r>
            <a:r>
              <a:rPr lang="en-US" dirty="0"/>
              <a:t> </a:t>
            </a:r>
            <a:r>
              <a:rPr lang="en-US" dirty="0" err="1"/>
              <a:t>виртуальных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абсолютной</a:t>
            </a:r>
            <a:r>
              <a:rPr lang="en-US" dirty="0"/>
              <a:t> </a:t>
            </a:r>
            <a:r>
              <a:rPr lang="en-US" dirty="0" err="1"/>
              <a:t>невозможности</a:t>
            </a:r>
            <a:r>
              <a:rPr lang="en-US" dirty="0"/>
              <a:t> double dispatch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749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34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очередным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SVG.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Visitor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представляем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.</a:t>
            </a:r>
          </a:p>
          <a:p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&lt;const Rectangle*&gt;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&lt;const Ellipse*&gt;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очередной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реализовали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?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Visit(const Rectangle&amp;)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Visit(const Ellipse&amp;)</a:t>
            </a:r>
          </a:p>
          <a:p>
            <a:r>
              <a:rPr lang="en-US" dirty="0"/>
              <a:t>и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SVG-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конструктор</a:t>
            </a:r>
            <a:r>
              <a:rPr lang="en-US" dirty="0"/>
              <a:t> и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dirty="0"/>
              <a:t> —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делали</a:t>
            </a:r>
            <a:r>
              <a:rPr lang="en-US" dirty="0"/>
              <a:t> с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меняли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гипотеза</a:t>
            </a:r>
            <a:r>
              <a:rPr lang="en-US" dirty="0"/>
              <a:t> </a:t>
            </a:r>
            <a:r>
              <a:rPr lang="en-US" dirty="0" err="1"/>
              <a:t>подтвердилась</a:t>
            </a:r>
            <a:r>
              <a:rPr lang="en-US" dirty="0"/>
              <a:t>:</a:t>
            </a:r>
          </a:p>
          <a:p>
            <a:r>
              <a:rPr lang="en-US" b="1" dirty="0" err="1"/>
              <a:t>появление</a:t>
            </a:r>
            <a:r>
              <a:rPr lang="en-US" b="1" dirty="0"/>
              <a:t> </a:t>
            </a:r>
            <a:r>
              <a:rPr lang="en-US" b="1" dirty="0" err="1"/>
              <a:t>новой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стало</a:t>
            </a:r>
            <a:r>
              <a:rPr lang="en-US" b="1" dirty="0"/>
              <a:t> </a:t>
            </a:r>
            <a:r>
              <a:rPr lang="en-US" b="1" dirty="0" err="1"/>
              <a:t>дешёвым</a:t>
            </a:r>
            <a:r>
              <a:rPr lang="en-US" b="1" dirty="0"/>
              <a:t> </a:t>
            </a:r>
            <a:r>
              <a:rPr lang="en-US" b="1" dirty="0" err="1"/>
              <a:t>изменением</a:t>
            </a:r>
            <a:r>
              <a:rPr lang="en-US" b="1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и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проверили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.</a:t>
            </a:r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49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Visitor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и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пишет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visitor.Visit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(*this);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тут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скомпилировался</a:t>
            </a:r>
            <a:r>
              <a:rPr lang="en-US" dirty="0"/>
              <a:t>,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Visit(const Triangle&amp;)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распространяется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SVG.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если</a:t>
            </a:r>
            <a:r>
              <a:rPr lang="en-US" dirty="0"/>
              <a:t> Visitor-</a:t>
            </a:r>
            <a:r>
              <a:rPr lang="ru-RU" dirty="0" err="1"/>
              <a:t>ов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,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случайный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прямое</a:t>
            </a:r>
            <a:r>
              <a:rPr lang="en-US" dirty="0"/>
              <a:t> </a:t>
            </a:r>
            <a:r>
              <a:rPr lang="en-US" dirty="0" err="1"/>
              <a:t>следствие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Visitor.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Интерфейс</a:t>
            </a:r>
            <a:r>
              <a:rPr lang="en-US" dirty="0"/>
              <a:t> Visitor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перечисляет</a:t>
            </a:r>
            <a:r>
              <a:rPr lang="en-US" dirty="0"/>
              <a:t> </a:t>
            </a:r>
            <a:r>
              <a:rPr lang="en-US" b="1" dirty="0" err="1"/>
              <a:t>набор</a:t>
            </a:r>
            <a:r>
              <a:rPr lang="en-US" b="1" dirty="0"/>
              <a:t> </a:t>
            </a:r>
            <a:r>
              <a:rPr lang="en-US" b="1" dirty="0" err="1"/>
              <a:t>конкретных</a:t>
            </a:r>
            <a:r>
              <a:rPr lang="en-US" b="1" dirty="0"/>
              <a:t> </a:t>
            </a:r>
            <a:r>
              <a:rPr lang="en-US" b="1" dirty="0" err="1"/>
              <a:t>типов</a:t>
            </a:r>
            <a:r>
              <a:rPr lang="en-US" b="1" dirty="0"/>
              <a:t> </a:t>
            </a:r>
            <a:r>
              <a:rPr lang="en-US" b="1" dirty="0" err="1"/>
              <a:t>элементов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посещать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Visitor </a:t>
            </a:r>
            <a:r>
              <a:rPr lang="en-US" dirty="0" err="1"/>
              <a:t>выглядел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идеальным</a:t>
            </a:r>
            <a:r>
              <a:rPr lang="en-US" dirty="0"/>
              <a:t>.</a:t>
            </a:r>
          </a:p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сторону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797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</a:t>
            </a:r>
            <a:r>
              <a:rPr lang="en-US" dirty="0" err="1"/>
              <a:t>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к </a:t>
            </a:r>
            <a:r>
              <a:rPr lang="en-US" dirty="0" err="1"/>
              <a:t>таблице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горизонтали</a:t>
            </a:r>
            <a:r>
              <a:rPr lang="en-US" dirty="0"/>
              <a:t> —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вертикали</a:t>
            </a:r>
            <a:r>
              <a:rPr lang="en-US" dirty="0"/>
              <a:t> —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Serialization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 Export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Visitor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организовал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SVG Export,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Visitor.</a:t>
            </a:r>
          </a:p>
          <a:p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обратная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расширить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дополнить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Visitor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</a:t>
            </a:r>
            <a:r>
              <a:rPr lang="en-US" dirty="0"/>
              <a:t> </a:t>
            </a:r>
            <a:r>
              <a:rPr lang="en-US" dirty="0" err="1"/>
              <a:t>нашу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«</a:t>
            </a:r>
            <a:r>
              <a:rPr lang="en-US" dirty="0" err="1"/>
              <a:t>расширяемой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».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сделал</a:t>
            </a:r>
            <a:r>
              <a:rPr lang="en-US" dirty="0"/>
              <a:t> </a:t>
            </a:r>
            <a:r>
              <a:rPr lang="en-US" dirty="0" err="1"/>
              <a:t>дешёвой</a:t>
            </a:r>
            <a:r>
              <a:rPr lang="en-US" dirty="0"/>
              <a:t> </a:t>
            </a:r>
            <a:r>
              <a:rPr lang="en-US" b="1" dirty="0" err="1"/>
              <a:t>конкретную</a:t>
            </a:r>
            <a:r>
              <a:rPr lang="en-US" b="1" dirty="0"/>
              <a:t> </a:t>
            </a:r>
            <a:r>
              <a:rPr lang="en-US" b="1" dirty="0" err="1"/>
              <a:t>ось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курс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убрать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,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хотим</a:t>
            </a:r>
            <a:r>
              <a:rPr lang="en-US" b="1" dirty="0"/>
              <a:t> </a:t>
            </a:r>
            <a:r>
              <a:rPr lang="en-US" b="1" dirty="0" err="1"/>
              <a:t>платить</a:t>
            </a:r>
            <a:r>
              <a:rPr lang="en-US" b="1" dirty="0"/>
              <a:t> </a:t>
            </a:r>
            <a:r>
              <a:rPr lang="en-US" b="1" dirty="0" err="1"/>
              <a:t>меньше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Visitor </a:t>
            </a:r>
            <a:r>
              <a:rPr lang="en-US" dirty="0" err="1"/>
              <a:t>говорит</a:t>
            </a:r>
            <a:r>
              <a:rPr lang="en-US" dirty="0"/>
              <a:t>:</a:t>
            </a:r>
          </a:p>
          <a:p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практический</a:t>
            </a:r>
            <a:r>
              <a:rPr lang="en-US" dirty="0"/>
              <a:t> </a:t>
            </a:r>
            <a:r>
              <a:rPr lang="en-US" dirty="0" err="1"/>
              <a:t>критерий</a:t>
            </a:r>
            <a:r>
              <a:rPr lang="en-US" dirty="0"/>
              <a:t> </a:t>
            </a:r>
            <a:r>
              <a:rPr lang="en-US" dirty="0" err="1"/>
              <a:t>применимости</a:t>
            </a:r>
            <a:r>
              <a:rPr lang="en-US" dirty="0"/>
              <a:t> Visitor.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b="1" dirty="0" err="1"/>
              <a:t>набор</a:t>
            </a:r>
            <a:r>
              <a:rPr lang="en-US" b="1" dirty="0"/>
              <a:t> </a:t>
            </a:r>
            <a:r>
              <a:rPr lang="en-US" b="1" dirty="0" err="1"/>
              <a:t>типов</a:t>
            </a:r>
            <a:r>
              <a:rPr lang="en-US" b="1" dirty="0"/>
              <a:t> </a:t>
            </a:r>
            <a:r>
              <a:rPr lang="en-US" b="1" dirty="0" err="1"/>
              <a:t>относительно</a:t>
            </a:r>
            <a:r>
              <a:rPr lang="en-US" b="1" dirty="0"/>
              <a:t> </a:t>
            </a:r>
            <a:r>
              <a:rPr lang="en-US" b="1" dirty="0" err="1"/>
              <a:t>стабилен</a:t>
            </a:r>
            <a:r>
              <a:rPr lang="en-US" b="1" dirty="0"/>
              <a:t>, а </a:t>
            </a:r>
            <a:r>
              <a:rPr lang="en-US" b="1" dirty="0" err="1"/>
              <a:t>новые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b="1" dirty="0"/>
              <a:t> </a:t>
            </a:r>
            <a:r>
              <a:rPr lang="en-US" b="1" dirty="0" err="1"/>
              <a:t>появляются</a:t>
            </a:r>
            <a:r>
              <a:rPr lang="en-US" b="1" dirty="0"/>
              <a:t> </a:t>
            </a:r>
            <a:r>
              <a:rPr lang="en-US" b="1" dirty="0" err="1"/>
              <a:t>часто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добавляются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, а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, Visitor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дороже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спрашивать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Visitor </a:t>
            </a:r>
            <a:r>
              <a:rPr lang="en-US" dirty="0" err="1"/>
              <a:t>вообще</a:t>
            </a:r>
            <a:r>
              <a:rPr lang="en-US" dirty="0"/>
              <a:t>?», а </a:t>
            </a:r>
            <a:r>
              <a:rPr lang="en-US" b="1" dirty="0" err="1"/>
              <a:t>совпадает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выбранная</a:t>
            </a:r>
            <a:r>
              <a:rPr lang="en-US" b="1" dirty="0"/>
              <a:t> </a:t>
            </a:r>
            <a:r>
              <a:rPr lang="en-US" b="1" dirty="0" err="1"/>
              <a:t>им</a:t>
            </a:r>
            <a:r>
              <a:rPr lang="en-US" b="1" dirty="0"/>
              <a:t> </a:t>
            </a:r>
            <a:r>
              <a:rPr lang="en-US" b="1" dirty="0" err="1"/>
              <a:t>ось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r>
              <a:rPr lang="en-US" b="1" dirty="0"/>
              <a:t> с </a:t>
            </a:r>
            <a:r>
              <a:rPr lang="en-US" b="1" dirty="0" err="1"/>
              <a:t>тем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реально</a:t>
            </a:r>
            <a:r>
              <a:rPr lang="en-US" b="1" dirty="0"/>
              <a:t> </a:t>
            </a:r>
            <a:r>
              <a:rPr lang="en-US" b="1" dirty="0" err="1"/>
              <a:t>развивается</a:t>
            </a:r>
            <a:r>
              <a:rPr lang="en-US" b="1" dirty="0"/>
              <a:t> </a:t>
            </a:r>
            <a:r>
              <a:rPr lang="en-US" b="1" dirty="0" err="1"/>
              <a:t>наша</a:t>
            </a:r>
            <a:r>
              <a:rPr lang="en-US" b="1" dirty="0"/>
              <a:t> </a:t>
            </a:r>
            <a:r>
              <a:rPr lang="en-US" b="1" dirty="0" err="1"/>
              <a:t>система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Visitor </a:t>
            </a:r>
            <a:r>
              <a:rPr lang="en-US" dirty="0" err="1"/>
              <a:t>здесь</a:t>
            </a:r>
            <a:r>
              <a:rPr lang="en-US" dirty="0"/>
              <a:t> — </a:t>
            </a:r>
            <a:r>
              <a:rPr lang="en-US" dirty="0" err="1"/>
              <a:t>осознанный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универсально</a:t>
            </a:r>
            <a:r>
              <a:rPr lang="en-US" dirty="0"/>
              <a:t> </a:t>
            </a:r>
            <a:r>
              <a:rPr lang="en-US" dirty="0" err="1"/>
              <a:t>правильное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643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применимость</a:t>
            </a:r>
            <a:r>
              <a:rPr lang="en-US" dirty="0"/>
              <a:t> Visitor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учебника</a:t>
            </a:r>
            <a:r>
              <a:rPr lang="en-US" dirty="0"/>
              <a:t>, а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проведённого</a:t>
            </a:r>
            <a:r>
              <a:rPr lang="en-US" dirty="0"/>
              <a:t> </a:t>
            </a:r>
            <a:r>
              <a:rPr lang="en-US" dirty="0" err="1"/>
              <a:t>эксперимента</a:t>
            </a:r>
            <a:r>
              <a:rPr lang="en-US" dirty="0"/>
              <a:t>.</a:t>
            </a:r>
          </a:p>
          <a:p>
            <a:r>
              <a:rPr lang="en-US" dirty="0"/>
              <a:t>Visitor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интересен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стабилен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определены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, и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Зато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rendering.</a:t>
            </a:r>
          </a:p>
          <a:p>
            <a:r>
              <a:rPr lang="en-US" dirty="0" err="1"/>
              <a:t>Завтра</a:t>
            </a:r>
            <a:r>
              <a:rPr lang="en-US" dirty="0"/>
              <a:t> serialization.</a:t>
            </a:r>
          </a:p>
          <a:p>
            <a:r>
              <a:rPr lang="en-US" dirty="0" err="1"/>
              <a:t>Потом</a:t>
            </a:r>
            <a:r>
              <a:rPr lang="en-US" dirty="0"/>
              <a:t> export.</a:t>
            </a:r>
          </a:p>
          <a:p>
            <a:r>
              <a:rPr lang="en-US" dirty="0" err="1"/>
              <a:t>Потом</a:t>
            </a:r>
            <a:r>
              <a:rPr lang="en-US" dirty="0"/>
              <a:t> statistics.</a:t>
            </a:r>
          </a:p>
          <a:p>
            <a:r>
              <a:rPr lang="en-US" dirty="0"/>
              <a:t>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Visitor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оформить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компонентом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противоположная</a:t>
            </a:r>
            <a:r>
              <a:rPr lang="en-US" dirty="0"/>
              <a:t> — </a:t>
            </a:r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а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мало</a:t>
            </a:r>
            <a:r>
              <a:rPr lang="en-US" dirty="0"/>
              <a:t>, — Visitor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дорогим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Visitor.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звучать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Visitor?»</a:t>
            </a:r>
          </a:p>
          <a:p>
            <a:r>
              <a:rPr lang="en-US" dirty="0"/>
              <a:t>А:</a:t>
            </a:r>
          </a:p>
          <a:p>
            <a:r>
              <a:rPr lang="en-US" b="1" dirty="0"/>
              <a:t>«</a:t>
            </a:r>
            <a:r>
              <a:rPr lang="en-US" b="1" dirty="0" err="1"/>
              <a:t>Какая</a:t>
            </a:r>
            <a:r>
              <a:rPr lang="en-US" b="1" dirty="0"/>
              <a:t> </a:t>
            </a:r>
            <a:r>
              <a:rPr lang="en-US" b="1" dirty="0" err="1"/>
              <a:t>ось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в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системе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нас</a:t>
            </a:r>
            <a:r>
              <a:rPr lang="en-US" b="1" dirty="0"/>
              <a:t> </a:t>
            </a:r>
            <a:r>
              <a:rPr lang="en-US" b="1" dirty="0" err="1"/>
              <a:t>важнее</a:t>
            </a:r>
            <a:r>
              <a:rPr lang="en-US" b="1" dirty="0"/>
              <a:t>?»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, </a:t>
            </a:r>
            <a:r>
              <a:rPr lang="en-US" dirty="0" err="1"/>
              <a:t>кстати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удобный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и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и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Visitor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окончательным</a:t>
            </a:r>
            <a:r>
              <a:rPr lang="en-US" dirty="0"/>
              <a:t> </a:t>
            </a:r>
            <a:r>
              <a:rPr lang="en-US" dirty="0" err="1"/>
              <a:t>идеальным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решил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: </a:t>
            </a:r>
            <a:r>
              <a:rPr lang="en-US" dirty="0" err="1"/>
              <a:t>убрал</a:t>
            </a:r>
            <a:r>
              <a:rPr lang="en-US" dirty="0"/>
              <a:t> </a:t>
            </a:r>
            <a:r>
              <a:rPr lang="en-US" dirty="0" err="1"/>
              <a:t>размножение</a:t>
            </a:r>
            <a:r>
              <a:rPr lang="en-US" dirty="0"/>
              <a:t> </a:t>
            </a:r>
            <a:r>
              <a:rPr lang="en-US" dirty="0" err="1"/>
              <a:t>ручного</a:t>
            </a:r>
            <a:r>
              <a:rPr lang="en-US" dirty="0"/>
              <a:t> type dispatch и </a:t>
            </a:r>
            <a:r>
              <a:rPr lang="en-US" dirty="0" err="1"/>
              <a:t>структурировал</a:t>
            </a:r>
            <a:r>
              <a:rPr lang="en-US" dirty="0"/>
              <a:t> </a:t>
            </a:r>
            <a:r>
              <a:rPr lang="en-US" dirty="0" err="1"/>
              <a:t>типоспецифичные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заплатили</a:t>
            </a:r>
            <a:r>
              <a:rPr lang="en-US" dirty="0"/>
              <a:t> </a:t>
            </a:r>
            <a:r>
              <a:rPr lang="en-US" dirty="0" err="1"/>
              <a:t>повышенной</a:t>
            </a:r>
            <a:r>
              <a:rPr lang="en-US" dirty="0"/>
              <a:t> </a:t>
            </a:r>
            <a:r>
              <a:rPr lang="en-US" dirty="0" err="1"/>
              <a:t>стоимостью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видов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нормальный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trade-off.</a:t>
            </a:r>
          </a:p>
          <a:p>
            <a:r>
              <a:rPr lang="en-US" b="1" dirty="0" err="1"/>
              <a:t>Хорошая</a:t>
            </a:r>
            <a:r>
              <a:rPr lang="en-US" b="1" dirty="0"/>
              <a:t> </a:t>
            </a:r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делает</a:t>
            </a:r>
            <a:r>
              <a:rPr lang="en-US" b="1" dirty="0"/>
              <a:t> </a:t>
            </a:r>
            <a:r>
              <a:rPr lang="en-US" b="1" dirty="0" err="1"/>
              <a:t>все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дешёвыми</a:t>
            </a:r>
            <a:r>
              <a:rPr lang="en-US" b="1" dirty="0"/>
              <a:t>.</a:t>
            </a:r>
            <a:br>
              <a:rPr lang="en-US" b="1" dirty="0"/>
            </a:b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делает</a:t>
            </a:r>
            <a:r>
              <a:rPr lang="en-US" b="1" dirty="0"/>
              <a:t> </a:t>
            </a:r>
            <a:r>
              <a:rPr lang="en-US" b="1" dirty="0" err="1"/>
              <a:t>дешёвыми</a:t>
            </a:r>
            <a:r>
              <a:rPr lang="en-US" b="1" dirty="0"/>
              <a:t> </a:t>
            </a:r>
            <a:r>
              <a:rPr lang="en-US" b="1" dirty="0" err="1"/>
              <a:t>те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, </a:t>
            </a:r>
            <a:r>
              <a:rPr lang="en-US" b="1" dirty="0" err="1"/>
              <a:t>которые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считаем</a:t>
            </a:r>
            <a:r>
              <a:rPr lang="en-US" b="1" dirty="0"/>
              <a:t> </a:t>
            </a:r>
            <a:r>
              <a:rPr lang="en-US" b="1" dirty="0" err="1"/>
              <a:t>наиболее</a:t>
            </a:r>
            <a:r>
              <a:rPr lang="en-US" b="1" dirty="0"/>
              <a:t> </a:t>
            </a:r>
            <a:r>
              <a:rPr lang="en-US" b="1" dirty="0" err="1"/>
              <a:t>важными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618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 Visitor: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Visitor.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обратная</a:t>
            </a:r>
            <a:r>
              <a:rPr lang="en-US" dirty="0"/>
              <a:t> </a:t>
            </a:r>
            <a:r>
              <a:rPr lang="en-US" dirty="0" err="1"/>
              <a:t>сторона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цепочки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Пошли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и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ветку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открыли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и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.</a:t>
            </a:r>
          </a:p>
          <a:p>
            <a:r>
              <a:rPr lang="en-US" dirty="0"/>
              <a:t>А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SvgExporter</a:t>
            </a:r>
            <a:r>
              <a:rPr lang="en-US" dirty="0"/>
              <a:t> </a:t>
            </a:r>
            <a:r>
              <a:rPr lang="en-US" dirty="0" err="1"/>
              <a:t>забыли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?</a:t>
            </a:r>
          </a:p>
          <a:p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особенного</a:t>
            </a:r>
            <a:r>
              <a:rPr lang="en-US" dirty="0"/>
              <a:t>.</a:t>
            </a:r>
          </a:p>
          <a:p>
            <a:r>
              <a:rPr lang="en-US" dirty="0" err="1"/>
              <a:t>Проект</a:t>
            </a:r>
            <a:r>
              <a:rPr lang="en-US" dirty="0"/>
              <a:t> </a:t>
            </a:r>
            <a:r>
              <a:rPr lang="en-US" dirty="0" err="1"/>
              <a:t>прекрасно</a:t>
            </a:r>
            <a:r>
              <a:rPr lang="en-US" dirty="0"/>
              <a:t> </a:t>
            </a:r>
            <a:r>
              <a:rPr lang="en-US" dirty="0" err="1"/>
              <a:t>скомпилируется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тесты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покрывают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 в SVG, </a:t>
            </a: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обнаружиться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— </a:t>
            </a:r>
            <a:r>
              <a:rPr lang="en-US" dirty="0" err="1"/>
              <a:t>уже</a:t>
            </a:r>
            <a:r>
              <a:rPr lang="en-US" dirty="0"/>
              <a:t> у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неявное</a:t>
            </a:r>
            <a:r>
              <a:rPr lang="en-US" dirty="0"/>
              <a:t> </a:t>
            </a:r>
            <a:r>
              <a:rPr lang="en-US" dirty="0" err="1"/>
              <a:t>соглашение</a:t>
            </a:r>
            <a:r>
              <a:rPr lang="en-US" dirty="0"/>
              <a:t>: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типами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поддержку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соглашение</a:t>
            </a:r>
            <a:r>
              <a:rPr lang="en-US" dirty="0"/>
              <a:t> </a:t>
            </a:r>
            <a:r>
              <a:rPr lang="en-US" dirty="0" err="1"/>
              <a:t>никак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Visitor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Visit(const Triangle&amp;)</a:t>
            </a:r>
          </a:p>
          <a:p>
            <a:r>
              <a:rPr lang="en-US" dirty="0"/>
              <a:t>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Visitor,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реализовали</a:t>
            </a:r>
            <a:r>
              <a:rPr lang="en-US" dirty="0"/>
              <a:t>, </a:t>
            </a:r>
            <a:r>
              <a:rPr lang="en-US" dirty="0" err="1"/>
              <a:t>перестают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конкретными</a:t>
            </a:r>
            <a:r>
              <a:rPr lang="en-US" dirty="0"/>
              <a:t> </a:t>
            </a:r>
            <a:r>
              <a:rPr lang="en-US" dirty="0" err="1"/>
              <a:t>классами</a:t>
            </a:r>
            <a:r>
              <a:rPr lang="en-US" dirty="0"/>
              <a:t>.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: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обязанность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выполнили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вещь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считали</a:t>
            </a:r>
            <a:r>
              <a:rPr lang="en-US" dirty="0"/>
              <a:t> </a:t>
            </a:r>
            <a:r>
              <a:rPr lang="en-US" dirty="0" err="1"/>
              <a:t>недостатком</a:t>
            </a:r>
            <a:r>
              <a:rPr lang="en-US" dirty="0"/>
              <a:t> Visitor —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Visitor, —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гарантию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Visitor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структурировать</a:t>
            </a:r>
            <a:r>
              <a:rPr lang="en-US" dirty="0"/>
              <a:t> dispatch.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и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пропущенную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b="1" dirty="0" err="1"/>
              <a:t>видимой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18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Visitor </a:t>
            </a:r>
            <a:r>
              <a:rPr lang="en-US" dirty="0" err="1"/>
              <a:t>сделал</a:t>
            </a:r>
            <a:r>
              <a:rPr lang="en-US" dirty="0"/>
              <a:t> с </a:t>
            </a:r>
            <a:r>
              <a:rPr lang="en-US" dirty="0" err="1"/>
              <a:t>нашим</a:t>
            </a:r>
            <a:r>
              <a:rPr lang="en-US" dirty="0"/>
              <a:t> </a:t>
            </a:r>
            <a:r>
              <a:rPr lang="en-US" dirty="0" err="1"/>
              <a:t>исходным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ru-RU" dirty="0"/>
              <a:t>раньше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договорились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ru-RU" dirty="0"/>
              <a:t>не избавился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исчезло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о </a:t>
            </a:r>
            <a:r>
              <a:rPr lang="en-US" dirty="0" err="1"/>
              <a:t>поддерживаемых</a:t>
            </a:r>
            <a:r>
              <a:rPr lang="en-US" dirty="0"/>
              <a:t> </a:t>
            </a:r>
            <a:r>
              <a:rPr lang="en-US" dirty="0" err="1"/>
              <a:t>типах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спрятано</a:t>
            </a:r>
            <a:r>
              <a:rPr lang="en-US" dirty="0"/>
              <a:t> в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и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интерфейсе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внутренняя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Visitor.</a:t>
            </a:r>
          </a:p>
          <a:p>
            <a:r>
              <a:rPr lang="en-US" dirty="0"/>
              <a:t>Это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протокола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ru-RU" dirty="0"/>
              <a:t>можно сформулировать </a:t>
            </a:r>
            <a:r>
              <a:rPr lang="en-US" dirty="0" err="1"/>
              <a:t>эффект</a:t>
            </a:r>
            <a:r>
              <a:rPr lang="en-US" dirty="0"/>
              <a:t> Visitor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 err="1"/>
              <a:t>Он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устраняет</a:t>
            </a:r>
            <a:r>
              <a:rPr lang="en-US" b="1" dirty="0"/>
              <a:t> </a:t>
            </a:r>
            <a:r>
              <a:rPr lang="en-US" b="1" dirty="0" err="1"/>
              <a:t>зависимость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конкретных</a:t>
            </a:r>
            <a:r>
              <a:rPr lang="en-US" b="1" dirty="0"/>
              <a:t> </a:t>
            </a:r>
            <a:r>
              <a:rPr lang="en-US" b="1" dirty="0" err="1"/>
              <a:t>типов</a:t>
            </a:r>
            <a:r>
              <a:rPr lang="en-US" b="1" dirty="0"/>
              <a:t> — </a:t>
            </a:r>
            <a:r>
              <a:rPr lang="en-US" b="1" dirty="0" err="1"/>
              <a:t>он</a:t>
            </a:r>
            <a:r>
              <a:rPr lang="en-US" b="1" dirty="0"/>
              <a:t> </a:t>
            </a:r>
            <a:r>
              <a:rPr lang="en-US" b="1" dirty="0" err="1"/>
              <a:t>превращает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в </a:t>
            </a:r>
            <a:r>
              <a:rPr lang="en-US" b="1" dirty="0" err="1"/>
              <a:t>явный</a:t>
            </a:r>
            <a:r>
              <a:rPr lang="en-US" b="1" dirty="0"/>
              <a:t> </a:t>
            </a:r>
            <a:r>
              <a:rPr lang="en-US" b="1" dirty="0" err="1"/>
              <a:t>контракт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«</a:t>
            </a:r>
            <a:r>
              <a:rPr lang="en-US" dirty="0" err="1"/>
              <a:t>больше</a:t>
            </a:r>
            <a:r>
              <a:rPr lang="en-US" dirty="0"/>
              <a:t> coupling»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хуже</a:t>
            </a:r>
            <a:r>
              <a:rPr lang="en-US" dirty="0"/>
              <a:t>».</a:t>
            </a:r>
          </a:p>
          <a:p>
            <a:r>
              <a:rPr lang="en-US" dirty="0" err="1"/>
              <a:t>Да</a:t>
            </a:r>
            <a:r>
              <a:rPr lang="en-US" dirty="0"/>
              <a:t>, Visitor </a:t>
            </a:r>
            <a:r>
              <a:rPr lang="en-US" dirty="0" err="1"/>
              <a:t>жёстко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связанность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гарантию</a:t>
            </a:r>
            <a:r>
              <a:rPr lang="en-US" dirty="0"/>
              <a:t> </a:t>
            </a:r>
            <a:r>
              <a:rPr lang="en-US" dirty="0" err="1"/>
              <a:t>полноты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747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</a:t>
            </a:r>
            <a:r>
              <a:rPr lang="en-US" dirty="0" err="1"/>
              <a:t>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спросить</a:t>
            </a:r>
            <a:r>
              <a:rPr lang="en-US" dirty="0"/>
              <a:t>: </a:t>
            </a:r>
            <a:r>
              <a:rPr lang="en-US" dirty="0" err="1"/>
              <a:t>стоило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Visitor?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избавились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. </a:t>
            </a:r>
            <a:r>
              <a:rPr lang="en-US" dirty="0" err="1"/>
              <a:t>Главное</a:t>
            </a:r>
            <a:r>
              <a:rPr lang="en-US" dirty="0"/>
              <a:t> — </a:t>
            </a:r>
            <a:r>
              <a:rPr lang="en-US" b="1" dirty="0" err="1"/>
              <a:t>механизм</a:t>
            </a:r>
            <a:r>
              <a:rPr lang="en-US" b="1" dirty="0"/>
              <a:t> type dispatch </a:t>
            </a:r>
            <a:r>
              <a:rPr lang="en-US" b="1" dirty="0" err="1"/>
              <a:t>перестал</a:t>
            </a:r>
            <a:r>
              <a:rPr lang="en-US" b="1" dirty="0"/>
              <a:t> </a:t>
            </a:r>
            <a:r>
              <a:rPr lang="en-US" b="1" dirty="0" err="1"/>
              <a:t>заново</a:t>
            </a:r>
            <a:r>
              <a:rPr lang="en-US" b="1" dirty="0"/>
              <a:t> </a:t>
            </a:r>
            <a:r>
              <a:rPr lang="en-US" b="1" dirty="0" err="1"/>
              <a:t>реализовываться</a:t>
            </a:r>
            <a:r>
              <a:rPr lang="en-US" b="1" dirty="0"/>
              <a:t> в </a:t>
            </a:r>
            <a:r>
              <a:rPr lang="en-US" b="1" dirty="0" err="1"/>
              <a:t>каждой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dirty="0"/>
              <a:t>. Rendering, Serialization и Export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ответственностями</a:t>
            </a:r>
            <a:r>
              <a:rPr lang="en-US" dirty="0"/>
              <a:t>, а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поддерживаемых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явного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обнаружить</a:t>
            </a:r>
            <a:r>
              <a:rPr lang="en-US" dirty="0"/>
              <a:t> </a:t>
            </a:r>
            <a:r>
              <a:rPr lang="en-US" dirty="0" err="1"/>
              <a:t>забытый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конкретный</a:t>
            </a:r>
            <a:r>
              <a:rPr lang="en-US" dirty="0"/>
              <a:t> Visitor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: Renderer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, Serializer —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</a:t>
            </a:r>
            <a:r>
              <a:rPr lang="en-US" dirty="0" err="1"/>
              <a:t>накопленное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протаскивать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явной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протоколе</a:t>
            </a:r>
            <a:r>
              <a:rPr lang="en-US" dirty="0"/>
              <a:t> Visitor,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IShapeVisitor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конкретными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Новый</a:t>
            </a:r>
            <a:r>
              <a:rPr lang="en-US" dirty="0"/>
              <a:t> Shape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расширить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и </a:t>
            </a:r>
            <a:r>
              <a:rPr lang="en-US" dirty="0" err="1"/>
              <a:t>обновить</a:t>
            </a:r>
            <a:r>
              <a:rPr lang="en-US" dirty="0"/>
              <a:t> </a:t>
            </a:r>
            <a:r>
              <a:rPr lang="en-US" dirty="0" err="1"/>
              <a:t>существующих</a:t>
            </a:r>
            <a:r>
              <a:rPr lang="en-US" dirty="0"/>
              <a:t> Visitor. 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Появилась</a:t>
            </a:r>
            <a:r>
              <a:rPr lang="en-US" dirty="0"/>
              <a:t> и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инфраструктура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 / Visit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правильный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Visitor «</a:t>
            </a:r>
            <a:r>
              <a:rPr lang="en-US" dirty="0" err="1"/>
              <a:t>исправил</a:t>
            </a:r>
            <a:r>
              <a:rPr lang="en-US" dirty="0"/>
              <a:t> </a:t>
            </a:r>
            <a:r>
              <a:rPr lang="en-US" dirty="0" err="1"/>
              <a:t>плохой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».</a:t>
            </a:r>
          </a:p>
          <a:p>
            <a:endParaRPr lang="ru-RU" b="1" dirty="0"/>
          </a:p>
          <a:p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дождались</a:t>
            </a:r>
            <a:r>
              <a:rPr lang="en-US" b="1" dirty="0"/>
              <a:t> </a:t>
            </a:r>
            <a:r>
              <a:rPr lang="en-US" b="1" dirty="0" err="1"/>
              <a:t>момента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повторяющийся</a:t>
            </a:r>
            <a:r>
              <a:rPr lang="en-US" b="1" dirty="0"/>
              <a:t> type dispatch </a:t>
            </a:r>
            <a:r>
              <a:rPr lang="en-US" b="1" dirty="0" err="1"/>
              <a:t>стал</a:t>
            </a:r>
            <a:r>
              <a:rPr lang="en-US" b="1" dirty="0"/>
              <a:t> </a:t>
            </a:r>
            <a:r>
              <a:rPr lang="en-US" b="1" dirty="0" err="1"/>
              <a:t>самостоятельной</a:t>
            </a:r>
            <a:r>
              <a:rPr lang="en-US" b="1" dirty="0"/>
              <a:t> </a:t>
            </a:r>
            <a:r>
              <a:rPr lang="en-US" b="1" dirty="0" err="1"/>
              <a:t>архитектурной</a:t>
            </a:r>
            <a:r>
              <a:rPr lang="en-US" b="1" dirty="0"/>
              <a:t> </a:t>
            </a:r>
            <a:r>
              <a:rPr lang="en-US" b="1" dirty="0" err="1"/>
              <a:t>проблемой</a:t>
            </a:r>
            <a:r>
              <a:rPr lang="en-US" b="1" dirty="0"/>
              <a:t>, и </a:t>
            </a:r>
            <a:r>
              <a:rPr lang="en-US" b="1" dirty="0" err="1"/>
              <a:t>заменили</a:t>
            </a:r>
            <a:r>
              <a:rPr lang="en-US" b="1" dirty="0"/>
              <a:t> </a:t>
            </a:r>
            <a:r>
              <a:rPr lang="en-US" b="1" dirty="0" err="1"/>
              <a:t>простое</a:t>
            </a:r>
            <a:r>
              <a:rPr lang="en-US" b="1" dirty="0"/>
              <a:t> </a:t>
            </a:r>
            <a:r>
              <a:rPr lang="en-US" b="1" dirty="0" err="1"/>
              <a:t>решение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строгим</a:t>
            </a:r>
            <a:r>
              <a:rPr lang="en-US" b="1" dirty="0"/>
              <a:t> </a:t>
            </a:r>
            <a:r>
              <a:rPr lang="en-US" b="1" dirty="0" err="1"/>
              <a:t>протоколом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оправданным</a:t>
            </a:r>
            <a:r>
              <a:rPr lang="en-US" dirty="0"/>
              <a:t>: </a:t>
            </a:r>
            <a:r>
              <a:rPr lang="en-US" dirty="0" err="1"/>
              <a:t>типоспецифичных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 и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полезна</a:t>
            </a:r>
            <a:r>
              <a:rPr lang="en-US" dirty="0"/>
              <a:t> </a:t>
            </a:r>
            <a:r>
              <a:rPr lang="en-US" dirty="0" err="1"/>
              <a:t>проверяемая</a:t>
            </a:r>
            <a:r>
              <a:rPr lang="en-US" dirty="0"/>
              <a:t> </a:t>
            </a:r>
            <a:r>
              <a:rPr lang="en-US" dirty="0" err="1"/>
              <a:t>компилятором</a:t>
            </a:r>
            <a:r>
              <a:rPr lang="en-US" dirty="0"/>
              <a:t> </a:t>
            </a:r>
            <a:r>
              <a:rPr lang="en-US" dirty="0" err="1"/>
              <a:t>полнота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требованиях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меньшем</a:t>
            </a:r>
            <a:r>
              <a:rPr lang="en-US" dirty="0"/>
              <a:t> </a:t>
            </a:r>
            <a:r>
              <a:rPr lang="en-US" dirty="0" err="1"/>
              <a:t>масштабе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лучшим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770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Сегодня</a:t>
            </a:r>
            <a:r>
              <a:rPr lang="en-US" dirty="0"/>
              <a:t> я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Visitor.</a:t>
            </a:r>
          </a:p>
          <a:p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: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какой</a:t>
            </a:r>
            <a:r>
              <a:rPr lang="en-US" b="1" dirty="0"/>
              <a:t> </a:t>
            </a:r>
            <a:r>
              <a:rPr lang="en-US" b="1" dirty="0" err="1"/>
              <a:t>архитектурной</a:t>
            </a:r>
            <a:r>
              <a:rPr lang="en-US" b="1" dirty="0"/>
              <a:t> </a:t>
            </a:r>
            <a:r>
              <a:rPr lang="en-US" b="1" dirty="0" err="1"/>
              <a:t>проблемы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паттерн</a:t>
            </a:r>
            <a:r>
              <a:rPr lang="en-US" b="1" dirty="0"/>
              <a:t> </a:t>
            </a:r>
            <a:r>
              <a:rPr lang="en-US" b="1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дешёвой</a:t>
            </a:r>
            <a:r>
              <a:rPr lang="en-US" dirty="0"/>
              <a:t> и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вам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Visitor </a:t>
            </a:r>
            <a:r>
              <a:rPr lang="en-US" dirty="0" err="1"/>
              <a:t>уже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технической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я </a:t>
            </a:r>
            <a:r>
              <a:rPr lang="en-US" dirty="0" err="1"/>
              <a:t>оставляю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моей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прошлого</a:t>
            </a:r>
            <a:r>
              <a:rPr lang="en-US" dirty="0"/>
              <a:t> </a:t>
            </a:r>
            <a:r>
              <a:rPr lang="en-US" dirty="0" err="1"/>
              <a:t>года</a:t>
            </a:r>
            <a:r>
              <a:rPr lang="en-US" dirty="0"/>
              <a:t>.</a:t>
            </a:r>
          </a:p>
          <a:p>
            <a:r>
              <a:rPr lang="en-US" dirty="0" err="1"/>
              <a:t>Там</a:t>
            </a:r>
            <a:r>
              <a:rPr lang="en-US" dirty="0"/>
              <a:t> я </a:t>
            </a:r>
            <a:r>
              <a:rPr lang="en-US" dirty="0" err="1"/>
              <a:t>подробнее</a:t>
            </a:r>
            <a:r>
              <a:rPr lang="en-US" dirty="0"/>
              <a:t> </a:t>
            </a:r>
            <a:r>
              <a:rPr lang="en-US" dirty="0" err="1"/>
              <a:t>разбираю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и </a:t>
            </a:r>
            <a:r>
              <a:rPr lang="en-US" dirty="0" err="1"/>
              <a:t>проблему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: </a:t>
            </a:r>
            <a:r>
              <a:rPr lang="en-US" dirty="0" err="1"/>
              <a:t>интерфейс</a:t>
            </a:r>
            <a:r>
              <a:rPr lang="en-US" dirty="0"/>
              <a:t> Visitor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Visitor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числе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рассматривается</a:t>
            </a:r>
            <a:r>
              <a:rPr lang="en-US" dirty="0"/>
              <a:t> </a:t>
            </a:r>
            <a:r>
              <a:rPr lang="en-US" b="1" dirty="0"/>
              <a:t>Acyclic Visitor</a:t>
            </a:r>
            <a:r>
              <a:rPr lang="en-US" dirty="0"/>
              <a:t> — </a:t>
            </a:r>
            <a:r>
              <a:rPr lang="en-US" dirty="0" err="1"/>
              <a:t>вариант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ослабить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.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VisitorBase</a:t>
            </a:r>
            <a:r>
              <a:rPr lang="en-US" dirty="0"/>
              <a:t>, 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Visitor </a:t>
            </a:r>
            <a:r>
              <a:rPr lang="en-US" dirty="0" err="1"/>
              <a:t>посещение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C++-</a:t>
            </a:r>
            <a:r>
              <a:rPr lang="en-US" dirty="0" err="1"/>
              <a:t>специфичная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: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шаблонов</a:t>
            </a:r>
            <a:r>
              <a:rPr lang="en-US" dirty="0"/>
              <a:t> и </a:t>
            </a:r>
            <a:r>
              <a:rPr lang="en-US" dirty="0" err="1"/>
              <a:t>уменьшение</a:t>
            </a:r>
            <a:r>
              <a:rPr lang="en-US" dirty="0"/>
              <a:t> boilerplate-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обобщённые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Visitable</a:t>
            </a:r>
            <a:r>
              <a:rPr lang="en-US" dirty="0"/>
              <a:t>-</a:t>
            </a:r>
            <a:r>
              <a:rPr lang="en-US" dirty="0" err="1"/>
              <a:t>классы</a:t>
            </a:r>
            <a:r>
              <a:rPr lang="en-US" dirty="0"/>
              <a:t> и CRTP.</a:t>
            </a:r>
            <a:endParaRPr lang="ru-RU" dirty="0"/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сегодняшней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 Visitor.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446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лекцию</a:t>
            </a:r>
            <a:r>
              <a:rPr lang="en-US" dirty="0"/>
              <a:t> </a:t>
            </a:r>
            <a:r>
              <a:rPr lang="en-US" dirty="0" err="1"/>
              <a:t>вовсе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Visitor.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dynamic_cast</a:t>
            </a:r>
            <a:r>
              <a:rPr lang="en-US" dirty="0"/>
              <a:t>, и </a:t>
            </a:r>
            <a:r>
              <a:rPr lang="en-US" dirty="0" err="1"/>
              <a:t>какое-то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разумным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заметна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— </a:t>
            </a:r>
            <a:r>
              <a:rPr lang="en-US" dirty="0" err="1"/>
              <a:t>сериализация</a:t>
            </a:r>
            <a:r>
              <a:rPr lang="en-US" dirty="0"/>
              <a:t>, а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просматриваться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: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определяют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и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типоспецифичную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захотели</a:t>
            </a:r>
            <a:r>
              <a:rPr lang="en-US" dirty="0"/>
              <a:t> </a:t>
            </a:r>
            <a:r>
              <a:rPr lang="en-US" dirty="0" err="1"/>
              <a:t>возвращать</a:t>
            </a:r>
            <a:r>
              <a:rPr lang="en-US" dirty="0"/>
              <a:t> rendering, serialization и export </a:t>
            </a:r>
            <a:r>
              <a:rPr lang="en-US" dirty="0" err="1"/>
              <a:t>обратно</a:t>
            </a:r>
            <a:r>
              <a:rPr lang="en-US" dirty="0"/>
              <a:t> в Domain Model.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нашли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воспользоваться</a:t>
            </a:r>
            <a:r>
              <a:rPr lang="en-US" dirty="0"/>
              <a:t> </a:t>
            </a:r>
            <a:r>
              <a:rPr lang="en-US" dirty="0" err="1"/>
              <a:t>существующим</a:t>
            </a:r>
            <a:r>
              <a:rPr lang="en-US" dirty="0"/>
              <a:t> </a:t>
            </a:r>
            <a:r>
              <a:rPr lang="en-US" dirty="0" err="1"/>
              <a:t>полиморфизмом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обнаружили</a:t>
            </a:r>
            <a:r>
              <a:rPr lang="en-US" dirty="0"/>
              <a:t> double dispatch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дали</a:t>
            </a:r>
            <a:r>
              <a:rPr lang="en-US" dirty="0"/>
              <a:t> </a:t>
            </a:r>
            <a:r>
              <a:rPr lang="en-US" dirty="0" err="1"/>
              <a:t>конструкции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— </a:t>
            </a:r>
            <a:r>
              <a:rPr lang="en-US" b="1" dirty="0"/>
              <a:t>Visitor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Visitor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независимым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/>
              <a:t>Renderer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</a:t>
            </a:r>
          </a:p>
          <a:p>
            <a:r>
              <a:rPr lang="en-US" dirty="0" err="1"/>
              <a:t>Изменилось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: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b="1" dirty="0" err="1"/>
              <a:t>явным</a:t>
            </a:r>
            <a:r>
              <a:rPr lang="en-US" b="1" dirty="0"/>
              <a:t>, </a:t>
            </a:r>
            <a:r>
              <a:rPr lang="en-US" b="1" dirty="0" err="1"/>
              <a:t>структурированным</a:t>
            </a:r>
            <a:r>
              <a:rPr lang="en-US" b="1" dirty="0"/>
              <a:t> и </a:t>
            </a:r>
            <a:r>
              <a:rPr lang="en-US" b="1" dirty="0" err="1"/>
              <a:t>проверяемым</a:t>
            </a:r>
            <a:r>
              <a:rPr lang="en-US" b="1" dirty="0"/>
              <a:t> </a:t>
            </a:r>
            <a:r>
              <a:rPr lang="en-US" b="1" dirty="0" err="1"/>
              <a:t>компилятором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заплатили</a:t>
            </a:r>
            <a:r>
              <a:rPr lang="en-US" dirty="0"/>
              <a:t>.</a:t>
            </a:r>
          </a:p>
          <a:p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.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— </a:t>
            </a:r>
            <a:r>
              <a:rPr lang="en-US" dirty="0" err="1"/>
              <a:t>дороже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к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мысли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строим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курс</a:t>
            </a:r>
            <a:r>
              <a:rPr lang="en-US" dirty="0"/>
              <a:t>:</a:t>
            </a:r>
          </a:p>
          <a:p>
            <a:r>
              <a:rPr lang="en-US" b="1" dirty="0" err="1"/>
              <a:t>хорошая</a:t>
            </a:r>
            <a:r>
              <a:rPr lang="en-US" b="1" dirty="0"/>
              <a:t> </a:t>
            </a:r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делает</a:t>
            </a:r>
            <a:r>
              <a:rPr lang="en-US" b="1" dirty="0"/>
              <a:t> </a:t>
            </a:r>
            <a:r>
              <a:rPr lang="en-US" b="1" dirty="0" err="1"/>
              <a:t>все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дешёвыми</a:t>
            </a:r>
            <a:r>
              <a:rPr lang="en-US" b="1" dirty="0"/>
              <a:t>.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помогает</a:t>
            </a:r>
            <a:r>
              <a:rPr lang="en-US" b="1" dirty="0"/>
              <a:t> </a:t>
            </a:r>
            <a:r>
              <a:rPr lang="en-US" b="1" dirty="0" err="1"/>
              <a:t>выбрать</a:t>
            </a:r>
            <a:r>
              <a:rPr lang="en-US" b="1" dirty="0"/>
              <a:t> </a:t>
            </a:r>
            <a:r>
              <a:rPr lang="en-US" b="1" dirty="0" err="1"/>
              <a:t>те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, </a:t>
            </a:r>
            <a:r>
              <a:rPr lang="en-US" b="1" dirty="0" err="1"/>
              <a:t>которые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важны</a:t>
            </a:r>
            <a:r>
              <a:rPr lang="en-US" b="1" dirty="0"/>
              <a:t>.</a:t>
            </a:r>
            <a:endParaRPr lang="ru-RU" b="1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я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хотел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виде</a:t>
            </a:r>
            <a:r>
              <a:rPr lang="en-US" dirty="0"/>
              <a:t> Visitor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спрашивали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Visitor?»</a:t>
            </a:r>
          </a:p>
          <a:p>
            <a:r>
              <a:rPr lang="en-US" dirty="0"/>
              <a:t>а:</a:t>
            </a:r>
          </a:p>
          <a:p>
            <a:r>
              <a:rPr lang="en-US" b="1" dirty="0"/>
              <a:t>«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две</a:t>
            </a:r>
            <a:r>
              <a:rPr lang="en-US" b="1" dirty="0"/>
              <a:t> </a:t>
            </a:r>
            <a:r>
              <a:rPr lang="en-US" b="1" dirty="0" err="1"/>
              <a:t>оси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</a:t>
            </a:r>
            <a:r>
              <a:rPr lang="en-US" b="1" dirty="0" err="1"/>
              <a:t>здесь</a:t>
            </a:r>
            <a:r>
              <a:rPr lang="en-US" b="1" dirty="0"/>
              <a:t> </a:t>
            </a:r>
            <a:r>
              <a:rPr lang="en-US" b="1" dirty="0" err="1"/>
              <a:t>конкурируют</a:t>
            </a:r>
            <a:r>
              <a:rPr lang="en-US" b="1" dirty="0"/>
              <a:t> — и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них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хотим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дешёвой</a:t>
            </a:r>
            <a:r>
              <a:rPr lang="en-US" b="1" dirty="0"/>
              <a:t>?»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B753F-C273-495E-BED1-AA948513E6F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22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0014-DCD6-1D50-2EF4-D0DA13150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2DFA0-3FB0-E41B-AE63-2E877D801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4196C-4760-F8D8-595D-D2FF6205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1AD6A-CA85-816E-0A3F-DF6A8420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10E7F-AF33-F562-6E28-AC087BE4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7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7AE6-6FBC-7E5A-1BD4-009DE5F4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2137A-CDFD-229E-A8CF-A0E661EFD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E4EF6-EB17-A807-B146-D228EA3D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9B812-9856-F2C3-B478-C2DD6AE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C8D6B-FB41-D1C8-2FF4-2A2260E0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9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CEDC-CD4C-7D61-7B98-E631823A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7799B-E633-DA09-D938-1A0CF2EA4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FCB5C-364D-B18D-39A0-B57776F5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18622-AECF-16A3-0026-BC4D3E0C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CA771-005E-4368-E7E4-76FDF8F5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7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C986-212D-5241-DE9F-302FFA085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4CF4-4FD1-35D5-9219-C5BA779F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C47E0-9087-2AB3-A902-FA3B511C6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6316C-1976-81B1-AA5C-60E4C5DD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4F262-92FA-38EB-B140-9F790F4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C815F-9F69-E654-B263-98439434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0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C986-212D-5241-DE9F-302FFA085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4CF4-4FD1-35D5-9219-C5BA779F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25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C47E0-9087-2AB3-A902-FA3B511C6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25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6316C-1976-81B1-AA5C-60E4C5DD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4F262-92FA-38EB-B140-9F790F4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C815F-9F69-E654-B263-98439434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9A3A17-40B6-DB83-10DC-360717CB732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214937"/>
            <a:ext cx="10515600" cy="10116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07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9EEF-BF94-15F0-C04E-5A05045D0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703BD-25DF-40FB-E82E-CCFD658FB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8C7D9-1EE9-C08A-5B0B-E89E7E754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89241-512B-9AB1-CCEF-60227A947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1D294-670C-C3D8-D15A-C884BA388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BC108-63F6-49F1-07B7-519FC0A0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5BA9F-DCB9-7787-8CCD-9670D8DC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12835-89BC-6ECF-88CD-FD124E5B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4F1B-7B2A-B0C5-D6ED-1F8E7AC0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9D6A0-FB00-7955-CC5E-C1F2330F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6A20F-56F7-60B7-3E4D-E615E67A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63C8C-9CED-0053-213D-D700D780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5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C02BF-72A4-1831-75D4-57CAE06D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80A40-A112-C8B9-0E08-12A81E0A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3A937-453F-66EB-8AB6-2C9C97D8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A7E4-A063-6405-AF0E-8ACCE052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C557-0C80-11A4-7675-9384459C7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930A2-60DD-FF62-1A32-9809AE022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AE1AF-E908-B7EB-E2C2-7F53A217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21E79-752B-F121-D8C7-37411DAB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75BE7-8C0F-CF4B-3DF9-69243C45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496A-0205-1DC3-4867-646FDBD8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B1E5D-3D5D-B2D3-30C8-705BFCEDC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27176-1828-DD1D-BF69-40E8EB401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EA943-974B-CC29-A0AE-3E13BE81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381E4-8132-1B9F-A190-2D9E5F1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236C5-8448-2FEF-6A23-4B59C30E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96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EBCD-0357-375D-2764-7F8196C4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EF216-C101-9646-9EF3-281DCCA79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A850B-9FF0-F49C-D16F-185D853D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4154-48F6-9252-D157-F4B877F1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65348-580E-6D57-6D88-C88550E3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31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3D440-6829-4171-DB48-C95A9F4C8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74F9E-7D68-29B7-EAAB-8B66A488E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024B-C8C0-AB26-B9E6-8E0B07BD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2DDD8-5A9D-8E0F-9413-F9A2142A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C6899-435D-4C04-BC43-BCACF6A8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0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993BE-E052-8A5B-D083-0F41EC39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8975A-AE36-3853-C657-60915B33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FB79-8B0C-7402-3D0B-B076C0E3D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36BDA-1F87-45CF-9312-9EA46498820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BB75C-0FFE-0C27-A46F-5C62E8940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A0806-BBD4-8ED3-6510-54713FAF5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A1738-107D-41E8-B342-B2B3E4C7F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73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youtu.be/HAWdAQsbgh8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8DDC-4749-6C4F-02EC-2BF96A71B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02012"/>
          </a:xfrm>
        </p:spPr>
        <p:txBody>
          <a:bodyPr>
            <a:normAutofit/>
          </a:bodyPr>
          <a:lstStyle/>
          <a:p>
            <a:r>
              <a:rPr lang="ru-RU" dirty="0"/>
              <a:t>Две оси изменений:</a:t>
            </a:r>
            <a:br>
              <a:rPr lang="ru-RU" dirty="0"/>
            </a:br>
            <a:r>
              <a:rPr lang="ru-RU" dirty="0"/>
              <a:t>типы объектов и операции над ними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5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D979-EC9F-BE8A-2CBD-8D1A348E2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остановились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34592-5852-111B-97F0-E5CC5BA8F464}"/>
              </a:ext>
            </a:extLst>
          </p:cNvPr>
          <p:cNvSpPr txBox="1"/>
          <p:nvPr/>
        </p:nvSpPr>
        <p:spPr>
          <a:xfrm>
            <a:off x="838199" y="1690688"/>
            <a:ext cx="105156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sf::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прямоугольник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эллипс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4C138-E096-6CD6-EF28-F1B544BC76A8}"/>
              </a:ext>
            </a:extLst>
          </p:cNvPr>
          <p:cNvSpPr txBox="1"/>
          <p:nvPr/>
        </p:nvSpPr>
        <p:spPr>
          <a:xfrm>
            <a:off x="6334124" y="5962133"/>
            <a:ext cx="489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согласились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>
                <a:latin typeface="+mn-lt"/>
              </a:rPr>
              <a:t>dynamic_cast</a:t>
            </a:r>
            <a:r>
              <a:rPr lang="en-US" b="1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3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8E47-E093-36B7-F633-3D44A611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dynamic_cast</a:t>
            </a:r>
            <a:r>
              <a:rPr lang="en-US" dirty="0"/>
              <a:t> – </a:t>
            </a:r>
            <a:r>
              <a:rPr lang="ru-RU" dirty="0"/>
              <a:t>цена выбранной границы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F9C6-9984-7634-EB1B-04840BC8E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71160" cy="3637562"/>
          </a:xfrm>
        </p:spPr>
        <p:txBody>
          <a:bodyPr/>
          <a:lstStyle/>
          <a:p>
            <a:r>
              <a:rPr lang="ru-RU" dirty="0"/>
              <a:t>Классы и  интерфейсы доменной модели не знают про </a:t>
            </a:r>
            <a:r>
              <a:rPr lang="en-US" dirty="0"/>
              <a:t>SFML</a:t>
            </a:r>
            <a:r>
              <a:rPr lang="ru-RU" dirty="0"/>
              <a:t> и</a:t>
            </a:r>
            <a:r>
              <a:rPr lang="en-US" dirty="0"/>
              <a:t> Rendering</a:t>
            </a:r>
            <a:endParaRPr lang="ru-RU" dirty="0"/>
          </a:p>
          <a:p>
            <a:r>
              <a:rPr lang="en-US" dirty="0" err="1"/>
              <a:t>DrawingRenderer</a:t>
            </a:r>
            <a:r>
              <a:rPr lang="ru-RU" dirty="0"/>
              <a:t> знает про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типы конкретных фигур </a:t>
            </a:r>
            <a:endParaRPr lang="en-US" dirty="0"/>
          </a:p>
          <a:p>
            <a:pPr lvl="1"/>
            <a:r>
              <a:rPr lang="ru-RU" dirty="0"/>
              <a:t>как их рисовать с помощью </a:t>
            </a:r>
            <a:r>
              <a:rPr lang="en-US" dirty="0"/>
              <a:t>SFML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CB6B3E-673E-7C92-8543-CD8BE27230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0" y="1825625"/>
            <a:ext cx="4382979" cy="340104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4C9A0B-3DC2-1FCE-E797-74B65D164EB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669280"/>
            <a:ext cx="10515600" cy="55734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уничтожили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ru-RU" dirty="0"/>
              <a:t>, а </a:t>
            </a:r>
            <a:r>
              <a:rPr lang="en-US" dirty="0" err="1"/>
              <a:t>выбрали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59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33E9-EACC-8680-8678-8ED60E74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улучшить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51622-C8E6-D0C6-2959-45EE582C0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Наша цель не:</a:t>
            </a:r>
          </a:p>
          <a:p>
            <a:pPr lvl="1"/>
            <a:r>
              <a:rPr lang="en-US" dirty="0"/>
              <a:t>DrawnigRenderer</a:t>
            </a:r>
            <a:r>
              <a:rPr lang="ru-RU" dirty="0"/>
              <a:t> не должен знать </a:t>
            </a:r>
            <a:r>
              <a:rPr lang="en-US" dirty="0"/>
              <a:t>Rectangle </a:t>
            </a:r>
            <a:r>
              <a:rPr lang="ru-RU" dirty="0"/>
              <a:t>и </a:t>
            </a:r>
            <a:r>
              <a:rPr lang="en-US" dirty="0"/>
              <a:t>Ellipse</a:t>
            </a:r>
          </a:p>
          <a:p>
            <a:r>
              <a:rPr lang="ru-RU" dirty="0"/>
              <a:t>Цель:</a:t>
            </a:r>
          </a:p>
          <a:p>
            <a:pPr lvl="1"/>
            <a:r>
              <a:rPr lang="ru-RU" dirty="0"/>
              <a:t>Знание о конкретных типах должно быть выражено явно и структурированно</a:t>
            </a:r>
          </a:p>
          <a:p>
            <a:r>
              <a:rPr lang="ru-RU" dirty="0"/>
              <a:t>Сейчас знание о типах связано в цепочке </a:t>
            </a:r>
            <a:r>
              <a:rPr lang="en-US" dirty="0"/>
              <a:t>if</a:t>
            </a:r>
          </a:p>
          <a:p>
            <a:r>
              <a:rPr lang="ru-RU" dirty="0"/>
              <a:t>Что произойдёт, если такие решения </a:t>
            </a:r>
            <a:r>
              <a:rPr lang="ru-RU" dirty="0" err="1"/>
              <a:t>понядобятся</a:t>
            </a:r>
            <a:r>
              <a:rPr lang="ru-RU" dirty="0"/>
              <a:t> не только при отрисовке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06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274A46-53F7-03BA-BA26-187B6A91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Новое требование:</a:t>
            </a:r>
            <a:br>
              <a:rPr lang="ru-RU" dirty="0"/>
            </a:br>
            <a:r>
              <a:rPr lang="ru-RU" dirty="0"/>
              <a:t>рисунок можно сохранить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CF694-A68D-0F7F-259A-E36340B59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70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82624E-8C55-A6CE-5C0A-990FC192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526AD9-3C61-940D-E623-73D5F2C40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60975"/>
            <a:ext cx="10515600" cy="288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8352-5894-3F26-C508-5B95C74E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BBCA4-0037-FF8E-5022-5124EABB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Соответствие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Rectangle → rectangle x y width height</a:t>
            </a:r>
          </a:p>
          <a:p>
            <a:pPr lvl="1"/>
            <a:r>
              <a:rPr lang="en-US" dirty="0"/>
              <a:t>Ellipse → ellipse x y width height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rectangle 100 100 200 80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ellipse   400 300 150 100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rectangle 50  40  80  120</a:t>
            </a:r>
          </a:p>
          <a:p>
            <a:r>
              <a:rPr lang="ru-RU" dirty="0"/>
              <a:t>Сейчас</a:t>
            </a:r>
            <a:r>
              <a:rPr lang="en-US" dirty="0"/>
              <a:t> </a:t>
            </a:r>
            <a:r>
              <a:rPr lang="ru-RU" dirty="0"/>
              <a:t>нас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, а </a:t>
            </a:r>
            <a:r>
              <a:rPr lang="en-US" dirty="0" err="1"/>
              <a:t>различающееся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5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241E-7AD3-3472-D090-E8EF84B1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Решаем задачу самым простым способом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164DC-198B-7248-7450-8FE2C624BEE9}"/>
              </a:ext>
            </a:extLst>
          </p:cNvPr>
          <p:cNvSpPr txBox="1"/>
          <p:nvPr/>
        </p:nvSpPr>
        <p:spPr>
          <a:xfrm>
            <a:off x="838200" y="1690688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DrawingSerializer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rectangle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ellipse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8676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3C31-0C69-65DA-FF29-04D00D9E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87542EA-DFE3-55C7-298B-3F3A2728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5003"/>
            <a:ext cx="10515600" cy="1471959"/>
          </a:xfrm>
        </p:spPr>
        <p:txBody>
          <a:bodyPr/>
          <a:lstStyle/>
          <a:p>
            <a:r>
              <a:rPr lang="ru-RU" dirty="0"/>
              <a:t>Что здесь на самом деле повторяется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Определить конкретный тип</a:t>
            </a:r>
          </a:p>
          <a:p>
            <a:pPr lvl="1"/>
            <a:r>
              <a:rPr lang="ru-RU" dirty="0"/>
              <a:t>Выполнить операцию для этого типа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A1E83-C88A-9DC3-4ECC-3E78B918E6EB}"/>
              </a:ext>
            </a:extLst>
          </p:cNvPr>
          <p:cNvSpPr txBox="1"/>
          <p:nvPr/>
        </p:nvSpPr>
        <p:spPr>
          <a:xfrm>
            <a:off x="838200" y="2147191"/>
            <a:ext cx="5257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DrawingRenderer</a:t>
            </a:r>
            <a:r>
              <a:rPr lang="en-US" sz="1200" b="1" dirty="0"/>
              <a:t>:</a:t>
            </a:r>
            <a:endParaRPr lang="ru-RU" sz="1200" b="1" dirty="0"/>
          </a:p>
          <a:p>
            <a:pPr>
              <a:buNone/>
            </a:pPr>
            <a:endParaRPr lang="ru-RU" sz="1200" b="0" dirty="0">
              <a:solidFill>
                <a:srgbClr val="8F08C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render Rectangle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render Ellipse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BD446-D711-03ED-EA4E-A3E7E1E88DBD}"/>
              </a:ext>
            </a:extLst>
          </p:cNvPr>
          <p:cNvSpPr txBox="1"/>
          <p:nvPr/>
        </p:nvSpPr>
        <p:spPr>
          <a:xfrm>
            <a:off x="6096000" y="2147191"/>
            <a:ext cx="5257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DrawingSerializer</a:t>
            </a:r>
            <a:r>
              <a:rPr lang="en-US" sz="1200" dirty="0"/>
              <a:t>:</a:t>
            </a:r>
            <a:endParaRPr lang="ru-RU" sz="1200" b="0" dirty="0">
              <a:solidFill>
                <a:srgbClr val="8F08C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200" b="0" dirty="0">
              <a:solidFill>
                <a:srgbClr val="8F08C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serialize Rectangle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serialize Ellipse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9523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134D-C529-6CCA-90B2-EA0FFED9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проверок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D3A57-D346-F613-E15C-BD38B85EA1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59073"/>
            <a:ext cx="6493625" cy="389705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D8906-2511-2293-0E54-F4A7F7C5F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1825" y="1825625"/>
            <a:ext cx="4021974" cy="351114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Каждая новая операция заново определяет тип фигуры</a:t>
            </a:r>
          </a:p>
          <a:p>
            <a:r>
              <a:rPr lang="ru-RU" dirty="0"/>
              <a:t>Почему операция должна выяснять то, что фигура уже знает о себе</a:t>
            </a:r>
          </a:p>
          <a:p>
            <a:r>
              <a:rPr lang="ru-RU" dirty="0"/>
              <a:t>Можно ли один раз определить механизм выполнения операций, зависящих от типа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481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D5E074-85FB-1C4A-2B57-CA9757D9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Две оси изменений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0BFAAD-3B0F-16AC-1119-0E91D6255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7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721CF1-8B5D-4C61-D20A-5407B592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Две</a:t>
            </a:r>
            <a:r>
              <a:rPr lang="en-US" b="1" dirty="0"/>
              <a:t> </a:t>
            </a:r>
            <a:r>
              <a:rPr lang="en-US" b="1" dirty="0" err="1"/>
              <a:t>оси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85BA3A-A63F-6930-0746-E0883707774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4200299"/>
              </p:ext>
            </p:extLst>
          </p:nvPr>
        </p:nvGraphicFramePr>
        <p:xfrm>
          <a:off x="838199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477466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27095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24784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2038062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ru-RU" dirty="0"/>
                        <a:t>Типы операций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Типы фигур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85725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Triangle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67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4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9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SVG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68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557654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5947C3-86E8-D4AF-AC40-D4158589D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4391697"/>
            <a:ext cx="10515601" cy="1785266"/>
          </a:xfrm>
        </p:spPr>
        <p:txBody>
          <a:bodyPr/>
          <a:lstStyle/>
          <a:p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направлениях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0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89BC-DBEC-34E6-23FC-14799345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4C13-2A45-6AB9-E2AC-8F617AA7AA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типам</a:t>
            </a:r>
            <a:r>
              <a:rPr lang="en-US" b="1" dirty="0"/>
              <a:t> </a:t>
            </a:r>
            <a:r>
              <a:rPr lang="en-US" b="1" dirty="0" err="1"/>
              <a:t>объектов</a:t>
            </a:r>
            <a:endParaRPr lang="en-US" b="1" dirty="0"/>
          </a:p>
          <a:p>
            <a:r>
              <a:rPr lang="en-US" dirty="0"/>
              <a:t>Rectangle</a:t>
            </a:r>
          </a:p>
          <a:p>
            <a:pPr lvl="1"/>
            <a:r>
              <a:rPr lang="en-US" dirty="0"/>
              <a:t>Render</a:t>
            </a:r>
          </a:p>
          <a:p>
            <a:pPr lvl="1"/>
            <a:r>
              <a:rPr lang="en-US" dirty="0"/>
              <a:t>Serialize</a:t>
            </a:r>
          </a:p>
          <a:p>
            <a:pPr lvl="1"/>
            <a:r>
              <a:rPr lang="en-US" dirty="0"/>
              <a:t>Export</a:t>
            </a:r>
          </a:p>
          <a:p>
            <a:r>
              <a:rPr lang="en-US" dirty="0"/>
              <a:t>Ellipse</a:t>
            </a:r>
          </a:p>
          <a:p>
            <a:pPr lvl="1"/>
            <a:r>
              <a:rPr lang="en-US" dirty="0"/>
              <a:t>Render</a:t>
            </a:r>
          </a:p>
          <a:p>
            <a:pPr lvl="1"/>
            <a:r>
              <a:rPr lang="en-US" dirty="0"/>
              <a:t>Serialize</a:t>
            </a:r>
          </a:p>
          <a:p>
            <a:pPr lvl="1"/>
            <a:r>
              <a:rPr lang="en-US" dirty="0"/>
              <a:t>Export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93119-DF60-5462-64EF-0B597A2EBA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По операциям</a:t>
            </a:r>
            <a:endParaRPr lang="en-US" b="1" dirty="0"/>
          </a:p>
          <a:p>
            <a:r>
              <a:rPr lang="en-US" dirty="0"/>
              <a:t>Renderer</a:t>
            </a:r>
          </a:p>
          <a:p>
            <a:pPr lvl="1"/>
            <a:r>
              <a:rPr lang="en-US" dirty="0"/>
              <a:t>Rectangle</a:t>
            </a:r>
          </a:p>
          <a:p>
            <a:pPr lvl="1"/>
            <a:r>
              <a:rPr lang="en-US" dirty="0"/>
              <a:t>Ellipse</a:t>
            </a:r>
          </a:p>
          <a:p>
            <a:r>
              <a:rPr lang="en-US" dirty="0"/>
              <a:t>Serializer</a:t>
            </a:r>
          </a:p>
          <a:p>
            <a:pPr lvl="1"/>
            <a:r>
              <a:rPr lang="en-US" dirty="0"/>
              <a:t>Rectangle</a:t>
            </a:r>
          </a:p>
          <a:p>
            <a:pPr lvl="1"/>
            <a:r>
              <a:rPr lang="en-US" dirty="0"/>
              <a:t>Ellipse</a:t>
            </a:r>
          </a:p>
          <a:p>
            <a:r>
              <a:rPr lang="en-US" dirty="0"/>
              <a:t>Exporter</a:t>
            </a:r>
          </a:p>
          <a:p>
            <a:pPr lvl="1"/>
            <a:r>
              <a:rPr lang="en-US" dirty="0"/>
              <a:t>Rectangle</a:t>
            </a:r>
          </a:p>
          <a:p>
            <a:pPr lvl="1"/>
            <a:r>
              <a:rPr lang="en-US" dirty="0"/>
              <a:t>Ellipse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9133D3-A260-8ACB-5D48-6666A15F77E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дешёвой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ru-RU" dirty="0"/>
              <a:t> или новые операции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5320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632593-D04F-ED9A-6615-776BEBC3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виртуальными</a:t>
            </a:r>
            <a:r>
              <a:rPr lang="en-US" dirty="0"/>
              <a:t>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6CBD2F-EA70-5C29-25E6-CCEF0441F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044" y="1825625"/>
            <a:ext cx="4553755" cy="4351338"/>
          </a:xfrm>
        </p:spPr>
        <p:txBody>
          <a:bodyPr/>
          <a:lstStyle/>
          <a:p>
            <a:r>
              <a:rPr lang="ru-RU" dirty="0"/>
              <a:t>Полиморфизм сам выберет реализацию для конкретного типа</a:t>
            </a:r>
          </a:p>
          <a:p>
            <a:pPr lvl="1"/>
            <a:r>
              <a:rPr lang="en-US" dirty="0"/>
              <a:t>✔️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dynamic_cast</a:t>
            </a:r>
            <a:endParaRPr lang="en-US" dirty="0"/>
          </a:p>
          <a:p>
            <a:pPr lvl="1"/>
            <a:r>
              <a:rPr lang="en-US" dirty="0"/>
              <a:t>✔️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endParaRPr lang="en-US" dirty="0"/>
          </a:p>
          <a:p>
            <a:pPr lvl="1"/>
            <a:r>
              <a:rPr lang="en-US" dirty="0"/>
              <a:t>✔️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классе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4F61C-9BA9-5C67-95CE-547A12057887}"/>
              </a:ext>
            </a:extLst>
          </p:cNvPr>
          <p:cNvSpPr txBox="1"/>
          <p:nvPr/>
        </p:nvSpPr>
        <p:spPr>
          <a:xfrm>
            <a:off x="838200" y="1847798"/>
            <a:ext cx="596184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shape = ...;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31025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711B-9D1E-9CE3-8538-83EEC1A1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Какова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84655-6311-DC4F-5238-1EEDE238F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851399"/>
            <a:ext cx="10515600" cy="1325564"/>
          </a:xfrm>
        </p:spPr>
        <p:txBody>
          <a:bodyPr/>
          <a:lstStyle/>
          <a:p>
            <a:r>
              <a:rPr lang="ru-RU" dirty="0"/>
              <a:t>Как оставить </a:t>
            </a:r>
            <a:r>
              <a:rPr lang="en-US" dirty="0"/>
              <a:t>Rendering, Serialization</a:t>
            </a:r>
            <a:r>
              <a:rPr lang="ru-RU" dirty="0"/>
              <a:t> и другие операции снаружи модели и воспользоваться полиморфизмом фигур</a:t>
            </a:r>
            <a:r>
              <a:rPr lang="en-US" dirty="0"/>
              <a:t>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4FFD12-E512-5971-B63E-FC8C99EAA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42719"/>
          </a:xfrm>
        </p:spPr>
        <p:txBody>
          <a:bodyPr/>
          <a:lstStyle/>
          <a:p>
            <a:r>
              <a:rPr lang="ru-RU" dirty="0"/>
              <a:t>Все ли эти операции относятся к ответственности </a:t>
            </a:r>
            <a:r>
              <a:rPr lang="en-US" dirty="0"/>
              <a:t>Domain Model?</a:t>
            </a:r>
          </a:p>
          <a:p>
            <a:r>
              <a:rPr lang="ru-RU" dirty="0"/>
              <a:t>Что произойдёт при добавлении ещё одной операции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193AD-F6F5-376C-C985-093E14B2BF7D}"/>
              </a:ext>
            </a:extLst>
          </p:cNvPr>
          <p:cNvSpPr txBox="1"/>
          <p:nvPr/>
        </p:nvSpPr>
        <p:spPr>
          <a:xfrm>
            <a:off x="838200" y="1690688"/>
            <a:ext cx="5257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завтра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ExportToSvg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CollectStatistics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DumpDebugInfo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88467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CE84C8-43E9-5702-D729-7D63DB7E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Выносим операции за пределы доменной модели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98F4C8-D093-7353-9E68-589430EFC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03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1053-8285-7E4A-72CC-2F274A2B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Оставляем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B58C-9C17-1DD9-EB32-F12B65A10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Оставим разные ответственности в разных компонентах</a:t>
            </a:r>
          </a:p>
          <a:p>
            <a:pPr lvl="1"/>
            <a:r>
              <a:rPr lang="en-US" dirty="0" err="1"/>
              <a:t>DrawingRenderer</a:t>
            </a:r>
            <a:r>
              <a:rPr lang="en-US" dirty="0"/>
              <a:t> </a:t>
            </a:r>
            <a:r>
              <a:rPr lang="ru-RU" dirty="0"/>
              <a:t>отвечает за отрисовку</a:t>
            </a:r>
          </a:p>
          <a:p>
            <a:pPr lvl="1"/>
            <a:r>
              <a:rPr lang="en-US" dirty="0" err="1"/>
              <a:t>DrawingSerializer</a:t>
            </a:r>
            <a:r>
              <a:rPr lang="en-US" dirty="0"/>
              <a:t> </a:t>
            </a:r>
            <a:r>
              <a:rPr lang="ru-RU" dirty="0"/>
              <a:t>отвечает за сериализацию</a:t>
            </a:r>
          </a:p>
          <a:p>
            <a:pPr lvl="1"/>
            <a:r>
              <a:rPr lang="en-US" dirty="0" err="1"/>
              <a:t>SvgExporter</a:t>
            </a:r>
            <a:r>
              <a:rPr lang="en-US" dirty="0"/>
              <a:t> </a:t>
            </a:r>
            <a:r>
              <a:rPr lang="ru-RU" dirty="0"/>
              <a:t>за экспорт в </a:t>
            </a:r>
            <a:r>
              <a:rPr lang="en-US" dirty="0"/>
              <a:t>SVG</a:t>
            </a:r>
          </a:p>
          <a:p>
            <a:r>
              <a:rPr lang="ru-RU" dirty="0"/>
              <a:t>Если операции меняются по разным причинам, пусть живут отдельно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613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F1462F-E66E-9CBE-7EBC-DAF19BF8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типоспецифичную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C60D3-FB3F-FC7F-976D-29E876596D18}"/>
              </a:ext>
            </a:extLst>
          </p:cNvPr>
          <p:cNvSpPr txBox="1"/>
          <p:nvPr/>
        </p:nvSpPr>
        <p:spPr>
          <a:xfrm>
            <a:off x="838200" y="1835882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DrawingSerializer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shape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вызвать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нужную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перегрузку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у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нас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есть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&amp;?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758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032C-4F13-36FD-DE7A-FAF0779D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перегрузка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0E161-3DB0-AE3B-633E-E2D157774865}"/>
              </a:ext>
            </a:extLst>
          </p:cNvPr>
          <p:cNvSpPr txBox="1"/>
          <p:nvPr/>
        </p:nvSpPr>
        <p:spPr>
          <a:xfrm>
            <a:off x="838199" y="1744821"/>
            <a:ext cx="10623998" cy="446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Компилятор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знает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какую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перегрузку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Draw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вызвать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перегрузка выполняется по статическому типу аргумента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Компилятор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выбирает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реализацию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виртуального метода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Draw,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которая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соответствует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типу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фигуры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в runtime.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shape.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06155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AA1B-4082-D3A1-4A94-3AD0D8F3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504EDE3-7A1E-34F8-4F23-539266021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0104" y="1690688"/>
            <a:ext cx="9871792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48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EE92-64AB-DD48-ED2D-E0FFE70F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DrawingRenderer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B7AED-2BA3-113C-545E-AC73AACFDD1B}"/>
              </a:ext>
            </a:extLst>
          </p:cNvPr>
          <p:cNvSpPr txBox="1"/>
          <p:nvPr/>
        </p:nvSpPr>
        <p:spPr>
          <a:xfrm>
            <a:off x="838200" y="1803042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RenderTa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DrawSelection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ApplyTo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зависит только от конкретной фигуры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DrawSelection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хранится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класса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а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передаётся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Draw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sf::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BBBB5-0E90-E719-2F9A-3738C78BE4D9}"/>
              </a:ext>
            </a:extLst>
          </p:cNvPr>
          <p:cNvSpPr txBox="1"/>
          <p:nvPr/>
        </p:nvSpPr>
        <p:spPr>
          <a:xfrm>
            <a:off x="7143576" y="4584406"/>
            <a:ext cx="4743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Цена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>
                <a:latin typeface="+mn-lt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>
                <a:latin typeface="+mn-lt"/>
              </a:rPr>
              <a:t>RenderTarget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347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ACF4-1627-A888-22F0-F8F93CA7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DrawingSerializer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443F3-F902-CF8A-3A28-0B17F510A657}"/>
              </a:ext>
            </a:extLst>
          </p:cNvPr>
          <p:cNvSpPr txBox="1"/>
          <p:nvPr/>
        </p:nvSpPr>
        <p:spPr>
          <a:xfrm>
            <a:off x="299259" y="1690689"/>
            <a:ext cx="1189274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DrawingSerializer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DrawingSerializer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Serialize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rectangle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ellipse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68231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EA583-3466-082D-2538-F21F3B95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потребовалось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048A-0AFD-40ED-EFF9-E4ADB68DD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3311639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Раньше</a:t>
            </a:r>
            <a:endParaRPr lang="ru-RU" dirty="0"/>
          </a:p>
          <a:p>
            <a:pPr lvl="1"/>
            <a:r>
              <a:rPr lang="en-US" dirty="0" err="1"/>
              <a:t>обойти</a:t>
            </a:r>
            <a:r>
              <a:rPr lang="en-US" dirty="0"/>
              <a:t> Drawing</a:t>
            </a:r>
            <a:endParaRPr lang="ru-RU" dirty="0"/>
          </a:p>
          <a:p>
            <a:pPr lvl="1"/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IShape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dynamic_cast</a:t>
            </a:r>
            <a:r>
              <a:rPr lang="en-US" dirty="0">
                <a:latin typeface="Consolas" panose="020B0609020204030204" pitchFamily="49" charset="0"/>
              </a:rPr>
              <a:t>&lt;const Rectangle*&gt;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dynamic_cast</a:t>
            </a:r>
            <a:r>
              <a:rPr lang="en-US" dirty="0">
                <a:latin typeface="Consolas" panose="020B0609020204030204" pitchFamily="49" charset="0"/>
              </a:rPr>
              <a:t>&lt;const Ellipse*&gt;</a:t>
            </a:r>
          </a:p>
          <a:p>
            <a:pPr lvl="1"/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endParaRPr lang="en-US" dirty="0"/>
          </a:p>
          <a:p>
            <a:r>
              <a:rPr lang="ru-RU" dirty="0"/>
              <a:t>Теперь</a:t>
            </a:r>
          </a:p>
          <a:p>
            <a:pPr lvl="1"/>
            <a:r>
              <a:rPr lang="ru-RU" dirty="0"/>
              <a:t>Реализовать </a:t>
            </a:r>
            <a:r>
              <a:rPr lang="en-US" dirty="0"/>
              <a:t>IShapeOperation</a:t>
            </a:r>
          </a:p>
          <a:p>
            <a:pPr lvl="2"/>
            <a:r>
              <a:rPr lang="en-US" dirty="0" err="1"/>
              <a:t>ApplyTo</a:t>
            </a:r>
            <a:r>
              <a:rPr lang="en-US" dirty="0"/>
              <a:t>(const Rectangle&amp;)</a:t>
            </a:r>
          </a:p>
          <a:p>
            <a:pPr lvl="2"/>
            <a:r>
              <a:rPr lang="en-US" dirty="0" err="1"/>
              <a:t>ApplyTo</a:t>
            </a:r>
            <a:r>
              <a:rPr lang="en-US" dirty="0"/>
              <a:t>(const Ellipse&amp;)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472F81-4C3D-73C4-0AD2-2D48345C7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37264"/>
            <a:ext cx="10515600" cy="1039697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 в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endParaRPr lang="en-US" dirty="0"/>
          </a:p>
          <a:p>
            <a:pPr lvl="1"/>
            <a:r>
              <a:rPr lang="ru-RU" dirty="0"/>
              <a:t>К</a:t>
            </a:r>
            <a:r>
              <a:rPr lang="en-US" dirty="0" err="1"/>
              <a:t>аждая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BFD86-BB86-8F46-7712-DB9B70404C26}"/>
              </a:ext>
            </a:extLst>
          </p:cNvPr>
          <p:cNvSpPr txBox="1"/>
          <p:nvPr/>
        </p:nvSpPr>
        <p:spPr>
          <a:xfrm>
            <a:off x="6098772" y="1825625"/>
            <a:ext cx="609322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SvgExporter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ApplyTo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96004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E8DE-09D4-AAE7-9C92-9B841AAD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en-US" dirty="0"/>
              <a:t>Visitor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C4D4E-E47D-746C-5C11-D68B4CFA8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97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C05F1-CA93-A19A-A20E-D01658BD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: Visitor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79F17A-84C1-43B8-976A-FBD209E2551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3091354"/>
              </p:ext>
            </p:extLst>
          </p:nvPr>
        </p:nvGraphicFramePr>
        <p:xfrm>
          <a:off x="838200" y="1825625"/>
          <a:ext cx="51815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713">
                  <a:extLst>
                    <a:ext uri="{9D8B030D-6E8A-4147-A177-3AD203B41FA5}">
                      <a16:colId xmlns:a16="http://schemas.microsoft.com/office/drawing/2014/main" val="2031665647"/>
                    </a:ext>
                  </a:extLst>
                </a:gridCol>
                <a:gridCol w="3085886">
                  <a:extLst>
                    <a:ext uri="{9D8B030D-6E8A-4147-A177-3AD203B41FA5}">
                      <a16:colId xmlns:a16="http://schemas.microsoft.com/office/drawing/2014/main" val="3606643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Наши имена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Классические имена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84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IShapeOperation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IShapeVisitor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64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ApplyOperation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43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ApplyTo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207846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C59815-1FFA-35BB-A975-6EC35313E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549015"/>
            <a:ext cx="5181599" cy="2627947"/>
          </a:xfrm>
        </p:spPr>
        <p:txBody>
          <a:bodyPr/>
          <a:lstStyle/>
          <a:p>
            <a:r>
              <a:rPr lang="ru-RU" dirty="0"/>
              <a:t>Архитектура не изменилась – появились общепринятые имена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11E43-1CFA-4BEF-F127-45B09C3A9553}"/>
              </a:ext>
            </a:extLst>
          </p:cNvPr>
          <p:cNvSpPr txBox="1"/>
          <p:nvPr/>
        </p:nvSpPr>
        <p:spPr>
          <a:xfrm>
            <a:off x="6096000" y="1690688"/>
            <a:ext cx="60959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visitor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8477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1F51-CF9E-A4AA-8780-44A52949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Visitor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0A3692-F3F7-56B4-4933-42710D8E3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7184489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7E182-325C-4FB9-5080-BB51007FCFD1}"/>
              </a:ext>
            </a:extLst>
          </p:cNvPr>
          <p:cNvSpPr txBox="1"/>
          <p:nvPr/>
        </p:nvSpPr>
        <p:spPr>
          <a:xfrm>
            <a:off x="8179724" y="4928121"/>
            <a:ext cx="4185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Element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Visitor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409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C77175-0731-0301-D32B-7AE3DD02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Dispatch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1A0F7-4D29-6B17-BE77-A01C711C8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Двойная диспетчеризация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08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79B107-D268-D303-B808-F496B6FE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Первый</a:t>
            </a:r>
            <a:r>
              <a:rPr lang="en-US" dirty="0"/>
              <a:t> dispatch: </a:t>
            </a:r>
            <a:r>
              <a:rPr lang="en-US" dirty="0" err="1"/>
              <a:t>узнаём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15D8C8A-3188-64D1-3CCC-063B981B2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80" y="1825625"/>
            <a:ext cx="101394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45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C424-3ED2-8D08-E584-0AEC4B37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Второй</a:t>
            </a:r>
            <a:r>
              <a:rPr lang="en-US" dirty="0"/>
              <a:t> dispatch: </a:t>
            </a:r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DC2EA-D4EC-86AC-937F-9AC2B6764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07" y="1825625"/>
            <a:ext cx="97665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14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0991-8FF0-1630-8072-20D44A1F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</a:t>
            </a:r>
            <a:r>
              <a:rPr lang="ru-RU" dirty="0"/>
              <a:t>как «</a:t>
            </a:r>
            <a:r>
              <a:rPr lang="en-US" dirty="0"/>
              <a:t>bug report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языку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CBCFE8-38F3-61B3-F6C6-E7607A2D8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80" y="1690688"/>
            <a:ext cx="1010084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27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16BE8D-6C3D-B29B-CED6-AAE2157E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68537"/>
            <a:ext cx="10515600" cy="2293938"/>
          </a:xfrm>
        </p:spPr>
        <p:txBody>
          <a:bodyPr>
            <a:normAutofit fontScale="90000"/>
          </a:bodyPr>
          <a:lstStyle/>
          <a:p>
            <a:r>
              <a:rPr lang="en-US" dirty="0"/>
              <a:t>Visitor:</a:t>
            </a:r>
            <a:br>
              <a:rPr lang="en-US" dirty="0"/>
            </a:br>
            <a:r>
              <a:rPr lang="ru-RU" dirty="0"/>
              <a:t>Какую ось мы сделали дешёвой</a:t>
            </a:r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34A28-2C0C-CBB4-158D-7A4D963ED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14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8F8BD6-F54E-9E09-87B3-7686F216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Проверим</a:t>
            </a:r>
            <a:r>
              <a:rPr lang="en-US" dirty="0"/>
              <a:t> Visitor </a:t>
            </a:r>
            <a:r>
              <a:rPr lang="en-US" dirty="0" err="1"/>
              <a:t>новым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7885D3-BCF1-54AD-AD56-7CB1E7D0C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488" y="1842250"/>
            <a:ext cx="6648207" cy="4026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6CCC4A-0A73-E138-BD39-7917EBECFAAD}"/>
              </a:ext>
            </a:extLst>
          </p:cNvPr>
          <p:cNvSpPr txBox="1"/>
          <p:nvPr/>
        </p:nvSpPr>
        <p:spPr>
          <a:xfrm>
            <a:off x="123305" y="1842250"/>
            <a:ext cx="52971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SvgExporter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SvgExporter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0CC996-67C4-44C2-2FF4-F14BC83494A8}"/>
              </a:ext>
            </a:extLst>
          </p:cNvPr>
          <p:cNvSpPr txBox="1"/>
          <p:nvPr/>
        </p:nvSpPr>
        <p:spPr>
          <a:xfrm>
            <a:off x="123305" y="5160417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Новая</a:t>
            </a:r>
            <a:r>
              <a:rPr lang="en-US" b="1" dirty="0"/>
              <a:t> </a:t>
            </a:r>
            <a:r>
              <a:rPr lang="en-US" b="1" dirty="0" err="1"/>
              <a:t>операция</a:t>
            </a:r>
            <a:r>
              <a:rPr lang="en-US" b="1" dirty="0"/>
              <a:t> → </a:t>
            </a:r>
            <a:r>
              <a:rPr lang="en-US" b="1" dirty="0" err="1"/>
              <a:t>новый</a:t>
            </a:r>
            <a:r>
              <a:rPr lang="en-US" b="1" dirty="0"/>
              <a:t> Visitor</a:t>
            </a:r>
          </a:p>
        </p:txBody>
      </p:sp>
    </p:spTree>
    <p:extLst>
      <p:ext uri="{BB962C8B-B14F-4D97-AF65-F5344CB8AC3E}">
        <p14:creationId xmlns:p14="http://schemas.microsoft.com/office/powerpoint/2010/main" val="845848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2D89-2986-CA63-E0B5-FA5E4AEE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5B0E8D-53B0-D350-8D9D-ED4989A1D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40519" y="1690688"/>
            <a:ext cx="8510962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35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467C-2BA9-5AB3-9573-ADA0B6D1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</a:t>
            </a:r>
            <a:r>
              <a:rPr lang="en-US" dirty="0" err="1"/>
              <a:t>выбрал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97289F-7A53-AED7-22CD-6AED1A29BB7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06435988"/>
              </p:ext>
            </p:extLst>
          </p:nvPr>
        </p:nvGraphicFramePr>
        <p:xfrm>
          <a:off x="838200" y="1825625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138311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94512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48208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7927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Triangle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4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Rendering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95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Serialization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40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SVG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60203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9891EC-E0B4-A3EE-2197-118106136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54633"/>
            <a:ext cx="10515600" cy="1322330"/>
          </a:xfrm>
        </p:spPr>
        <p:txBody>
          <a:bodyPr/>
          <a:lstStyle/>
          <a:p>
            <a:r>
              <a:rPr lang="en-US" dirty="0"/>
              <a:t>Visitor </a:t>
            </a:r>
            <a:r>
              <a:rPr lang="en-US" dirty="0" err="1"/>
              <a:t>упрощает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3765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9F40-1FAE-DC60-918F-201A53B9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Visitor </a:t>
            </a:r>
            <a:r>
              <a:rPr lang="en-US" dirty="0" err="1"/>
              <a:t>окупается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058C6-9C4F-5A70-72E8-17E2AE1E8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428559"/>
          </a:xfrm>
        </p:spPr>
        <p:txBody>
          <a:bodyPr/>
          <a:lstStyle/>
          <a:p>
            <a:r>
              <a:rPr lang="en-US" dirty="0"/>
              <a:t>Visitor </a:t>
            </a:r>
            <a:r>
              <a:rPr lang="ru-RU" dirty="0"/>
              <a:t>– хороший выбор, когда:</a:t>
            </a:r>
          </a:p>
          <a:p>
            <a:pPr lvl="1"/>
            <a:r>
              <a:rPr lang="ru-RU" dirty="0"/>
              <a:t>Набор типов редко меняются</a:t>
            </a:r>
          </a:p>
          <a:p>
            <a:pPr lvl="1"/>
            <a:r>
              <a:rPr lang="ru-RU" dirty="0"/>
              <a:t>Часто появляются новые операции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1CD9B-543D-21E6-D5EE-C67E43CE0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428559"/>
          </a:xfrm>
        </p:spPr>
        <p:txBody>
          <a:bodyPr/>
          <a:lstStyle/>
          <a:p>
            <a:r>
              <a:rPr lang="ru-RU" dirty="0"/>
              <a:t>Цена </a:t>
            </a:r>
            <a:r>
              <a:rPr lang="en-US" dirty="0"/>
              <a:t>Visitor </a:t>
            </a:r>
            <a:r>
              <a:rPr lang="ru-RU" dirty="0"/>
              <a:t>может оказаться слишком высокой, когда:</a:t>
            </a:r>
          </a:p>
          <a:p>
            <a:pPr lvl="1"/>
            <a:r>
              <a:rPr lang="ru-RU" dirty="0"/>
              <a:t>Типы появляются часто</a:t>
            </a:r>
          </a:p>
          <a:p>
            <a:pPr lvl="1"/>
            <a:r>
              <a:rPr lang="ru-RU" dirty="0"/>
              <a:t>Операций немного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26FEFE-0908-23F7-B55C-5716B64AEE0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389121"/>
            <a:ext cx="10515600" cy="1837508"/>
          </a:xfrm>
        </p:spPr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В случае графического редактора – вероятно, меняются обе оси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17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75923-AB0B-C130-5653-E0FDCB15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сложно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13B87-A580-F4AC-DD3B-5A3C2CDB17E4}"/>
              </a:ext>
            </a:extLst>
          </p:cNvPr>
          <p:cNvSpPr txBox="1"/>
          <p:nvPr/>
        </p:nvSpPr>
        <p:spPr>
          <a:xfrm>
            <a:off x="838200" y="1690688"/>
            <a:ext cx="52578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Решение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dynamic_cast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скомпилируется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даже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</a:t>
            </a: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забудем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добавить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поддержку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Triangle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F538C-B514-488F-2E71-C1CDE09EBEF5}"/>
              </a:ext>
            </a:extLst>
          </p:cNvPr>
          <p:cNvSpPr txBox="1"/>
          <p:nvPr/>
        </p:nvSpPr>
        <p:spPr>
          <a:xfrm>
            <a:off x="6096001" y="1675392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NEW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SvgExporter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SvgExporter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Забыли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добавить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Visit(Triangle)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shape = ...;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компиляции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не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реализован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метод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Visit </a:t>
            </a:r>
            <a:r>
              <a:rPr lang="en-US" sz="1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для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Triangle</a:t>
            </a:r>
          </a:p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SvgExporter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exporter{…};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exporter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E5EB7-1C32-3D45-625B-2DD7F1729439}"/>
              </a:ext>
            </a:extLst>
          </p:cNvPr>
          <p:cNvSpPr txBox="1"/>
          <p:nvPr/>
        </p:nvSpPr>
        <p:spPr>
          <a:xfrm>
            <a:off x="838200" y="5722035"/>
            <a:ext cx="5118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Visitor </a:t>
            </a:r>
            <a:r>
              <a:rPr lang="en-US" dirty="0" err="1"/>
              <a:t>превращает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br>
              <a:rPr lang="en-US" dirty="0"/>
            </a:br>
            <a:r>
              <a:rPr lang="en-US" dirty="0"/>
              <a:t>в </a:t>
            </a:r>
            <a:r>
              <a:rPr lang="en-US" dirty="0" err="1"/>
              <a:t>проверяемый</a:t>
            </a:r>
            <a:r>
              <a:rPr lang="en-US" dirty="0"/>
              <a:t> </a:t>
            </a:r>
            <a:r>
              <a:rPr lang="en-US" dirty="0" err="1"/>
              <a:t>компилятором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136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4AEF-8B03-D864-2BFE-E559EB69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Знание</a:t>
            </a:r>
            <a:r>
              <a:rPr lang="en-US" dirty="0"/>
              <a:t> о </a:t>
            </a:r>
            <a:r>
              <a:rPr lang="en-US" dirty="0" err="1"/>
              <a:t>типах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EC2E1-C580-FABA-38BE-FC49B1132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0999"/>
            <a:ext cx="10515600" cy="1985963"/>
          </a:xfrm>
        </p:spPr>
        <p:txBody>
          <a:bodyPr>
            <a:normAutofit/>
          </a:bodyPr>
          <a:lstStyle/>
          <a:p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выражен</a:t>
            </a:r>
            <a:r>
              <a:rPr lang="ru-RU" dirty="0"/>
              <a:t> </a:t>
            </a:r>
            <a:r>
              <a:rPr lang="en-US" dirty="0"/>
              <a:t>в </a:t>
            </a:r>
            <a:r>
              <a:rPr lang="en-US" dirty="0" err="1"/>
              <a:t>интерфейсе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endParaRPr lang="ru-RU" dirty="0"/>
          </a:p>
          <a:p>
            <a:r>
              <a:rPr lang="en-US" dirty="0"/>
              <a:t>Visitor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уменьшил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мест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Triangle.</a:t>
            </a:r>
            <a:endParaRPr lang="ru-RU" dirty="0"/>
          </a:p>
          <a:p>
            <a:pPr lvl="1"/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6D1B2-B917-4429-4938-EC1283670CA3}"/>
              </a:ext>
            </a:extLst>
          </p:cNvPr>
          <p:cNvSpPr txBox="1"/>
          <p:nvPr/>
        </p:nvSpPr>
        <p:spPr>
          <a:xfrm>
            <a:off x="838200" y="1690688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IShapeVisitor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Visit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95516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63C8-3503-CE9E-6BD7-B86118C4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—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A861A-9709-1E39-0B64-BA4F4C9EA6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Что получили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повторяющихся</a:t>
            </a:r>
            <a:r>
              <a:rPr lang="en-US" dirty="0"/>
              <a:t> </a:t>
            </a:r>
            <a:r>
              <a:rPr lang="en-US" dirty="0" err="1"/>
              <a:t>dynamic_cast</a:t>
            </a:r>
            <a:endParaRPr lang="en-US" dirty="0"/>
          </a:p>
          <a:p>
            <a:pPr lvl="1"/>
            <a:r>
              <a:rPr lang="en-US" dirty="0"/>
              <a:t>Rendering / Serialization / Export  </a:t>
            </a:r>
            <a:r>
              <a:rPr lang="ru-RU" dirty="0"/>
              <a:t>- </a:t>
            </a:r>
            <a:r>
              <a:rPr lang="en-US" dirty="0" err="1"/>
              <a:t>отдельн</a:t>
            </a:r>
            <a:r>
              <a:rPr lang="ru-RU" dirty="0" err="1"/>
              <a:t>ые</a:t>
            </a:r>
            <a:r>
              <a:rPr lang="en-US" dirty="0"/>
              <a:t> </a:t>
            </a:r>
            <a:r>
              <a:rPr lang="en-US" dirty="0" err="1"/>
              <a:t>ответственност</a:t>
            </a:r>
            <a:r>
              <a:rPr lang="ru-RU" dirty="0"/>
              <a:t>и</a:t>
            </a:r>
            <a:endParaRPr lang="en-US" dirty="0"/>
          </a:p>
          <a:p>
            <a:pPr lvl="1"/>
            <a:r>
              <a:rPr lang="en-US" dirty="0" err="1"/>
              <a:t>типоспецифичное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  </a:t>
            </a:r>
            <a:r>
              <a:rPr lang="en-US" dirty="0" err="1"/>
              <a:t>структурировано</a:t>
            </a:r>
            <a:endParaRPr lang="en-US" dirty="0"/>
          </a:p>
          <a:p>
            <a:pPr lvl="1"/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поддерживаемых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  </a:t>
            </a:r>
            <a:r>
              <a:rPr lang="en-US" dirty="0" err="1"/>
              <a:t>выражен</a:t>
            </a:r>
            <a:r>
              <a:rPr lang="en-US" dirty="0"/>
              <a:t> </a:t>
            </a:r>
            <a:r>
              <a:rPr lang="en-US" dirty="0" err="1"/>
              <a:t>явно</a:t>
            </a:r>
            <a:endParaRPr lang="en-US" dirty="0"/>
          </a:p>
          <a:p>
            <a:pPr lvl="1"/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сложно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endParaRPr lang="en-US" dirty="0"/>
          </a:p>
          <a:p>
            <a:pPr lvl="1"/>
            <a:r>
              <a:rPr lang="en-US" dirty="0"/>
              <a:t>Visitor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 </a:t>
            </a:r>
            <a:r>
              <a:rPr lang="en-US" dirty="0" err="1"/>
              <a:t>зависимости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A2DA6-0B4F-FE8B-8DE3-A39FE881EF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IShape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протоколе</a:t>
            </a:r>
            <a:r>
              <a:rPr lang="en-US" dirty="0"/>
              <a:t> Visitor</a:t>
            </a:r>
          </a:p>
          <a:p>
            <a:pPr lvl="1"/>
            <a:r>
              <a:rPr lang="en-US" dirty="0" err="1"/>
              <a:t>IShapeVisitor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en-US" dirty="0"/>
          </a:p>
          <a:p>
            <a:pPr lvl="1"/>
            <a:r>
              <a:rPr lang="en-US" dirty="0" err="1"/>
              <a:t>нов</a:t>
            </a:r>
            <a:r>
              <a:rPr lang="ru-RU" dirty="0" err="1"/>
              <a:t>ая</a:t>
            </a:r>
            <a:r>
              <a:rPr lang="en-US" dirty="0"/>
              <a:t> </a:t>
            </a:r>
            <a:r>
              <a:rPr lang="ru-RU" dirty="0"/>
              <a:t>фигура</a:t>
            </a:r>
            <a:r>
              <a:rPr lang="en-US" dirty="0"/>
              <a:t> </a:t>
            </a:r>
            <a:r>
              <a:rPr lang="en-US" dirty="0" err="1"/>
              <a:t>затрагивает</a:t>
            </a:r>
            <a:r>
              <a:rPr lang="ru-RU" dirty="0"/>
              <a:t> </a:t>
            </a:r>
            <a:r>
              <a:rPr lang="en-US" dirty="0" err="1"/>
              <a:t>существующих</a:t>
            </a:r>
            <a:r>
              <a:rPr lang="en-US" dirty="0"/>
              <a:t> </a:t>
            </a:r>
            <a:r>
              <a:rPr lang="ru-RU" dirty="0"/>
              <a:t>Посетителей</a:t>
            </a:r>
          </a:p>
          <a:p>
            <a:pPr lvl="1"/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инфраструктура</a:t>
            </a:r>
            <a:r>
              <a:rPr lang="en-US" dirty="0"/>
              <a:t> Accept / Visit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пары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и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ru-RU" dirty="0"/>
              <a:t> </a:t>
            </a:r>
            <a:r>
              <a:rPr lang="en-US" dirty="0" err="1"/>
              <a:t>dynamic_cast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проще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BFE84-CEBE-61A9-1F89-D54B1433000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заменили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повторяющийся</a:t>
            </a:r>
            <a:r>
              <a:rPr lang="en-US" dirty="0"/>
              <a:t> type dispatch</a:t>
            </a:r>
            <a:br>
              <a:rPr lang="en-US" dirty="0"/>
            </a:b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строгий</a:t>
            </a:r>
            <a:r>
              <a:rPr lang="en-US" dirty="0"/>
              <a:t> и </a:t>
            </a:r>
            <a:r>
              <a:rPr lang="en-US" dirty="0" err="1"/>
              <a:t>связанный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endParaRPr lang="ru-RU" dirty="0"/>
          </a:p>
          <a:p>
            <a:r>
              <a:rPr lang="en-US" dirty="0" err="1"/>
              <a:t>Окупается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связанность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0589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5C39F0-230F-CDF6-BDDB-A3333C96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х</a:t>
            </a:r>
            <a:r>
              <a:rPr lang="en-US" dirty="0" err="1"/>
              <a:t>отите</a:t>
            </a:r>
            <a:r>
              <a:rPr lang="en-US" dirty="0"/>
              <a:t> </a:t>
            </a:r>
            <a:r>
              <a:rPr lang="en-US" dirty="0" err="1"/>
              <a:t>копнуть</a:t>
            </a:r>
            <a:r>
              <a:rPr lang="en-US" dirty="0"/>
              <a:t> </a:t>
            </a:r>
            <a:r>
              <a:rPr lang="en-US" dirty="0" err="1"/>
              <a:t>глубже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D59F1C-AE45-6788-B222-DA676BF8A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5400" cy="4351338"/>
          </a:xfrm>
        </p:spPr>
        <p:txBody>
          <a:bodyPr/>
          <a:lstStyle/>
          <a:p>
            <a:r>
              <a:rPr lang="ru-RU" dirty="0"/>
              <a:t>К</a:t>
            </a:r>
            <a:r>
              <a:rPr lang="en-US" dirty="0" err="1"/>
              <a:t>лассический</a:t>
            </a:r>
            <a:r>
              <a:rPr lang="en-US" dirty="0"/>
              <a:t> Visitor</a:t>
            </a:r>
          </a:p>
          <a:p>
            <a:r>
              <a:rPr lang="ru-RU" dirty="0"/>
              <a:t>Ц</a:t>
            </a:r>
            <a:r>
              <a:rPr lang="en-US" dirty="0" err="1"/>
              <a:t>ена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endParaRPr lang="en-US" dirty="0"/>
          </a:p>
          <a:p>
            <a:r>
              <a:rPr lang="ru-RU" dirty="0"/>
              <a:t>Ц</a:t>
            </a:r>
            <a:r>
              <a:rPr lang="en-US" dirty="0" err="1"/>
              <a:t>иклическая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Visitor ↔ Element</a:t>
            </a:r>
          </a:p>
          <a:p>
            <a:r>
              <a:rPr lang="en-US" dirty="0"/>
              <a:t>Acyclic Visitor</a:t>
            </a:r>
          </a:p>
          <a:p>
            <a:r>
              <a:rPr lang="ru-RU" dirty="0"/>
              <a:t>В</a:t>
            </a:r>
            <a:r>
              <a:rPr lang="en-US" dirty="0" err="1"/>
              <a:t>арианты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с </a:t>
            </a:r>
            <a:r>
              <a:rPr lang="en-US" dirty="0" err="1"/>
              <a:t>обобщённым</a:t>
            </a:r>
            <a:r>
              <a:rPr lang="en-US" dirty="0"/>
              <a:t> </a:t>
            </a:r>
            <a:r>
              <a:rPr lang="en-US" dirty="0" err="1"/>
              <a:t>программированием</a:t>
            </a:r>
            <a:endParaRPr lang="en-US" dirty="0"/>
          </a:p>
          <a:p>
            <a:r>
              <a:rPr lang="ru-RU" dirty="0"/>
              <a:t>У</a:t>
            </a:r>
            <a:r>
              <a:rPr lang="en-US" dirty="0" err="1"/>
              <a:t>меньшение</a:t>
            </a:r>
            <a:r>
              <a:rPr lang="en-US" dirty="0"/>
              <a:t> boilerplate-</a:t>
            </a:r>
            <a:r>
              <a:rPr lang="en-US" dirty="0" err="1"/>
              <a:t>кода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D0217-AED9-81C9-C624-BB918CA17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585" y="1825625"/>
            <a:ext cx="3656215" cy="26145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B071C0-E879-9232-519E-25F9010C83F2}"/>
              </a:ext>
            </a:extLst>
          </p:cNvPr>
          <p:cNvSpPr txBox="1"/>
          <p:nvPr/>
        </p:nvSpPr>
        <p:spPr>
          <a:xfrm>
            <a:off x="7697585" y="4551691"/>
            <a:ext cx="3458280" cy="37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https://youtu.be/HAWdAQsbgh8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4EC235-0119-FBFE-1A27-AF9D845FA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404" y="5037575"/>
            <a:ext cx="1692002" cy="167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46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E4F9-56A6-7F8A-533F-F48D6CB6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Итоги</a:t>
            </a:r>
            <a:r>
              <a:rPr lang="en-US" dirty="0"/>
              <a:t>: Visitor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F6E22-F153-07E6-5831-5A84330CB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 чему мы пришли:</a:t>
            </a:r>
          </a:p>
          <a:p>
            <a:pPr lvl="1"/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Domain Model</a:t>
            </a:r>
          </a:p>
          <a:p>
            <a:pPr lvl="1"/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 </a:t>
            </a:r>
            <a:r>
              <a:rPr lang="en-US" dirty="0" err="1"/>
              <a:t>явным</a:t>
            </a:r>
            <a:r>
              <a:rPr lang="en-US" dirty="0"/>
              <a:t> и </a:t>
            </a:r>
            <a:r>
              <a:rPr lang="en-US" dirty="0" err="1"/>
              <a:t>структурированным</a:t>
            </a:r>
            <a:endParaRPr lang="ru-RU" dirty="0"/>
          </a:p>
          <a:p>
            <a:pPr lvl="1"/>
            <a:r>
              <a:rPr lang="ru-RU" dirty="0"/>
              <a:t>Посетитель</a:t>
            </a:r>
            <a:r>
              <a:rPr lang="en-US" dirty="0"/>
              <a:t> </a:t>
            </a:r>
            <a:r>
              <a:rPr lang="ru-RU" dirty="0"/>
              <a:t>хранит собственные зависимости и состояние</a:t>
            </a:r>
          </a:p>
          <a:p>
            <a:pPr lvl="1"/>
            <a:r>
              <a:rPr lang="ru-RU" dirty="0"/>
              <a:t>Легко добавить новую операцию</a:t>
            </a:r>
          </a:p>
          <a:p>
            <a:pPr lvl="1"/>
            <a:r>
              <a:rPr lang="ru-RU" dirty="0"/>
              <a:t>Новый тип затрагивает всех посетителей</a:t>
            </a:r>
          </a:p>
          <a:p>
            <a:pPr lvl="2"/>
            <a:r>
              <a:rPr lang="ru-RU" dirty="0"/>
              <a:t>компилятор помогает ничего не забыть</a:t>
            </a:r>
          </a:p>
          <a:p>
            <a:r>
              <a:rPr lang="en-US" dirty="0"/>
              <a:t>Visitor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универсальное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ru-RU" dirty="0"/>
          </a:p>
          <a:p>
            <a:r>
              <a:rPr lang="en-US" dirty="0"/>
              <a:t>Visitor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устраняет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дешевле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729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9761</Words>
  <Application>Microsoft Office PowerPoint</Application>
  <PresentationFormat>Widescreen</PresentationFormat>
  <Paragraphs>1373</Paragraphs>
  <Slides>40</Slides>
  <Notes>40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Consolas</vt:lpstr>
      <vt:lpstr>Office Theme</vt:lpstr>
      <vt:lpstr>Две оси изменений: типы объектов и операции над ними</vt:lpstr>
      <vt:lpstr>Где мы остановились?</vt:lpstr>
      <vt:lpstr>dynamic_cast – цена выбранной границы</vt:lpstr>
      <vt:lpstr>Что именно мы хотим улучшить?</vt:lpstr>
      <vt:lpstr>Новое требование: рисунок можно сохранить</vt:lpstr>
      <vt:lpstr>Новое требование: рисунок нужно сохранять</vt:lpstr>
      <vt:lpstr>Начнём с простого формата</vt:lpstr>
      <vt:lpstr>Решаем задачу самым простым способом</vt:lpstr>
      <vt:lpstr>Мы уже видели этот код</vt:lpstr>
      <vt:lpstr>Следующая операция — следующая цепочка проверок </vt:lpstr>
      <vt:lpstr>Две оси изменений</vt:lpstr>
      <vt:lpstr>Две оси изменений </vt:lpstr>
      <vt:lpstr>Как организовать эту таблицу в коде?</vt:lpstr>
      <vt:lpstr>А что если просто сделать операции виртуальными?</vt:lpstr>
      <vt:lpstr>Какова цена такого решения?</vt:lpstr>
      <vt:lpstr>Выносим операции за пределы доменной модели</vt:lpstr>
      <vt:lpstr>Оставляем операции снаружи</vt:lpstr>
      <vt:lpstr>Как выразить типоспецифичную операцию?</vt:lpstr>
      <vt:lpstr>Почему перегрузка не помогает?</vt:lpstr>
      <vt:lpstr>Где конкретный тип уже известен?</vt:lpstr>
      <vt:lpstr>DrawingRenderer становится операцией над фигурой</vt:lpstr>
      <vt:lpstr>DrawingSerializer становится ещё одной операцией</vt:lpstr>
      <vt:lpstr>Что потребовалось для новой операции?</vt:lpstr>
      <vt:lpstr>Паттерн Visitor</vt:lpstr>
      <vt:lpstr>У решения появляется имя: Visitor</vt:lpstr>
      <vt:lpstr>Классическая структура Visitor</vt:lpstr>
      <vt:lpstr>Double Dispatch</vt:lpstr>
      <vt:lpstr>Первый dispatch: узнаём конкретный тип фигуры</vt:lpstr>
      <vt:lpstr>Второй dispatch: выбираем конкретную операцию</vt:lpstr>
      <vt:lpstr>Visitor как «bug report» языку</vt:lpstr>
      <vt:lpstr>Visitor: Какую ось мы сделали дешёвой?</vt:lpstr>
      <vt:lpstr>Проверим Visitor новым требованием</vt:lpstr>
      <vt:lpstr>А теперь добавим новый тип фигуры</vt:lpstr>
      <vt:lpstr>Visitor выбрал ось расширения</vt:lpstr>
      <vt:lpstr>Когда Visitor окупается</vt:lpstr>
      <vt:lpstr>Новый тип сложно забыть обработать</vt:lpstr>
      <vt:lpstr>Знание о типах стало частью контракта</vt:lpstr>
      <vt:lpstr>Visitor в нашем редакторе — решение или компромисс?</vt:lpstr>
      <vt:lpstr>Если хотите копнуть глубже</vt:lpstr>
      <vt:lpstr>Итоги: Visitor — это выбор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20</cp:revision>
  <dcterms:created xsi:type="dcterms:W3CDTF">2026-09-28T17:31:15Z</dcterms:created>
  <dcterms:modified xsi:type="dcterms:W3CDTF">2026-10-01T17:12:20Z</dcterms:modified>
</cp:coreProperties>
</file>