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1"/>
  </p:notesMasterIdLst>
  <p:sldIdLst>
    <p:sldId id="256" r:id="rId2"/>
    <p:sldId id="268" r:id="rId3"/>
    <p:sldId id="269" r:id="rId4"/>
    <p:sldId id="270" r:id="rId5"/>
    <p:sldId id="271" r:id="rId6"/>
    <p:sldId id="258" r:id="rId7"/>
    <p:sldId id="272" r:id="rId8"/>
    <p:sldId id="273" r:id="rId9"/>
    <p:sldId id="274" r:id="rId10"/>
    <p:sldId id="275" r:id="rId11"/>
    <p:sldId id="276" r:id="rId12"/>
    <p:sldId id="259" r:id="rId13"/>
    <p:sldId id="277" r:id="rId14"/>
    <p:sldId id="278" r:id="rId15"/>
    <p:sldId id="279" r:id="rId16"/>
    <p:sldId id="280" r:id="rId17"/>
    <p:sldId id="281" r:id="rId18"/>
    <p:sldId id="260" r:id="rId19"/>
    <p:sldId id="282" r:id="rId20"/>
    <p:sldId id="283" r:id="rId21"/>
    <p:sldId id="284" r:id="rId22"/>
    <p:sldId id="285" r:id="rId23"/>
    <p:sldId id="286" r:id="rId24"/>
    <p:sldId id="261" r:id="rId25"/>
    <p:sldId id="287" r:id="rId26"/>
    <p:sldId id="288" r:id="rId27"/>
    <p:sldId id="289" r:id="rId28"/>
    <p:sldId id="290" r:id="rId29"/>
    <p:sldId id="291" r:id="rId30"/>
    <p:sldId id="262" r:id="rId31"/>
    <p:sldId id="292" r:id="rId32"/>
    <p:sldId id="293" r:id="rId33"/>
    <p:sldId id="294" r:id="rId34"/>
    <p:sldId id="295" r:id="rId35"/>
    <p:sldId id="296" r:id="rId36"/>
    <p:sldId id="263" r:id="rId37"/>
    <p:sldId id="297" r:id="rId38"/>
    <p:sldId id="298" r:id="rId39"/>
    <p:sldId id="299" r:id="rId40"/>
    <p:sldId id="300" r:id="rId41"/>
    <p:sldId id="301" r:id="rId42"/>
    <p:sldId id="302" r:id="rId43"/>
    <p:sldId id="264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265" r:id="rId59"/>
    <p:sldId id="317" r:id="rId60"/>
    <p:sldId id="318" r:id="rId61"/>
    <p:sldId id="319" r:id="rId62"/>
    <p:sldId id="320" r:id="rId63"/>
    <p:sldId id="321" r:id="rId64"/>
    <p:sldId id="322" r:id="rId65"/>
    <p:sldId id="323" r:id="rId66"/>
    <p:sldId id="324" r:id="rId67"/>
    <p:sldId id="326" r:id="rId68"/>
    <p:sldId id="327" r:id="rId69"/>
    <p:sldId id="328" r:id="rId70"/>
    <p:sldId id="329" r:id="rId71"/>
    <p:sldId id="330" r:id="rId72"/>
    <p:sldId id="331" r:id="rId73"/>
    <p:sldId id="266" r:id="rId74"/>
    <p:sldId id="325" r:id="rId75"/>
    <p:sldId id="332" r:id="rId76"/>
    <p:sldId id="333" r:id="rId77"/>
    <p:sldId id="334" r:id="rId78"/>
    <p:sldId id="335" r:id="rId79"/>
    <p:sldId id="336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41" autoAdjust="0"/>
    <p:restoredTop sz="68132" autoAdjust="0"/>
  </p:normalViewPr>
  <p:slideViewPr>
    <p:cSldViewPr snapToGrid="0" showGuides="1">
      <p:cViewPr>
        <p:scale>
          <a:sx n="66" d="100"/>
          <a:sy n="66" d="100"/>
        </p:scale>
        <p:origin x="1464" y="-72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937C76-F46A-46AE-BC95-A4AE74D2A38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68901C-EDDF-4AD6-9B13-78E9B524B2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499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2316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сих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 </a:t>
            </a:r>
            <a:r>
              <a:rPr lang="en-US" dirty="0" err="1"/>
              <a:t>графический</a:t>
            </a:r>
            <a:r>
              <a:rPr lang="en-US" dirty="0"/>
              <a:t> </a:t>
            </a:r>
            <a:r>
              <a:rPr lang="en-US" dirty="0" err="1"/>
              <a:t>редактор</a:t>
            </a:r>
            <a:r>
              <a:rPr lang="en-US" dirty="0"/>
              <a:t> </a:t>
            </a:r>
            <a:r>
              <a:rPr lang="en-US" dirty="0" err="1"/>
              <a:t>служил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прежде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модельным</a:t>
            </a:r>
            <a:r>
              <a:rPr lang="en-US" dirty="0"/>
              <a:t> </a:t>
            </a:r>
            <a:r>
              <a:rPr lang="en-US" dirty="0" err="1"/>
              <a:t>примером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обсуждения</a:t>
            </a:r>
            <a:r>
              <a:rPr lang="en-US" dirty="0"/>
              <a:t> </a:t>
            </a:r>
            <a:r>
              <a:rPr lang="en-US" dirty="0" err="1"/>
              <a:t>проектирования</a:t>
            </a:r>
            <a:r>
              <a:rPr lang="en-US" dirty="0"/>
              <a:t>.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могли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, </a:t>
            </a:r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геометрию</a:t>
            </a:r>
            <a:r>
              <a:rPr lang="en-US" dirty="0"/>
              <a:t>,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HitTest</a:t>
            </a:r>
            <a:r>
              <a:rPr lang="en-US" dirty="0"/>
              <a:t> и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рисунком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пользовательский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оставался</a:t>
            </a:r>
            <a:r>
              <a:rPr lang="en-US" dirty="0"/>
              <a:t> </a:t>
            </a:r>
            <a:r>
              <a:rPr lang="en-US" dirty="0" err="1"/>
              <a:t>консольным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изучения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.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изменим</a:t>
            </a:r>
            <a:r>
              <a:rPr lang="en-US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 к </a:t>
            </a:r>
            <a:r>
              <a:rPr lang="en-US" dirty="0" err="1"/>
              <a:t>приложению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хотим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</a:t>
            </a:r>
            <a:r>
              <a:rPr lang="en-US" dirty="0" err="1"/>
              <a:t>настоящего</a:t>
            </a:r>
            <a:r>
              <a:rPr lang="en-US" dirty="0"/>
              <a:t> </a:t>
            </a:r>
            <a:r>
              <a:rPr lang="en-US" dirty="0" err="1"/>
              <a:t>интерактивного</a:t>
            </a:r>
            <a:r>
              <a:rPr lang="en-US" dirty="0"/>
              <a:t> </a:t>
            </a:r>
            <a:r>
              <a:rPr lang="en-US" dirty="0" err="1"/>
              <a:t>графического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. </a:t>
            </a:r>
            <a:r>
              <a:rPr lang="en-US" dirty="0" err="1"/>
              <a:t>Рисунок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отображаться</a:t>
            </a:r>
            <a:r>
              <a:rPr lang="en-US" dirty="0"/>
              <a:t> в </a:t>
            </a:r>
            <a:r>
              <a:rPr lang="en-US" dirty="0" err="1"/>
              <a:t>отдельном</a:t>
            </a:r>
            <a:r>
              <a:rPr lang="en-US" dirty="0"/>
              <a:t> </a:t>
            </a:r>
            <a:r>
              <a:rPr lang="en-US" dirty="0" err="1"/>
              <a:t>окне</a:t>
            </a:r>
            <a:r>
              <a:rPr lang="en-US" dirty="0"/>
              <a:t>.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указать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мышью</a:t>
            </a:r>
            <a:r>
              <a:rPr lang="en-US" dirty="0"/>
              <a:t> и </a:t>
            </a:r>
            <a:r>
              <a:rPr lang="en-US" dirty="0" err="1"/>
              <a:t>переместить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поставим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скромную</a:t>
            </a:r>
            <a:r>
              <a:rPr lang="en-US" dirty="0"/>
              <a:t> </a:t>
            </a:r>
            <a:r>
              <a:rPr lang="en-US" dirty="0" err="1"/>
              <a:t>цель</a:t>
            </a:r>
            <a:r>
              <a:rPr lang="en-US" dirty="0"/>
              <a:t>.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нужны</a:t>
            </a:r>
            <a:r>
              <a:rPr lang="en-US" dirty="0"/>
              <a:t> </a:t>
            </a:r>
            <a:r>
              <a:rPr lang="en-US" dirty="0" err="1"/>
              <a:t>панели</a:t>
            </a:r>
            <a:r>
              <a:rPr lang="en-US" dirty="0"/>
              <a:t> </a:t>
            </a:r>
            <a:r>
              <a:rPr lang="en-US" dirty="0" err="1"/>
              <a:t>инструментов</a:t>
            </a:r>
            <a:r>
              <a:rPr lang="en-US" dirty="0"/>
              <a:t>, </a:t>
            </a:r>
            <a:r>
              <a:rPr lang="en-US" dirty="0" err="1"/>
              <a:t>меню</a:t>
            </a:r>
            <a:r>
              <a:rPr lang="en-US" dirty="0"/>
              <a:t>, </a:t>
            </a:r>
            <a:r>
              <a:rPr lang="en-US" dirty="0" err="1"/>
              <a:t>диалоги</a:t>
            </a:r>
            <a:r>
              <a:rPr lang="en-US" dirty="0"/>
              <a:t> </a:t>
            </a:r>
            <a:r>
              <a:rPr lang="en-US" dirty="0" err="1"/>
              <a:t>свойств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полноценный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.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и </a:t>
            </a:r>
            <a:r>
              <a:rPr lang="en-US" dirty="0" err="1"/>
              <a:t>простейшего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ними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: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в </a:t>
            </a:r>
            <a:r>
              <a:rPr lang="en-US" dirty="0" err="1"/>
              <a:t>первую</a:t>
            </a:r>
            <a:r>
              <a:rPr lang="en-US" dirty="0"/>
              <a:t> </a:t>
            </a:r>
            <a:r>
              <a:rPr lang="en-US" dirty="0" err="1"/>
              <a:t>очередь</a:t>
            </a:r>
            <a:r>
              <a:rPr lang="en-US" dirty="0"/>
              <a:t> </a:t>
            </a:r>
            <a:r>
              <a:rPr lang="en-US" b="1" dirty="0" err="1"/>
              <a:t>новое</a:t>
            </a:r>
            <a:r>
              <a:rPr lang="en-US" b="1" dirty="0"/>
              <a:t> </a:t>
            </a:r>
            <a:r>
              <a:rPr lang="en-US" b="1" dirty="0" err="1"/>
              <a:t>требование</a:t>
            </a:r>
            <a:r>
              <a:rPr lang="en-US" b="1" dirty="0"/>
              <a:t> к </a:t>
            </a:r>
            <a:r>
              <a:rPr lang="en-US" b="1" dirty="0" err="1"/>
              <a:t>существующему</a:t>
            </a:r>
            <a:r>
              <a:rPr lang="en-US" b="1" dirty="0"/>
              <a:t> </a:t>
            </a:r>
            <a:r>
              <a:rPr lang="en-US" b="1" dirty="0" err="1"/>
              <a:t>приложению</a:t>
            </a:r>
            <a:r>
              <a:rPr lang="en-US" dirty="0"/>
              <a:t>. </a:t>
            </a:r>
            <a:r>
              <a:rPr lang="en-US" dirty="0" err="1"/>
              <a:t>Посмотрим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в </a:t>
            </a:r>
            <a:r>
              <a:rPr lang="en-US" dirty="0" err="1"/>
              <a:t>конструкции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повлечёт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6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графикой</a:t>
            </a:r>
            <a:r>
              <a:rPr lang="en-US" dirty="0"/>
              <a:t> в </a:t>
            </a:r>
            <a:r>
              <a:rPr lang="en-US" dirty="0" err="1"/>
              <a:t>примерах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SFML 3. С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библиотекой</a:t>
            </a:r>
            <a:r>
              <a:rPr lang="en-US" dirty="0"/>
              <a:t> </a:t>
            </a:r>
            <a:r>
              <a:rPr lang="en-US" dirty="0" err="1"/>
              <a:t>вы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знакомы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подробно</a:t>
            </a:r>
            <a:r>
              <a:rPr lang="en-US" dirty="0"/>
              <a:t> </a:t>
            </a:r>
            <a:r>
              <a:rPr lang="en-US" dirty="0" err="1"/>
              <a:t>изучать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API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потребуется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базовых</a:t>
            </a:r>
            <a:r>
              <a:rPr lang="en-US" dirty="0"/>
              <a:t> </a:t>
            </a:r>
            <a:r>
              <a:rPr lang="en-US" dirty="0" err="1"/>
              <a:t>возможностей</a:t>
            </a:r>
            <a:r>
              <a:rPr lang="en-US" dirty="0"/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RenderWindow</a:t>
            </a:r>
            <a:r>
              <a:rPr lang="en-US" dirty="0"/>
              <a:t>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окно</a:t>
            </a:r>
            <a:r>
              <a:rPr lang="en-US" dirty="0"/>
              <a:t>, в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отображать</a:t>
            </a:r>
            <a:r>
              <a:rPr lang="en-US" dirty="0"/>
              <a:t> </a:t>
            </a:r>
            <a:r>
              <a:rPr lang="en-US" dirty="0" err="1"/>
              <a:t>графику</a:t>
            </a:r>
            <a:r>
              <a:rPr lang="en-US" dirty="0"/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CircleShape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рисовать</a:t>
            </a:r>
            <a:r>
              <a:rPr lang="en-US" dirty="0"/>
              <a:t> </a:t>
            </a:r>
            <a:r>
              <a:rPr lang="en-US" dirty="0" err="1"/>
              <a:t>простые</a:t>
            </a:r>
            <a:r>
              <a:rPr lang="en-US" dirty="0"/>
              <a:t> </a:t>
            </a:r>
            <a:r>
              <a:rPr lang="en-US" dirty="0" err="1"/>
              <a:t>геометрические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.</a:t>
            </a:r>
          </a:p>
          <a:p>
            <a:r>
              <a:rPr lang="en-US" dirty="0"/>
              <a:t>А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SFML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можем</a:t>
            </a:r>
            <a:r>
              <a:rPr lang="en-US" dirty="0"/>
              <a:t> </a:t>
            </a:r>
            <a:r>
              <a:rPr lang="en-US" dirty="0" err="1"/>
              <a:t>получать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 о </a:t>
            </a:r>
            <a:r>
              <a:rPr lang="en-US" dirty="0" err="1"/>
              <a:t>закрытии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, </a:t>
            </a:r>
            <a:r>
              <a:rPr lang="en-US" dirty="0" err="1"/>
              <a:t>нажатиях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, </a:t>
            </a:r>
            <a:r>
              <a:rPr lang="en-US" dirty="0" err="1"/>
              <a:t>перемещении</a:t>
            </a:r>
            <a:r>
              <a:rPr lang="en-US" dirty="0"/>
              <a:t> </a:t>
            </a:r>
            <a:r>
              <a:rPr lang="en-US" dirty="0" err="1"/>
              <a:t>курсора</a:t>
            </a:r>
            <a:r>
              <a:rPr lang="en-US" dirty="0"/>
              <a:t> и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действиях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зафиксировать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SFML в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лекции</a:t>
            </a:r>
            <a:r>
              <a:rPr lang="en-US" dirty="0"/>
              <a:t>.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проектируем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i="1" dirty="0" err="1"/>
              <a:t>вокруг</a:t>
            </a:r>
            <a:r>
              <a:rPr lang="en-US" i="1" dirty="0"/>
              <a:t> SFML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изучаем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</a:t>
            </a:r>
            <a:r>
              <a:rPr lang="en-US" dirty="0" err="1"/>
              <a:t>самой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 SFML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— </a:t>
            </a:r>
            <a:r>
              <a:rPr lang="en-US" dirty="0" err="1"/>
              <a:t>конкретное</a:t>
            </a:r>
            <a:r>
              <a:rPr lang="en-US" dirty="0"/>
              <a:t> </a:t>
            </a:r>
            <a:r>
              <a:rPr lang="en-US" dirty="0" err="1"/>
              <a:t>техническое</a:t>
            </a:r>
            <a:r>
              <a:rPr lang="en-US" dirty="0"/>
              <a:t> </a:t>
            </a:r>
            <a:r>
              <a:rPr lang="en-US" dirty="0" err="1"/>
              <a:t>средство</a:t>
            </a:r>
            <a:r>
              <a:rPr lang="en-US" dirty="0"/>
              <a:t>,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реализуем</a:t>
            </a:r>
            <a:r>
              <a:rPr lang="en-US" dirty="0"/>
              <a:t> </a:t>
            </a:r>
            <a:r>
              <a:rPr lang="en-US" dirty="0" err="1"/>
              <a:t>графический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неё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графическую</a:t>
            </a:r>
            <a:r>
              <a:rPr lang="en-US" dirty="0"/>
              <a:t> </a:t>
            </a:r>
            <a:r>
              <a:rPr lang="en-US" dirty="0" err="1"/>
              <a:t>библиотеку</a:t>
            </a:r>
            <a:r>
              <a:rPr lang="en-US" dirty="0"/>
              <a:t>,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технические</a:t>
            </a:r>
            <a:r>
              <a:rPr lang="en-US" dirty="0"/>
              <a:t> </a:t>
            </a:r>
            <a:r>
              <a:rPr lang="en-US" dirty="0" err="1"/>
              <a:t>детали</a:t>
            </a:r>
            <a:r>
              <a:rPr lang="en-US" dirty="0"/>
              <a:t> </a:t>
            </a:r>
            <a:r>
              <a:rPr lang="en-US" dirty="0" err="1"/>
              <a:t>изменятся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проектные</a:t>
            </a:r>
            <a:r>
              <a:rPr lang="en-US" dirty="0"/>
              <a:t> </a:t>
            </a:r>
            <a:r>
              <a:rPr lang="en-US" dirty="0" err="1"/>
              <a:t>вопросы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интересовать</a:t>
            </a:r>
            <a:r>
              <a:rPr lang="en-US" dirty="0"/>
              <a:t>, </a:t>
            </a:r>
            <a:r>
              <a:rPr lang="en-US" dirty="0" err="1"/>
              <a:t>останутся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многом</a:t>
            </a:r>
            <a:r>
              <a:rPr lang="en-US" dirty="0"/>
              <a:t> </a:t>
            </a:r>
            <a:r>
              <a:rPr lang="en-US" dirty="0" err="1"/>
              <a:t>теми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6998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Начнём</a:t>
            </a:r>
            <a:r>
              <a:rPr lang="en-US" dirty="0"/>
              <a:t> с </a:t>
            </a:r>
            <a:r>
              <a:rPr lang="en-US" dirty="0" err="1"/>
              <a:t>минимального</a:t>
            </a:r>
            <a:r>
              <a:rPr lang="en-US" dirty="0"/>
              <a:t> </a:t>
            </a:r>
            <a:r>
              <a:rPr lang="en-US" dirty="0" err="1"/>
              <a:t>работающего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создаём</a:t>
            </a:r>
            <a:r>
              <a:rPr lang="en-US" dirty="0"/>
              <a:t> </a:t>
            </a:r>
            <a:r>
              <a:rPr lang="en-US" dirty="0" err="1"/>
              <a:t>окно</a:t>
            </a:r>
            <a:r>
              <a:rPr lang="en-US" dirty="0"/>
              <a:t> </a:t>
            </a:r>
            <a:r>
              <a:rPr lang="en-US" dirty="0" err="1"/>
              <a:t>размером</a:t>
            </a:r>
            <a:r>
              <a:rPr lang="en-US" dirty="0"/>
              <a:t> 800 </a:t>
            </a:r>
            <a:r>
              <a:rPr lang="en-US" dirty="0" err="1"/>
              <a:t>на</a:t>
            </a:r>
            <a:r>
              <a:rPr lang="en-US" dirty="0"/>
              <a:t> 600 </a:t>
            </a:r>
            <a:r>
              <a:rPr lang="en-US" dirty="0" err="1"/>
              <a:t>пикселей</a:t>
            </a:r>
            <a:r>
              <a:rPr lang="en-US" dirty="0"/>
              <a:t> и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 SFML. </a:t>
            </a:r>
            <a:r>
              <a:rPr lang="en-US" dirty="0" err="1"/>
              <a:t>Задаём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, </a:t>
            </a:r>
            <a:r>
              <a:rPr lang="en-US" dirty="0" err="1"/>
              <a:t>положение</a:t>
            </a:r>
            <a:r>
              <a:rPr lang="en-US" dirty="0"/>
              <a:t> и </a:t>
            </a:r>
            <a:r>
              <a:rPr lang="en-US" dirty="0" err="1"/>
              <a:t>цвет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входит</a:t>
            </a:r>
            <a:r>
              <a:rPr lang="en-US" dirty="0"/>
              <a:t> в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первой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обрабатываем</a:t>
            </a:r>
            <a:r>
              <a:rPr lang="en-US" dirty="0"/>
              <a:t> </a:t>
            </a:r>
            <a:r>
              <a:rPr lang="en-US" dirty="0" err="1"/>
              <a:t>поступившие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интересует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dirty="0" err="1"/>
              <a:t>закрытия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формируется</a:t>
            </a:r>
            <a:r>
              <a:rPr lang="en-US" dirty="0"/>
              <a:t> </a:t>
            </a:r>
            <a:r>
              <a:rPr lang="en-US" dirty="0" err="1"/>
              <a:t>очередной</a:t>
            </a:r>
            <a:r>
              <a:rPr lang="en-US" dirty="0"/>
              <a:t> </a:t>
            </a:r>
            <a:r>
              <a:rPr lang="en-US" dirty="0" err="1"/>
              <a:t>кадр</a:t>
            </a:r>
            <a:r>
              <a:rPr lang="en-US" dirty="0"/>
              <a:t>: </a:t>
            </a:r>
            <a:r>
              <a:rPr lang="en-US" dirty="0" err="1"/>
              <a:t>окно</a:t>
            </a:r>
            <a:r>
              <a:rPr lang="en-US" dirty="0"/>
              <a:t> </a:t>
            </a:r>
            <a:r>
              <a:rPr lang="en-US" dirty="0" err="1"/>
              <a:t>очищается</a:t>
            </a:r>
            <a:r>
              <a:rPr lang="en-US" dirty="0"/>
              <a:t>, </a:t>
            </a:r>
            <a:r>
              <a:rPr lang="en-US" dirty="0" err="1"/>
              <a:t>прямоугольник</a:t>
            </a:r>
            <a:r>
              <a:rPr lang="en-US" dirty="0"/>
              <a:t> </a:t>
            </a:r>
            <a:r>
              <a:rPr lang="en-US" dirty="0" err="1"/>
              <a:t>рисуется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сформированный</a:t>
            </a:r>
            <a:r>
              <a:rPr lang="en-US" dirty="0"/>
              <a:t> </a:t>
            </a:r>
            <a:r>
              <a:rPr lang="en-US" dirty="0" err="1"/>
              <a:t>кадр</a:t>
            </a:r>
            <a:r>
              <a:rPr lang="en-US" dirty="0"/>
              <a:t> </a:t>
            </a:r>
            <a:r>
              <a:rPr lang="en-US" dirty="0" err="1"/>
              <a:t>отображается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экране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немедленно</a:t>
            </a:r>
            <a:r>
              <a:rPr lang="en-US" dirty="0"/>
              <a:t> </a:t>
            </a:r>
            <a:r>
              <a:rPr lang="en-US" dirty="0" err="1"/>
              <a:t>вводить</a:t>
            </a:r>
            <a:r>
              <a:rPr lang="en-US" dirty="0"/>
              <a:t> </a:t>
            </a:r>
            <a:r>
              <a:rPr lang="en-US" dirty="0" err="1"/>
              <a:t>дополнительные</a:t>
            </a:r>
            <a:r>
              <a:rPr lang="en-US" dirty="0"/>
              <a:t> </a:t>
            </a:r>
            <a:r>
              <a:rPr lang="en-US" dirty="0" err="1"/>
              <a:t>классы</a:t>
            </a:r>
            <a:r>
              <a:rPr lang="en-US" dirty="0"/>
              <a:t>, </a:t>
            </a:r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уровни</a:t>
            </a:r>
            <a:r>
              <a:rPr lang="en-US" dirty="0"/>
              <a:t> </a:t>
            </a:r>
            <a:r>
              <a:rPr lang="en-US" dirty="0" err="1"/>
              <a:t>абстракции</a:t>
            </a:r>
            <a:r>
              <a:rPr lang="en-US" dirty="0"/>
              <a:t>.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проста</a:t>
            </a:r>
            <a:r>
              <a:rPr lang="en-US" dirty="0"/>
              <a:t>, и </a:t>
            </a:r>
            <a:r>
              <a:rPr lang="en-US" dirty="0" err="1"/>
              <a:t>представленное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ей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предыдущей</a:t>
            </a:r>
            <a:r>
              <a:rPr lang="en-US" dirty="0"/>
              <a:t> </a:t>
            </a:r>
            <a:r>
              <a:rPr lang="en-US" dirty="0" err="1"/>
              <a:t>лекции</a:t>
            </a:r>
            <a:r>
              <a:rPr lang="en-US" dirty="0"/>
              <a:t>. SOLID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любое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с </a:t>
            </a:r>
            <a:r>
              <a:rPr lang="en-US" dirty="0" err="1"/>
              <a:t>первых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</a:t>
            </a:r>
            <a:r>
              <a:rPr lang="en-US" dirty="0" err="1"/>
              <a:t>окружить</a:t>
            </a:r>
            <a:r>
              <a:rPr lang="en-US" dirty="0"/>
              <a:t> </a:t>
            </a:r>
            <a:r>
              <a:rPr lang="en-US" dirty="0" err="1"/>
              <a:t>архитектурой</a:t>
            </a:r>
            <a:r>
              <a:rPr lang="en-US" dirty="0"/>
              <a:t>. KISS и YAGNI </a:t>
            </a:r>
            <a:r>
              <a:rPr lang="en-US" dirty="0" err="1"/>
              <a:t>по-прежнему</a:t>
            </a:r>
            <a:r>
              <a:rPr lang="en-US" dirty="0"/>
              <a:t> </a:t>
            </a:r>
            <a:r>
              <a:rPr lang="en-US" dirty="0" err="1"/>
              <a:t>действуют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усложнять</a:t>
            </a:r>
            <a:r>
              <a:rPr lang="en-US" dirty="0"/>
              <a:t> </a:t>
            </a:r>
            <a:r>
              <a:rPr lang="en-US" dirty="0" err="1"/>
              <a:t>конструкцию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новые</a:t>
            </a:r>
            <a:r>
              <a:rPr lang="en-US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 </a:t>
            </a:r>
            <a:r>
              <a:rPr lang="en-US" dirty="0" err="1"/>
              <a:t>дадут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основания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5399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Прямоугольник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экране</a:t>
            </a:r>
            <a:r>
              <a:rPr lang="en-US" dirty="0"/>
              <a:t> </a:t>
            </a:r>
            <a:r>
              <a:rPr lang="en-US" dirty="0" err="1"/>
              <a:t>появился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существенная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: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никакого</a:t>
            </a:r>
            <a:r>
              <a:rPr lang="en-US" dirty="0"/>
              <a:t> </a:t>
            </a:r>
            <a:r>
              <a:rPr lang="en-US" dirty="0" err="1"/>
              <a:t>отношения</a:t>
            </a:r>
            <a:r>
              <a:rPr lang="en-US" dirty="0"/>
              <a:t> к </a:t>
            </a:r>
            <a:r>
              <a:rPr lang="en-US" dirty="0" err="1"/>
              <a:t>тому</a:t>
            </a:r>
            <a:r>
              <a:rPr lang="en-US" dirty="0"/>
              <a:t> </a:t>
            </a:r>
            <a:r>
              <a:rPr lang="en-US" dirty="0" err="1"/>
              <a:t>графическому</a:t>
            </a:r>
            <a:r>
              <a:rPr lang="en-US" dirty="0"/>
              <a:t> </a:t>
            </a:r>
            <a:r>
              <a:rPr lang="en-US" dirty="0" err="1"/>
              <a:t>редактору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проектировали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создали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. Это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SFML.</a:t>
            </a:r>
          </a:p>
          <a:p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редакторе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собственное</a:t>
            </a:r>
            <a:r>
              <a:rPr lang="en-US" dirty="0"/>
              <a:t> </a:t>
            </a:r>
            <a:r>
              <a:rPr lang="en-US" dirty="0" err="1"/>
              <a:t>понятие</a:t>
            </a:r>
            <a:r>
              <a:rPr lang="en-US" dirty="0"/>
              <a:t> </a:t>
            </a:r>
            <a:r>
              <a:rPr lang="en-US" dirty="0" err="1"/>
              <a:t>прямоугольника</a:t>
            </a:r>
            <a:r>
              <a:rPr lang="en-US" dirty="0"/>
              <a:t>. У </a:t>
            </a:r>
            <a:r>
              <a:rPr lang="en-US" dirty="0" err="1"/>
              <a:t>него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положение</a:t>
            </a:r>
            <a:r>
              <a:rPr lang="en-US" dirty="0"/>
              <a:t>, </a:t>
            </a:r>
            <a:r>
              <a:rPr lang="en-US" dirty="0" err="1"/>
              <a:t>размеры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. С </a:t>
            </a:r>
            <a:r>
              <a:rPr lang="en-US" dirty="0" err="1"/>
              <a:t>ним</a:t>
            </a:r>
            <a:r>
              <a:rPr lang="en-US" dirty="0"/>
              <a:t> </a:t>
            </a:r>
            <a:r>
              <a:rPr lang="en-US" dirty="0" err="1"/>
              <a:t>связаны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HitTest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Получается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в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возникают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похожих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.</a:t>
            </a:r>
          </a:p>
          <a:p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графического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.</a:t>
            </a:r>
          </a:p>
          <a:p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геометрический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умеет</a:t>
            </a:r>
            <a:r>
              <a:rPr lang="en-US" dirty="0"/>
              <a:t> </a:t>
            </a:r>
            <a:r>
              <a:rPr lang="en-US" dirty="0" err="1"/>
              <a:t>отображать</a:t>
            </a:r>
            <a:r>
              <a:rPr lang="en-US" dirty="0"/>
              <a:t> SFML.</a:t>
            </a:r>
          </a:p>
          <a:p>
            <a:endParaRPr lang="en-US" dirty="0"/>
          </a:p>
          <a:p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попытаться</a:t>
            </a:r>
            <a:r>
              <a:rPr lang="en-US" dirty="0"/>
              <a:t> </a:t>
            </a:r>
            <a:r>
              <a:rPr lang="en-US" dirty="0" err="1"/>
              <a:t>объединить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понятия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отказаться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и </a:t>
            </a:r>
            <a:r>
              <a:rPr lang="en-US" dirty="0" err="1"/>
              <a:t>хранить</a:t>
            </a:r>
            <a:r>
              <a:rPr lang="en-US" dirty="0"/>
              <a:t> в </a:t>
            </a:r>
            <a:r>
              <a:rPr lang="en-US" dirty="0" err="1"/>
              <a:t>редакторе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.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научить</a:t>
            </a:r>
            <a:r>
              <a:rPr lang="en-US" dirty="0"/>
              <a:t> </a:t>
            </a:r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рисовать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SFML.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прежде</a:t>
            </a:r>
            <a:r>
              <a:rPr lang="en-US" dirty="0"/>
              <a:t>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выбирать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,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точнее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, </a:t>
            </a:r>
            <a:r>
              <a:rPr lang="en-US" b="1" dirty="0" err="1"/>
              <a:t>какую</a:t>
            </a:r>
            <a:r>
              <a:rPr lang="en-US" b="1" dirty="0"/>
              <a:t> </a:t>
            </a:r>
            <a:r>
              <a:rPr lang="en-US" b="1" dirty="0" err="1"/>
              <a:t>роль</a:t>
            </a:r>
            <a:r>
              <a:rPr lang="en-US" b="1" dirty="0"/>
              <a:t> </a:t>
            </a:r>
            <a:r>
              <a:rPr lang="en-US" b="1" dirty="0" err="1"/>
              <a:t>выполняет</a:t>
            </a:r>
            <a:r>
              <a:rPr lang="en-US" b="1" dirty="0"/>
              <a:t> </a:t>
            </a:r>
            <a:r>
              <a:rPr lang="en-US" b="1" dirty="0" err="1"/>
              <a:t>наш</a:t>
            </a:r>
            <a:r>
              <a:rPr lang="en-US" b="1" dirty="0"/>
              <a:t>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b="1" dirty="0"/>
              <a:t> в </a:t>
            </a:r>
            <a:r>
              <a:rPr lang="en-US" b="1" dirty="0" err="1"/>
              <a:t>приложении</a:t>
            </a:r>
            <a:r>
              <a:rPr lang="en-US" b="1" dirty="0"/>
              <a:t> и </a:t>
            </a:r>
            <a:r>
              <a:rPr lang="en-US" b="1" dirty="0" err="1"/>
              <a:t>какую</a:t>
            </a:r>
            <a:r>
              <a:rPr lang="en-US" b="1" dirty="0"/>
              <a:t> </a:t>
            </a:r>
            <a:r>
              <a:rPr lang="en-US" b="1" dirty="0" err="1"/>
              <a:t>роль</a:t>
            </a:r>
            <a:r>
              <a:rPr lang="en-US" b="1" dirty="0"/>
              <a:t> </a:t>
            </a:r>
            <a:r>
              <a:rPr lang="en-US" b="1" dirty="0" err="1"/>
              <a:t>выполняет</a:t>
            </a:r>
            <a:r>
              <a:rPr lang="en-US" b="1" dirty="0"/>
              <a:t>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понадобится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понятие</a:t>
            </a:r>
            <a:r>
              <a:rPr lang="en-US" dirty="0"/>
              <a:t> — </a:t>
            </a:r>
            <a:r>
              <a:rPr lang="en-US" b="1" dirty="0" err="1"/>
              <a:t>модель</a:t>
            </a:r>
            <a:r>
              <a:rPr lang="en-US" b="1" dirty="0"/>
              <a:t> </a:t>
            </a:r>
            <a:r>
              <a:rPr lang="ru-RU" b="1" dirty="0"/>
              <a:t>предметной области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641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7392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остановились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ситуации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в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появляются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прямоугольника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, у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графического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.</a:t>
            </a:r>
          </a:p>
          <a:p>
            <a:r>
              <a:rPr lang="en-US" dirty="0"/>
              <a:t>С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, SFML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положение</a:t>
            </a:r>
            <a:r>
              <a:rPr lang="en-US" dirty="0"/>
              <a:t>, </a:t>
            </a:r>
            <a:r>
              <a:rPr lang="en-US" dirty="0" err="1"/>
              <a:t>размеры</a:t>
            </a:r>
            <a:r>
              <a:rPr lang="en-US" dirty="0"/>
              <a:t>, </a:t>
            </a:r>
            <a:r>
              <a:rPr lang="en-US" dirty="0" err="1"/>
              <a:t>цвет</a:t>
            </a:r>
            <a:r>
              <a:rPr lang="en-US" dirty="0"/>
              <a:t> и </a:t>
            </a:r>
            <a:r>
              <a:rPr lang="en-US" dirty="0" err="1"/>
              <a:t>умеет</a:t>
            </a:r>
            <a:r>
              <a:rPr lang="en-US" dirty="0"/>
              <a:t> </a:t>
            </a:r>
            <a:r>
              <a:rPr lang="en-US" dirty="0" err="1"/>
              <a:t>отображаться</a:t>
            </a:r>
            <a:r>
              <a:rPr lang="en-US" dirty="0"/>
              <a:t> в </a:t>
            </a:r>
            <a:r>
              <a:rPr lang="en-US" dirty="0" err="1"/>
              <a:t>окне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классы</a:t>
            </a:r>
            <a:r>
              <a:rPr lang="en-US" dirty="0"/>
              <a:t> </a:t>
            </a:r>
            <a:r>
              <a:rPr lang="en-US" dirty="0" err="1"/>
              <a:t>описывают</a:t>
            </a:r>
            <a:r>
              <a:rPr lang="en-US" dirty="0"/>
              <a:t> </a:t>
            </a:r>
            <a:r>
              <a:rPr lang="en-US" dirty="0" err="1"/>
              <a:t>почти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и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естественный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 </a:t>
            </a:r>
            <a:r>
              <a:rPr lang="en-US" dirty="0" err="1"/>
              <a:t>зачем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?</a:t>
            </a:r>
          </a:p>
          <a:p>
            <a:endParaRPr lang="ru-RU" dirty="0"/>
          </a:p>
          <a:p>
            <a:r>
              <a:rPr lang="en-US" dirty="0" err="1"/>
              <a:t>Возможно</a:t>
            </a:r>
            <a:r>
              <a:rPr lang="en-US" dirty="0"/>
              <a:t>, </a:t>
            </a:r>
            <a:r>
              <a:rPr lang="en-US" dirty="0" err="1"/>
              <a:t>стоит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в </a:t>
            </a:r>
            <a:r>
              <a:rPr lang="en-US" dirty="0" err="1"/>
              <a:t>редакторе</a:t>
            </a:r>
            <a:r>
              <a:rPr lang="en-US" dirty="0"/>
              <a:t> </a:t>
            </a:r>
            <a:r>
              <a:rPr lang="en-US" dirty="0" err="1"/>
              <a:t>объекты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 и </a:t>
            </a:r>
            <a:r>
              <a:rPr lang="en-US" dirty="0" err="1"/>
              <a:t>работать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с </a:t>
            </a:r>
            <a:r>
              <a:rPr lang="en-US" dirty="0" err="1"/>
              <a:t>ними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Или</a:t>
            </a:r>
            <a:r>
              <a:rPr lang="en-US" dirty="0"/>
              <a:t>, </a:t>
            </a:r>
            <a:r>
              <a:rPr lang="en-US" dirty="0" err="1"/>
              <a:t>наоборот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оставить</a:t>
            </a:r>
            <a:r>
              <a:rPr lang="en-US" dirty="0"/>
              <a:t> </a:t>
            </a:r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научить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рисовать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SFML.</a:t>
            </a:r>
          </a:p>
          <a:p>
            <a:endParaRPr lang="ru-RU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осознанный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,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, </a:t>
            </a:r>
            <a:r>
              <a:rPr lang="en-US" dirty="0" err="1"/>
              <a:t>какую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играет</a:t>
            </a:r>
            <a:r>
              <a:rPr lang="en-US" dirty="0"/>
              <a:t> в </a:t>
            </a:r>
            <a:r>
              <a:rPr lang="en-US" dirty="0" err="1"/>
              <a:t>приложении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3539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описания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понятие</a:t>
            </a:r>
            <a:r>
              <a:rPr lang="en-US" dirty="0"/>
              <a:t> </a:t>
            </a:r>
            <a:r>
              <a:rPr lang="en-US" b="1" dirty="0" err="1"/>
              <a:t>модели</a:t>
            </a:r>
            <a:r>
              <a:rPr lang="en-US" b="1" dirty="0"/>
              <a:t> </a:t>
            </a:r>
            <a:r>
              <a:rPr lang="en-US" b="1" dirty="0" err="1"/>
              <a:t>предметной</a:t>
            </a:r>
            <a:r>
              <a:rPr lang="en-US" b="1" dirty="0"/>
              <a:t> </a:t>
            </a:r>
            <a:r>
              <a:rPr lang="en-US" b="1" dirty="0" err="1"/>
              <a:t>области</a:t>
            </a:r>
            <a:r>
              <a:rPr lang="en-US" dirty="0"/>
              <a:t>, </a:t>
            </a:r>
            <a:r>
              <a:rPr lang="en-US" dirty="0" err="1"/>
              <a:t>или</a:t>
            </a:r>
            <a:r>
              <a:rPr lang="en-US" dirty="0"/>
              <a:t> Domain Model</a:t>
            </a:r>
            <a:endParaRPr lang="ru-RU" dirty="0"/>
          </a:p>
          <a:p>
            <a:r>
              <a:rPr lang="en-US" dirty="0"/>
              <a:t>.</a:t>
            </a:r>
          </a:p>
          <a:p>
            <a:r>
              <a:rPr lang="en-US" dirty="0" err="1"/>
              <a:t>Предметная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та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реального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воображаемого</a:t>
            </a:r>
            <a:r>
              <a:rPr lang="en-US" dirty="0"/>
              <a:t> </a:t>
            </a:r>
            <a:r>
              <a:rPr lang="en-US" dirty="0" err="1"/>
              <a:t>мира</a:t>
            </a:r>
            <a:r>
              <a:rPr lang="en-US" dirty="0"/>
              <a:t>, с </a:t>
            </a:r>
            <a:r>
              <a:rPr lang="en-US" dirty="0" err="1"/>
              <a:t>которой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наша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.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интернет-магазина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товары</a:t>
            </a:r>
            <a:r>
              <a:rPr lang="en-US" dirty="0"/>
              <a:t>, </a:t>
            </a:r>
            <a:r>
              <a:rPr lang="en-US" dirty="0" err="1"/>
              <a:t>заказы</a:t>
            </a:r>
            <a:r>
              <a:rPr lang="en-US" dirty="0"/>
              <a:t> и </a:t>
            </a:r>
            <a:r>
              <a:rPr lang="en-US" dirty="0" err="1"/>
              <a:t>корзины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банковского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— </a:t>
            </a:r>
            <a:r>
              <a:rPr lang="en-US" dirty="0" err="1"/>
              <a:t>счета</a:t>
            </a:r>
            <a:r>
              <a:rPr lang="en-US" dirty="0"/>
              <a:t>, </a:t>
            </a:r>
            <a:r>
              <a:rPr lang="en-US" dirty="0" err="1"/>
              <a:t>переводы</a:t>
            </a:r>
            <a:r>
              <a:rPr lang="en-US" dirty="0"/>
              <a:t> и </a:t>
            </a:r>
            <a:r>
              <a:rPr lang="en-US" dirty="0" err="1"/>
              <a:t>платежи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А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</a:t>
            </a:r>
            <a:r>
              <a:rPr lang="en-US" dirty="0" err="1"/>
              <a:t>предметная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рисунок</a:t>
            </a:r>
            <a:r>
              <a:rPr lang="en-US" dirty="0"/>
              <a:t> и </a:t>
            </a:r>
            <a:r>
              <a:rPr lang="en-US" dirty="0" err="1"/>
              <a:t>составляющие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</a:t>
            </a:r>
          </a:p>
          <a:p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Ellipse</a:t>
            </a:r>
            <a:r>
              <a:rPr lang="en-US" dirty="0"/>
              <a:t> — </a:t>
            </a:r>
            <a:r>
              <a:rPr lang="en-US" dirty="0" err="1"/>
              <a:t>программные</a:t>
            </a:r>
            <a:r>
              <a:rPr lang="en-US" dirty="0"/>
              <a:t> </a:t>
            </a:r>
            <a:r>
              <a:rPr lang="en-US" dirty="0" err="1"/>
              <a:t>понятия</a:t>
            </a:r>
            <a:r>
              <a:rPr lang="en-US" dirty="0"/>
              <a:t>,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представляем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предметную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: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добавляем</a:t>
            </a:r>
            <a:r>
              <a:rPr lang="en-US" dirty="0"/>
              <a:t> в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с </a:t>
            </a:r>
            <a:r>
              <a:rPr lang="en-US" dirty="0" err="1"/>
              <a:t>названием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</a:t>
            </a:r>
            <a:r>
              <a:rPr lang="en-US" dirty="0"/>
              <a:t>.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классы</a:t>
            </a:r>
            <a:r>
              <a:rPr lang="en-US" dirty="0"/>
              <a:t> у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были</a:t>
            </a:r>
            <a:r>
              <a:rPr lang="en-US" dirty="0"/>
              <a:t>.</a:t>
            </a:r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даём</a:t>
            </a:r>
            <a:r>
              <a:rPr lang="en-US" dirty="0"/>
              <a:t> </a:t>
            </a:r>
            <a:r>
              <a:rPr lang="en-US" dirty="0" err="1"/>
              <a:t>название</a:t>
            </a:r>
            <a:r>
              <a:rPr lang="en-US" dirty="0"/>
              <a:t>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роли</a:t>
            </a:r>
            <a:r>
              <a:rPr lang="en-US" dirty="0"/>
              <a:t>, </a:t>
            </a:r>
            <a:r>
              <a:rPr lang="en-US" dirty="0" err="1"/>
              <a:t>которую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дальнейшем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в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лекции</a:t>
            </a:r>
            <a:r>
              <a:rPr lang="en-US" dirty="0"/>
              <a:t> я </a:t>
            </a:r>
            <a:r>
              <a:rPr lang="en-US" dirty="0" err="1"/>
              <a:t>буду</a:t>
            </a:r>
            <a:r>
              <a:rPr lang="en-US" dirty="0"/>
              <a:t> </a:t>
            </a:r>
            <a:r>
              <a:rPr lang="en-US" dirty="0" err="1"/>
              <a:t>говорить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«</a:t>
            </a:r>
            <a:r>
              <a:rPr lang="en-US" dirty="0" err="1"/>
              <a:t>модель</a:t>
            </a:r>
            <a:r>
              <a:rPr lang="en-US" dirty="0"/>
              <a:t>», я </a:t>
            </a:r>
            <a:r>
              <a:rPr lang="en-US" dirty="0" err="1"/>
              <a:t>буду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в </a:t>
            </a:r>
            <a:r>
              <a:rPr lang="en-US" dirty="0" err="1"/>
              <a:t>виду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b="1" dirty="0" err="1"/>
              <a:t>модель</a:t>
            </a:r>
            <a:r>
              <a:rPr lang="en-US" b="1" dirty="0"/>
              <a:t> </a:t>
            </a:r>
            <a:r>
              <a:rPr lang="en-US" b="1" dirty="0" err="1"/>
              <a:t>предметной</a:t>
            </a:r>
            <a:r>
              <a:rPr lang="en-US" b="1" dirty="0"/>
              <a:t> </a:t>
            </a:r>
            <a:r>
              <a:rPr lang="en-US" b="1" dirty="0" err="1"/>
              <a:t>области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любую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3785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место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хранятся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прямоугольник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набором</a:t>
            </a:r>
            <a:r>
              <a:rPr lang="en-US" dirty="0"/>
              <a:t> </a:t>
            </a:r>
            <a:r>
              <a:rPr lang="en-US" dirty="0" err="1"/>
              <a:t>координат</a:t>
            </a:r>
            <a:r>
              <a:rPr lang="en-US" dirty="0"/>
              <a:t> и </a:t>
            </a:r>
            <a:r>
              <a:rPr lang="en-US" dirty="0" err="1"/>
              <a:t>размеров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в </a:t>
            </a:r>
            <a:r>
              <a:rPr lang="en-US" dirty="0" err="1"/>
              <a:t>объектно-ориентированной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 с </a:t>
            </a:r>
            <a:r>
              <a:rPr lang="en-US" dirty="0" err="1"/>
              <a:t>состоянием</a:t>
            </a:r>
            <a:r>
              <a:rPr lang="en-US" dirty="0"/>
              <a:t> </a:t>
            </a:r>
            <a:r>
              <a:rPr lang="en-US" dirty="0" err="1"/>
              <a:t>естественно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и </a:t>
            </a:r>
            <a:r>
              <a:rPr lang="en-US" dirty="0" err="1"/>
              <a:t>поведение</a:t>
            </a:r>
            <a:r>
              <a:rPr lang="en-US" dirty="0"/>
              <a:t>,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связанное</a:t>
            </a:r>
            <a:r>
              <a:rPr lang="en-US" dirty="0"/>
              <a:t> с </a:t>
            </a:r>
            <a:r>
              <a:rPr lang="en-US" dirty="0" err="1"/>
              <a:t>моделируемым</a:t>
            </a:r>
            <a:r>
              <a:rPr lang="en-US" dirty="0"/>
              <a:t> </a:t>
            </a:r>
            <a:r>
              <a:rPr lang="en-US" dirty="0" err="1"/>
              <a:t>понятием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en-US" dirty="0"/>
              <a:t> </a:t>
            </a:r>
            <a:r>
              <a:rPr lang="en-US" dirty="0" err="1"/>
              <a:t>выражает</a:t>
            </a:r>
            <a:r>
              <a:rPr lang="en-US" dirty="0"/>
              <a:t> </a:t>
            </a:r>
            <a:r>
              <a:rPr lang="en-US" dirty="0" err="1"/>
              <a:t>операцию</a:t>
            </a:r>
            <a:r>
              <a:rPr lang="en-US" dirty="0"/>
              <a:t> </a:t>
            </a:r>
            <a:r>
              <a:rPr lang="en-US" dirty="0" err="1"/>
              <a:t>перемещения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 — </a:t>
            </a:r>
            <a:r>
              <a:rPr lang="en-US" dirty="0" err="1"/>
              <a:t>вектор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смещение</a:t>
            </a:r>
            <a:r>
              <a:rPr lang="en-US" dirty="0"/>
              <a:t>.</a:t>
            </a:r>
          </a:p>
          <a:p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HitTest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 </a:t>
            </a:r>
            <a:r>
              <a:rPr lang="en-US" dirty="0" err="1"/>
              <a:t>принадлежит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заданная</a:t>
            </a:r>
            <a:r>
              <a:rPr lang="en-US" dirty="0"/>
              <a:t> </a:t>
            </a:r>
            <a:r>
              <a:rPr lang="en-US" dirty="0" err="1"/>
              <a:t>точка</a:t>
            </a:r>
            <a:r>
              <a:rPr lang="en-US" dirty="0"/>
              <a:t> </a:t>
            </a:r>
            <a:r>
              <a:rPr lang="en-US" dirty="0" err="1"/>
              <a:t>фигуре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аргумент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Point2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окно</a:t>
            </a:r>
            <a:r>
              <a:rPr lang="en-US" dirty="0"/>
              <a:t>, </a:t>
            </a:r>
            <a:r>
              <a:rPr lang="en-US" dirty="0" err="1"/>
              <a:t>мышь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SFML.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смысл</a:t>
            </a:r>
            <a:r>
              <a:rPr lang="en-US" dirty="0"/>
              <a:t> </a:t>
            </a:r>
            <a:r>
              <a:rPr lang="en-US" dirty="0" err="1"/>
              <a:t>сами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себе</a:t>
            </a:r>
            <a:r>
              <a:rPr lang="en-US" dirty="0"/>
              <a:t> в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графического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Domain Model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содержать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поведение</a:t>
            </a:r>
            <a:r>
              <a:rPr lang="en-US" dirty="0"/>
              <a:t> и </a:t>
            </a:r>
            <a:r>
              <a:rPr lang="en-US" dirty="0" err="1"/>
              <a:t>правила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ними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8772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попробуем</a:t>
            </a:r>
            <a:r>
              <a:rPr lang="en-US" dirty="0"/>
              <a:t> </a:t>
            </a:r>
            <a:r>
              <a:rPr lang="en-US" dirty="0" err="1"/>
              <a:t>провести</a:t>
            </a:r>
            <a:r>
              <a:rPr lang="en-US" dirty="0"/>
              <a:t> </a:t>
            </a:r>
            <a:r>
              <a:rPr lang="en-US" dirty="0" err="1"/>
              <a:t>границу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Слева</a:t>
            </a:r>
            <a:r>
              <a:rPr lang="en-US" dirty="0"/>
              <a:t> </a:t>
            </a:r>
            <a:r>
              <a:rPr lang="en-US" dirty="0" err="1"/>
              <a:t>находятся</a:t>
            </a:r>
            <a:r>
              <a:rPr lang="en-US" dirty="0"/>
              <a:t> </a:t>
            </a:r>
            <a:r>
              <a:rPr lang="en-US" dirty="0" err="1"/>
              <a:t>понятия</a:t>
            </a:r>
            <a:r>
              <a:rPr lang="en-US" dirty="0"/>
              <a:t>, </a:t>
            </a:r>
            <a:r>
              <a:rPr lang="en-US" dirty="0" err="1"/>
              <a:t>связанные</a:t>
            </a:r>
            <a:r>
              <a:rPr lang="en-US" dirty="0"/>
              <a:t> с </a:t>
            </a:r>
            <a:r>
              <a:rPr lang="en-US" dirty="0" err="1"/>
              <a:t>самим</a:t>
            </a:r>
            <a:r>
              <a:rPr lang="en-US" dirty="0"/>
              <a:t> </a:t>
            </a:r>
            <a:r>
              <a:rPr lang="en-US" dirty="0" err="1"/>
              <a:t>рисунком</a:t>
            </a:r>
            <a:r>
              <a:rPr lang="en-US" dirty="0"/>
              <a:t>: </a:t>
            </a:r>
            <a:r>
              <a:rPr lang="en-US" dirty="0" err="1"/>
              <a:t>рисунок</a:t>
            </a:r>
            <a:r>
              <a:rPr lang="en-US" dirty="0"/>
              <a:t>, </a:t>
            </a:r>
            <a:r>
              <a:rPr lang="en-US" dirty="0" err="1"/>
              <a:t>фигуры</a:t>
            </a:r>
            <a:r>
              <a:rPr lang="en-US" dirty="0"/>
              <a:t>,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геометрия</a:t>
            </a:r>
            <a:r>
              <a:rPr lang="en-US" dirty="0"/>
              <a:t> и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.</a:t>
            </a:r>
          </a:p>
          <a:p>
            <a:r>
              <a:rPr lang="en-US" dirty="0" err="1"/>
              <a:t>Справа</a:t>
            </a:r>
            <a:r>
              <a:rPr lang="en-US" dirty="0"/>
              <a:t> — </a:t>
            </a:r>
            <a:r>
              <a:rPr lang="en-US" dirty="0" err="1"/>
              <a:t>понятия</a:t>
            </a:r>
            <a:r>
              <a:rPr lang="en-US" dirty="0"/>
              <a:t>, </a:t>
            </a:r>
            <a:r>
              <a:rPr lang="en-US" dirty="0" err="1"/>
              <a:t>появившиеся</a:t>
            </a:r>
            <a:r>
              <a:rPr lang="en-US" dirty="0"/>
              <a:t> </a:t>
            </a:r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выбранной</a:t>
            </a:r>
            <a:r>
              <a:rPr lang="en-US" dirty="0"/>
              <a:t> </a:t>
            </a:r>
            <a:r>
              <a:rPr lang="en-US" dirty="0" err="1"/>
              <a:t>технологии</a:t>
            </a:r>
            <a:r>
              <a:rPr lang="en-US" dirty="0"/>
              <a:t> </a:t>
            </a:r>
            <a:r>
              <a:rPr lang="en-US" dirty="0" err="1"/>
              <a:t>пользовательского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: </a:t>
            </a:r>
            <a:r>
              <a:rPr lang="en-US" dirty="0" err="1"/>
              <a:t>окно</a:t>
            </a:r>
            <a:r>
              <a:rPr lang="en-US" dirty="0"/>
              <a:t> SFML, </a:t>
            </a:r>
            <a:r>
              <a:rPr lang="en-US" dirty="0" err="1"/>
              <a:t>графические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,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изображения</a:t>
            </a:r>
            <a:r>
              <a:rPr lang="en-US" dirty="0"/>
              <a:t> и </a:t>
            </a:r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проверить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проходит</a:t>
            </a:r>
            <a:r>
              <a:rPr lang="en-US" dirty="0"/>
              <a:t> </a:t>
            </a:r>
            <a:r>
              <a:rPr lang="en-US" dirty="0" err="1"/>
              <a:t>граница</a:t>
            </a:r>
            <a:r>
              <a:rPr lang="en-US" dirty="0"/>
              <a:t>,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задать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 </a:t>
            </a:r>
            <a:r>
              <a:rPr lang="en-US" b="1" dirty="0" err="1"/>
              <a:t>что</a:t>
            </a:r>
            <a:r>
              <a:rPr lang="en-US" b="1" dirty="0"/>
              <a:t> </a:t>
            </a:r>
            <a:r>
              <a:rPr lang="en-US" b="1" dirty="0" err="1"/>
              <a:t>изменится</a:t>
            </a:r>
            <a:r>
              <a:rPr lang="en-US" b="1" dirty="0"/>
              <a:t>, </a:t>
            </a:r>
            <a:r>
              <a:rPr lang="en-US" b="1" dirty="0" err="1"/>
              <a:t>если</a:t>
            </a:r>
            <a:r>
              <a:rPr lang="en-US" b="1" dirty="0"/>
              <a:t> </a:t>
            </a:r>
            <a:r>
              <a:rPr lang="en-US" b="1" dirty="0" err="1"/>
              <a:t>вместо</a:t>
            </a:r>
            <a:r>
              <a:rPr lang="en-US" b="1" dirty="0"/>
              <a:t> SFML </a:t>
            </a:r>
            <a:r>
              <a:rPr lang="en-US" b="1" dirty="0" err="1"/>
              <a:t>мы</a:t>
            </a:r>
            <a:r>
              <a:rPr lang="en-US" b="1" dirty="0"/>
              <a:t> </a:t>
            </a:r>
            <a:r>
              <a:rPr lang="en-US" b="1" dirty="0" err="1"/>
              <a:t>возьмём</a:t>
            </a:r>
            <a:r>
              <a:rPr lang="en-US" b="1" dirty="0"/>
              <a:t> </a:t>
            </a:r>
            <a:r>
              <a:rPr lang="en-US" b="1" dirty="0" err="1"/>
              <a:t>другую</a:t>
            </a:r>
            <a:r>
              <a:rPr lang="en-US" b="1" dirty="0"/>
              <a:t> </a:t>
            </a:r>
            <a:r>
              <a:rPr lang="en-US" b="1" dirty="0" err="1"/>
              <a:t>графическую</a:t>
            </a:r>
            <a:r>
              <a:rPr lang="en-US" b="1" dirty="0"/>
              <a:t> </a:t>
            </a:r>
            <a:r>
              <a:rPr lang="en-US" b="1" dirty="0" err="1"/>
              <a:t>библиотеку</a:t>
            </a:r>
            <a:r>
              <a:rPr lang="en-US" b="1" dirty="0"/>
              <a:t>?</a:t>
            </a:r>
            <a:endParaRPr lang="en-US" dirty="0"/>
          </a:p>
          <a:p>
            <a:r>
              <a:rPr lang="en-US" dirty="0" err="1"/>
              <a:t>Скорее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,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придётся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окно</a:t>
            </a:r>
            <a:r>
              <a:rPr lang="en-US" dirty="0"/>
              <a:t>, </a:t>
            </a:r>
            <a:r>
              <a:rPr lang="en-US" dirty="0" err="1"/>
              <a:t>иначе</a:t>
            </a:r>
            <a:r>
              <a:rPr lang="en-US" dirty="0"/>
              <a:t> </a:t>
            </a:r>
            <a:r>
              <a:rPr lang="en-US" dirty="0" err="1"/>
              <a:t>получать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и </a:t>
            </a:r>
            <a:r>
              <a:rPr lang="en-US" dirty="0" err="1"/>
              <a:t>иначе</a:t>
            </a:r>
            <a:r>
              <a:rPr lang="en-US" dirty="0"/>
              <a:t> </a:t>
            </a:r>
            <a:r>
              <a:rPr lang="en-US" dirty="0" err="1"/>
              <a:t>выводить</a:t>
            </a:r>
            <a:r>
              <a:rPr lang="en-US" dirty="0"/>
              <a:t> </a:t>
            </a:r>
            <a:r>
              <a:rPr lang="en-US" dirty="0" err="1"/>
              <a:t>геометрические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смысл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изменится</a:t>
            </a:r>
            <a:r>
              <a:rPr lang="en-US" dirty="0"/>
              <a:t>.</a:t>
            </a:r>
          </a:p>
          <a:p>
            <a:r>
              <a:rPr lang="en-US" dirty="0" err="1"/>
              <a:t>Перемещение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останется</a:t>
            </a:r>
            <a:r>
              <a:rPr lang="en-US" dirty="0"/>
              <a:t> </a:t>
            </a:r>
            <a:r>
              <a:rPr lang="en-US" dirty="0" err="1"/>
              <a:t>перемещением</a:t>
            </a:r>
            <a:r>
              <a:rPr lang="en-US" dirty="0"/>
              <a:t>.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HitTest</a:t>
            </a:r>
            <a:r>
              <a:rPr lang="en-US" dirty="0"/>
              <a:t> </a:t>
            </a:r>
            <a:r>
              <a:rPr lang="en-US" dirty="0" err="1"/>
              <a:t>по-прежнему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проверять</a:t>
            </a:r>
            <a:r>
              <a:rPr lang="en-US" dirty="0"/>
              <a:t> </a:t>
            </a:r>
            <a:r>
              <a:rPr lang="en-US" dirty="0" err="1"/>
              <a:t>принадлежность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геометрической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ситуацию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посмотреть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ru-RU" dirty="0"/>
              <a:t>Принцип Единственной Ответственности</a:t>
            </a:r>
            <a:r>
              <a:rPr lang="en-US" dirty="0"/>
              <a:t>.</a:t>
            </a:r>
          </a:p>
          <a:p>
            <a:r>
              <a:rPr lang="en-US" dirty="0" err="1"/>
              <a:t>Предметная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меняется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причинам</a:t>
            </a:r>
            <a:r>
              <a:rPr lang="en-US" dirty="0"/>
              <a:t>, </a:t>
            </a:r>
            <a:r>
              <a:rPr lang="en-US" dirty="0" err="1"/>
              <a:t>связанным</a:t>
            </a:r>
            <a:r>
              <a:rPr lang="en-US" dirty="0"/>
              <a:t> с </a:t>
            </a:r>
            <a:r>
              <a:rPr lang="en-US" dirty="0" err="1"/>
              <a:t>требованиями</a:t>
            </a:r>
            <a:r>
              <a:rPr lang="en-US" dirty="0"/>
              <a:t> к </a:t>
            </a:r>
            <a:r>
              <a:rPr lang="en-US" dirty="0" err="1"/>
              <a:t>графическому</a:t>
            </a:r>
            <a:r>
              <a:rPr lang="en-US" dirty="0"/>
              <a:t> </a:t>
            </a:r>
            <a:r>
              <a:rPr lang="en-US" dirty="0" err="1"/>
              <a:t>редактору</a:t>
            </a:r>
            <a:r>
              <a:rPr lang="en-US" dirty="0"/>
              <a:t>.</a:t>
            </a:r>
            <a:endParaRPr lang="ru-RU" dirty="0"/>
          </a:p>
          <a:p>
            <a:r>
              <a:rPr lang="en-US" dirty="0" err="1"/>
              <a:t>Код</a:t>
            </a:r>
            <a:r>
              <a:rPr lang="en-US" dirty="0"/>
              <a:t> SFML </a:t>
            </a:r>
            <a:r>
              <a:rPr lang="en-US" dirty="0" err="1"/>
              <a:t>меняется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причинам</a:t>
            </a:r>
            <a:r>
              <a:rPr lang="en-US" dirty="0"/>
              <a:t>, </a:t>
            </a:r>
            <a:r>
              <a:rPr lang="en-US" dirty="0" err="1"/>
              <a:t>связанным</a:t>
            </a:r>
            <a:r>
              <a:rPr lang="en-US" dirty="0"/>
              <a:t> с </a:t>
            </a:r>
            <a:r>
              <a:rPr lang="en-US" dirty="0" err="1"/>
              <a:t>технологией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 и </a:t>
            </a:r>
            <a:r>
              <a:rPr lang="en-US" dirty="0" err="1"/>
              <a:t>ввода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Это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источники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помещать</a:t>
            </a:r>
            <a:r>
              <a:rPr lang="en-US" dirty="0"/>
              <a:t> </a:t>
            </a:r>
            <a:r>
              <a:rPr lang="en-US" dirty="0" err="1"/>
              <a:t>знания</a:t>
            </a:r>
            <a:r>
              <a:rPr lang="en-US" dirty="0"/>
              <a:t> о</a:t>
            </a:r>
            <a:r>
              <a:rPr lang="ru-RU" dirty="0"/>
              <a:t>б</a:t>
            </a:r>
            <a:r>
              <a:rPr lang="en-US" dirty="0"/>
              <a:t> SFML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внутрь</a:t>
            </a:r>
            <a:r>
              <a:rPr lang="en-US" dirty="0"/>
              <a:t>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нежелательно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SRP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обязаны</a:t>
            </a:r>
            <a:r>
              <a:rPr lang="en-US" dirty="0"/>
              <a:t>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SFML.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увидеть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ответственности</a:t>
            </a:r>
            <a:r>
              <a:rPr lang="en-US" dirty="0"/>
              <a:t>. </a:t>
            </a:r>
            <a:r>
              <a:rPr lang="en-US" dirty="0" err="1"/>
              <a:t>Дополнительные</a:t>
            </a:r>
            <a:r>
              <a:rPr lang="en-US" dirty="0"/>
              <a:t> </a:t>
            </a:r>
            <a:r>
              <a:rPr lang="en-US" dirty="0" err="1"/>
              <a:t>абстракции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вводить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появится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5524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лучше</a:t>
            </a:r>
            <a:r>
              <a:rPr lang="en-US" dirty="0"/>
              <a:t> </a:t>
            </a:r>
            <a:r>
              <a:rPr lang="en-US" dirty="0" err="1"/>
              <a:t>увидеть</a:t>
            </a:r>
            <a:r>
              <a:rPr lang="en-US" dirty="0"/>
              <a:t> </a:t>
            </a:r>
            <a:r>
              <a:rPr lang="en-US" dirty="0" err="1"/>
              <a:t>различие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b="1" dirty="0"/>
              <a:t>Domain Model</a:t>
            </a:r>
            <a:r>
              <a:rPr lang="en-US" dirty="0"/>
              <a:t> и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представлениями</a:t>
            </a:r>
            <a:r>
              <a:rPr lang="en-US" dirty="0"/>
              <a:t>, </a:t>
            </a:r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развитую</a:t>
            </a:r>
            <a:r>
              <a:rPr lang="en-US" dirty="0"/>
              <a:t> </a:t>
            </a:r>
            <a:r>
              <a:rPr lang="en-US" dirty="0" err="1"/>
              <a:t>версию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— </a:t>
            </a:r>
            <a:r>
              <a:rPr lang="en-US" dirty="0" err="1"/>
              <a:t>редактор</a:t>
            </a:r>
            <a:r>
              <a:rPr lang="en-US" dirty="0"/>
              <a:t> </a:t>
            </a:r>
            <a:r>
              <a:rPr lang="en-US" dirty="0" err="1"/>
              <a:t>анимации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Предположим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обладают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положением</a:t>
            </a:r>
            <a:r>
              <a:rPr lang="en-US" dirty="0"/>
              <a:t>, </a:t>
            </a:r>
            <a:r>
              <a:rPr lang="en-US" dirty="0" err="1"/>
              <a:t>размером</a:t>
            </a:r>
            <a:r>
              <a:rPr lang="en-US" dirty="0"/>
              <a:t> и </a:t>
            </a:r>
            <a:r>
              <a:rPr lang="en-US" dirty="0" err="1"/>
              <a:t>цветом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дополнительными</a:t>
            </a:r>
            <a:r>
              <a:rPr lang="en-US" dirty="0"/>
              <a:t> </a:t>
            </a:r>
            <a:r>
              <a:rPr lang="en-US" dirty="0" err="1"/>
              <a:t>характеристиками</a:t>
            </a:r>
            <a:r>
              <a:rPr lang="en-US" dirty="0"/>
              <a:t>: </a:t>
            </a:r>
            <a:r>
              <a:rPr lang="en-US" dirty="0" err="1"/>
              <a:t>временем</a:t>
            </a:r>
            <a:r>
              <a:rPr lang="en-US" dirty="0"/>
              <a:t> </a:t>
            </a:r>
            <a:r>
              <a:rPr lang="en-US" dirty="0" err="1"/>
              <a:t>появления</a:t>
            </a:r>
            <a:r>
              <a:rPr lang="en-US" dirty="0"/>
              <a:t>, </a:t>
            </a:r>
            <a:r>
              <a:rPr lang="en-US" dirty="0" err="1"/>
              <a:t>временем</a:t>
            </a:r>
            <a:r>
              <a:rPr lang="en-US" dirty="0"/>
              <a:t> </a:t>
            </a:r>
            <a:r>
              <a:rPr lang="en-US" dirty="0" err="1"/>
              <a:t>исчезновения</a:t>
            </a:r>
            <a:r>
              <a:rPr lang="en-US" dirty="0"/>
              <a:t> и </a:t>
            </a:r>
            <a:r>
              <a:rPr lang="en-US" dirty="0" err="1"/>
              <a:t>порядком</a:t>
            </a:r>
            <a:r>
              <a:rPr lang="en-US" dirty="0"/>
              <a:t> </a:t>
            </a:r>
            <a:r>
              <a:rPr lang="en-US" dirty="0" err="1"/>
              <a:t>наложения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b="1" dirty="0"/>
              <a:t>z-order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относятся</a:t>
            </a:r>
            <a:r>
              <a:rPr lang="en-US" dirty="0"/>
              <a:t> к </a:t>
            </a:r>
            <a:r>
              <a:rPr lang="en-US" dirty="0" err="1"/>
              <a:t>самой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сохраним</a:t>
            </a:r>
            <a:r>
              <a:rPr lang="en-US" dirty="0"/>
              <a:t> </a:t>
            </a:r>
            <a:r>
              <a:rPr lang="en-US" dirty="0" err="1"/>
              <a:t>проект</a:t>
            </a:r>
            <a:r>
              <a:rPr lang="en-US" dirty="0"/>
              <a:t> в </a:t>
            </a:r>
            <a:r>
              <a:rPr lang="en-US" dirty="0" err="1"/>
              <a:t>файл</a:t>
            </a:r>
            <a:r>
              <a:rPr lang="en-US" dirty="0"/>
              <a:t>, а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откроем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,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ожидаем</a:t>
            </a:r>
            <a:r>
              <a:rPr lang="en-US" dirty="0"/>
              <a:t> </a:t>
            </a:r>
            <a:r>
              <a:rPr lang="en-US" dirty="0" err="1"/>
              <a:t>восстановить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свойства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. </a:t>
            </a:r>
            <a:r>
              <a:rPr lang="en-US" dirty="0" err="1"/>
              <a:t>Следовательно</a:t>
            </a:r>
            <a:r>
              <a:rPr lang="en-US" dirty="0"/>
              <a:t>,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частью</a:t>
            </a:r>
            <a:r>
              <a:rPr lang="en-US" dirty="0"/>
              <a:t> </a:t>
            </a:r>
            <a:r>
              <a:rPr lang="ru-RU" b="0" dirty="0"/>
              <a:t>модели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 </a:t>
            </a:r>
            <a:r>
              <a:rPr lang="en-US" dirty="0" err="1"/>
              <a:t>показаны</a:t>
            </a:r>
            <a:r>
              <a:rPr lang="en-US" dirty="0"/>
              <a:t> </a:t>
            </a:r>
            <a:r>
              <a:rPr lang="en-US" b="1" dirty="0" err="1"/>
              <a:t>два</a:t>
            </a:r>
            <a:r>
              <a:rPr lang="en-US" b="1" dirty="0"/>
              <a:t> </a:t>
            </a:r>
            <a:r>
              <a:rPr lang="en-US" b="1" dirty="0" err="1"/>
              <a:t>представления</a:t>
            </a:r>
            <a:r>
              <a:rPr lang="en-US" b="1" dirty="0"/>
              <a:t> </a:t>
            </a:r>
            <a:r>
              <a:rPr lang="en-US" b="1" dirty="0" err="1"/>
              <a:t>одной</a:t>
            </a:r>
            <a:r>
              <a:rPr lang="en-US" b="1" dirty="0"/>
              <a:t> и </a:t>
            </a:r>
            <a:r>
              <a:rPr lang="en-US" b="1" dirty="0" err="1"/>
              <a:t>той</a:t>
            </a:r>
            <a:r>
              <a:rPr lang="en-US" b="1" dirty="0"/>
              <a:t> </a:t>
            </a:r>
            <a:r>
              <a:rPr lang="en-US" b="1" dirty="0" err="1"/>
              <a:t>же</a:t>
            </a:r>
            <a:r>
              <a:rPr lang="en-US" b="1" dirty="0"/>
              <a:t> </a:t>
            </a:r>
            <a:r>
              <a:rPr lang="en-US" b="1" dirty="0" err="1"/>
              <a:t>модели</a:t>
            </a:r>
            <a:r>
              <a:rPr lang="en-US" dirty="0"/>
              <a:t>.</a:t>
            </a:r>
          </a:p>
          <a:p>
            <a:r>
              <a:rPr lang="en-US" dirty="0" err="1"/>
              <a:t>Верхняя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b="1" dirty="0"/>
              <a:t>Canvas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рисунок</a:t>
            </a:r>
            <a:r>
              <a:rPr lang="en-US" dirty="0"/>
              <a:t> в </a:t>
            </a:r>
            <a:r>
              <a:rPr lang="en-US" dirty="0" err="1"/>
              <a:t>текущий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 В </a:t>
            </a:r>
            <a:r>
              <a:rPr lang="en-US" dirty="0" err="1"/>
              <a:t>рассматриваемый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холсте</a:t>
            </a:r>
            <a:r>
              <a:rPr lang="en-US" dirty="0"/>
              <a:t> </a:t>
            </a:r>
            <a:r>
              <a:rPr lang="en-US" dirty="0" err="1"/>
              <a:t>видны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: </a:t>
            </a:r>
            <a:r>
              <a:rPr lang="en-US" dirty="0" err="1"/>
              <a:t>красный</a:t>
            </a:r>
            <a:r>
              <a:rPr lang="en-US" dirty="0"/>
              <a:t> oval, </a:t>
            </a:r>
            <a:r>
              <a:rPr lang="en-US" dirty="0" err="1"/>
              <a:t>оранжевый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 и </a:t>
            </a:r>
            <a:r>
              <a:rPr lang="en-US" dirty="0" err="1"/>
              <a:t>синий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соответствии</a:t>
            </a:r>
            <a:r>
              <a:rPr lang="en-US" dirty="0"/>
              <a:t> с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порядком</a:t>
            </a:r>
            <a:r>
              <a:rPr lang="en-US" dirty="0"/>
              <a:t> </a:t>
            </a:r>
            <a:r>
              <a:rPr lang="en-US" dirty="0" err="1"/>
              <a:t>наложения</a:t>
            </a:r>
            <a:r>
              <a:rPr lang="en-US" dirty="0"/>
              <a:t>. </a:t>
            </a:r>
            <a:r>
              <a:rPr lang="en-US" dirty="0" err="1"/>
              <a:t>Дальше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b="1" dirty="0"/>
              <a:t>oval</a:t>
            </a:r>
            <a:r>
              <a:rPr lang="en-US" dirty="0"/>
              <a:t>, </a:t>
            </a:r>
            <a:r>
              <a:rPr lang="en-US" dirty="0" err="1"/>
              <a:t>поверх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 </a:t>
            </a:r>
            <a:r>
              <a:rPr lang="en-US" dirty="0" err="1"/>
              <a:t>расположен</a:t>
            </a:r>
            <a:r>
              <a:rPr lang="en-US" dirty="0"/>
              <a:t> </a:t>
            </a:r>
            <a:r>
              <a:rPr lang="en-US" b="1" dirty="0" err="1"/>
              <a:t>оранжевый</a:t>
            </a:r>
            <a:r>
              <a:rPr lang="en-US" b="1" dirty="0"/>
              <a:t> </a:t>
            </a:r>
            <a:r>
              <a:rPr lang="en-US" b="1" dirty="0" err="1"/>
              <a:t>прямоугольник</a:t>
            </a:r>
            <a:r>
              <a:rPr lang="en-US" dirty="0"/>
              <a:t>, а </a:t>
            </a:r>
            <a:r>
              <a:rPr lang="en-US" dirty="0" err="1"/>
              <a:t>ближе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 к </a:t>
            </a:r>
            <a:r>
              <a:rPr lang="en-US" dirty="0" err="1"/>
              <a:t>зрителю</a:t>
            </a:r>
            <a:r>
              <a:rPr lang="en-US" dirty="0"/>
              <a:t> — </a:t>
            </a:r>
            <a:r>
              <a:rPr lang="en-US" b="1" dirty="0" err="1"/>
              <a:t>синий</a:t>
            </a:r>
            <a:r>
              <a:rPr lang="en-US" b="1" dirty="0"/>
              <a:t> </a:t>
            </a:r>
            <a:r>
              <a:rPr lang="en-US" b="1" dirty="0" err="1"/>
              <a:t>прямоугольник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Нижняя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b="1" dirty="0"/>
              <a:t>Timeline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ту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самую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с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.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интересует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пространственное</a:t>
            </a:r>
            <a:r>
              <a:rPr lang="en-US" dirty="0"/>
              <a:t> </a:t>
            </a:r>
            <a:r>
              <a:rPr lang="en-US" dirty="0" err="1"/>
              <a:t>расположение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, а </a:t>
            </a:r>
            <a:r>
              <a:rPr lang="en-US" dirty="0" err="1"/>
              <a:t>то</a:t>
            </a:r>
            <a:r>
              <a:rPr lang="en-US" dirty="0"/>
              <a:t>, </a:t>
            </a:r>
            <a:r>
              <a:rPr lang="en-US" b="1" dirty="0" err="1"/>
              <a:t>когда</a:t>
            </a:r>
            <a:r>
              <a:rPr lang="en-US" dirty="0"/>
              <a:t> </a:t>
            </a:r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и </a:t>
            </a:r>
            <a:r>
              <a:rPr lang="en-US" b="1" dirty="0" err="1"/>
              <a:t>каково</a:t>
            </a:r>
            <a:r>
              <a:rPr lang="en-US" b="1" dirty="0"/>
              <a:t> </a:t>
            </a:r>
            <a:r>
              <a:rPr lang="en-US" b="1" dirty="0" err="1"/>
              <a:t>её</a:t>
            </a:r>
            <a:r>
              <a:rPr lang="en-US" b="1" dirty="0"/>
              <a:t> </a:t>
            </a:r>
            <a:r>
              <a:rPr lang="en-US" b="1" dirty="0" err="1"/>
              <a:t>положение</a:t>
            </a:r>
            <a:r>
              <a:rPr lang="en-US" b="1" dirty="0"/>
              <a:t> </a:t>
            </a:r>
            <a:r>
              <a:rPr lang="en-US" b="1" dirty="0" err="1"/>
              <a:t>по</a:t>
            </a:r>
            <a:r>
              <a:rPr lang="en-US" b="1" dirty="0"/>
              <a:t> </a:t>
            </a:r>
            <a:r>
              <a:rPr lang="en-US" b="1" dirty="0" err="1"/>
              <a:t>глубине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дорожки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таймлайне</a:t>
            </a:r>
            <a:r>
              <a:rPr lang="en-US" dirty="0"/>
              <a:t> </a:t>
            </a:r>
            <a:r>
              <a:rPr lang="en-US" dirty="0" err="1"/>
              <a:t>расположены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b="1" dirty="0" err="1"/>
              <a:t>внизу</a:t>
            </a:r>
            <a:r>
              <a:rPr lang="en-US" b="1" dirty="0"/>
              <a:t> </a:t>
            </a:r>
            <a:r>
              <a:rPr lang="en-US" b="1" dirty="0" err="1"/>
              <a:t>находятся</a:t>
            </a:r>
            <a:r>
              <a:rPr lang="en-US" b="1" dirty="0"/>
              <a:t> </a:t>
            </a:r>
            <a:r>
              <a:rPr lang="en-US" b="1" dirty="0" err="1"/>
              <a:t>более</a:t>
            </a:r>
            <a:r>
              <a:rPr lang="en-US" b="1" dirty="0"/>
              <a:t> </a:t>
            </a:r>
            <a:r>
              <a:rPr lang="en-US" b="1" dirty="0" err="1"/>
              <a:t>дальние</a:t>
            </a:r>
            <a:r>
              <a:rPr lang="en-US" b="1" dirty="0"/>
              <a:t> </a:t>
            </a:r>
            <a:r>
              <a:rPr lang="en-US" b="1" dirty="0" err="1"/>
              <a:t>фигуры</a:t>
            </a:r>
            <a:r>
              <a:rPr lang="en-US" b="1" dirty="0"/>
              <a:t>, а </a:t>
            </a:r>
            <a:r>
              <a:rPr lang="en-US" b="1" dirty="0" err="1"/>
              <a:t>сверху</a:t>
            </a:r>
            <a:r>
              <a:rPr lang="en-US" b="1" dirty="0"/>
              <a:t> — </a:t>
            </a:r>
            <a:r>
              <a:rPr lang="en-US" b="1" dirty="0" err="1"/>
              <a:t>более</a:t>
            </a:r>
            <a:r>
              <a:rPr lang="en-US" b="1" dirty="0"/>
              <a:t> </a:t>
            </a:r>
            <a:r>
              <a:rPr lang="en-US" b="1" dirty="0" err="1"/>
              <a:t>близкие</a:t>
            </a:r>
            <a:r>
              <a:rPr lang="en-US" b="1" dirty="0"/>
              <a:t> к </a:t>
            </a:r>
            <a:r>
              <a:rPr lang="en-US" b="1" dirty="0" err="1"/>
              <a:t>зрителю</a:t>
            </a:r>
            <a:r>
              <a:rPr lang="en-US" dirty="0"/>
              <a:t>. Это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визуально</a:t>
            </a:r>
            <a:r>
              <a:rPr lang="en-US" dirty="0"/>
              <a:t> </a:t>
            </a:r>
            <a:r>
              <a:rPr lang="en-US" dirty="0" err="1"/>
              <a:t>отразить</a:t>
            </a:r>
            <a:r>
              <a:rPr lang="en-US" dirty="0"/>
              <a:t>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самый</a:t>
            </a:r>
            <a:r>
              <a:rPr lang="en-US" dirty="0"/>
              <a:t> z-order,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отрисовке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холсте</a:t>
            </a:r>
            <a:r>
              <a:rPr lang="en-US" dirty="0"/>
              <a:t>.</a:t>
            </a:r>
          </a:p>
          <a:p>
            <a:r>
              <a:rPr lang="en-US" dirty="0" err="1"/>
              <a:t>Вертикальная</a:t>
            </a:r>
            <a:r>
              <a:rPr lang="en-US" dirty="0"/>
              <a:t> </a:t>
            </a:r>
            <a:r>
              <a:rPr lang="en-US" dirty="0" err="1"/>
              <a:t>линия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таймлайне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b="1" dirty="0" err="1"/>
              <a:t>текущий</a:t>
            </a:r>
            <a:r>
              <a:rPr lang="en-US" b="1" dirty="0"/>
              <a:t> </a:t>
            </a:r>
            <a:r>
              <a:rPr lang="en-US" b="1" dirty="0" err="1"/>
              <a:t>момент</a:t>
            </a:r>
            <a:r>
              <a:rPr lang="en-US" b="1" dirty="0"/>
              <a:t> </a:t>
            </a:r>
            <a:r>
              <a:rPr lang="en-US" b="1" dirty="0" err="1"/>
              <a:t>времени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нему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видны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Canvas.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зелёный</a:t>
            </a:r>
            <a:r>
              <a:rPr lang="en-US" dirty="0"/>
              <a:t> </a:t>
            </a:r>
            <a:r>
              <a:rPr lang="en-US" dirty="0" err="1"/>
              <a:t>треугольник</a:t>
            </a:r>
            <a:r>
              <a:rPr lang="en-US" dirty="0"/>
              <a:t> </a:t>
            </a:r>
            <a:r>
              <a:rPr lang="en-US" dirty="0" err="1"/>
              <a:t>присутствует</a:t>
            </a:r>
            <a:r>
              <a:rPr lang="en-US" dirty="0"/>
              <a:t> в </a:t>
            </a:r>
            <a:r>
              <a:rPr lang="en-US" dirty="0" err="1"/>
              <a:t>модели</a:t>
            </a:r>
            <a:r>
              <a:rPr lang="en-US" dirty="0"/>
              <a:t> и </a:t>
            </a:r>
            <a:r>
              <a:rPr lang="en-US" dirty="0" err="1"/>
              <a:t>виден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таймлайне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текущий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отображаться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холсте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Canvas и Timeline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двумя</a:t>
            </a:r>
            <a:r>
              <a:rPr lang="en-US" dirty="0"/>
              <a:t> </a:t>
            </a:r>
            <a:r>
              <a:rPr lang="en-US" dirty="0" err="1"/>
              <a:t>разными</a:t>
            </a:r>
            <a:r>
              <a:rPr lang="en-US" dirty="0"/>
              <a:t> </a:t>
            </a:r>
            <a:r>
              <a:rPr lang="en-US" dirty="0" err="1"/>
              <a:t>источниками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отображают</a:t>
            </a:r>
            <a:r>
              <a:rPr lang="en-US" dirty="0"/>
              <a:t> </a:t>
            </a:r>
            <a:r>
              <a:rPr lang="en-US" b="1" dirty="0" err="1"/>
              <a:t>одну</a:t>
            </a:r>
            <a:r>
              <a:rPr lang="en-US" b="1" dirty="0"/>
              <a:t> и </a:t>
            </a:r>
            <a:r>
              <a:rPr lang="en-US" b="1" dirty="0" err="1"/>
              <a:t>ту</a:t>
            </a:r>
            <a:r>
              <a:rPr lang="en-US" b="1" dirty="0"/>
              <a:t> </a:t>
            </a:r>
            <a:r>
              <a:rPr lang="en-US" b="1" dirty="0" err="1"/>
              <a:t>же</a:t>
            </a:r>
            <a:r>
              <a:rPr lang="en-US" b="1" dirty="0"/>
              <a:t> Domain Model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делают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по-разному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Canvas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пространственную</a:t>
            </a:r>
            <a:r>
              <a:rPr lang="en-US" dirty="0"/>
              <a:t> </a:t>
            </a:r>
            <a:r>
              <a:rPr lang="en-US" dirty="0" err="1"/>
              <a:t>картину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в </a:t>
            </a:r>
            <a:r>
              <a:rPr lang="en-US" dirty="0" err="1"/>
              <a:t>выбранный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</a:t>
            </a:r>
          </a:p>
          <a:p>
            <a:r>
              <a:rPr lang="en-US" dirty="0"/>
              <a:t>Timeline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временную</a:t>
            </a:r>
            <a:r>
              <a:rPr lang="en-US" dirty="0"/>
              <a:t> </a:t>
            </a:r>
            <a:r>
              <a:rPr lang="en-US" dirty="0" err="1"/>
              <a:t>структуру</a:t>
            </a:r>
            <a:r>
              <a:rPr lang="en-US" dirty="0"/>
              <a:t> и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наложения</a:t>
            </a:r>
            <a:r>
              <a:rPr lang="en-US" dirty="0"/>
              <a:t> </a:t>
            </a:r>
            <a:r>
              <a:rPr lang="en-US" dirty="0" err="1"/>
              <a:t>тех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самых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и </a:t>
            </a:r>
            <a:r>
              <a:rPr lang="en-US" dirty="0" err="1"/>
              <a:t>хотим</a:t>
            </a:r>
            <a:r>
              <a:rPr lang="en-US" dirty="0"/>
              <a:t> </a:t>
            </a:r>
            <a:r>
              <a:rPr lang="en-US" dirty="0" err="1"/>
              <a:t>подчеркнуть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данном</a:t>
            </a:r>
            <a:r>
              <a:rPr lang="en-US" dirty="0"/>
              <a:t> </a:t>
            </a:r>
            <a:r>
              <a:rPr lang="en-US" dirty="0" err="1"/>
              <a:t>слайде</a:t>
            </a:r>
            <a:r>
              <a:rPr lang="en-US" dirty="0"/>
              <a:t>:</a:t>
            </a:r>
          </a:p>
          <a:p>
            <a:r>
              <a:rPr lang="en-US" b="1" dirty="0" err="1"/>
              <a:t>Одна</a:t>
            </a:r>
            <a:r>
              <a:rPr lang="en-US" b="1" dirty="0"/>
              <a:t> и </a:t>
            </a:r>
            <a:r>
              <a:rPr lang="en-US" b="1" dirty="0" err="1"/>
              <a:t>та</a:t>
            </a:r>
            <a:r>
              <a:rPr lang="en-US" b="1" dirty="0"/>
              <a:t> </a:t>
            </a:r>
            <a:r>
              <a:rPr lang="en-US" b="1" dirty="0" err="1"/>
              <a:t>же</a:t>
            </a:r>
            <a:r>
              <a:rPr lang="en-US" b="1" dirty="0"/>
              <a:t> </a:t>
            </a:r>
            <a:r>
              <a:rPr lang="en-US" b="1" dirty="0" err="1"/>
              <a:t>модель</a:t>
            </a:r>
            <a:r>
              <a:rPr lang="en-US" b="1" dirty="0"/>
              <a:t> </a:t>
            </a:r>
            <a:r>
              <a:rPr lang="en-US" b="1" dirty="0" err="1"/>
              <a:t>предметной</a:t>
            </a:r>
            <a:r>
              <a:rPr lang="en-US" b="1" dirty="0"/>
              <a:t> </a:t>
            </a:r>
            <a:r>
              <a:rPr lang="en-US" b="1" dirty="0" err="1"/>
              <a:t>области</a:t>
            </a:r>
            <a:r>
              <a:rPr lang="en-US" b="1" dirty="0"/>
              <a:t> </a:t>
            </a:r>
            <a:r>
              <a:rPr lang="en-US" b="1" dirty="0" err="1"/>
              <a:t>может</a:t>
            </a:r>
            <a:r>
              <a:rPr lang="en-US" b="1" dirty="0"/>
              <a:t> </a:t>
            </a:r>
            <a:r>
              <a:rPr lang="en-US" b="1" dirty="0" err="1"/>
              <a:t>иметь</a:t>
            </a:r>
            <a:r>
              <a:rPr lang="en-US" b="1" dirty="0"/>
              <a:t> </a:t>
            </a:r>
            <a:r>
              <a:rPr lang="en-US" b="1" dirty="0" err="1"/>
              <a:t>несколько</a:t>
            </a:r>
            <a:r>
              <a:rPr lang="en-US" b="1" dirty="0"/>
              <a:t> </a:t>
            </a:r>
            <a:r>
              <a:rPr lang="en-US" b="1" dirty="0" err="1"/>
              <a:t>различных</a:t>
            </a:r>
            <a:r>
              <a:rPr lang="en-US" b="1" dirty="0"/>
              <a:t> </a:t>
            </a:r>
            <a:r>
              <a:rPr lang="en-US" b="1" dirty="0" err="1"/>
              <a:t>представлений</a:t>
            </a:r>
            <a:r>
              <a:rPr lang="en-US" b="1" dirty="0"/>
              <a:t>, </a:t>
            </a:r>
            <a:r>
              <a:rPr lang="en-US" b="1" dirty="0" err="1"/>
              <a:t>каждое</a:t>
            </a:r>
            <a:r>
              <a:rPr lang="en-US" b="1" dirty="0"/>
              <a:t> </a:t>
            </a:r>
            <a:r>
              <a:rPr lang="en-US" b="1" dirty="0" err="1"/>
              <a:t>из</a:t>
            </a:r>
            <a:r>
              <a:rPr lang="en-US" b="1" dirty="0"/>
              <a:t> </a:t>
            </a:r>
            <a:r>
              <a:rPr lang="en-US" b="1" dirty="0" err="1"/>
              <a:t>которых</a:t>
            </a:r>
            <a:r>
              <a:rPr lang="en-US" b="1" dirty="0"/>
              <a:t> </a:t>
            </a:r>
            <a:r>
              <a:rPr lang="en-US" b="1" dirty="0" err="1"/>
              <a:t>показывает</a:t>
            </a:r>
            <a:r>
              <a:rPr lang="en-US" b="1" dirty="0"/>
              <a:t> </a:t>
            </a:r>
            <a:r>
              <a:rPr lang="en-US" b="1" dirty="0" err="1"/>
              <a:t>пользователю</a:t>
            </a:r>
            <a:r>
              <a:rPr lang="en-US" b="1" dirty="0"/>
              <a:t> </a:t>
            </a:r>
            <a:r>
              <a:rPr lang="en-US" b="1" dirty="0" err="1"/>
              <a:t>только</a:t>
            </a:r>
            <a:r>
              <a:rPr lang="en-US" b="1" dirty="0"/>
              <a:t> </a:t>
            </a:r>
            <a:r>
              <a:rPr lang="en-US" b="1" dirty="0" err="1"/>
              <a:t>нужный</a:t>
            </a:r>
            <a:r>
              <a:rPr lang="en-US" b="1" dirty="0"/>
              <a:t> </a:t>
            </a:r>
            <a:r>
              <a:rPr lang="en-US" b="1" dirty="0" err="1"/>
              <a:t>аспект</a:t>
            </a:r>
            <a:r>
              <a:rPr lang="en-US" b="1" dirty="0"/>
              <a:t> </a:t>
            </a:r>
            <a:r>
              <a:rPr lang="en-US" b="1" dirty="0" err="1"/>
              <a:t>этой</a:t>
            </a:r>
            <a:r>
              <a:rPr lang="en-US" b="1" dirty="0"/>
              <a:t> </a:t>
            </a:r>
            <a:r>
              <a:rPr lang="en-US" b="1" dirty="0" err="1"/>
              <a:t>модели</a:t>
            </a:r>
            <a:r>
              <a:rPr lang="en-US" b="1" dirty="0"/>
              <a:t>.</a:t>
            </a:r>
            <a:endParaRPr lang="en-US" dirty="0"/>
          </a:p>
          <a:p>
            <a:endParaRPr lang="ru-RU" dirty="0"/>
          </a:p>
          <a:p>
            <a:r>
              <a:rPr lang="en-US" dirty="0" err="1"/>
              <a:t>Отсюда</a:t>
            </a:r>
            <a:r>
              <a:rPr lang="en-US" dirty="0"/>
              <a:t> </a:t>
            </a:r>
            <a:r>
              <a:rPr lang="en-US" dirty="0" err="1"/>
              <a:t>естественно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</a:t>
            </a:r>
          </a:p>
          <a:p>
            <a:r>
              <a:rPr lang="en-US" b="1" dirty="0" err="1"/>
              <a:t>Как</a:t>
            </a:r>
            <a:r>
              <a:rPr lang="en-US" b="1" dirty="0"/>
              <a:t> </a:t>
            </a:r>
            <a:r>
              <a:rPr lang="en-US" b="1" dirty="0" err="1"/>
              <a:t>построить</a:t>
            </a:r>
            <a:r>
              <a:rPr lang="en-US" b="1" dirty="0"/>
              <a:t> </a:t>
            </a:r>
            <a:r>
              <a:rPr lang="en-US" b="1" dirty="0" err="1"/>
              <a:t>графическое</a:t>
            </a:r>
            <a:r>
              <a:rPr lang="en-US" b="1" dirty="0"/>
              <a:t> </a:t>
            </a:r>
            <a:r>
              <a:rPr lang="en-US" b="1" dirty="0" err="1"/>
              <a:t>представление</a:t>
            </a:r>
            <a:r>
              <a:rPr lang="en-US" b="1" dirty="0"/>
              <a:t> </a:t>
            </a:r>
            <a:r>
              <a:rPr lang="en-US" b="1" dirty="0" err="1"/>
              <a:t>нашей</a:t>
            </a:r>
            <a:r>
              <a:rPr lang="en-US" b="1" dirty="0"/>
              <a:t> Domain Model </a:t>
            </a:r>
            <a:r>
              <a:rPr lang="en-US" b="1" dirty="0" err="1"/>
              <a:t>средствами</a:t>
            </a:r>
            <a:r>
              <a:rPr lang="en-US" b="1" dirty="0"/>
              <a:t> SFML,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смешивая</a:t>
            </a:r>
            <a:r>
              <a:rPr lang="en-US" b="1" dirty="0"/>
              <a:t> </a:t>
            </a:r>
            <a:r>
              <a:rPr lang="en-US" b="1" dirty="0" err="1"/>
              <a:t>саму</a:t>
            </a:r>
            <a:r>
              <a:rPr lang="en-US" b="1" dirty="0"/>
              <a:t> </a:t>
            </a:r>
            <a:r>
              <a:rPr lang="en-US" b="1" dirty="0" err="1"/>
              <a:t>модель</a:t>
            </a:r>
            <a:r>
              <a:rPr lang="en-US" b="1" dirty="0"/>
              <a:t> с </a:t>
            </a:r>
            <a:r>
              <a:rPr lang="en-US" b="1" dirty="0" err="1"/>
              <a:t>кодом</a:t>
            </a:r>
            <a:r>
              <a:rPr lang="en-US" b="1" dirty="0"/>
              <a:t> </a:t>
            </a:r>
            <a:r>
              <a:rPr lang="en-US" b="1" dirty="0" err="1"/>
              <a:t>её</a:t>
            </a:r>
            <a:r>
              <a:rPr lang="en-US" b="1" dirty="0"/>
              <a:t> </a:t>
            </a:r>
            <a:r>
              <a:rPr lang="en-US" b="1" dirty="0" err="1"/>
              <a:t>отображения</a:t>
            </a:r>
            <a:r>
              <a:rPr lang="en-US" b="1" dirty="0"/>
              <a:t>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5338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1473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договорились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частью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разумное</a:t>
            </a:r>
            <a:r>
              <a:rPr lang="en-US" dirty="0"/>
              <a:t> </a:t>
            </a:r>
            <a:r>
              <a:rPr lang="en-US" dirty="0" err="1"/>
              <a:t>возражение</a:t>
            </a:r>
            <a:r>
              <a:rPr lang="en-US" dirty="0"/>
              <a:t>.</a:t>
            </a:r>
          </a:p>
          <a:p>
            <a:r>
              <a:rPr lang="en-US" dirty="0"/>
              <a:t>SFML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прямоугольника</a:t>
            </a:r>
            <a:r>
              <a:rPr lang="en-US" dirty="0"/>
              <a:t>,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положение</a:t>
            </a:r>
            <a:r>
              <a:rPr lang="en-US" dirty="0"/>
              <a:t>, </a:t>
            </a:r>
            <a:r>
              <a:rPr lang="en-US" dirty="0" err="1"/>
              <a:t>цвет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.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передать</a:t>
            </a:r>
            <a:r>
              <a:rPr lang="en-US" dirty="0"/>
              <a:t> в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window.draw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Тогда</a:t>
            </a:r>
            <a:r>
              <a:rPr lang="en-US" dirty="0"/>
              <a:t> </a:t>
            </a:r>
            <a:r>
              <a:rPr lang="en-US" dirty="0" err="1"/>
              <a:t>зачем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?</a:t>
            </a:r>
          </a:p>
          <a:p>
            <a:endParaRPr lang="ru-RU" dirty="0"/>
          </a:p>
          <a:p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объекты</a:t>
            </a:r>
            <a:r>
              <a:rPr lang="en-US" dirty="0"/>
              <a:t> SFML и </a:t>
            </a:r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самым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собственного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небольшой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выглядеть</a:t>
            </a:r>
            <a:r>
              <a:rPr lang="en-US" dirty="0"/>
              <a:t> </a:t>
            </a:r>
            <a:r>
              <a:rPr lang="en-US" dirty="0" err="1"/>
              <a:t>привлекательным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отвергать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решили</a:t>
            </a:r>
            <a:r>
              <a:rPr lang="en-US" dirty="0"/>
              <a:t> </a:t>
            </a:r>
            <a:r>
              <a:rPr lang="en-US" dirty="0" err="1"/>
              <a:t>разделить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какие-то</a:t>
            </a:r>
            <a:r>
              <a:rPr lang="en-US" dirty="0"/>
              <a:t> </a:t>
            </a:r>
            <a:r>
              <a:rPr lang="en-US" dirty="0" err="1"/>
              <a:t>архитектурные</a:t>
            </a:r>
            <a:r>
              <a:rPr lang="en-US" dirty="0"/>
              <a:t> </a:t>
            </a:r>
            <a:r>
              <a:rPr lang="en-US" dirty="0" err="1"/>
              <a:t>слои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, </a:t>
            </a:r>
            <a:r>
              <a:rPr lang="en-US" dirty="0" err="1"/>
              <a:t>одинаковую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b="1" dirty="0" err="1"/>
              <a:t>роль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205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похожие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совпадение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 </a:t>
            </a:r>
            <a:r>
              <a:rPr lang="en-US" dirty="0" err="1"/>
              <a:t>совпадения</a:t>
            </a:r>
            <a:r>
              <a:rPr lang="en-US" dirty="0"/>
              <a:t> </a:t>
            </a:r>
            <a:r>
              <a:rPr lang="en-US" dirty="0" err="1"/>
              <a:t>ответственности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в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прямоугольные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участвует</a:t>
            </a:r>
            <a:r>
              <a:rPr lang="en-US" dirty="0"/>
              <a:t> в </a:t>
            </a:r>
            <a:r>
              <a:rPr lang="en-US" dirty="0" err="1"/>
              <a:t>операциях</a:t>
            </a:r>
            <a:r>
              <a:rPr lang="en-US" dirty="0"/>
              <a:t>, </a:t>
            </a:r>
            <a:r>
              <a:rPr lang="en-US" dirty="0" err="1"/>
              <a:t>имеющих</a:t>
            </a:r>
            <a:r>
              <a:rPr lang="en-US" dirty="0"/>
              <a:t> </a:t>
            </a:r>
            <a:r>
              <a:rPr lang="en-US" dirty="0" err="1"/>
              <a:t>смысл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.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переместить</a:t>
            </a:r>
            <a:r>
              <a:rPr lang="en-US" dirty="0"/>
              <a:t>.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проверить</a:t>
            </a:r>
            <a:r>
              <a:rPr lang="en-US" dirty="0"/>
              <a:t>, </a:t>
            </a:r>
            <a:r>
              <a:rPr lang="en-US" dirty="0" err="1"/>
              <a:t>попадает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заданная</a:t>
            </a:r>
            <a:r>
              <a:rPr lang="en-US" dirty="0"/>
              <a:t> </a:t>
            </a:r>
            <a:r>
              <a:rPr lang="en-US" dirty="0" err="1"/>
              <a:t>точка</a:t>
            </a:r>
            <a:r>
              <a:rPr lang="en-US" dirty="0"/>
              <a:t> </a:t>
            </a:r>
            <a:r>
              <a:rPr lang="en-US" dirty="0" err="1"/>
              <a:t>внутрь</a:t>
            </a:r>
            <a:r>
              <a:rPr lang="en-US" dirty="0"/>
              <a:t> </a:t>
            </a:r>
            <a:r>
              <a:rPr lang="en-US" dirty="0" err="1"/>
              <a:t>неё</a:t>
            </a:r>
            <a:r>
              <a:rPr lang="en-US" dirty="0"/>
              <a:t>. </a:t>
            </a:r>
            <a:r>
              <a:rPr lang="en-US" dirty="0" err="1"/>
              <a:t>Позже</a:t>
            </a:r>
            <a:r>
              <a:rPr lang="en-US" dirty="0"/>
              <a:t> у </a:t>
            </a:r>
            <a:r>
              <a:rPr lang="en-US" dirty="0" err="1"/>
              <a:t>неё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появиться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свойства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.</a:t>
            </a:r>
          </a:p>
          <a:p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причине</a:t>
            </a:r>
            <a:r>
              <a:rPr lang="en-US" dirty="0"/>
              <a:t>. Это </a:t>
            </a:r>
            <a:r>
              <a:rPr lang="en-US" dirty="0" err="1"/>
              <a:t>графический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SFML, </a:t>
            </a:r>
            <a:r>
              <a:rPr lang="en-US" dirty="0" err="1"/>
              <a:t>предназначенный</a:t>
            </a:r>
            <a:r>
              <a:rPr lang="en-US" dirty="0"/>
              <a:t> </a:t>
            </a:r>
            <a:r>
              <a:rPr lang="en-US" dirty="0" err="1"/>
              <a:t>прежде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изображения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провести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</a:t>
            </a:r>
            <a:r>
              <a:rPr lang="en-US" dirty="0" err="1"/>
              <a:t>мысленный</a:t>
            </a:r>
            <a:r>
              <a:rPr lang="en-US" dirty="0"/>
              <a:t> </a:t>
            </a:r>
            <a:r>
              <a:rPr lang="en-US" dirty="0" err="1"/>
              <a:t>эксперимент</a:t>
            </a:r>
            <a:r>
              <a:rPr lang="en-US" dirty="0"/>
              <a:t>.</a:t>
            </a:r>
          </a:p>
          <a:p>
            <a:r>
              <a:rPr lang="en-US" dirty="0" err="1"/>
              <a:t>Предположим</a:t>
            </a:r>
            <a:r>
              <a:rPr lang="en-US" dirty="0"/>
              <a:t>,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написали</a:t>
            </a:r>
            <a:r>
              <a:rPr lang="en-US" dirty="0"/>
              <a:t> </a:t>
            </a:r>
            <a:r>
              <a:rPr lang="en-US" dirty="0" err="1"/>
              <a:t>утилиту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загружает</a:t>
            </a:r>
            <a:r>
              <a:rPr lang="en-US" dirty="0"/>
              <a:t> </a:t>
            </a:r>
            <a:r>
              <a:rPr lang="en-US" dirty="0" err="1"/>
              <a:t>рисунок</a:t>
            </a:r>
            <a:r>
              <a:rPr lang="en-US" dirty="0"/>
              <a:t>, </a:t>
            </a:r>
            <a:r>
              <a:rPr lang="en-US" dirty="0" err="1"/>
              <a:t>перемещает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,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HitTest</a:t>
            </a:r>
            <a:r>
              <a:rPr lang="en-US" dirty="0"/>
              <a:t>, </a:t>
            </a:r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открывает</a:t>
            </a:r>
            <a:r>
              <a:rPr lang="en-US" dirty="0"/>
              <a:t> </a:t>
            </a:r>
            <a:r>
              <a:rPr lang="en-US" dirty="0" err="1"/>
              <a:t>графического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Нужны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Ellipse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? </a:t>
            </a:r>
            <a:r>
              <a:rPr lang="en-US" dirty="0" err="1"/>
              <a:t>Да</a:t>
            </a:r>
            <a:r>
              <a:rPr lang="en-US" dirty="0"/>
              <a:t>.</a:t>
            </a:r>
          </a:p>
          <a:p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? </a:t>
            </a:r>
            <a:r>
              <a:rPr lang="en-US" dirty="0" err="1"/>
              <a:t>Скорее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, </a:t>
            </a:r>
            <a:r>
              <a:rPr lang="en-US" dirty="0" err="1"/>
              <a:t>нет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Это </a:t>
            </a:r>
            <a:r>
              <a:rPr lang="en-US" dirty="0" err="1"/>
              <a:t>показывает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описывать</a:t>
            </a:r>
            <a:r>
              <a:rPr lang="en-US" dirty="0"/>
              <a:t> </a:t>
            </a:r>
            <a:r>
              <a:rPr lang="en-US" dirty="0" err="1"/>
              <a:t>похожую</a:t>
            </a:r>
            <a:r>
              <a:rPr lang="en-US" dirty="0"/>
              <a:t> </a:t>
            </a:r>
            <a:r>
              <a:rPr lang="en-US" dirty="0" err="1"/>
              <a:t>геометрию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принадлежать</a:t>
            </a:r>
            <a:r>
              <a:rPr lang="en-US" dirty="0"/>
              <a:t> </a:t>
            </a:r>
            <a:r>
              <a:rPr lang="en-US" dirty="0" err="1"/>
              <a:t>разным</a:t>
            </a:r>
            <a:r>
              <a:rPr lang="en-US" dirty="0"/>
              <a:t> </a:t>
            </a:r>
            <a:r>
              <a:rPr lang="en-US" dirty="0" err="1"/>
              <a:t>частям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8842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Пока</a:t>
            </a:r>
            <a:r>
              <a:rPr lang="en-US" dirty="0"/>
              <a:t> в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,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выглядеть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привлекательным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ru-RU" dirty="0"/>
              <a:t>ещё помним</a:t>
            </a:r>
            <a:r>
              <a:rPr lang="en-US" dirty="0"/>
              <a:t> </a:t>
            </a:r>
            <a:r>
              <a:rPr lang="en-US" dirty="0" err="1"/>
              <a:t>историю</a:t>
            </a:r>
            <a:r>
              <a:rPr lang="en-US" dirty="0"/>
              <a:t> </a:t>
            </a:r>
            <a:r>
              <a:rPr lang="en-US" dirty="0" err="1"/>
              <a:t>развития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ru-RU" dirty="0"/>
              <a:t> из прошлых лекций</a:t>
            </a:r>
            <a:r>
              <a:rPr lang="en-US" dirty="0"/>
              <a:t>. В </a:t>
            </a:r>
            <a:r>
              <a:rPr lang="en-US" dirty="0" err="1"/>
              <a:t>предыдущей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добавление</a:t>
            </a:r>
            <a:r>
              <a:rPr lang="en-US" dirty="0"/>
              <a:t> </a:t>
            </a:r>
            <a:r>
              <a:rPr lang="en-US" dirty="0" err="1"/>
              <a:t>новых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естественных</a:t>
            </a:r>
            <a:r>
              <a:rPr lang="en-US" dirty="0"/>
              <a:t> </a:t>
            </a:r>
            <a:r>
              <a:rPr lang="en-US" dirty="0" err="1"/>
              <a:t>осей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буквально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ближайший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шаг</a:t>
            </a:r>
            <a:r>
              <a:rPr lang="en-US" dirty="0"/>
              <a:t>: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эллипс</a:t>
            </a:r>
            <a:r>
              <a:rPr lang="en-US" dirty="0"/>
              <a:t>.</a:t>
            </a:r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содержать</a:t>
            </a:r>
            <a:r>
              <a:rPr lang="en-US" dirty="0"/>
              <a:t> </a:t>
            </a:r>
            <a:r>
              <a:rPr lang="en-US" dirty="0" err="1"/>
              <a:t>объекты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фигурами</a:t>
            </a:r>
            <a:r>
              <a:rPr lang="en-US" dirty="0"/>
              <a:t>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SFML,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придётся</a:t>
            </a:r>
            <a:r>
              <a:rPr lang="en-US" dirty="0"/>
              <a:t> </a:t>
            </a:r>
            <a:r>
              <a:rPr lang="en-US" dirty="0" err="1"/>
              <a:t>выяснить</a:t>
            </a:r>
            <a:r>
              <a:rPr lang="en-US" dirty="0"/>
              <a:t>,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связаны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в </a:t>
            </a:r>
            <a:r>
              <a:rPr lang="en-US" dirty="0" err="1"/>
              <a:t>иерархии</a:t>
            </a:r>
            <a:r>
              <a:rPr lang="en-US" dirty="0"/>
              <a:t> </a:t>
            </a:r>
            <a:r>
              <a:rPr lang="en-US" dirty="0" err="1"/>
              <a:t>самой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и </a:t>
            </a:r>
            <a:r>
              <a:rPr lang="en-US" dirty="0" err="1"/>
              <a:t>можем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ними</a:t>
            </a:r>
            <a:r>
              <a:rPr lang="en-US" dirty="0"/>
              <a:t> </a:t>
            </a:r>
            <a:r>
              <a:rPr lang="en-US" dirty="0" err="1"/>
              <a:t>полиморфно</a:t>
            </a:r>
            <a:r>
              <a:rPr lang="en-US" dirty="0"/>
              <a:t>.</a:t>
            </a: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нашей</a:t>
            </a:r>
            <a:r>
              <a:rPr lang="en-US" dirty="0"/>
              <a:t> Domain Model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определяться</a:t>
            </a:r>
            <a:r>
              <a:rPr lang="en-US" dirty="0"/>
              <a:t> </a:t>
            </a:r>
            <a:r>
              <a:rPr lang="en-US" dirty="0" err="1"/>
              <a:t>тем</a:t>
            </a:r>
            <a:r>
              <a:rPr lang="en-US" dirty="0"/>
              <a:t>, </a:t>
            </a:r>
            <a:r>
              <a:rPr lang="en-US" b="1" dirty="0" err="1"/>
              <a:t>какую</a:t>
            </a:r>
            <a:r>
              <a:rPr lang="en-US" b="1" dirty="0"/>
              <a:t> </a:t>
            </a:r>
            <a:r>
              <a:rPr lang="en-US" b="1" dirty="0" err="1"/>
              <a:t>систему</a:t>
            </a:r>
            <a:r>
              <a:rPr lang="en-US" b="1" dirty="0"/>
              <a:t> </a:t>
            </a:r>
            <a:r>
              <a:rPr lang="en-US" b="1" dirty="0" err="1"/>
              <a:t>типов</a:t>
            </a:r>
            <a:r>
              <a:rPr lang="en-US" b="1" dirty="0"/>
              <a:t> </a:t>
            </a:r>
            <a:r>
              <a:rPr lang="en-US" b="1" dirty="0" err="1"/>
              <a:t>выбрала</a:t>
            </a:r>
            <a:r>
              <a:rPr lang="en-US" b="1" dirty="0"/>
              <a:t> </a:t>
            </a:r>
            <a:r>
              <a:rPr lang="en-US" b="1" dirty="0" err="1"/>
              <a:t>графическая</a:t>
            </a:r>
            <a:r>
              <a:rPr lang="en-US" b="1" dirty="0"/>
              <a:t> </a:t>
            </a:r>
            <a:r>
              <a:rPr lang="en-US" b="1" dirty="0" err="1"/>
              <a:t>библиотека</a:t>
            </a:r>
            <a:r>
              <a:rPr lang="en-US" dirty="0"/>
              <a:t>.</a:t>
            </a:r>
          </a:p>
          <a:p>
            <a:endParaRPr lang="ru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OCP: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знаем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добавление</a:t>
            </a:r>
            <a:r>
              <a:rPr lang="en-US" dirty="0"/>
              <a:t> </a:t>
            </a:r>
            <a:r>
              <a:rPr lang="en-US" dirty="0" err="1"/>
              <a:t>новых</a:t>
            </a:r>
            <a:r>
              <a:rPr lang="en-US" dirty="0"/>
              <a:t> </a:t>
            </a:r>
            <a:r>
              <a:rPr lang="en-US" dirty="0" err="1"/>
              <a:t>видов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— </a:t>
            </a:r>
            <a:r>
              <a:rPr lang="en-US" dirty="0" err="1"/>
              <a:t>важная</a:t>
            </a:r>
            <a:r>
              <a:rPr lang="en-US" dirty="0"/>
              <a:t> </a:t>
            </a:r>
            <a:r>
              <a:rPr lang="en-US" dirty="0" err="1"/>
              <a:t>ось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.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хотелось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стоимость</a:t>
            </a:r>
            <a:r>
              <a:rPr lang="en-US" dirty="0"/>
              <a:t> </a:t>
            </a:r>
            <a:r>
              <a:rPr lang="en-US" dirty="0" err="1"/>
              <a:t>определялась</a:t>
            </a:r>
            <a:r>
              <a:rPr lang="en-US" dirty="0"/>
              <a:t> </a:t>
            </a:r>
            <a:r>
              <a:rPr lang="en-US" dirty="0" err="1"/>
              <a:t>устройством</a:t>
            </a:r>
            <a:r>
              <a:rPr lang="en-US" dirty="0"/>
              <a:t>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графической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  <a:endParaRPr lang="ru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Раньше</a:t>
            </a:r>
            <a:r>
              <a:rPr lang="en-US" dirty="0"/>
              <a:t> </a:t>
            </a:r>
            <a:r>
              <a:rPr lang="en-US" dirty="0" err="1"/>
              <a:t>новые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добавлялись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локально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ухудшаем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характеристику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?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и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фундаментальная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r>
              <a:rPr lang="en-US" dirty="0" err="1"/>
              <a:t>Совсем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обязательно</a:t>
            </a:r>
            <a:r>
              <a:rPr lang="en-US" dirty="0"/>
              <a:t> </a:t>
            </a:r>
            <a:r>
              <a:rPr lang="en-US" dirty="0" err="1"/>
              <a:t>каждой</a:t>
            </a:r>
            <a:r>
              <a:rPr lang="en-US" dirty="0"/>
              <a:t> </a:t>
            </a:r>
            <a:r>
              <a:rPr lang="en-US" dirty="0" err="1"/>
              <a:t>фигуре</a:t>
            </a:r>
            <a:r>
              <a:rPr lang="en-US" dirty="0"/>
              <a:t>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соответствовать</a:t>
            </a:r>
            <a:r>
              <a:rPr lang="en-US" dirty="0"/>
              <a:t> </a:t>
            </a:r>
            <a:r>
              <a:rPr lang="en-US" dirty="0" err="1"/>
              <a:t>ровно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графический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в </a:t>
            </a:r>
            <a:r>
              <a:rPr lang="en-US" dirty="0" err="1"/>
              <a:t>редакторе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появиться</a:t>
            </a:r>
            <a:r>
              <a:rPr lang="en-US" dirty="0"/>
              <a:t> </a:t>
            </a:r>
            <a:r>
              <a:rPr lang="en-US" dirty="0" err="1"/>
              <a:t>выноска</a:t>
            </a:r>
            <a:r>
              <a:rPr lang="en-US" dirty="0"/>
              <a:t> в </a:t>
            </a:r>
            <a:r>
              <a:rPr lang="en-US" dirty="0" err="1"/>
              <a:t>виде</a:t>
            </a:r>
            <a:r>
              <a:rPr lang="en-US" dirty="0"/>
              <a:t> </a:t>
            </a:r>
            <a:r>
              <a:rPr lang="en-US" dirty="0" err="1"/>
              <a:t>облачка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: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выбрать</a:t>
            </a:r>
            <a:r>
              <a:rPr lang="en-US" dirty="0"/>
              <a:t>, </a:t>
            </a:r>
            <a:r>
              <a:rPr lang="en-US" dirty="0" err="1"/>
              <a:t>переместить</a:t>
            </a:r>
            <a:r>
              <a:rPr lang="en-US" dirty="0"/>
              <a:t>, </a:t>
            </a:r>
            <a:r>
              <a:rPr lang="en-US" dirty="0" err="1"/>
              <a:t>удалить</a:t>
            </a:r>
            <a:r>
              <a:rPr lang="en-US" dirty="0"/>
              <a:t>,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текст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собираться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графических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: </a:t>
            </a:r>
            <a:r>
              <a:rPr lang="en-US" dirty="0" err="1"/>
              <a:t>основного</a:t>
            </a:r>
            <a:r>
              <a:rPr lang="en-US" dirty="0"/>
              <a:t> </a:t>
            </a:r>
            <a:r>
              <a:rPr lang="en-US" dirty="0" err="1"/>
              <a:t>тела</a:t>
            </a:r>
            <a:r>
              <a:rPr lang="en-US" dirty="0"/>
              <a:t>, </a:t>
            </a:r>
            <a:r>
              <a:rPr lang="en-US" dirty="0" err="1"/>
              <a:t>хвоста</a:t>
            </a:r>
            <a:r>
              <a:rPr lang="en-US" dirty="0"/>
              <a:t>, </a:t>
            </a:r>
            <a:r>
              <a:rPr lang="en-US" dirty="0" err="1"/>
              <a:t>контура</a:t>
            </a:r>
            <a:r>
              <a:rPr lang="en-US" dirty="0"/>
              <a:t> и </a:t>
            </a:r>
            <a:r>
              <a:rPr lang="en-US" dirty="0" err="1"/>
              <a:t>текста</a:t>
            </a:r>
            <a:r>
              <a:rPr lang="en-US" dirty="0"/>
              <a:t>.</a:t>
            </a:r>
          </a:p>
          <a:p>
            <a:r>
              <a:rPr lang="en-US" dirty="0" err="1"/>
              <a:t>Получается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соответствие</a:t>
            </a:r>
            <a:r>
              <a:rPr lang="ru-RU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 ↔ 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кажется</a:t>
            </a:r>
            <a:r>
              <a:rPr lang="en-US" dirty="0"/>
              <a:t> </a:t>
            </a:r>
            <a:r>
              <a:rPr lang="en-US" dirty="0" err="1"/>
              <a:t>естественным</a:t>
            </a:r>
            <a:r>
              <a:rPr lang="en-US" dirty="0"/>
              <a:t>,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частный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b="1" dirty="0" err="1"/>
              <a:t>Тип</a:t>
            </a:r>
            <a:r>
              <a:rPr lang="en-US" b="1" dirty="0"/>
              <a:t> </a:t>
            </a:r>
            <a:r>
              <a:rPr lang="en-US" b="1" dirty="0" err="1"/>
              <a:t>фигуры</a:t>
            </a:r>
            <a:r>
              <a:rPr lang="en-US" b="1" dirty="0"/>
              <a:t> </a:t>
            </a:r>
            <a:r>
              <a:rPr lang="en-US" b="1" dirty="0" err="1"/>
              <a:t>предметной</a:t>
            </a:r>
            <a:r>
              <a:rPr lang="en-US" b="1" dirty="0"/>
              <a:t> </a:t>
            </a:r>
            <a:r>
              <a:rPr lang="en-US" b="1" dirty="0" err="1"/>
              <a:t>области</a:t>
            </a:r>
            <a:r>
              <a:rPr lang="en-US" b="1" dirty="0"/>
              <a:t> и </a:t>
            </a:r>
            <a:r>
              <a:rPr lang="en-US" b="1" dirty="0" err="1"/>
              <a:t>тип</a:t>
            </a:r>
            <a:r>
              <a:rPr lang="en-US" b="1" dirty="0"/>
              <a:t> </a:t>
            </a:r>
            <a:r>
              <a:rPr lang="en-US" b="1" dirty="0" err="1"/>
              <a:t>графического</a:t>
            </a:r>
            <a:r>
              <a:rPr lang="en-US" b="1" dirty="0"/>
              <a:t> </a:t>
            </a:r>
            <a:r>
              <a:rPr lang="en-US" b="1" dirty="0" err="1"/>
              <a:t>примитива</a:t>
            </a:r>
            <a:r>
              <a:rPr lang="en-US" b="1" dirty="0"/>
              <a:t> </a:t>
            </a:r>
            <a:r>
              <a:rPr lang="en-US" b="1" dirty="0" err="1"/>
              <a:t>решают</a:t>
            </a:r>
            <a:r>
              <a:rPr lang="en-US" b="1" dirty="0"/>
              <a:t> </a:t>
            </a:r>
            <a:r>
              <a:rPr lang="en-US" b="1" dirty="0" err="1"/>
              <a:t>разные</a:t>
            </a:r>
            <a:r>
              <a:rPr lang="en-US" b="1" dirty="0"/>
              <a:t> </a:t>
            </a:r>
            <a:r>
              <a:rPr lang="en-US" b="1" dirty="0" err="1"/>
              <a:t>задачи</a:t>
            </a:r>
            <a:r>
              <a:rPr lang="en-US" b="1" dirty="0"/>
              <a:t> и </a:t>
            </a:r>
            <a:r>
              <a:rPr lang="en-US" b="1" dirty="0" err="1"/>
              <a:t>могут</a:t>
            </a:r>
            <a:r>
              <a:rPr lang="en-US" b="1" dirty="0"/>
              <a:t> </a:t>
            </a:r>
            <a:r>
              <a:rPr lang="en-US" b="1" dirty="0" err="1"/>
              <a:t>развиваться</a:t>
            </a:r>
            <a:r>
              <a:rPr lang="en-US" b="1" dirty="0"/>
              <a:t> </a:t>
            </a:r>
            <a:r>
              <a:rPr lang="en-US" b="1" dirty="0" err="1"/>
              <a:t>независимо</a:t>
            </a:r>
            <a:r>
              <a:rPr lang="en-US" b="1" dirty="0"/>
              <a:t>.</a:t>
            </a:r>
            <a:endParaRPr lang="ru-RU" b="1" dirty="0"/>
          </a:p>
          <a:p>
            <a:endParaRPr lang="ru-RU" b="1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пытаемся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поддержать</a:t>
            </a:r>
            <a:r>
              <a:rPr lang="en-US" dirty="0"/>
              <a:t> </a:t>
            </a:r>
            <a:r>
              <a:rPr lang="en-US" dirty="0" err="1"/>
              <a:t>неизвестные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. </a:t>
            </a:r>
            <a:r>
              <a:rPr lang="en-US" dirty="0" err="1"/>
              <a:t>Эллипс</a:t>
            </a:r>
            <a:r>
              <a:rPr lang="en-US" dirty="0"/>
              <a:t> —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ближайшее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, а </a:t>
            </a:r>
            <a:r>
              <a:rPr lang="en-US" dirty="0" err="1"/>
              <a:t>расширяемость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видам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была</a:t>
            </a:r>
            <a:r>
              <a:rPr lang="en-US" dirty="0"/>
              <a:t> </a:t>
            </a:r>
            <a:r>
              <a:rPr lang="en-US" dirty="0" err="1"/>
              <a:t>свойством</a:t>
            </a:r>
            <a:r>
              <a:rPr lang="en-US" dirty="0"/>
              <a:t> </a:t>
            </a:r>
            <a:r>
              <a:rPr lang="en-US" dirty="0" err="1"/>
              <a:t>предыдущей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проверяем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фантастическое</a:t>
            </a:r>
            <a:r>
              <a:rPr lang="en-US" dirty="0"/>
              <a:t> </a:t>
            </a:r>
            <a:r>
              <a:rPr lang="en-US" dirty="0" err="1"/>
              <a:t>будущее</a:t>
            </a:r>
            <a:r>
              <a:rPr lang="en-US" dirty="0"/>
              <a:t>, а </a:t>
            </a:r>
            <a:r>
              <a:rPr lang="en-US" dirty="0" err="1"/>
              <a:t>известное</a:t>
            </a:r>
            <a:r>
              <a:rPr lang="en-US" dirty="0"/>
              <a:t> </a:t>
            </a:r>
            <a:r>
              <a:rPr lang="en-US" dirty="0" err="1"/>
              <a:t>направление</a:t>
            </a:r>
            <a:r>
              <a:rPr lang="en-US" dirty="0"/>
              <a:t> </a:t>
            </a:r>
            <a:r>
              <a:rPr lang="en-US" dirty="0" err="1"/>
              <a:t>развития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1056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можем</a:t>
            </a:r>
            <a:r>
              <a:rPr lang="en-US" dirty="0"/>
              <a:t> </a:t>
            </a:r>
            <a:r>
              <a:rPr lang="en-US" dirty="0" err="1"/>
              <a:t>связать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понятия</a:t>
            </a:r>
            <a:r>
              <a:rPr lang="en-US" dirty="0"/>
              <a:t> </a:t>
            </a:r>
            <a:r>
              <a:rPr lang="en-US" dirty="0" err="1"/>
              <a:t>технически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наследоваться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.</a:t>
            </a:r>
          </a:p>
          <a:p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поместить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 </a:t>
            </a:r>
            <a:r>
              <a:rPr lang="en-US" dirty="0" err="1"/>
              <a:t>внутрь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поле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сравнительно</a:t>
            </a:r>
            <a:r>
              <a:rPr lang="en-US" dirty="0"/>
              <a:t> </a:t>
            </a:r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рисовать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произошло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архитектурное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: </a:t>
            </a:r>
            <a:r>
              <a:rPr lang="en-US" b="1" dirty="0"/>
              <a:t>Domain Model </a:t>
            </a:r>
            <a:r>
              <a:rPr lang="en-US" b="1" dirty="0" err="1"/>
              <a:t>стала</a:t>
            </a:r>
            <a:r>
              <a:rPr lang="en-US" b="1" dirty="0"/>
              <a:t> </a:t>
            </a:r>
            <a:r>
              <a:rPr lang="en-US" b="1" dirty="0" err="1"/>
              <a:t>зависеть</a:t>
            </a:r>
            <a:r>
              <a:rPr lang="en-US" b="1" dirty="0"/>
              <a:t> </a:t>
            </a:r>
            <a:r>
              <a:rPr lang="en-US" b="1" dirty="0" err="1"/>
              <a:t>от</a:t>
            </a:r>
            <a:r>
              <a:rPr lang="en-US" b="1" dirty="0"/>
              <a:t> SFML</a:t>
            </a:r>
            <a:r>
              <a:rPr lang="en-US" dirty="0"/>
              <a:t>.</a:t>
            </a:r>
          </a:p>
          <a:p>
            <a:r>
              <a:rPr lang="en-US" dirty="0" err="1"/>
              <a:t>Класс</a:t>
            </a:r>
            <a:r>
              <a:rPr lang="en-US" dirty="0"/>
              <a:t>, </a:t>
            </a:r>
            <a:r>
              <a:rPr lang="en-US" dirty="0" err="1"/>
              <a:t>представляющий</a:t>
            </a:r>
            <a:r>
              <a:rPr lang="en-US" dirty="0"/>
              <a:t> </a:t>
            </a:r>
            <a:r>
              <a:rPr lang="en-US" dirty="0" err="1"/>
              <a:t>понятие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,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о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технологии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изменятся</a:t>
            </a:r>
            <a:r>
              <a:rPr lang="en-US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 к </a:t>
            </a:r>
            <a:r>
              <a:rPr lang="en-US" dirty="0" err="1"/>
              <a:t>самой</a:t>
            </a:r>
            <a:r>
              <a:rPr lang="en-US" dirty="0"/>
              <a:t> </a:t>
            </a:r>
            <a:r>
              <a:rPr lang="en-US" dirty="0" err="1"/>
              <a:t>фигуре</a:t>
            </a:r>
            <a:r>
              <a:rPr lang="en-US" dirty="0"/>
              <a:t>,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меняться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изменится</a:t>
            </a:r>
            <a:r>
              <a:rPr lang="en-US" dirty="0"/>
              <a:t> </a:t>
            </a:r>
            <a:r>
              <a:rPr lang="en-US" dirty="0" err="1"/>
              <a:t>используемая</a:t>
            </a:r>
            <a:r>
              <a:rPr lang="en-US" dirty="0"/>
              <a:t> </a:t>
            </a:r>
            <a:r>
              <a:rPr lang="en-US" dirty="0" err="1"/>
              <a:t>графическая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API,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меняться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знакомая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b="1" dirty="0"/>
              <a:t>SRP</a:t>
            </a:r>
            <a:r>
              <a:rPr lang="en-US" dirty="0"/>
              <a:t>: 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компоненте</a:t>
            </a:r>
            <a:r>
              <a:rPr lang="en-US" dirty="0"/>
              <a:t> </a:t>
            </a:r>
            <a:r>
              <a:rPr lang="en-US" dirty="0" err="1"/>
              <a:t>оказываются</a:t>
            </a:r>
            <a:r>
              <a:rPr lang="en-US" dirty="0"/>
              <a:t> </a:t>
            </a:r>
            <a:r>
              <a:rPr lang="en-US" dirty="0" err="1"/>
              <a:t>знания</a:t>
            </a:r>
            <a:r>
              <a:rPr lang="en-US" dirty="0"/>
              <a:t>, </a:t>
            </a:r>
            <a:r>
              <a:rPr lang="en-US" dirty="0" err="1"/>
              <a:t>имеющие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источники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дело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сторонней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себе</a:t>
            </a:r>
            <a:r>
              <a:rPr lang="en-US" dirty="0"/>
              <a:t> </a:t>
            </a:r>
            <a:r>
              <a:rPr lang="en-US" dirty="0" err="1"/>
              <a:t>запрещена</a:t>
            </a:r>
            <a:r>
              <a:rPr lang="en-US" dirty="0"/>
              <a:t>. </a:t>
            </a:r>
            <a:r>
              <a:rPr lang="en-US" dirty="0" err="1"/>
              <a:t>Вопрос</a:t>
            </a:r>
            <a:r>
              <a:rPr lang="en-US" dirty="0"/>
              <a:t> в </a:t>
            </a:r>
            <a:r>
              <a:rPr lang="en-US" dirty="0" err="1"/>
              <a:t>другом</a:t>
            </a:r>
            <a:r>
              <a:rPr lang="en-US" dirty="0"/>
              <a:t>: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заставляем</a:t>
            </a:r>
            <a:r>
              <a:rPr lang="en-US" b="1" dirty="0"/>
              <a:t> </a:t>
            </a:r>
            <a:r>
              <a:rPr lang="en-US" b="1" dirty="0" err="1"/>
              <a:t>ли</a:t>
            </a:r>
            <a:r>
              <a:rPr lang="en-US" b="1" dirty="0"/>
              <a:t> </a:t>
            </a:r>
            <a:r>
              <a:rPr lang="en-US" b="1" dirty="0" err="1"/>
              <a:t>мы</a:t>
            </a:r>
            <a:r>
              <a:rPr lang="en-US" b="1" dirty="0"/>
              <a:t> </a:t>
            </a:r>
            <a:r>
              <a:rPr lang="en-US" b="1" dirty="0" err="1"/>
              <a:t>предметную</a:t>
            </a:r>
            <a:r>
              <a:rPr lang="en-US" b="1" dirty="0"/>
              <a:t> </a:t>
            </a:r>
            <a:r>
              <a:rPr lang="en-US" b="1" dirty="0" err="1"/>
              <a:t>часть</a:t>
            </a:r>
            <a:r>
              <a:rPr lang="en-US" b="1" dirty="0"/>
              <a:t> </a:t>
            </a:r>
            <a:r>
              <a:rPr lang="en-US" b="1" dirty="0" err="1"/>
              <a:t>системы</a:t>
            </a:r>
            <a:r>
              <a:rPr lang="en-US" b="1" dirty="0"/>
              <a:t> </a:t>
            </a:r>
            <a:r>
              <a:rPr lang="en-US" b="1" dirty="0" err="1"/>
              <a:t>зависеть</a:t>
            </a:r>
            <a:r>
              <a:rPr lang="en-US" b="1" dirty="0"/>
              <a:t> </a:t>
            </a:r>
            <a:r>
              <a:rPr lang="en-US" b="1" dirty="0" err="1"/>
              <a:t>от</a:t>
            </a:r>
            <a:r>
              <a:rPr lang="en-US" b="1" dirty="0"/>
              <a:t> </a:t>
            </a:r>
            <a:r>
              <a:rPr lang="en-US" b="1" dirty="0" err="1"/>
              <a:t>детали</a:t>
            </a:r>
            <a:r>
              <a:rPr lang="en-US" b="1" dirty="0"/>
              <a:t>, </a:t>
            </a:r>
            <a:r>
              <a:rPr lang="en-US" b="1" dirty="0" err="1"/>
              <a:t>которая</a:t>
            </a:r>
            <a:r>
              <a:rPr lang="en-US" b="1" dirty="0"/>
              <a:t> </a:t>
            </a:r>
            <a:r>
              <a:rPr lang="en-US" b="1" dirty="0" err="1"/>
              <a:t>ей</a:t>
            </a:r>
            <a:r>
              <a:rPr lang="en-US" b="1" dirty="0"/>
              <a:t> </a:t>
            </a:r>
            <a:r>
              <a:rPr lang="en-US" b="1" dirty="0" err="1"/>
              <a:t>для</a:t>
            </a:r>
            <a:r>
              <a:rPr lang="en-US" b="1" dirty="0"/>
              <a:t> </a:t>
            </a:r>
            <a:r>
              <a:rPr lang="en-US" b="1" dirty="0" err="1"/>
              <a:t>выполнения</a:t>
            </a:r>
            <a:r>
              <a:rPr lang="en-US" b="1" dirty="0"/>
              <a:t> </a:t>
            </a:r>
            <a:r>
              <a:rPr lang="en-US" b="1" dirty="0" err="1"/>
              <a:t>своих</a:t>
            </a:r>
            <a:r>
              <a:rPr lang="en-US" b="1" dirty="0"/>
              <a:t> </a:t>
            </a:r>
            <a:r>
              <a:rPr lang="en-US" b="1" dirty="0" err="1"/>
              <a:t>задач</a:t>
            </a:r>
            <a:r>
              <a:rPr lang="en-US" b="1" dirty="0"/>
              <a:t>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нужна</a:t>
            </a:r>
            <a:r>
              <a:rPr lang="en-US" b="1" dirty="0"/>
              <a:t>?</a:t>
            </a:r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вспомнить</a:t>
            </a:r>
            <a:r>
              <a:rPr lang="en-US" dirty="0"/>
              <a:t> </a:t>
            </a:r>
            <a:r>
              <a:rPr lang="en-US" dirty="0" err="1"/>
              <a:t>направление</a:t>
            </a:r>
            <a:r>
              <a:rPr lang="en-US" dirty="0"/>
              <a:t> </a:t>
            </a:r>
            <a:r>
              <a:rPr lang="en-US" dirty="0" err="1"/>
              <a:t>мысли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задаёт</a:t>
            </a:r>
            <a:r>
              <a:rPr lang="en-US" dirty="0"/>
              <a:t> </a:t>
            </a:r>
            <a:r>
              <a:rPr lang="en-US" b="1" dirty="0"/>
              <a:t>DIP</a:t>
            </a:r>
            <a:r>
              <a:rPr lang="en-US" dirty="0"/>
              <a:t>: </a:t>
            </a:r>
            <a:r>
              <a:rPr lang="en-US" dirty="0" err="1"/>
              <a:t>высокоуровневая</a:t>
            </a:r>
            <a:r>
              <a:rPr lang="en-US" dirty="0"/>
              <a:t> </a:t>
            </a:r>
            <a:r>
              <a:rPr lang="en-US" dirty="0" err="1"/>
              <a:t>предметная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определяться</a:t>
            </a:r>
            <a:r>
              <a:rPr lang="en-US" dirty="0"/>
              <a:t> </a:t>
            </a:r>
            <a:r>
              <a:rPr lang="en-US" dirty="0" err="1"/>
              <a:t>низкоуровневыми</a:t>
            </a:r>
            <a:r>
              <a:rPr lang="en-US" dirty="0"/>
              <a:t> </a:t>
            </a:r>
            <a:r>
              <a:rPr lang="en-US" dirty="0" err="1"/>
              <a:t>техническими</a:t>
            </a:r>
            <a:r>
              <a:rPr lang="en-US" dirty="0"/>
              <a:t> </a:t>
            </a:r>
            <a:r>
              <a:rPr lang="en-US" dirty="0" err="1"/>
              <a:t>деталями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делать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срочно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.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надо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, </a:t>
            </a:r>
            <a:r>
              <a:rPr lang="en-US" dirty="0" err="1"/>
              <a:t>какая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необходима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4128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хотим</a:t>
            </a:r>
            <a:r>
              <a:rPr lang="en-US" dirty="0"/>
              <a:t> </a:t>
            </a:r>
            <a:r>
              <a:rPr lang="en-US" dirty="0" err="1"/>
              <a:t>помещать</a:t>
            </a:r>
            <a:r>
              <a:rPr lang="en-US" dirty="0"/>
              <a:t> SFML </a:t>
            </a:r>
            <a:r>
              <a:rPr lang="en-US" dirty="0" err="1"/>
              <a:t>внутрь</a:t>
            </a:r>
            <a:r>
              <a:rPr lang="en-US" dirty="0"/>
              <a:t> Domain Model.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этим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решена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какой-то</a:t>
            </a:r>
            <a:r>
              <a:rPr lang="en-US" dirty="0"/>
              <a:t> </a:t>
            </a:r>
            <a:r>
              <a:rPr lang="en-US" dirty="0" err="1"/>
              <a:t>точке</a:t>
            </a:r>
            <a:r>
              <a:rPr lang="en-US" dirty="0"/>
              <a:t> </a:t>
            </a:r>
            <a:r>
              <a:rPr lang="en-US" dirty="0" err="1"/>
              <a:t>наши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встретиться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Ellipse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предметные</a:t>
            </a:r>
            <a:r>
              <a:rPr lang="en-US" dirty="0"/>
              <a:t> </a:t>
            </a:r>
            <a:r>
              <a:rPr lang="en-US" dirty="0" err="1"/>
              <a:t>объекты</a:t>
            </a:r>
            <a:r>
              <a:rPr lang="en-US" dirty="0"/>
              <a:t>.</a:t>
            </a:r>
          </a:p>
          <a:p>
            <a:r>
              <a:rPr lang="en-US" dirty="0"/>
              <a:t>С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SFML, </a:t>
            </a:r>
            <a:r>
              <a:rPr lang="en-US" dirty="0" err="1"/>
              <a:t>которому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рисования</a:t>
            </a:r>
            <a:r>
              <a:rPr lang="en-US" dirty="0"/>
              <a:t> </a:t>
            </a:r>
            <a:r>
              <a:rPr lang="en-US" dirty="0" err="1"/>
              <a:t>нужны</a:t>
            </a:r>
            <a:r>
              <a:rPr lang="en-US" dirty="0"/>
              <a:t> </a:t>
            </a:r>
            <a:r>
              <a:rPr lang="en-US" dirty="0" err="1"/>
              <a:t>понятные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графические</a:t>
            </a:r>
            <a:r>
              <a:rPr lang="en-US" dirty="0"/>
              <a:t> </a:t>
            </a:r>
            <a:r>
              <a:rPr lang="en-US" dirty="0" err="1"/>
              <a:t>примитивы</a:t>
            </a:r>
            <a:r>
              <a:rPr lang="en-US" dirty="0"/>
              <a:t> и </a:t>
            </a:r>
            <a:r>
              <a:rPr lang="en-US" dirty="0" err="1"/>
              <a:t>команды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Кто-то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взять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прямоугольника</a:t>
            </a:r>
            <a:r>
              <a:rPr lang="en-US" dirty="0"/>
              <a:t>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и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нарисовать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 </a:t>
            </a:r>
            <a:r>
              <a:rPr lang="en-US" dirty="0" err="1"/>
              <a:t>средствами</a:t>
            </a:r>
            <a:r>
              <a:rPr lang="en-US" dirty="0"/>
              <a:t> SFML.</a:t>
            </a:r>
          </a:p>
          <a:p>
            <a:endParaRPr lang="ru-RU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неизбежно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 </a:t>
            </a:r>
            <a:r>
              <a:rPr lang="en-US" b="1" dirty="0"/>
              <a:t>и о Domain Model, и </a:t>
            </a:r>
            <a:r>
              <a:rPr lang="en-US" b="1" dirty="0" err="1"/>
              <a:t>об</a:t>
            </a:r>
            <a:r>
              <a:rPr lang="en-US" b="1" dirty="0"/>
              <a:t> SFML</a:t>
            </a:r>
            <a:r>
              <a:rPr lang="en-US" dirty="0"/>
              <a:t>. </a:t>
            </a:r>
            <a:r>
              <a:rPr lang="en-US" dirty="0" err="1"/>
              <a:t>Вопрос</a:t>
            </a:r>
            <a:r>
              <a:rPr lang="en-US" dirty="0"/>
              <a:t> </a:t>
            </a:r>
            <a:r>
              <a:rPr lang="en-US" dirty="0" err="1"/>
              <a:t>заключается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устранить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, а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b="1" dirty="0" err="1"/>
              <a:t>где</a:t>
            </a:r>
            <a:r>
              <a:rPr lang="en-US" b="1" dirty="0"/>
              <a:t> </a:t>
            </a:r>
            <a:r>
              <a:rPr lang="en-US" b="1" dirty="0" err="1"/>
              <a:t>её</a:t>
            </a:r>
            <a:r>
              <a:rPr lang="en-US" b="1" dirty="0"/>
              <a:t> </a:t>
            </a:r>
            <a:r>
              <a:rPr lang="en-US" b="1" dirty="0" err="1"/>
              <a:t>разместить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хотелось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свойство</a:t>
            </a:r>
            <a:r>
              <a:rPr lang="en-US" dirty="0"/>
              <a:t>: </a:t>
            </a:r>
            <a:r>
              <a:rPr lang="en-US" dirty="0" err="1"/>
              <a:t>сама</a:t>
            </a:r>
            <a:r>
              <a:rPr lang="en-US" dirty="0"/>
              <a:t> Domain Model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отображают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SFML.</a:t>
            </a:r>
          </a:p>
          <a:p>
            <a:endParaRPr lang="ru-RU" dirty="0"/>
          </a:p>
          <a:p>
            <a:r>
              <a:rPr lang="en-US" dirty="0"/>
              <a:t>И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к </a:t>
            </a:r>
            <a:r>
              <a:rPr lang="en-US" dirty="0" err="1"/>
              <a:t>следующей</a:t>
            </a:r>
            <a:r>
              <a:rPr lang="en-US" dirty="0"/>
              <a:t> </a:t>
            </a:r>
            <a:r>
              <a:rPr lang="en-US" dirty="0" err="1"/>
              <a:t>проектной</a:t>
            </a:r>
            <a:r>
              <a:rPr lang="en-US" dirty="0"/>
              <a:t> </a:t>
            </a:r>
            <a:r>
              <a:rPr lang="en-US" dirty="0" err="1"/>
              <a:t>задаче</a:t>
            </a:r>
            <a:r>
              <a:rPr lang="en-US" dirty="0"/>
              <a:t>:</a:t>
            </a:r>
          </a:p>
          <a:p>
            <a:r>
              <a:rPr lang="en-US" b="1" dirty="0" err="1"/>
              <a:t>Где</a:t>
            </a:r>
            <a:r>
              <a:rPr lang="en-US" b="1" dirty="0"/>
              <a:t> </a:t>
            </a:r>
            <a:r>
              <a:rPr lang="en-US" b="1" dirty="0" err="1"/>
              <a:t>должна</a:t>
            </a:r>
            <a:r>
              <a:rPr lang="en-US" b="1" dirty="0"/>
              <a:t> </a:t>
            </a:r>
            <a:r>
              <a:rPr lang="en-US" b="1" dirty="0" err="1"/>
              <a:t>находиться</a:t>
            </a:r>
            <a:r>
              <a:rPr lang="en-US" b="1" dirty="0"/>
              <a:t> </a:t>
            </a:r>
            <a:r>
              <a:rPr lang="en-US" b="1" dirty="0" err="1"/>
              <a:t>логика</a:t>
            </a:r>
            <a:r>
              <a:rPr lang="en-US" b="1" dirty="0"/>
              <a:t>, </a:t>
            </a:r>
            <a:r>
              <a:rPr lang="en-US" b="1" dirty="0" err="1"/>
              <a:t>которая</a:t>
            </a:r>
            <a:r>
              <a:rPr lang="en-US" b="1" dirty="0"/>
              <a:t> </a:t>
            </a:r>
            <a:r>
              <a:rPr lang="en-US" b="1" dirty="0" err="1"/>
              <a:t>представляет</a:t>
            </a:r>
            <a:r>
              <a:rPr lang="en-US" b="1" dirty="0"/>
              <a:t> </a:t>
            </a:r>
            <a:r>
              <a:rPr lang="en-US" b="1" dirty="0" err="1"/>
              <a:t>состояние</a:t>
            </a:r>
            <a:r>
              <a:rPr lang="en-US" b="1" dirty="0"/>
              <a:t> </a:t>
            </a:r>
            <a:r>
              <a:rPr lang="en-US" b="1" dirty="0" err="1"/>
              <a:t>модели</a:t>
            </a:r>
            <a:r>
              <a:rPr lang="en-US" b="1" dirty="0"/>
              <a:t> </a:t>
            </a:r>
            <a:r>
              <a:rPr lang="en-US" b="1" dirty="0" err="1"/>
              <a:t>средствами</a:t>
            </a:r>
            <a:r>
              <a:rPr lang="en-US" b="1" dirty="0"/>
              <a:t> </a:t>
            </a:r>
            <a:r>
              <a:rPr lang="en-US" b="1" dirty="0" err="1"/>
              <a:t>конкретной</a:t>
            </a:r>
            <a:r>
              <a:rPr lang="en-US" b="1" dirty="0"/>
              <a:t> </a:t>
            </a:r>
            <a:r>
              <a:rPr lang="en-US" b="1" dirty="0" err="1"/>
              <a:t>графической</a:t>
            </a:r>
            <a:r>
              <a:rPr lang="en-US" b="1" dirty="0"/>
              <a:t> </a:t>
            </a:r>
            <a:r>
              <a:rPr lang="en-US" b="1" dirty="0" err="1"/>
              <a:t>библиотеки</a:t>
            </a:r>
            <a:r>
              <a:rPr lang="en-US" b="1" dirty="0"/>
              <a:t>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803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251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предыдущей</a:t>
            </a:r>
            <a:r>
              <a:rPr lang="en-US" dirty="0"/>
              <a:t> </a:t>
            </a:r>
            <a:r>
              <a:rPr lang="en-US" dirty="0" err="1"/>
              <a:t>лекции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получили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, в </a:t>
            </a:r>
            <a:r>
              <a:rPr lang="en-US" dirty="0" err="1"/>
              <a:t>которой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умеет</a:t>
            </a:r>
            <a:r>
              <a:rPr lang="en-US" dirty="0"/>
              <a:t> </a:t>
            </a:r>
            <a:r>
              <a:rPr lang="en-US" dirty="0" err="1"/>
              <a:t>отрисовывать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абстракцию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ICanvas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появилось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случайно</a:t>
            </a:r>
            <a:r>
              <a:rPr lang="en-US" dirty="0"/>
              <a:t>.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хотели</a:t>
            </a:r>
            <a:r>
              <a:rPr lang="en-US" dirty="0"/>
              <a:t> </a:t>
            </a:r>
            <a:r>
              <a:rPr lang="en-US" dirty="0" err="1"/>
              <a:t>отделить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 </a:t>
            </a:r>
            <a:r>
              <a:rPr lang="en-US" b="1" dirty="0"/>
              <a:t>«</a:t>
            </a:r>
            <a:r>
              <a:rPr lang="en-US" b="1" dirty="0" err="1"/>
              <a:t>что</a:t>
            </a:r>
            <a:r>
              <a:rPr lang="en-US" b="1" dirty="0"/>
              <a:t> </a:t>
            </a:r>
            <a:r>
              <a:rPr lang="en-US" b="1" dirty="0" err="1"/>
              <a:t>нужно</a:t>
            </a:r>
            <a:r>
              <a:rPr lang="en-US" b="1" dirty="0"/>
              <a:t> </a:t>
            </a:r>
            <a:r>
              <a:rPr lang="en-US" b="1" dirty="0" err="1"/>
              <a:t>нарисовать</a:t>
            </a:r>
            <a:r>
              <a:rPr lang="en-US" b="1" dirty="0"/>
              <a:t>?»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вопроса</a:t>
            </a:r>
            <a:r>
              <a:rPr lang="en-US" dirty="0"/>
              <a:t> </a:t>
            </a:r>
            <a:r>
              <a:rPr lang="en-US" b="1" dirty="0"/>
              <a:t>«</a:t>
            </a:r>
            <a:r>
              <a:rPr lang="en-US" b="1" dirty="0" err="1"/>
              <a:t>какой</a:t>
            </a:r>
            <a:r>
              <a:rPr lang="en-US" b="1" dirty="0"/>
              <a:t> </a:t>
            </a:r>
            <a:r>
              <a:rPr lang="en-US" b="1" dirty="0" err="1"/>
              <a:t>технологией</a:t>
            </a:r>
            <a:r>
              <a:rPr lang="en-US" b="1" dirty="0"/>
              <a:t> </a:t>
            </a:r>
            <a:r>
              <a:rPr lang="en-US" b="1" dirty="0" err="1"/>
              <a:t>это</a:t>
            </a:r>
            <a:r>
              <a:rPr lang="en-US" b="1" dirty="0"/>
              <a:t> </a:t>
            </a:r>
            <a:r>
              <a:rPr lang="en-US" b="1" dirty="0" err="1"/>
              <a:t>будет</a:t>
            </a:r>
            <a:r>
              <a:rPr lang="en-US" b="1" dirty="0"/>
              <a:t> </a:t>
            </a:r>
            <a:r>
              <a:rPr lang="en-US" b="1" dirty="0" err="1"/>
              <a:t>нарисовано</a:t>
            </a:r>
            <a:r>
              <a:rPr lang="en-US" b="1" dirty="0"/>
              <a:t>?»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ни</a:t>
            </a:r>
            <a:r>
              <a:rPr lang="en-US" dirty="0"/>
              <a:t> о PDF,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SVG,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SFML.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обращается</a:t>
            </a:r>
            <a:r>
              <a:rPr lang="en-US" dirty="0"/>
              <a:t> к </a:t>
            </a:r>
            <a:r>
              <a:rPr lang="en-US" dirty="0" err="1"/>
              <a:t>абстрактному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ICanvas</a:t>
            </a:r>
            <a:r>
              <a:rPr lang="en-US" dirty="0"/>
              <a:t>, а </a:t>
            </a:r>
            <a:r>
              <a:rPr lang="en-US" dirty="0" err="1"/>
              <a:t>конкретная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решает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необходимые</a:t>
            </a:r>
            <a:r>
              <a:rPr lang="en-US" dirty="0"/>
              <a:t> </a:t>
            </a:r>
            <a:r>
              <a:rPr lang="en-US" dirty="0" err="1"/>
              <a:t>графические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Open/Closed Principle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SFML,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можем</a:t>
            </a:r>
            <a:r>
              <a:rPr lang="en-US" dirty="0"/>
              <a:t> </a:t>
            </a:r>
            <a:r>
              <a:rPr lang="en-US" dirty="0" err="1"/>
              <a:t>добавить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SfmlCanvas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меняя</a:t>
            </a:r>
            <a:r>
              <a:rPr lang="en-US" dirty="0"/>
              <a:t> </a:t>
            </a:r>
            <a:r>
              <a:rPr lang="en-US" dirty="0" err="1"/>
              <a:t>существующие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увидеть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и </a:t>
            </a:r>
            <a:r>
              <a:rPr lang="en-US" dirty="0" err="1"/>
              <a:t>идею</a:t>
            </a:r>
            <a:r>
              <a:rPr lang="en-US" dirty="0"/>
              <a:t> Dependency Inversion Principle: </a:t>
            </a:r>
            <a:r>
              <a:rPr lang="en-US" dirty="0" err="1"/>
              <a:t>высокоуровневый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конкретных</a:t>
            </a:r>
            <a:r>
              <a:rPr lang="en-US" dirty="0"/>
              <a:t> </a:t>
            </a:r>
            <a:r>
              <a:rPr lang="en-US" dirty="0" err="1"/>
              <a:t>классов</a:t>
            </a:r>
            <a:r>
              <a:rPr lang="en-US" dirty="0"/>
              <a:t> </a:t>
            </a:r>
            <a:r>
              <a:rPr lang="en-US" dirty="0" err="1"/>
              <a:t>графической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первое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оконного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почти</a:t>
            </a:r>
            <a:r>
              <a:rPr lang="en-US" dirty="0"/>
              <a:t> </a:t>
            </a:r>
            <a:r>
              <a:rPr lang="en-US" dirty="0" err="1"/>
              <a:t>очевидно</a:t>
            </a:r>
            <a:r>
              <a:rPr lang="en-US" dirty="0"/>
              <a:t>: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ICanvas</a:t>
            </a:r>
            <a:r>
              <a:rPr lang="en-US" dirty="0"/>
              <a:t> </a:t>
            </a:r>
            <a:r>
              <a:rPr lang="en-US" dirty="0" err="1"/>
              <a:t>поверх</a:t>
            </a:r>
            <a:r>
              <a:rPr lang="en-US" dirty="0"/>
              <a:t> SFML и </a:t>
            </a:r>
            <a:r>
              <a:rPr lang="en-US" dirty="0" err="1"/>
              <a:t>продолжить</a:t>
            </a:r>
            <a:r>
              <a:rPr lang="en-US" dirty="0"/>
              <a:t> </a:t>
            </a:r>
            <a:r>
              <a:rPr lang="en-US" dirty="0" err="1"/>
              <a:t>пользоваться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существующей</a:t>
            </a:r>
            <a:r>
              <a:rPr lang="en-US" dirty="0"/>
              <a:t> </a:t>
            </a:r>
            <a:r>
              <a:rPr lang="en-US" dirty="0" err="1"/>
              <a:t>архитектурой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знаем</a:t>
            </a:r>
            <a:r>
              <a:rPr lang="en-US" dirty="0"/>
              <a:t> о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системе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знали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задать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7558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линзу</a:t>
            </a:r>
            <a:r>
              <a:rPr lang="en-US" dirty="0"/>
              <a:t> SOLID — Single Responsibility Principle</a:t>
            </a:r>
            <a:endParaRPr lang="ru-RU" dirty="0"/>
          </a:p>
          <a:p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смысл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прямоугольника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сущности</a:t>
            </a:r>
            <a:r>
              <a:rPr lang="en-US" dirty="0"/>
              <a:t>. </a:t>
            </a:r>
            <a:r>
              <a:rPr lang="en-US" dirty="0" err="1"/>
              <a:t>Прямоугольную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переместить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показываем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экране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HitTest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относится</a:t>
            </a:r>
            <a:r>
              <a:rPr lang="en-US" dirty="0"/>
              <a:t> к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геометрии</a:t>
            </a:r>
            <a:r>
              <a:rPr lang="en-US" dirty="0"/>
              <a:t>. Это </a:t>
            </a:r>
            <a:r>
              <a:rPr lang="en-US" dirty="0" err="1"/>
              <a:t>вопрос</a:t>
            </a:r>
            <a:r>
              <a:rPr lang="en-US" dirty="0"/>
              <a:t> о </a:t>
            </a:r>
            <a:r>
              <a:rPr lang="en-US" dirty="0" err="1"/>
              <a:t>самой</a:t>
            </a:r>
            <a:r>
              <a:rPr lang="en-US" dirty="0"/>
              <a:t> </a:t>
            </a:r>
            <a:r>
              <a:rPr lang="en-US" dirty="0" err="1"/>
              <a:t>фигуре</a:t>
            </a:r>
            <a:r>
              <a:rPr lang="en-US" dirty="0"/>
              <a:t>: </a:t>
            </a:r>
            <a:r>
              <a:rPr lang="en-US" dirty="0" err="1"/>
              <a:t>принадлежит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заданная</a:t>
            </a:r>
            <a:r>
              <a:rPr lang="en-US" dirty="0"/>
              <a:t> </a:t>
            </a:r>
            <a:r>
              <a:rPr lang="en-US" dirty="0" err="1"/>
              <a:t>точка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А </a:t>
            </a:r>
            <a:r>
              <a:rPr lang="en-US" dirty="0" err="1"/>
              <a:t>вот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причине</a:t>
            </a:r>
            <a:r>
              <a:rPr lang="en-US" dirty="0"/>
              <a:t>.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прямоугольником</a:t>
            </a:r>
            <a:r>
              <a:rPr lang="en-US" dirty="0"/>
              <a:t>, а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каким-то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увидеть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заметить</a:t>
            </a:r>
            <a:r>
              <a:rPr lang="en-US" dirty="0"/>
              <a:t>: </a:t>
            </a:r>
            <a:r>
              <a:rPr lang="en-US" dirty="0" err="1"/>
              <a:t>введение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ICanvas</a:t>
            </a:r>
            <a:r>
              <a:rPr lang="en-US" dirty="0"/>
              <a:t> </a:t>
            </a:r>
            <a:r>
              <a:rPr lang="en-US" dirty="0" err="1"/>
              <a:t>решило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проблему</a:t>
            </a:r>
            <a:r>
              <a:rPr lang="en-US" dirty="0"/>
              <a:t> —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о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библиотеке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устранило</a:t>
            </a:r>
            <a:r>
              <a:rPr lang="en-US" b="1" dirty="0"/>
              <a:t> </a:t>
            </a:r>
            <a:r>
              <a:rPr lang="en-US" b="1" dirty="0" err="1"/>
              <a:t>саму</a:t>
            </a:r>
            <a:r>
              <a:rPr lang="en-US" b="1" dirty="0"/>
              <a:t> </a:t>
            </a:r>
            <a:r>
              <a:rPr lang="en-US" b="1" dirty="0" err="1"/>
              <a:t>ответственность</a:t>
            </a:r>
            <a:r>
              <a:rPr lang="en-US" b="1" dirty="0"/>
              <a:t> </a:t>
            </a:r>
            <a:r>
              <a:rPr lang="en-US" b="1" dirty="0" err="1"/>
              <a:t>за</a:t>
            </a:r>
            <a:r>
              <a:rPr lang="en-US" b="1" dirty="0"/>
              <a:t> </a:t>
            </a:r>
            <a:r>
              <a:rPr lang="en-US" b="1" dirty="0" err="1"/>
              <a:t>представление</a:t>
            </a:r>
            <a:r>
              <a:rPr lang="en-US" dirty="0"/>
              <a:t>.</a:t>
            </a:r>
          </a:p>
          <a:p>
            <a:r>
              <a:rPr lang="en-US" dirty="0"/>
              <a:t>Domain Model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предполагается</a:t>
            </a:r>
            <a:r>
              <a:rPr lang="en-US" dirty="0"/>
              <a:t> </a:t>
            </a:r>
            <a:r>
              <a:rPr lang="en-US" dirty="0" err="1"/>
              <a:t>рисовать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 </a:t>
            </a:r>
            <a:r>
              <a:rPr lang="en-US" dirty="0" err="1"/>
              <a:t>зависимости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SFML, а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фундаментальный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</a:t>
            </a:r>
          </a:p>
          <a:p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,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участвует</a:t>
            </a:r>
            <a:r>
              <a:rPr lang="en-US" dirty="0"/>
              <a:t> в </a:t>
            </a:r>
            <a:r>
              <a:rPr lang="en-US" dirty="0" err="1"/>
              <a:t>пользовательском</a:t>
            </a:r>
            <a:r>
              <a:rPr lang="en-US" dirty="0"/>
              <a:t> </a:t>
            </a:r>
            <a:r>
              <a:rPr lang="en-US" dirty="0" err="1"/>
              <a:t>представлении</a:t>
            </a:r>
            <a:r>
              <a:rPr lang="en-US" dirty="0"/>
              <a:t>?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ru-RU" dirty="0"/>
              <a:t>принцип единственной ответственности</a:t>
            </a:r>
            <a:r>
              <a:rPr lang="en-US" dirty="0"/>
              <a:t> </a:t>
            </a:r>
            <a:r>
              <a:rPr lang="en-US" dirty="0" err="1"/>
              <a:t>даёт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основание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 </a:t>
            </a:r>
            <a:r>
              <a:rPr lang="en-US" dirty="0" err="1"/>
              <a:t>задать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820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заметным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вспомнить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с </a:t>
            </a:r>
            <a:r>
              <a:rPr lang="en-US" dirty="0" err="1"/>
              <a:t>анимационным</a:t>
            </a:r>
            <a:r>
              <a:rPr lang="en-US" dirty="0"/>
              <a:t> </a:t>
            </a:r>
            <a:r>
              <a:rPr lang="en-US" dirty="0" err="1"/>
              <a:t>редактором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У </a:t>
            </a:r>
            <a:r>
              <a:rPr lang="en-US" dirty="0" err="1"/>
              <a:t>одной</a:t>
            </a:r>
            <a:r>
              <a:rPr lang="en-US" dirty="0"/>
              <a:t> Domain Model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существовать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Canvas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пространственное</a:t>
            </a:r>
            <a:r>
              <a:rPr lang="en-US" dirty="0"/>
              <a:t> </a:t>
            </a:r>
            <a:r>
              <a:rPr lang="en-US" dirty="0" err="1"/>
              <a:t>расположение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в </a:t>
            </a:r>
            <a:r>
              <a:rPr lang="en-US" dirty="0" err="1"/>
              <a:t>выбранный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Timeline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интервалы</a:t>
            </a:r>
            <a:r>
              <a:rPr lang="en-US" dirty="0"/>
              <a:t> </a:t>
            </a:r>
            <a:r>
              <a:rPr lang="en-US" dirty="0" err="1"/>
              <a:t>существования</a:t>
            </a:r>
            <a:r>
              <a:rPr lang="en-US" dirty="0"/>
              <a:t> </a:t>
            </a:r>
            <a:r>
              <a:rPr lang="en-US" dirty="0" err="1"/>
              <a:t>тех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и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наложения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Rectangle::Draw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 «</a:t>
            </a:r>
            <a:r>
              <a:rPr lang="en-US" dirty="0" err="1"/>
              <a:t>нарисовать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Canvas»,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заложили</a:t>
            </a:r>
            <a:r>
              <a:rPr lang="en-US" dirty="0"/>
              <a:t> в Domain Model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 err="1"/>
              <a:t>Тогда</a:t>
            </a:r>
            <a:r>
              <a:rPr lang="en-US" dirty="0"/>
              <a:t> </a:t>
            </a:r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, </a:t>
            </a:r>
            <a:r>
              <a:rPr lang="en-US" dirty="0" err="1"/>
              <a:t>куда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привести</a:t>
            </a:r>
            <a:r>
              <a:rPr lang="en-US" dirty="0"/>
              <a:t> </a:t>
            </a:r>
            <a:r>
              <a:rPr lang="en-US" dirty="0" err="1"/>
              <a:t>дальнейшее</a:t>
            </a:r>
            <a:r>
              <a:rPr lang="en-US" dirty="0"/>
              <a:t> </a:t>
            </a:r>
            <a:r>
              <a:rPr lang="en-US" dirty="0" err="1"/>
              <a:t>развитие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DrawOnCanvas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DrawOnTimeline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DrawInPreview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Конечно</a:t>
            </a:r>
            <a:r>
              <a:rPr lang="en-US" dirty="0"/>
              <a:t>,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обязаны</a:t>
            </a:r>
            <a:r>
              <a:rPr lang="en-US" dirty="0"/>
              <a:t> </a:t>
            </a:r>
            <a:r>
              <a:rPr lang="en-US" dirty="0" err="1"/>
              <a:t>буквально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мысленный</a:t>
            </a:r>
            <a:r>
              <a:rPr lang="en-US" dirty="0"/>
              <a:t> </a:t>
            </a:r>
            <a:r>
              <a:rPr lang="en-US" dirty="0" err="1"/>
              <a:t>эксперимент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проблему</a:t>
            </a:r>
            <a:r>
              <a:rPr lang="en-US" dirty="0"/>
              <a:t>.</a:t>
            </a:r>
          </a:p>
          <a:p>
            <a:r>
              <a:rPr lang="en-US" dirty="0" err="1"/>
              <a:t>Появление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способа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заставлять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добавлять</a:t>
            </a:r>
            <a:r>
              <a:rPr lang="en-US" dirty="0"/>
              <a:t> </a:t>
            </a:r>
            <a:r>
              <a:rPr lang="en-US" dirty="0" err="1"/>
              <a:t>соответствующее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в </a:t>
            </a:r>
            <a:r>
              <a:rPr lang="en-US" dirty="0" err="1"/>
              <a:t>каждую</a:t>
            </a:r>
            <a:r>
              <a:rPr lang="en-US" dirty="0"/>
              <a:t> </a:t>
            </a:r>
            <a:r>
              <a:rPr lang="en-US" dirty="0" err="1"/>
              <a:t>предметную</a:t>
            </a:r>
            <a:r>
              <a:rPr lang="en-US" dirty="0"/>
              <a:t> </a:t>
            </a:r>
            <a:r>
              <a:rPr lang="en-US" dirty="0" err="1"/>
              <a:t>сущность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И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видно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прежнее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оптимизировано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ось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ICanvas</a:t>
            </a:r>
            <a:r>
              <a:rPr lang="en-US" dirty="0"/>
              <a:t> </a:t>
            </a:r>
            <a:r>
              <a:rPr lang="en-US" dirty="0" err="1"/>
              <a:t>делал</a:t>
            </a:r>
            <a:r>
              <a:rPr lang="en-US" dirty="0"/>
              <a:t> </a:t>
            </a:r>
            <a:r>
              <a:rPr lang="en-US" dirty="0" err="1"/>
              <a:t>дешёвым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b="1" dirty="0" err="1"/>
              <a:t>технологии</a:t>
            </a:r>
            <a:r>
              <a:rPr lang="en-US" b="1" dirty="0"/>
              <a:t> </a:t>
            </a:r>
            <a:r>
              <a:rPr lang="en-US" b="1" dirty="0" err="1"/>
              <a:t>рисования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интересует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крупная</a:t>
            </a:r>
            <a:r>
              <a:rPr lang="en-US" dirty="0"/>
              <a:t> </a:t>
            </a:r>
            <a:r>
              <a:rPr lang="en-US" dirty="0" err="1"/>
              <a:t>граница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b="1" dirty="0" err="1"/>
              <a:t>предметная</a:t>
            </a:r>
            <a:r>
              <a:rPr lang="en-US" b="1" dirty="0"/>
              <a:t> </a:t>
            </a:r>
            <a:r>
              <a:rPr lang="en-US" b="1" dirty="0" err="1"/>
              <a:t>модель</a:t>
            </a:r>
            <a:r>
              <a:rPr lang="en-US" b="1" dirty="0"/>
              <a:t> </a:t>
            </a:r>
            <a:r>
              <a:rPr lang="en-US" b="1" dirty="0" err="1"/>
              <a:t>отдельно</a:t>
            </a:r>
            <a:r>
              <a:rPr lang="en-US" b="1" dirty="0"/>
              <a:t>, </a:t>
            </a:r>
            <a:r>
              <a:rPr lang="en-US" b="1" dirty="0" err="1"/>
              <a:t>её</a:t>
            </a:r>
            <a:r>
              <a:rPr lang="en-US" b="1" dirty="0"/>
              <a:t> </a:t>
            </a:r>
            <a:r>
              <a:rPr lang="en-US" b="1" dirty="0" err="1"/>
              <a:t>представления</a:t>
            </a:r>
            <a:r>
              <a:rPr lang="en-US" b="1" dirty="0"/>
              <a:t> </a:t>
            </a:r>
            <a:r>
              <a:rPr lang="en-US" b="1" dirty="0" err="1"/>
              <a:t>отдельно</a:t>
            </a:r>
            <a:r>
              <a:rPr lang="en-US" dirty="0"/>
              <a:t>.</a:t>
            </a:r>
            <a:endParaRPr lang="ru-RU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попробуем</a:t>
            </a:r>
            <a:r>
              <a:rPr lang="en-US" dirty="0"/>
              <a:t> </a:t>
            </a:r>
            <a:r>
              <a:rPr lang="en-US" dirty="0" err="1"/>
              <a:t>перенести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Domain Model </a:t>
            </a:r>
            <a:r>
              <a:rPr lang="en-US" dirty="0" err="1"/>
              <a:t>наружу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0714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Перенесём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 </a:t>
            </a:r>
            <a:r>
              <a:rPr lang="en-US" dirty="0" err="1"/>
              <a:t>наружу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Пусть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и </a:t>
            </a:r>
            <a:r>
              <a:rPr lang="en-US" dirty="0" err="1"/>
              <a:t>отображает</a:t>
            </a:r>
            <a:r>
              <a:rPr lang="en-US" dirty="0"/>
              <a:t> </a:t>
            </a:r>
            <a:r>
              <a:rPr lang="en-US" dirty="0" err="1"/>
              <a:t>средствами</a:t>
            </a:r>
            <a:r>
              <a:rPr lang="en-US" dirty="0"/>
              <a:t> SFML.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устроена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о Domain Model, </a:t>
            </a:r>
            <a:r>
              <a:rPr lang="en-US" dirty="0" err="1"/>
              <a:t>потому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отображает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и </a:t>
            </a:r>
            <a:r>
              <a:rPr lang="en-US" dirty="0" err="1"/>
              <a:t>об</a:t>
            </a:r>
            <a:r>
              <a:rPr lang="en-US" dirty="0"/>
              <a:t> SFML, </a:t>
            </a:r>
            <a:r>
              <a:rPr lang="en-US" dirty="0" err="1"/>
              <a:t>потому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— </a:t>
            </a:r>
            <a:r>
              <a:rPr lang="en-US" dirty="0" err="1"/>
              <a:t>реализовать</a:t>
            </a:r>
            <a:r>
              <a:rPr lang="en-US" dirty="0"/>
              <a:t> </a:t>
            </a:r>
            <a:r>
              <a:rPr lang="en-US" dirty="0" err="1"/>
              <a:t>конкретное</a:t>
            </a:r>
            <a:r>
              <a:rPr lang="en-US" dirty="0"/>
              <a:t> </a:t>
            </a:r>
            <a:r>
              <a:rPr lang="en-US" dirty="0" err="1"/>
              <a:t>графическое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средствами</a:t>
            </a:r>
            <a:r>
              <a:rPr lang="en-US" dirty="0"/>
              <a:t> </a:t>
            </a:r>
            <a:r>
              <a:rPr lang="en-US" dirty="0" err="1"/>
              <a:t>выбранной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Domain Model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ни</a:t>
            </a:r>
            <a:r>
              <a:rPr lang="en-US" dirty="0"/>
              <a:t> о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RectangleShape</a:t>
            </a:r>
            <a:r>
              <a:rPr lang="en-US" dirty="0"/>
              <a:t>,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ICanvas</a:t>
            </a:r>
            <a:r>
              <a:rPr lang="en-US" dirty="0"/>
              <a:t>,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о </a:t>
            </a:r>
            <a:r>
              <a:rPr lang="en-US" dirty="0" err="1"/>
              <a:t>существовании</a:t>
            </a:r>
            <a:r>
              <a:rPr lang="en-US" dirty="0"/>
              <a:t> </a:t>
            </a:r>
            <a:r>
              <a:rPr lang="en-US" dirty="0" err="1"/>
              <a:t>графического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.</a:t>
            </a:r>
          </a:p>
          <a:p>
            <a:r>
              <a:rPr lang="en-US" dirty="0"/>
              <a:t>Это </a:t>
            </a:r>
            <a:r>
              <a:rPr lang="en-US" dirty="0" err="1"/>
              <a:t>важная</a:t>
            </a:r>
            <a:r>
              <a:rPr lang="en-US" dirty="0"/>
              <a:t> </a:t>
            </a:r>
            <a:r>
              <a:rPr lang="en-US" dirty="0" err="1"/>
              <a:t>мысль</a:t>
            </a:r>
            <a:r>
              <a:rPr lang="en-US" dirty="0"/>
              <a:t>.</a:t>
            </a:r>
          </a:p>
          <a:p>
            <a:r>
              <a:rPr lang="en-US" dirty="0" err="1"/>
              <a:t>Иногда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зависимости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технологии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нормально</a:t>
            </a:r>
            <a:r>
              <a:rPr lang="en-US" dirty="0"/>
              <a:t>.</a:t>
            </a:r>
          </a:p>
          <a:p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и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отображать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средствами</a:t>
            </a:r>
            <a:r>
              <a:rPr lang="en-US" dirty="0"/>
              <a:t>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технологии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компонента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SFML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ответственности</a:t>
            </a:r>
            <a:r>
              <a:rPr lang="en-US" dirty="0"/>
              <a:t>.</a:t>
            </a:r>
          </a:p>
          <a:p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помещать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ради</a:t>
            </a:r>
            <a:r>
              <a:rPr lang="en-US" dirty="0"/>
              <a:t> </a:t>
            </a:r>
            <a:r>
              <a:rPr lang="en-US" dirty="0" err="1"/>
              <a:t>формального</a:t>
            </a:r>
            <a:r>
              <a:rPr lang="en-US" dirty="0"/>
              <a:t> </a:t>
            </a:r>
            <a:r>
              <a:rPr lang="en-US" dirty="0" err="1"/>
              <a:t>соблюдения</a:t>
            </a:r>
            <a:r>
              <a:rPr lang="en-US" dirty="0"/>
              <a:t> DIP.</a:t>
            </a:r>
          </a:p>
          <a:p>
            <a:endParaRPr lang="ru-RU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основным</a:t>
            </a:r>
            <a:r>
              <a:rPr lang="en-US" dirty="0"/>
              <a:t> </a:t>
            </a:r>
            <a:r>
              <a:rPr lang="en-US" dirty="0" err="1"/>
              <a:t>принципом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помогает</a:t>
            </a:r>
            <a:r>
              <a:rPr lang="en-US" dirty="0"/>
              <a:t> </a:t>
            </a:r>
            <a:r>
              <a:rPr lang="en-US" dirty="0" err="1"/>
              <a:t>принять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, </a:t>
            </a:r>
            <a:r>
              <a:rPr lang="en-US" dirty="0" err="1"/>
              <a:t>является</a:t>
            </a:r>
            <a:r>
              <a:rPr lang="en-US" dirty="0"/>
              <a:t> SRP: </a:t>
            </a:r>
            <a:r>
              <a:rPr lang="en-US" dirty="0" err="1"/>
              <a:t>предметная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и </a:t>
            </a:r>
            <a:r>
              <a:rPr lang="en-US" dirty="0" err="1"/>
              <a:t>отображение</a:t>
            </a:r>
            <a:r>
              <a:rPr lang="en-US" dirty="0"/>
              <a:t> </a:t>
            </a:r>
            <a:r>
              <a:rPr lang="en-US" dirty="0" err="1"/>
              <a:t>получают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ответственности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4804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Но</a:t>
            </a:r>
            <a:r>
              <a:rPr lang="en-US" dirty="0"/>
              <a:t> у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цена</a:t>
            </a:r>
            <a:r>
              <a:rPr lang="en-US" dirty="0"/>
              <a:t>.</a:t>
            </a:r>
          </a:p>
          <a:p>
            <a:r>
              <a:rPr lang="en-US" dirty="0" err="1"/>
              <a:t>Пока</a:t>
            </a:r>
            <a:r>
              <a:rPr lang="en-US" dirty="0"/>
              <a:t> в </a:t>
            </a:r>
            <a:r>
              <a:rPr lang="en-US" dirty="0" err="1"/>
              <a:t>редакторе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,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проста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 и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</a:t>
            </a:r>
            <a:r>
              <a:rPr lang="en-US" dirty="0" err="1"/>
              <a:t>графический</a:t>
            </a:r>
            <a:r>
              <a:rPr lang="en-US" dirty="0"/>
              <a:t> </a:t>
            </a:r>
            <a:r>
              <a:rPr lang="en-US" dirty="0" err="1"/>
              <a:t>примитив</a:t>
            </a:r>
            <a:r>
              <a:rPr lang="en-US" dirty="0"/>
              <a:t> SFML.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знаем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следующим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стать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Ellipse</a:t>
            </a:r>
            <a:r>
              <a:rPr lang="en-US" dirty="0"/>
              <a:t>, а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появятся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</a:t>
            </a:r>
          </a:p>
          <a:p>
            <a:r>
              <a:rPr lang="en-US" dirty="0" err="1"/>
              <a:t>Теперь</a:t>
            </a:r>
            <a:r>
              <a:rPr lang="en-US" dirty="0"/>
              <a:t> Renderer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каким-то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, с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конкретным</a:t>
            </a:r>
            <a:r>
              <a:rPr lang="en-US" dirty="0"/>
              <a:t> </a:t>
            </a:r>
            <a:r>
              <a:rPr lang="en-US" dirty="0" err="1"/>
              <a:t>типом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Самый</a:t>
            </a:r>
            <a:r>
              <a:rPr lang="en-US" dirty="0"/>
              <a:t> </a:t>
            </a:r>
            <a:r>
              <a:rPr lang="en-US" dirty="0" err="1"/>
              <a:t>очевидный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— </a:t>
            </a:r>
            <a:r>
              <a:rPr lang="en-US" dirty="0" err="1"/>
              <a:t>проверять</a:t>
            </a:r>
            <a:r>
              <a:rPr lang="en-US" dirty="0"/>
              <a:t> </a:t>
            </a:r>
            <a:r>
              <a:rPr lang="en-US" dirty="0" err="1"/>
              <a:t>динамический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,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логику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Ellipse</a:t>
            </a:r>
            <a:r>
              <a:rPr lang="en-US" dirty="0"/>
              <a:t> — </a:t>
            </a:r>
            <a:r>
              <a:rPr lang="en-US" dirty="0" err="1"/>
              <a:t>другую</a:t>
            </a:r>
            <a:r>
              <a:rPr lang="en-US" dirty="0"/>
              <a:t>.</a:t>
            </a:r>
            <a:endParaRPr lang="ru-RU" dirty="0"/>
          </a:p>
          <a:p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выглядеть</a:t>
            </a:r>
            <a:r>
              <a:rPr lang="en-US" dirty="0"/>
              <a:t>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приемлемо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обратим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направление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.</a:t>
            </a: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в Domain Model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вид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,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открывать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и </a:t>
            </a:r>
            <a:r>
              <a:rPr lang="en-US" dirty="0" err="1"/>
              <a:t>добавлять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Через</a:t>
            </a:r>
            <a:r>
              <a:rPr lang="en-US" dirty="0"/>
              <a:t> OCP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видно</a:t>
            </a:r>
            <a:r>
              <a:rPr lang="en-US" dirty="0"/>
              <a:t> </a:t>
            </a:r>
            <a:r>
              <a:rPr lang="en-US" dirty="0" err="1"/>
              <a:t>противоположную</a:t>
            </a:r>
            <a:r>
              <a:rPr lang="en-US" dirty="0"/>
              <a:t> </a:t>
            </a:r>
            <a:r>
              <a:rPr lang="en-US" dirty="0" err="1"/>
              <a:t>сторону</a:t>
            </a:r>
            <a:r>
              <a:rPr lang="en-US" dirty="0"/>
              <a:t> </a:t>
            </a:r>
            <a:r>
              <a:rPr lang="en-US" dirty="0" err="1"/>
              <a:t>компромисса</a:t>
            </a:r>
            <a:r>
              <a:rPr lang="en-US" dirty="0"/>
              <a:t>.</a:t>
            </a:r>
          </a:p>
          <a:p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Shape::Draw(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ICanvas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&amp;)</a:t>
            </a:r>
            <a:r>
              <a:rPr lang="en-US" dirty="0"/>
              <a:t> </a:t>
            </a:r>
            <a:r>
              <a:rPr lang="en-US" dirty="0" err="1"/>
              <a:t>позволяло</a:t>
            </a:r>
            <a:r>
              <a:rPr lang="en-US" dirty="0"/>
              <a:t> </a:t>
            </a:r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добавлять</a:t>
            </a:r>
            <a:r>
              <a:rPr lang="en-US" dirty="0"/>
              <a:t> </a:t>
            </a:r>
            <a:r>
              <a:rPr lang="en-US" dirty="0" err="1"/>
              <a:t>новые</a:t>
            </a:r>
            <a:r>
              <a:rPr lang="en-US" dirty="0"/>
              <a:t> </a:t>
            </a:r>
            <a:r>
              <a:rPr lang="en-US" dirty="0" err="1"/>
              <a:t>виды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: </a:t>
            </a:r>
            <a:r>
              <a:rPr lang="en-US" dirty="0" err="1"/>
              <a:t>полиморфная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рисования</a:t>
            </a:r>
            <a:r>
              <a:rPr lang="en-US" dirty="0"/>
              <a:t> </a:t>
            </a:r>
            <a:r>
              <a:rPr lang="en-US" dirty="0" err="1"/>
              <a:t>находилась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самого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переноса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 </a:t>
            </a:r>
            <a:r>
              <a:rPr lang="en-US" dirty="0" err="1"/>
              <a:t>наружу</a:t>
            </a:r>
            <a:r>
              <a:rPr lang="en-US" dirty="0"/>
              <a:t> Domain Model </a:t>
            </a:r>
            <a:r>
              <a:rPr lang="en-US" dirty="0" err="1"/>
              <a:t>стала</a:t>
            </a:r>
            <a:r>
              <a:rPr lang="en-US" dirty="0"/>
              <a:t> </a:t>
            </a:r>
            <a:r>
              <a:rPr lang="en-US" dirty="0" err="1"/>
              <a:t>лучше</a:t>
            </a:r>
            <a:r>
              <a:rPr lang="en-US" dirty="0"/>
              <a:t> </a:t>
            </a:r>
            <a:r>
              <a:rPr lang="en-US" dirty="0" err="1"/>
              <a:t>изолирована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цена</a:t>
            </a:r>
            <a:r>
              <a:rPr lang="en-US" dirty="0"/>
              <a:t> </a:t>
            </a:r>
            <a:r>
              <a:rPr lang="en-US" dirty="0" err="1"/>
              <a:t>добавления</a:t>
            </a:r>
            <a:r>
              <a:rPr lang="en-US" dirty="0"/>
              <a:t> </a:t>
            </a:r>
            <a:r>
              <a:rPr lang="en-US" dirty="0" err="1"/>
              <a:t>новых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переместилась</a:t>
            </a:r>
            <a:r>
              <a:rPr lang="en-US" dirty="0"/>
              <a:t> в </a:t>
            </a:r>
            <a:r>
              <a:rPr lang="en-US" dirty="0" err="1"/>
              <a:t>DrawingRenderer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архитектурные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оценивать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в </a:t>
            </a:r>
            <a:r>
              <a:rPr lang="en-US" dirty="0" err="1"/>
              <a:t>категориях</a:t>
            </a:r>
            <a:r>
              <a:rPr lang="en-US" dirty="0"/>
              <a:t> «</a:t>
            </a:r>
            <a:r>
              <a:rPr lang="en-US" dirty="0" err="1"/>
              <a:t>правильно</a:t>
            </a:r>
            <a:r>
              <a:rPr lang="en-US" dirty="0"/>
              <a:t>» </a:t>
            </a:r>
            <a:r>
              <a:rPr lang="en-US" dirty="0" err="1"/>
              <a:t>или</a:t>
            </a:r>
            <a:r>
              <a:rPr lang="en-US" dirty="0"/>
              <a:t> «</a:t>
            </a:r>
            <a:r>
              <a:rPr lang="en-US" dirty="0" err="1"/>
              <a:t>неправильно</a:t>
            </a:r>
            <a:r>
              <a:rPr lang="en-US" dirty="0"/>
              <a:t>», а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</a:t>
            </a:r>
          </a:p>
          <a:p>
            <a:r>
              <a:rPr lang="en-US" b="1" dirty="0" err="1"/>
              <a:t>Какие</a:t>
            </a:r>
            <a:r>
              <a:rPr lang="en-US" b="1" dirty="0"/>
              <a:t> </a:t>
            </a:r>
            <a:r>
              <a:rPr lang="en-US" b="1" dirty="0" err="1"/>
              <a:t>изменения</a:t>
            </a:r>
            <a:r>
              <a:rPr lang="en-US" b="1" dirty="0"/>
              <a:t> </a:t>
            </a:r>
            <a:r>
              <a:rPr lang="en-US" b="1" dirty="0" err="1"/>
              <a:t>мы</a:t>
            </a:r>
            <a:r>
              <a:rPr lang="en-US" b="1" dirty="0"/>
              <a:t> </a:t>
            </a:r>
            <a:r>
              <a:rPr lang="en-US" b="1" dirty="0" err="1"/>
              <a:t>сделали</a:t>
            </a:r>
            <a:r>
              <a:rPr lang="en-US" b="1" dirty="0"/>
              <a:t> </a:t>
            </a:r>
            <a:r>
              <a:rPr lang="en-US" b="1" dirty="0" err="1"/>
              <a:t>дешевле</a:t>
            </a:r>
            <a:r>
              <a:rPr lang="en-US" b="1" dirty="0"/>
              <a:t>, а </a:t>
            </a:r>
            <a:r>
              <a:rPr lang="en-US" b="1" dirty="0" err="1"/>
              <a:t>какие</a:t>
            </a:r>
            <a:r>
              <a:rPr lang="en-US" b="1" dirty="0"/>
              <a:t> — </a:t>
            </a:r>
            <a:r>
              <a:rPr lang="en-US" b="1" dirty="0" err="1"/>
              <a:t>дороже</a:t>
            </a:r>
            <a:r>
              <a:rPr lang="en-US" b="1" dirty="0"/>
              <a:t>?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сознательно</a:t>
            </a:r>
            <a:r>
              <a:rPr lang="en-US" dirty="0"/>
              <a:t> </a:t>
            </a:r>
            <a:r>
              <a:rPr lang="en-US" dirty="0" err="1"/>
              <a:t>выбрали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чёткую</a:t>
            </a:r>
            <a:r>
              <a:rPr lang="en-US" dirty="0"/>
              <a:t> </a:t>
            </a:r>
            <a:r>
              <a:rPr lang="en-US" dirty="0" err="1"/>
              <a:t>границу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Domain Model и </a:t>
            </a:r>
            <a:r>
              <a:rPr lang="en-US" dirty="0" err="1"/>
              <a:t>представлением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следующая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— </a:t>
            </a:r>
            <a:r>
              <a:rPr lang="en-US" dirty="0" err="1"/>
              <a:t>понять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организовать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превращался</a:t>
            </a:r>
            <a:r>
              <a:rPr lang="en-US" dirty="0"/>
              <a:t> в </a:t>
            </a:r>
            <a:r>
              <a:rPr lang="en-US" dirty="0" err="1"/>
              <a:t>бесконечную</a:t>
            </a:r>
            <a:r>
              <a:rPr lang="en-US" dirty="0"/>
              <a:t> </a:t>
            </a:r>
            <a:r>
              <a:rPr lang="en-US" dirty="0" err="1"/>
              <a:t>цепочку</a:t>
            </a:r>
            <a:r>
              <a:rPr lang="en-US" dirty="0"/>
              <a:t> </a:t>
            </a:r>
            <a:r>
              <a:rPr lang="en-US" dirty="0" err="1"/>
              <a:t>проверок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проблему</a:t>
            </a:r>
            <a:r>
              <a:rPr lang="en-US" dirty="0"/>
              <a:t> </a:t>
            </a:r>
            <a:r>
              <a:rPr lang="en-US" dirty="0" err="1"/>
              <a:t>необязательно</a:t>
            </a:r>
            <a:r>
              <a:rPr lang="en-US" dirty="0"/>
              <a:t> </a:t>
            </a:r>
            <a:r>
              <a:rPr lang="en-US" dirty="0" err="1"/>
              <a:t>решать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Главное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увидели</a:t>
            </a:r>
            <a:r>
              <a:rPr lang="en-US" dirty="0"/>
              <a:t>: </a:t>
            </a:r>
            <a:r>
              <a:rPr lang="en-US" b="1" dirty="0" err="1"/>
              <a:t>архитектура</a:t>
            </a:r>
            <a:r>
              <a:rPr lang="en-US" b="1" dirty="0"/>
              <a:t>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устраняет</a:t>
            </a:r>
            <a:r>
              <a:rPr lang="en-US" b="1" dirty="0"/>
              <a:t> </a:t>
            </a:r>
            <a:r>
              <a:rPr lang="en-US" b="1" dirty="0" err="1"/>
              <a:t>сложность</a:t>
            </a:r>
            <a:r>
              <a:rPr lang="en-US" b="1" dirty="0"/>
              <a:t> и </a:t>
            </a:r>
            <a:r>
              <a:rPr lang="en-US" b="1" dirty="0" err="1"/>
              <a:t>стоимость</a:t>
            </a:r>
            <a:r>
              <a:rPr lang="en-US" b="1" dirty="0"/>
              <a:t> </a:t>
            </a:r>
            <a:r>
              <a:rPr lang="en-US" b="1" dirty="0" err="1"/>
              <a:t>изменений</a:t>
            </a:r>
            <a:r>
              <a:rPr lang="en-US" b="1" dirty="0"/>
              <a:t> — </a:t>
            </a:r>
            <a:r>
              <a:rPr lang="en-US" b="1" dirty="0" err="1"/>
              <a:t>она</a:t>
            </a:r>
            <a:r>
              <a:rPr lang="en-US" b="1" dirty="0"/>
              <a:t> </a:t>
            </a:r>
            <a:r>
              <a:rPr lang="en-US" b="1" dirty="0" err="1"/>
              <a:t>определяет</a:t>
            </a:r>
            <a:r>
              <a:rPr lang="en-US" b="1" dirty="0"/>
              <a:t>, </a:t>
            </a:r>
            <a:r>
              <a:rPr lang="en-US" b="1" dirty="0" err="1"/>
              <a:t>где</a:t>
            </a:r>
            <a:r>
              <a:rPr lang="en-US" b="1" dirty="0"/>
              <a:t> </a:t>
            </a:r>
            <a:r>
              <a:rPr lang="en-US" b="1" dirty="0" err="1"/>
              <a:t>эта</a:t>
            </a:r>
            <a:r>
              <a:rPr lang="en-US" b="1" dirty="0"/>
              <a:t> </a:t>
            </a:r>
            <a:r>
              <a:rPr lang="en-US" b="1" dirty="0" err="1"/>
              <a:t>стоимость</a:t>
            </a:r>
            <a:r>
              <a:rPr lang="en-US" b="1" dirty="0"/>
              <a:t> </a:t>
            </a:r>
            <a:r>
              <a:rPr lang="en-US" b="1" dirty="0" err="1"/>
              <a:t>будет</a:t>
            </a:r>
            <a:r>
              <a:rPr lang="en-US" b="1" dirty="0"/>
              <a:t> </a:t>
            </a:r>
            <a:r>
              <a:rPr lang="en-US" b="1" dirty="0" err="1"/>
              <a:t>находиться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5689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6544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сих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 </a:t>
            </a:r>
            <a:r>
              <a:rPr lang="en-US" dirty="0" err="1"/>
              <a:t>наше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dirty="0" err="1"/>
              <a:t>умело</a:t>
            </a:r>
            <a:r>
              <a:rPr lang="en-US" dirty="0"/>
              <a:t> </a:t>
            </a:r>
            <a:r>
              <a:rPr lang="en-US" dirty="0" err="1"/>
              <a:t>отображать</a:t>
            </a:r>
            <a:r>
              <a:rPr lang="en-US" dirty="0"/>
              <a:t> </a:t>
            </a:r>
            <a:r>
              <a:rPr lang="en-US" dirty="0" err="1"/>
              <a:t>рисунок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никак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мог</a:t>
            </a:r>
            <a:r>
              <a:rPr lang="en-US" dirty="0"/>
              <a:t> с </a:t>
            </a:r>
            <a:r>
              <a:rPr lang="en-US" dirty="0" err="1"/>
              <a:t>ним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Добавим</a:t>
            </a:r>
            <a:r>
              <a:rPr lang="en-US" dirty="0"/>
              <a:t> </a:t>
            </a:r>
            <a:r>
              <a:rPr lang="en-US" dirty="0" err="1"/>
              <a:t>первое</a:t>
            </a:r>
            <a:r>
              <a:rPr lang="en-US" dirty="0"/>
              <a:t> </a:t>
            </a:r>
            <a:r>
              <a:rPr lang="en-US" dirty="0" err="1"/>
              <a:t>интерактивное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щелчке</a:t>
            </a:r>
            <a:r>
              <a:rPr lang="en-US" dirty="0"/>
              <a:t> </a:t>
            </a:r>
            <a:r>
              <a:rPr lang="en-US" dirty="0" err="1"/>
              <a:t>мышью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фигуре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становиться</a:t>
            </a:r>
            <a:r>
              <a:rPr lang="en-US" dirty="0"/>
              <a:t> </a:t>
            </a:r>
            <a:r>
              <a:rPr lang="en-US" dirty="0" err="1"/>
              <a:t>выбранной</a:t>
            </a:r>
            <a:r>
              <a:rPr lang="en-US" dirty="0"/>
              <a:t>.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видел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своего</a:t>
            </a:r>
            <a:r>
              <a:rPr lang="en-US" dirty="0"/>
              <a:t> </a:t>
            </a:r>
            <a:r>
              <a:rPr lang="en-US" dirty="0" err="1"/>
              <a:t>действия</a:t>
            </a:r>
            <a:r>
              <a:rPr lang="en-US" dirty="0"/>
              <a:t>, </a:t>
            </a:r>
            <a:r>
              <a:rPr lang="en-US" dirty="0" err="1"/>
              <a:t>выбранную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отображать</a:t>
            </a:r>
            <a:r>
              <a:rPr lang="en-US" dirty="0"/>
              <a:t> </a:t>
            </a:r>
            <a:r>
              <a:rPr lang="en-US" dirty="0" err="1"/>
              <a:t>особым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с </a:t>
            </a:r>
            <a:r>
              <a:rPr lang="en-US" dirty="0" err="1"/>
              <a:t>рамкой</a:t>
            </a:r>
            <a:r>
              <a:rPr lang="en-US" dirty="0"/>
              <a:t> </a:t>
            </a:r>
            <a:r>
              <a:rPr lang="en-US" dirty="0" err="1"/>
              <a:t>выделения</a:t>
            </a:r>
            <a:r>
              <a:rPr lang="en-US" dirty="0"/>
              <a:t>.</a:t>
            </a:r>
          </a:p>
          <a:p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ограничимся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выбором</a:t>
            </a:r>
            <a:r>
              <a:rPr lang="en-US" dirty="0"/>
              <a:t>. </a:t>
            </a:r>
            <a:r>
              <a:rPr lang="en-US" dirty="0" err="1"/>
              <a:t>Перетаскивание</a:t>
            </a:r>
            <a:r>
              <a:rPr lang="en-US" dirty="0"/>
              <a:t> </a:t>
            </a:r>
            <a:r>
              <a:rPr lang="en-US" dirty="0" err="1"/>
              <a:t>добавим</a:t>
            </a:r>
            <a:r>
              <a:rPr lang="en-US" dirty="0"/>
              <a:t> </a:t>
            </a:r>
            <a:r>
              <a:rPr lang="en-US" dirty="0" err="1"/>
              <a:t>немного</a:t>
            </a:r>
            <a:r>
              <a:rPr lang="en-US" dirty="0"/>
              <a:t> </a:t>
            </a:r>
            <a:r>
              <a:rPr lang="en-US" dirty="0" err="1"/>
              <a:t>позже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: </a:t>
            </a:r>
            <a:r>
              <a:rPr lang="en-US" dirty="0" err="1"/>
              <a:t>нажали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—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выбрана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связать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мира</a:t>
            </a:r>
            <a:r>
              <a:rPr lang="en-US" dirty="0"/>
              <a:t>.</a:t>
            </a:r>
          </a:p>
          <a:p>
            <a:r>
              <a:rPr lang="en-US" dirty="0"/>
              <a:t>SFML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о </a:t>
            </a:r>
            <a:r>
              <a:rPr lang="en-US" dirty="0" err="1"/>
              <a:t>действиях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/>
              <a:t>А </a:t>
            </a:r>
            <a:r>
              <a:rPr lang="en-US" dirty="0" err="1"/>
              <a:t>фигуры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которым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щёлкает</a:t>
            </a:r>
            <a:r>
              <a:rPr lang="en-US" dirty="0"/>
              <a:t>, </a:t>
            </a:r>
            <a:r>
              <a:rPr lang="en-US" dirty="0" err="1"/>
              <a:t>находятся</a:t>
            </a:r>
            <a:r>
              <a:rPr lang="en-US" dirty="0"/>
              <a:t> в </a:t>
            </a:r>
            <a:r>
              <a:rPr lang="en-US" dirty="0" err="1"/>
              <a:t>нашей</a:t>
            </a:r>
            <a:r>
              <a:rPr lang="en-US" dirty="0"/>
              <a:t> Domain Model.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 </a:t>
            </a:r>
            <a:r>
              <a:rPr lang="en-US" dirty="0" err="1"/>
              <a:t>звучит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: </a:t>
            </a:r>
            <a:r>
              <a:rPr lang="en-US" b="1" dirty="0" err="1"/>
              <a:t>как</a:t>
            </a:r>
            <a:r>
              <a:rPr lang="en-US" b="1" dirty="0"/>
              <a:t> </a:t>
            </a:r>
            <a:r>
              <a:rPr lang="en-US" b="1" dirty="0" err="1"/>
              <a:t>событие</a:t>
            </a:r>
            <a:r>
              <a:rPr lang="en-US" b="1" dirty="0"/>
              <a:t> </a:t>
            </a:r>
            <a:r>
              <a:rPr lang="en-US" b="1" dirty="0" err="1"/>
              <a:t>графической</a:t>
            </a:r>
            <a:r>
              <a:rPr lang="en-US" b="1" dirty="0"/>
              <a:t> </a:t>
            </a:r>
            <a:r>
              <a:rPr lang="en-US" b="1" dirty="0" err="1"/>
              <a:t>библиотеки</a:t>
            </a:r>
            <a:r>
              <a:rPr lang="en-US" b="1" dirty="0"/>
              <a:t> </a:t>
            </a:r>
            <a:r>
              <a:rPr lang="en-US" b="1" dirty="0" err="1"/>
              <a:t>превратить</a:t>
            </a:r>
            <a:r>
              <a:rPr lang="en-US" b="1" dirty="0"/>
              <a:t> в </a:t>
            </a:r>
            <a:r>
              <a:rPr lang="en-US" b="1" dirty="0" err="1"/>
              <a:t>осмысленное</a:t>
            </a:r>
            <a:r>
              <a:rPr lang="en-US" b="1" dirty="0"/>
              <a:t> </a:t>
            </a:r>
            <a:r>
              <a:rPr lang="en-US" b="1" dirty="0" err="1"/>
              <a:t>действие</a:t>
            </a:r>
            <a:r>
              <a:rPr lang="en-US" b="1" dirty="0"/>
              <a:t> </a:t>
            </a:r>
            <a:r>
              <a:rPr lang="en-US" b="1" dirty="0" err="1"/>
              <a:t>над</a:t>
            </a:r>
            <a:r>
              <a:rPr lang="en-US" b="1" dirty="0"/>
              <a:t> </a:t>
            </a:r>
            <a:r>
              <a:rPr lang="en-US" b="1" dirty="0" err="1"/>
              <a:t>моделью</a:t>
            </a:r>
            <a:r>
              <a:rPr lang="en-US" b="1" dirty="0"/>
              <a:t>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572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SFML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узнать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нажал</a:t>
            </a:r>
            <a:r>
              <a:rPr lang="en-US" dirty="0"/>
              <a:t> </a:t>
            </a:r>
            <a:r>
              <a:rPr lang="en-US" dirty="0" err="1"/>
              <a:t>кнопку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, и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курсора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 </a:t>
            </a:r>
            <a:r>
              <a:rPr lang="en-US" dirty="0" err="1"/>
              <a:t>графической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 </a:t>
            </a:r>
            <a:r>
              <a:rPr lang="en-US" dirty="0" err="1"/>
              <a:t>заканчивается</a:t>
            </a:r>
            <a:r>
              <a:rPr lang="en-US" dirty="0"/>
              <a:t>.</a:t>
            </a:r>
          </a:p>
          <a:p>
            <a:r>
              <a:rPr lang="en-US" dirty="0"/>
              <a:t>SFML </a:t>
            </a:r>
            <a:r>
              <a:rPr lang="en-US" dirty="0" err="1"/>
              <a:t>ничего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о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о </a:t>
            </a:r>
            <a:r>
              <a:rPr lang="en-US" dirty="0" err="1"/>
              <a:t>понятии</a:t>
            </a:r>
            <a:r>
              <a:rPr lang="en-US" dirty="0"/>
              <a:t> </a:t>
            </a:r>
            <a:r>
              <a:rPr lang="en-US" dirty="0" err="1"/>
              <a:t>выбранной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SFML </a:t>
            </a:r>
            <a:r>
              <a:rPr lang="en-US" dirty="0" err="1"/>
              <a:t>произошло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в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точке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предметный</a:t>
            </a:r>
            <a:r>
              <a:rPr lang="en-US" dirty="0"/>
              <a:t> </a:t>
            </a:r>
            <a:r>
              <a:rPr lang="en-US" dirty="0" err="1"/>
              <a:t>смысл</a:t>
            </a:r>
            <a:r>
              <a:rPr lang="en-US" dirty="0"/>
              <a:t>: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указал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некоторую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первом</a:t>
            </a:r>
            <a:r>
              <a:rPr lang="en-US" dirty="0"/>
              <a:t> </a:t>
            </a:r>
            <a:r>
              <a:rPr lang="en-US" dirty="0" err="1"/>
              <a:t>этапе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координат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простое</a:t>
            </a:r>
            <a:r>
              <a:rPr lang="en-US" dirty="0"/>
              <a:t>.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можем</a:t>
            </a:r>
            <a:r>
              <a:rPr lang="en-US" dirty="0"/>
              <a:t> </a:t>
            </a:r>
            <a:r>
              <a:rPr lang="en-US" dirty="0" err="1"/>
              <a:t>превратить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SFML в </a:t>
            </a:r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Point2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Point2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ToPoint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(sf::Vector2i position)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return {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&lt;double&gt;(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position.x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),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&lt;double&gt;(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position.y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};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 и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 </a:t>
            </a:r>
            <a:r>
              <a:rPr lang="en-US" dirty="0" err="1"/>
              <a:t>совпадают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развитом</a:t>
            </a:r>
            <a:r>
              <a:rPr lang="en-US" dirty="0"/>
              <a:t> </a:t>
            </a:r>
            <a:r>
              <a:rPr lang="en-US" dirty="0" err="1"/>
              <a:t>редакторе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появиться</a:t>
            </a:r>
            <a:r>
              <a:rPr lang="en-US" dirty="0"/>
              <a:t> </a:t>
            </a:r>
            <a:r>
              <a:rPr lang="en-US" dirty="0" err="1"/>
              <a:t>масштабирование</a:t>
            </a:r>
            <a:r>
              <a:rPr lang="en-US" dirty="0"/>
              <a:t>, </a:t>
            </a:r>
            <a:r>
              <a:rPr lang="en-US" dirty="0" err="1"/>
              <a:t>прокрутка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камера</a:t>
            </a:r>
            <a:r>
              <a:rPr lang="en-US" dirty="0"/>
              <a:t>. </a:t>
            </a:r>
            <a:r>
              <a:rPr lang="en-US" dirty="0" err="1"/>
              <a:t>Тогда</a:t>
            </a:r>
            <a:r>
              <a:rPr lang="en-US" dirty="0"/>
              <a:t> </a:t>
            </a:r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станет</a:t>
            </a:r>
            <a:r>
              <a:rPr lang="en-US" dirty="0"/>
              <a:t> </a:t>
            </a:r>
            <a:r>
              <a:rPr lang="en-US" dirty="0" err="1"/>
              <a:t>содержательнее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интересует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 </a:t>
            </a:r>
            <a:r>
              <a:rPr lang="en-US" dirty="0" err="1"/>
              <a:t>имея</a:t>
            </a:r>
            <a:r>
              <a:rPr lang="en-US" dirty="0"/>
              <a:t> </a:t>
            </a:r>
            <a:r>
              <a:rPr lang="en-US" dirty="0" err="1"/>
              <a:t>точку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, </a:t>
            </a:r>
            <a:r>
              <a:rPr lang="en-US" dirty="0" err="1"/>
              <a:t>находящийся</a:t>
            </a:r>
            <a:r>
              <a:rPr lang="en-US" dirty="0"/>
              <a:t> в </a:t>
            </a:r>
            <a:r>
              <a:rPr lang="en-US" dirty="0" err="1"/>
              <a:t>ней</a:t>
            </a:r>
            <a:r>
              <a:rPr lang="en-US" dirty="0"/>
              <a:t>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2621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360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Самое</a:t>
            </a:r>
            <a:r>
              <a:rPr lang="en-US" dirty="0"/>
              <a:t> </a:t>
            </a:r>
            <a:r>
              <a:rPr lang="en-US" dirty="0" err="1"/>
              <a:t>простое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—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сценарий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основном</a:t>
            </a:r>
            <a:r>
              <a:rPr lang="en-US" dirty="0"/>
              <a:t> </a:t>
            </a:r>
            <a:r>
              <a:rPr lang="en-US" dirty="0" err="1"/>
              <a:t>цикле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храним</a:t>
            </a:r>
            <a:r>
              <a:rPr lang="en-US" dirty="0"/>
              <a:t>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выбранную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.</a:t>
            </a:r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приходит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MouseButtonPressed</a:t>
            </a:r>
            <a:r>
              <a:rPr lang="en-US" dirty="0"/>
              <a:t>, </a:t>
            </a:r>
            <a:r>
              <a:rPr lang="en-US" dirty="0" err="1"/>
              <a:t>преобразуем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Point2</a:t>
            </a:r>
            <a:r>
              <a:rPr lang="en-US" dirty="0"/>
              <a:t> и </a:t>
            </a:r>
            <a:r>
              <a:rPr lang="en-US" dirty="0" err="1"/>
              <a:t>просим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найти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в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точке</a:t>
            </a:r>
            <a:r>
              <a:rPr lang="en-US" dirty="0"/>
              <a:t>.</a:t>
            </a:r>
          </a:p>
          <a:p>
            <a:r>
              <a:rPr lang="en-US" dirty="0" err="1"/>
              <a:t>Полученный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сохраняем</a:t>
            </a:r>
            <a:r>
              <a:rPr lang="en-US" dirty="0"/>
              <a:t> в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отрисовке</a:t>
            </a:r>
            <a:r>
              <a:rPr lang="en-US" dirty="0"/>
              <a:t> </a:t>
            </a:r>
            <a:r>
              <a:rPr lang="en-US" dirty="0" err="1"/>
              <a:t>передаём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 о </a:t>
            </a:r>
            <a:r>
              <a:rPr lang="en-US" dirty="0" err="1"/>
              <a:t>выборе</a:t>
            </a:r>
            <a:r>
              <a:rPr lang="en-US" dirty="0"/>
              <a:t> </a:t>
            </a:r>
            <a:r>
              <a:rPr lang="en-US" dirty="0" err="1"/>
              <a:t>Renderer'у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мог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нарисовать</a:t>
            </a:r>
            <a:r>
              <a:rPr lang="en-US" dirty="0"/>
              <a:t> </a:t>
            </a:r>
            <a:r>
              <a:rPr lang="en-US" dirty="0" err="1"/>
              <a:t>дополнительную</a:t>
            </a:r>
            <a:r>
              <a:rPr lang="en-US" dirty="0"/>
              <a:t> </a:t>
            </a:r>
            <a:r>
              <a:rPr lang="en-US" dirty="0" err="1"/>
              <a:t>рамку</a:t>
            </a:r>
            <a:r>
              <a:rPr lang="en-US" dirty="0"/>
              <a:t> </a:t>
            </a:r>
            <a:r>
              <a:rPr lang="en-US" dirty="0" err="1"/>
              <a:t>вокруг</a:t>
            </a:r>
            <a:r>
              <a:rPr lang="en-US" dirty="0"/>
              <a:t> </a:t>
            </a:r>
            <a:r>
              <a:rPr lang="en-US" dirty="0" err="1"/>
              <a:t>выбранного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немедленно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InputController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SelectionManager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новую</a:t>
            </a:r>
            <a:r>
              <a:rPr lang="en-US" dirty="0"/>
              <a:t> </a:t>
            </a:r>
            <a:r>
              <a:rPr lang="en-US" dirty="0" err="1"/>
              <a:t>сущность</a:t>
            </a:r>
            <a:r>
              <a:rPr lang="en-US" dirty="0"/>
              <a:t>.</a:t>
            </a:r>
          </a:p>
          <a:p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небольшим</a:t>
            </a:r>
            <a:r>
              <a:rPr lang="en-US" dirty="0"/>
              <a:t>, и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назначение</a:t>
            </a:r>
            <a:r>
              <a:rPr lang="en-US" dirty="0"/>
              <a:t> </a:t>
            </a:r>
            <a:r>
              <a:rPr lang="en-US" dirty="0" err="1"/>
              <a:t>понятно</a:t>
            </a:r>
            <a:r>
              <a:rPr lang="en-US" dirty="0"/>
              <a:t>.</a:t>
            </a:r>
          </a:p>
          <a:p>
            <a:r>
              <a:rPr lang="en-US" dirty="0"/>
              <a:t>Это </a:t>
            </a:r>
            <a:r>
              <a:rPr lang="en-US" dirty="0" err="1"/>
              <a:t>хороший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вспомнить</a:t>
            </a:r>
            <a:r>
              <a:rPr lang="en-US" dirty="0"/>
              <a:t> KISS и YAGNI.</a:t>
            </a:r>
          </a:p>
          <a:p>
            <a:endParaRPr lang="en-US" dirty="0"/>
          </a:p>
          <a:p>
            <a:r>
              <a:rPr lang="en-US" dirty="0"/>
              <a:t>SOLID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 </a:t>
            </a:r>
            <a:r>
              <a:rPr lang="en-US" dirty="0" err="1"/>
              <a:t>превращать</a:t>
            </a:r>
            <a:r>
              <a:rPr lang="en-US" dirty="0"/>
              <a:t> </a:t>
            </a:r>
            <a:r>
              <a:rPr lang="en-US" dirty="0" err="1"/>
              <a:t>каждую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в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появиться</a:t>
            </a:r>
            <a:r>
              <a:rPr lang="en-US" dirty="0"/>
              <a:t> </a:t>
            </a:r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разделения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коде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возникло</a:t>
            </a:r>
            <a:r>
              <a:rPr lang="en-US" dirty="0"/>
              <a:t> </a:t>
            </a:r>
            <a:r>
              <a:rPr lang="en-US" dirty="0" err="1"/>
              <a:t>нечто</a:t>
            </a:r>
            <a:r>
              <a:rPr lang="en-US" dirty="0"/>
              <a:t> </a:t>
            </a:r>
            <a:r>
              <a:rPr lang="en-US" dirty="0" err="1"/>
              <a:t>новое</a:t>
            </a:r>
            <a:r>
              <a:rPr lang="en-US" dirty="0"/>
              <a:t>,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. У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появился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. </a:t>
            </a:r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внимательнее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75091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MouseButtonPressed</a:t>
            </a:r>
            <a:r>
              <a:rPr lang="en-US" dirty="0"/>
              <a:t> </a:t>
            </a:r>
            <a:r>
              <a:rPr lang="en-US" dirty="0" err="1"/>
              <a:t>живёт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недолго</a:t>
            </a:r>
            <a:r>
              <a:rPr lang="en-US" dirty="0"/>
              <a:t>: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получили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, </a:t>
            </a:r>
            <a:r>
              <a:rPr lang="en-US" dirty="0" err="1"/>
              <a:t>обработали</a:t>
            </a:r>
            <a:r>
              <a:rPr lang="en-US" dirty="0"/>
              <a:t> и </a:t>
            </a:r>
            <a:r>
              <a:rPr lang="en-US" dirty="0" err="1"/>
              <a:t>перешли</a:t>
            </a:r>
            <a:r>
              <a:rPr lang="en-US" dirty="0"/>
              <a:t> </a:t>
            </a:r>
            <a:r>
              <a:rPr lang="en-US" dirty="0" err="1"/>
              <a:t>дальше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 </a:t>
            </a:r>
            <a:r>
              <a:rPr lang="en-US" dirty="0" err="1"/>
              <a:t>действия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</a:t>
            </a:r>
            <a:r>
              <a:rPr lang="en-US" dirty="0" err="1"/>
              <a:t>сохраняется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щелчка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выбранной</a:t>
            </a:r>
            <a:r>
              <a:rPr lang="en-US" dirty="0"/>
              <a:t>.</a:t>
            </a:r>
          </a:p>
          <a:p>
            <a:r>
              <a:rPr lang="en-US" dirty="0" err="1"/>
              <a:t>Значит</a:t>
            </a:r>
            <a:r>
              <a:rPr lang="en-US" dirty="0"/>
              <a:t>, </a:t>
            </a:r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самого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 у </a:t>
            </a:r>
            <a:r>
              <a:rPr lang="en-US" dirty="0" err="1"/>
              <a:t>редактора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b="1" dirty="0" err="1"/>
              <a:t>состояние</a:t>
            </a:r>
            <a:r>
              <a:rPr lang="en-US" b="1" dirty="0"/>
              <a:t> </a:t>
            </a:r>
            <a:r>
              <a:rPr lang="en-US" b="1" dirty="0" err="1"/>
              <a:t>работы</a:t>
            </a:r>
            <a:r>
              <a:rPr lang="en-US" b="1" dirty="0"/>
              <a:t> </a:t>
            </a:r>
            <a:r>
              <a:rPr lang="en-US" b="1" dirty="0" err="1"/>
              <a:t>пользователя</a:t>
            </a:r>
            <a:r>
              <a:rPr lang="en-US" b="1" dirty="0"/>
              <a:t> с </a:t>
            </a:r>
            <a:r>
              <a:rPr lang="en-US" b="1" dirty="0" err="1"/>
              <a:t>этим</a:t>
            </a:r>
            <a:r>
              <a:rPr lang="en-US" b="1" dirty="0"/>
              <a:t> </a:t>
            </a:r>
            <a:r>
              <a:rPr lang="en-US" b="1" dirty="0" err="1"/>
              <a:t>рисунком</a:t>
            </a:r>
            <a:r>
              <a:rPr lang="en-US" dirty="0"/>
              <a:t>.</a:t>
            </a:r>
          </a:p>
          <a:p>
            <a:r>
              <a:rPr lang="en-US" dirty="0"/>
              <a:t>И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делать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быстрый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принадлежать</a:t>
            </a:r>
            <a:r>
              <a:rPr lang="en-US" dirty="0"/>
              <a:t> </a:t>
            </a:r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dirty="0" err="1"/>
              <a:t>либо</a:t>
            </a:r>
            <a:r>
              <a:rPr lang="en-US" dirty="0"/>
              <a:t> </a:t>
            </a:r>
            <a:r>
              <a:rPr lang="en-US" dirty="0" err="1"/>
              <a:t>конкретному</a:t>
            </a:r>
            <a:r>
              <a:rPr lang="en-US" dirty="0"/>
              <a:t> Canvas.</a:t>
            </a:r>
          </a:p>
          <a:p>
            <a:endParaRPr lang="ru-RU" dirty="0"/>
          </a:p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развитый</a:t>
            </a:r>
            <a:r>
              <a:rPr lang="en-US" dirty="0"/>
              <a:t> </a:t>
            </a:r>
            <a:r>
              <a:rPr lang="en-US" dirty="0" err="1"/>
              <a:t>редактор</a:t>
            </a:r>
            <a:r>
              <a:rPr lang="en-US" dirty="0"/>
              <a:t> </a:t>
            </a:r>
            <a:r>
              <a:rPr lang="en-US" dirty="0" err="1"/>
              <a:t>анимации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окне</a:t>
            </a:r>
            <a:r>
              <a:rPr lang="en-US" dirty="0"/>
              <a:t> у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Canvas и Timeline.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ожидаем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выбрал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Canvas,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выделена</a:t>
            </a:r>
            <a:r>
              <a:rPr lang="en-US" dirty="0"/>
              <a:t> и </a:t>
            </a:r>
            <a:r>
              <a:rPr lang="en-US" dirty="0" err="1"/>
              <a:t>на</a:t>
            </a:r>
            <a:r>
              <a:rPr lang="en-US" dirty="0"/>
              <a:t> Timeline. И </a:t>
            </a:r>
            <a:r>
              <a:rPr lang="en-US" dirty="0" err="1"/>
              <a:t>наоборот</a:t>
            </a:r>
            <a:r>
              <a:rPr lang="en-US" dirty="0"/>
              <a:t>.</a:t>
            </a:r>
          </a:p>
          <a:p>
            <a:r>
              <a:rPr lang="en-US" dirty="0" err="1"/>
              <a:t>Следовательно</a:t>
            </a:r>
            <a:r>
              <a:rPr lang="en-US" dirty="0"/>
              <a:t>, selection в </a:t>
            </a:r>
            <a:r>
              <a:rPr lang="en-US" dirty="0" err="1"/>
              <a:t>таком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естественно</a:t>
            </a:r>
            <a:r>
              <a:rPr lang="en-US" dirty="0"/>
              <a:t> </a:t>
            </a:r>
            <a:r>
              <a:rPr lang="en-US" b="1" dirty="0" err="1"/>
              <a:t>разделяется</a:t>
            </a:r>
            <a:r>
              <a:rPr lang="en-US" b="1" dirty="0"/>
              <a:t> </a:t>
            </a:r>
            <a:r>
              <a:rPr lang="en-US" b="1" dirty="0" err="1"/>
              <a:t>несколькими</a:t>
            </a:r>
            <a:r>
              <a:rPr lang="en-US" b="1" dirty="0"/>
              <a:t> </a:t>
            </a:r>
            <a:r>
              <a:rPr lang="en-US" b="1" dirty="0" err="1"/>
              <a:t>представлениями</a:t>
            </a:r>
            <a:r>
              <a:rPr lang="en-US" b="1" dirty="0"/>
              <a:t> </a:t>
            </a:r>
            <a:r>
              <a:rPr lang="en-US" b="1" dirty="0" err="1"/>
              <a:t>одного</a:t>
            </a:r>
            <a:r>
              <a:rPr lang="en-US" b="1" dirty="0"/>
              <a:t> </a:t>
            </a:r>
            <a:r>
              <a:rPr lang="en-US" b="1" dirty="0" err="1"/>
              <a:t>сеанса</a:t>
            </a:r>
            <a:r>
              <a:rPr lang="en-US" b="1" dirty="0"/>
              <a:t> </a:t>
            </a:r>
            <a:r>
              <a:rPr lang="en-US" b="1" dirty="0" err="1"/>
              <a:t>редактирования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у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и </a:t>
            </a:r>
            <a:r>
              <a:rPr lang="en-US" dirty="0" err="1"/>
              <a:t>собственное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.</a:t>
            </a:r>
          </a:p>
          <a:p>
            <a:r>
              <a:rPr lang="en-US" dirty="0"/>
              <a:t>Canvas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масштаб</a:t>
            </a:r>
            <a:r>
              <a:rPr lang="en-US" dirty="0"/>
              <a:t> и </a:t>
            </a:r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видимой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/>
              <a:t>Timeline —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масштаб</a:t>
            </a:r>
            <a:r>
              <a:rPr lang="en-US" dirty="0"/>
              <a:t> </a:t>
            </a:r>
            <a:r>
              <a:rPr lang="en-US" dirty="0" err="1"/>
              <a:t>временной</a:t>
            </a:r>
            <a:r>
              <a:rPr lang="en-US" dirty="0"/>
              <a:t> </a:t>
            </a:r>
            <a:r>
              <a:rPr lang="en-US" dirty="0" err="1"/>
              <a:t>шкалы</a:t>
            </a:r>
            <a:r>
              <a:rPr lang="en-US" dirty="0"/>
              <a:t> и </a:t>
            </a:r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прокрутки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представим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и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открыт</a:t>
            </a:r>
            <a:r>
              <a:rPr lang="en-US" dirty="0"/>
              <a:t> в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окнах</a:t>
            </a:r>
            <a:r>
              <a:rPr lang="en-US" dirty="0"/>
              <a:t>. 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фигурой</a:t>
            </a:r>
            <a:r>
              <a:rPr lang="en-US" dirty="0"/>
              <a:t>, а в </a:t>
            </a:r>
            <a:r>
              <a:rPr lang="en-US" dirty="0" err="1"/>
              <a:t>другом</a:t>
            </a:r>
            <a:r>
              <a:rPr lang="en-US" dirty="0"/>
              <a:t> — с </a:t>
            </a:r>
            <a:r>
              <a:rPr lang="en-US" dirty="0" err="1"/>
              <a:t>другой</a:t>
            </a:r>
            <a:r>
              <a:rPr lang="en-US" dirty="0"/>
              <a:t>. </a:t>
            </a:r>
            <a:r>
              <a:rPr lang="en-US" dirty="0" err="1"/>
              <a:t>Тогда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причины</a:t>
            </a:r>
            <a:r>
              <a:rPr lang="en-US" dirty="0"/>
              <a:t> </a:t>
            </a:r>
            <a:r>
              <a:rPr lang="en-US" dirty="0" err="1"/>
              <a:t>заставлять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selection.</a:t>
            </a:r>
          </a:p>
          <a:p>
            <a:endParaRPr lang="ru-RU" dirty="0"/>
          </a:p>
          <a:p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областей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самого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сеанса</a:t>
            </a:r>
            <a:r>
              <a:rPr lang="en-US" dirty="0"/>
              <a:t> </a:t>
            </a:r>
            <a:r>
              <a:rPr lang="en-US" dirty="0" err="1"/>
              <a:t>редактирования</a:t>
            </a:r>
            <a:r>
              <a:rPr lang="en-US" dirty="0"/>
              <a:t>,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связанных</a:t>
            </a:r>
            <a:r>
              <a:rPr lang="en-US" dirty="0"/>
              <a:t> </a:t>
            </a:r>
            <a:r>
              <a:rPr lang="en-US" dirty="0" err="1"/>
              <a:t>представлений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Граница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названием</a:t>
            </a:r>
            <a:r>
              <a:rPr lang="en-US" dirty="0"/>
              <a:t> </a:t>
            </a:r>
            <a:r>
              <a:rPr lang="en-US" dirty="0" err="1"/>
              <a:t>свойства</a:t>
            </a:r>
            <a:r>
              <a:rPr lang="en-US" dirty="0"/>
              <a:t>, а </a:t>
            </a:r>
            <a:r>
              <a:rPr lang="en-US" dirty="0" err="1"/>
              <a:t>вопросом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b="1" dirty="0" err="1"/>
              <a:t>какие</a:t>
            </a:r>
            <a:r>
              <a:rPr lang="en-US" b="1" dirty="0"/>
              <a:t> </a:t>
            </a:r>
            <a:r>
              <a:rPr lang="en-US" b="1" dirty="0" err="1"/>
              <a:t>части</a:t>
            </a:r>
            <a:r>
              <a:rPr lang="en-US" b="1" dirty="0"/>
              <a:t> </a:t>
            </a:r>
            <a:r>
              <a:rPr lang="en-US" b="1" dirty="0" err="1"/>
              <a:t>приложения</a:t>
            </a:r>
            <a:r>
              <a:rPr lang="en-US" b="1" dirty="0"/>
              <a:t> </a:t>
            </a:r>
            <a:r>
              <a:rPr lang="en-US" b="1" dirty="0" err="1"/>
              <a:t>должны</a:t>
            </a:r>
            <a:r>
              <a:rPr lang="en-US" b="1" dirty="0"/>
              <a:t> </a:t>
            </a:r>
            <a:r>
              <a:rPr lang="en-US" b="1" dirty="0" err="1"/>
              <a:t>видеть</a:t>
            </a:r>
            <a:r>
              <a:rPr lang="en-US" b="1" dirty="0"/>
              <a:t> </a:t>
            </a:r>
            <a:r>
              <a:rPr lang="en-US" b="1" dirty="0" err="1"/>
              <a:t>одно</a:t>
            </a:r>
            <a:r>
              <a:rPr lang="en-US" b="1" dirty="0"/>
              <a:t> и </a:t>
            </a:r>
            <a:r>
              <a:rPr lang="en-US" b="1" dirty="0" err="1"/>
              <a:t>то</a:t>
            </a:r>
            <a:r>
              <a:rPr lang="en-US" b="1" dirty="0"/>
              <a:t> </a:t>
            </a:r>
            <a:r>
              <a:rPr lang="en-US" b="1" dirty="0" err="1"/>
              <a:t>же</a:t>
            </a:r>
            <a:r>
              <a:rPr lang="en-US" b="1" dirty="0"/>
              <a:t> </a:t>
            </a:r>
            <a:r>
              <a:rPr lang="en-US" b="1" dirty="0" err="1"/>
              <a:t>значение</a:t>
            </a:r>
            <a:r>
              <a:rPr lang="en-US" b="1" dirty="0"/>
              <a:t>, а </a:t>
            </a:r>
            <a:r>
              <a:rPr lang="en-US" b="1" dirty="0" err="1"/>
              <a:t>какие</a:t>
            </a:r>
            <a:r>
              <a:rPr lang="en-US" b="1" dirty="0"/>
              <a:t> </a:t>
            </a:r>
            <a:r>
              <a:rPr lang="en-US" b="1" dirty="0" err="1"/>
              <a:t>должны</a:t>
            </a:r>
            <a:r>
              <a:rPr lang="en-US" b="1" dirty="0"/>
              <a:t> </a:t>
            </a:r>
            <a:r>
              <a:rPr lang="en-US" b="1" dirty="0" err="1"/>
              <a:t>иметь</a:t>
            </a:r>
            <a:r>
              <a:rPr lang="en-US" b="1" dirty="0"/>
              <a:t> </a:t>
            </a:r>
            <a:r>
              <a:rPr lang="en-US" b="1" dirty="0" err="1"/>
              <a:t>возможность</a:t>
            </a:r>
            <a:r>
              <a:rPr lang="en-US" b="1" dirty="0"/>
              <a:t> </a:t>
            </a:r>
            <a:r>
              <a:rPr lang="en-US" b="1" dirty="0" err="1"/>
              <a:t>изменять</a:t>
            </a:r>
            <a:r>
              <a:rPr lang="en-US" b="1" dirty="0"/>
              <a:t> </a:t>
            </a:r>
            <a:r>
              <a:rPr lang="en-US" b="1" dirty="0" err="1"/>
              <a:t>его</a:t>
            </a:r>
            <a:r>
              <a:rPr lang="en-US" b="1" dirty="0"/>
              <a:t> </a:t>
            </a:r>
            <a:r>
              <a:rPr lang="en-US" b="1" dirty="0" err="1"/>
              <a:t>независимо</a:t>
            </a:r>
            <a:r>
              <a:rPr lang="en-US" b="1" dirty="0"/>
              <a:t>?</a:t>
            </a:r>
            <a:endParaRPr lang="en-US" dirty="0"/>
          </a:p>
          <a:p>
            <a:endParaRPr lang="ru-RU" dirty="0"/>
          </a:p>
          <a:p>
            <a:r>
              <a:rPr lang="en-US" dirty="0"/>
              <a:t>И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похоже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знакомый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 </a:t>
            </a:r>
            <a:r>
              <a:rPr lang="en-US" dirty="0" err="1"/>
              <a:t>проектирования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b="1" dirty="0" err="1"/>
              <a:t>что</a:t>
            </a:r>
            <a:r>
              <a:rPr lang="en-US" b="1" dirty="0"/>
              <a:t> </a:t>
            </a:r>
            <a:r>
              <a:rPr lang="en-US" b="1" dirty="0" err="1"/>
              <a:t>должно</a:t>
            </a:r>
            <a:r>
              <a:rPr lang="en-US" b="1" dirty="0"/>
              <a:t> </a:t>
            </a:r>
            <a:r>
              <a:rPr lang="en-US" b="1" dirty="0" err="1"/>
              <a:t>изменяться</a:t>
            </a:r>
            <a:r>
              <a:rPr lang="en-US" b="1" dirty="0"/>
              <a:t> </a:t>
            </a:r>
            <a:r>
              <a:rPr lang="en-US" b="1" dirty="0" err="1"/>
              <a:t>вместе</a:t>
            </a:r>
            <a:r>
              <a:rPr lang="en-US" b="1" dirty="0"/>
              <a:t>, а </a:t>
            </a:r>
            <a:r>
              <a:rPr lang="en-US" b="1" dirty="0" err="1"/>
              <a:t>что</a:t>
            </a:r>
            <a:r>
              <a:rPr lang="en-US" b="1" dirty="0"/>
              <a:t> — </a:t>
            </a:r>
            <a:r>
              <a:rPr lang="en-US" b="1" dirty="0" err="1"/>
              <a:t>независимо</a:t>
            </a:r>
            <a:r>
              <a:rPr lang="en-US" b="1" dirty="0"/>
              <a:t>?</a:t>
            </a:r>
            <a:endParaRPr lang="en-US" dirty="0"/>
          </a:p>
          <a:p>
            <a:endParaRPr lang="ru-RU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проектировать</a:t>
            </a:r>
            <a:r>
              <a:rPr lang="en-US" dirty="0"/>
              <a:t> </a:t>
            </a:r>
            <a:r>
              <a:rPr lang="en-US" dirty="0" err="1"/>
              <a:t>универсальную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SelectionModel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ViewState</a:t>
            </a:r>
            <a:r>
              <a:rPr lang="en-US" dirty="0"/>
              <a:t> и </a:t>
            </a:r>
            <a:r>
              <a:rPr lang="en-US" dirty="0" err="1"/>
              <a:t>десяток</a:t>
            </a:r>
            <a:r>
              <a:rPr lang="en-US" dirty="0"/>
              <a:t> </a:t>
            </a:r>
            <a:r>
              <a:rPr lang="en-US" dirty="0" err="1"/>
              <a:t>интерфейсов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версии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достаточным</a:t>
            </a:r>
            <a:r>
              <a:rPr lang="en-US" dirty="0"/>
              <a:t> </a:t>
            </a:r>
            <a:r>
              <a:rPr lang="en-US" dirty="0" err="1"/>
              <a:t>решением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рассуждения</a:t>
            </a:r>
            <a:r>
              <a:rPr lang="en-US" dirty="0"/>
              <a:t> </a:t>
            </a:r>
            <a:r>
              <a:rPr lang="en-US" dirty="0" err="1"/>
              <a:t>помогают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, </a:t>
            </a:r>
            <a:r>
              <a:rPr lang="en-US" b="1" dirty="0" err="1"/>
              <a:t>какую</a:t>
            </a:r>
            <a:r>
              <a:rPr lang="en-US" b="1" dirty="0"/>
              <a:t> </a:t>
            </a:r>
            <a:r>
              <a:rPr lang="en-US" b="1" dirty="0" err="1"/>
              <a:t>ответственность</a:t>
            </a:r>
            <a:r>
              <a:rPr lang="en-US" b="1" dirty="0"/>
              <a:t> </a:t>
            </a:r>
            <a:r>
              <a:rPr lang="en-US" b="1" dirty="0" err="1"/>
              <a:t>представляет</a:t>
            </a:r>
            <a:r>
              <a:rPr lang="en-US" b="1" dirty="0"/>
              <a:t> </a:t>
            </a:r>
            <a:r>
              <a:rPr lang="en-US" b="1" dirty="0" err="1"/>
              <a:t>эта</a:t>
            </a:r>
            <a:r>
              <a:rPr lang="en-US" b="1" dirty="0"/>
              <a:t> </a:t>
            </a:r>
            <a:r>
              <a:rPr lang="en-US" b="1" dirty="0" err="1"/>
              <a:t>переменная</a:t>
            </a:r>
            <a:r>
              <a:rPr lang="en-US" dirty="0"/>
              <a:t>. А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начнёт</a:t>
            </a:r>
            <a:r>
              <a:rPr lang="en-US" dirty="0"/>
              <a:t> </a:t>
            </a:r>
            <a:r>
              <a:rPr lang="en-US" dirty="0" err="1"/>
              <a:t>расти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появятся</a:t>
            </a:r>
            <a:r>
              <a:rPr lang="en-US" dirty="0"/>
              <a:t> drag, active tool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сценарии</a:t>
            </a:r>
            <a:r>
              <a:rPr lang="en-US" dirty="0"/>
              <a:t> —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какому</a:t>
            </a:r>
            <a:r>
              <a:rPr lang="en-US" dirty="0"/>
              <a:t> </a:t>
            </a:r>
            <a:r>
              <a:rPr lang="en-US" dirty="0" err="1"/>
              <a:t>признаку</a:t>
            </a:r>
            <a:r>
              <a:rPr lang="en-US" dirty="0"/>
              <a:t> </a:t>
            </a:r>
            <a:r>
              <a:rPr lang="en-US" dirty="0" err="1"/>
              <a:t>искать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 </a:t>
            </a:r>
            <a:r>
              <a:rPr lang="en-US" dirty="0" err="1"/>
              <a:t>подходящее</a:t>
            </a:r>
            <a:r>
              <a:rPr lang="en-US" dirty="0"/>
              <a:t> </a:t>
            </a:r>
            <a:r>
              <a:rPr lang="en-US" dirty="0" err="1"/>
              <a:t>место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b="1" dirty="0"/>
              <a:t>KISS/YAGNI </a:t>
            </a:r>
            <a:r>
              <a:rPr lang="en-US" b="1" dirty="0" err="1"/>
              <a:t>говорят</a:t>
            </a:r>
            <a:r>
              <a:rPr lang="en-US" b="1" dirty="0"/>
              <a:t> «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создавай</a:t>
            </a:r>
            <a:r>
              <a:rPr lang="en-US" b="1" dirty="0"/>
              <a:t> </a:t>
            </a:r>
            <a:r>
              <a:rPr lang="ru-RU" b="1" dirty="0"/>
              <a:t>сложных структур</a:t>
            </a:r>
            <a:r>
              <a:rPr lang="en-US" b="1" dirty="0"/>
              <a:t> </a:t>
            </a:r>
            <a:r>
              <a:rPr lang="en-US" b="1" dirty="0" err="1"/>
              <a:t>раньше</a:t>
            </a:r>
            <a:r>
              <a:rPr lang="en-US" b="1" dirty="0"/>
              <a:t> </a:t>
            </a:r>
            <a:r>
              <a:rPr lang="en-US" b="1" dirty="0" err="1"/>
              <a:t>времени</a:t>
            </a:r>
            <a:r>
              <a:rPr lang="en-US" b="1" dirty="0"/>
              <a:t>», </a:t>
            </a:r>
            <a:r>
              <a:rPr lang="en-US" b="1" dirty="0" err="1"/>
              <a:t>но</a:t>
            </a:r>
            <a:r>
              <a:rPr lang="en-US" b="1" dirty="0"/>
              <a:t>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говорят</a:t>
            </a:r>
            <a:r>
              <a:rPr lang="en-US" b="1" dirty="0"/>
              <a:t> «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размышляй</a:t>
            </a:r>
            <a:r>
              <a:rPr lang="en-US" b="1" dirty="0"/>
              <a:t> о </a:t>
            </a:r>
            <a:r>
              <a:rPr lang="en-US" b="1" dirty="0" err="1"/>
              <a:t>границах</a:t>
            </a:r>
            <a:r>
              <a:rPr lang="en-US" b="1" dirty="0"/>
              <a:t> </a:t>
            </a:r>
            <a:r>
              <a:rPr lang="en-US" b="1" dirty="0" err="1"/>
              <a:t>ответственности</a:t>
            </a:r>
            <a:r>
              <a:rPr lang="en-US" b="1" dirty="0"/>
              <a:t>»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855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221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появления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мышью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существенное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</a:t>
            </a:r>
            <a:r>
              <a:rPr lang="en-US" dirty="0" err="1"/>
              <a:t>находилось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и </a:t>
            </a:r>
            <a:r>
              <a:rPr lang="en-US" dirty="0" err="1"/>
              <a:t>составляющих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фигурах</a:t>
            </a:r>
            <a:r>
              <a:rPr lang="en-US" dirty="0"/>
              <a:t>.</a:t>
            </a:r>
          </a:p>
          <a:p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прямоугольника</a:t>
            </a:r>
            <a:r>
              <a:rPr lang="en-US" dirty="0"/>
              <a:t>,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размеры</a:t>
            </a:r>
            <a:r>
              <a:rPr lang="en-US" dirty="0"/>
              <a:t>, </a:t>
            </a:r>
            <a:r>
              <a:rPr lang="en-US" dirty="0" err="1"/>
              <a:t>цвет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свойства</a:t>
            </a:r>
            <a:r>
              <a:rPr lang="en-US" dirty="0"/>
              <a:t> </a:t>
            </a:r>
            <a:r>
              <a:rPr lang="en-US" dirty="0" err="1"/>
              <a:t>самого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добавили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, в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появилась</a:t>
            </a:r>
            <a:r>
              <a:rPr lang="en-US" dirty="0"/>
              <a:t> </a:t>
            </a:r>
            <a:r>
              <a:rPr lang="en-US" dirty="0" err="1"/>
              <a:t>новая</a:t>
            </a:r>
            <a:r>
              <a:rPr lang="en-US" dirty="0"/>
              <a:t> </a:t>
            </a:r>
            <a:r>
              <a:rPr lang="en-US" dirty="0" err="1"/>
              <a:t>переменная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.</a:t>
            </a:r>
          </a:p>
          <a:p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описывает</a:t>
            </a:r>
            <a:r>
              <a:rPr lang="en-US" dirty="0"/>
              <a:t> </a:t>
            </a:r>
            <a:r>
              <a:rPr lang="en-US" dirty="0" err="1"/>
              <a:t>некоторое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MousePressed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сохраняется</a:t>
            </a:r>
            <a:r>
              <a:rPr lang="en-US" dirty="0"/>
              <a:t> и </a:t>
            </a:r>
            <a:r>
              <a:rPr lang="en-US" dirty="0" err="1"/>
              <a:t>влияет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последующие</a:t>
            </a:r>
            <a:r>
              <a:rPr lang="en-US" dirty="0"/>
              <a:t> </a:t>
            </a:r>
            <a:r>
              <a:rPr lang="en-US" dirty="0" err="1"/>
              <a:t>кадры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Дальше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станет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редактор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анимацией</a:t>
            </a:r>
            <a:r>
              <a:rPr lang="en-US" dirty="0"/>
              <a:t>, </a:t>
            </a:r>
            <a:r>
              <a:rPr lang="en-US" dirty="0" err="1"/>
              <a:t>появится</a:t>
            </a:r>
            <a:r>
              <a:rPr lang="en-US" dirty="0"/>
              <a:t> </a:t>
            </a:r>
            <a:r>
              <a:rPr lang="en-US" dirty="0" err="1"/>
              <a:t>текущий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появятся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инструменты</a:t>
            </a:r>
            <a:r>
              <a:rPr lang="en-US" dirty="0"/>
              <a:t> — </a:t>
            </a:r>
            <a:r>
              <a:rPr lang="en-US" dirty="0" err="1"/>
              <a:t>понадобится</a:t>
            </a:r>
            <a:r>
              <a:rPr lang="en-US" dirty="0"/>
              <a:t> </a:t>
            </a:r>
            <a:r>
              <a:rPr lang="en-US" dirty="0" err="1"/>
              <a:t>информация</a:t>
            </a:r>
            <a:r>
              <a:rPr lang="en-US" dirty="0"/>
              <a:t> о </a:t>
            </a:r>
            <a:r>
              <a:rPr lang="en-US" dirty="0" err="1"/>
              <a:t>выбранном</a:t>
            </a:r>
            <a:r>
              <a:rPr lang="en-US" dirty="0"/>
              <a:t> </a:t>
            </a:r>
            <a:r>
              <a:rPr lang="en-US" dirty="0" err="1"/>
              <a:t>инструменте</a:t>
            </a:r>
            <a:r>
              <a:rPr lang="en-US" dirty="0"/>
              <a:t>.</a:t>
            </a:r>
          </a:p>
          <a:p>
            <a:r>
              <a:rPr lang="en-US" dirty="0"/>
              <a:t>А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перетаскивания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понадобиться</a:t>
            </a:r>
            <a:r>
              <a:rPr lang="en-US" dirty="0"/>
              <a:t> </a:t>
            </a:r>
            <a:r>
              <a:rPr lang="en-US" dirty="0" err="1"/>
              <a:t>признаки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ru-RU" dirty="0"/>
              <a:t>таскания</a:t>
            </a:r>
            <a:r>
              <a:rPr lang="en-US" dirty="0"/>
              <a:t> и </a:t>
            </a:r>
            <a:r>
              <a:rPr lang="en-US" dirty="0" err="1"/>
              <a:t>точка</a:t>
            </a:r>
            <a:r>
              <a:rPr lang="en-US" dirty="0"/>
              <a:t> </a:t>
            </a:r>
            <a:r>
              <a:rPr lang="en-US" dirty="0" err="1"/>
              <a:t>захвата</a:t>
            </a:r>
            <a:r>
              <a:rPr lang="ru-RU" dirty="0"/>
              <a:t> фигуры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прежде</a:t>
            </a:r>
            <a:r>
              <a:rPr lang="en-US" dirty="0"/>
              <a:t>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складывать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переменные</a:t>
            </a:r>
            <a:r>
              <a:rPr lang="en-US" dirty="0"/>
              <a:t> </a:t>
            </a:r>
            <a:r>
              <a:rPr lang="en-US" dirty="0" err="1"/>
              <a:t>куда-нибудь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задать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b="1" dirty="0" err="1"/>
              <a:t>что</a:t>
            </a:r>
            <a:r>
              <a:rPr lang="en-US" b="1" dirty="0"/>
              <a:t> </a:t>
            </a:r>
            <a:r>
              <a:rPr lang="en-US" b="1" dirty="0" err="1"/>
              <a:t>именно</a:t>
            </a:r>
            <a:r>
              <a:rPr lang="en-US" b="1" dirty="0"/>
              <a:t> </a:t>
            </a:r>
            <a:r>
              <a:rPr lang="en-US" b="1" dirty="0" err="1"/>
              <a:t>они</a:t>
            </a:r>
            <a:r>
              <a:rPr lang="en-US" b="1" dirty="0"/>
              <a:t> </a:t>
            </a:r>
            <a:r>
              <a:rPr lang="en-US" b="1" dirty="0" err="1"/>
              <a:t>описывают</a:t>
            </a:r>
            <a:r>
              <a:rPr lang="en-US" b="1" dirty="0"/>
              <a:t>?</a:t>
            </a:r>
            <a:endParaRPr lang="en-US" dirty="0"/>
          </a:p>
          <a:p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рисунок</a:t>
            </a:r>
            <a:r>
              <a:rPr lang="en-US" dirty="0"/>
              <a:t>?</a:t>
            </a:r>
            <a:r>
              <a:rPr lang="ru-RU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текущую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с </a:t>
            </a:r>
            <a:r>
              <a:rPr lang="en-US" dirty="0" err="1"/>
              <a:t>этим</a:t>
            </a:r>
            <a:r>
              <a:rPr lang="en-US" dirty="0"/>
              <a:t> </a:t>
            </a:r>
            <a:r>
              <a:rPr lang="en-US" dirty="0" err="1"/>
              <a:t>рисунком</a:t>
            </a:r>
            <a:r>
              <a:rPr lang="en-US" dirty="0"/>
              <a:t>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89961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Самое</a:t>
            </a:r>
            <a:r>
              <a:rPr lang="en-US" dirty="0"/>
              <a:t> </a:t>
            </a:r>
            <a:r>
              <a:rPr lang="en-US" dirty="0" err="1"/>
              <a:t>очевидное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— </a:t>
            </a:r>
            <a:r>
              <a:rPr lang="en-US" dirty="0" err="1"/>
              <a:t>добавить</a:t>
            </a:r>
            <a:r>
              <a:rPr lang="en-US" dirty="0"/>
              <a:t> </a:t>
            </a:r>
            <a:r>
              <a:rPr lang="en-US" dirty="0" err="1"/>
              <a:t>признак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в </a:t>
            </a:r>
            <a:r>
              <a:rPr lang="en-US" dirty="0" err="1"/>
              <a:t>фигуру</a:t>
            </a:r>
            <a:r>
              <a:rPr lang="en-US" dirty="0"/>
              <a:t>.</a:t>
            </a:r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удобно</a:t>
            </a:r>
            <a:r>
              <a:rPr lang="en-US" dirty="0"/>
              <a:t>: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выбрана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проверим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идею</a:t>
            </a:r>
            <a:r>
              <a:rPr lang="en-US" dirty="0"/>
              <a:t> </a:t>
            </a:r>
            <a:r>
              <a:rPr lang="en-US" dirty="0" err="1"/>
              <a:t>несколькими</a:t>
            </a:r>
            <a:r>
              <a:rPr lang="en-US" dirty="0"/>
              <a:t> </a:t>
            </a:r>
            <a:r>
              <a:rPr lang="en-US" dirty="0" err="1"/>
              <a:t>вопросами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сохраняем</a:t>
            </a:r>
            <a:r>
              <a:rPr lang="en-US" dirty="0"/>
              <a:t> </a:t>
            </a:r>
            <a:r>
              <a:rPr lang="en-US" dirty="0" err="1"/>
              <a:t>рисунок</a:t>
            </a:r>
            <a:r>
              <a:rPr lang="en-US" dirty="0"/>
              <a:t> в </a:t>
            </a:r>
            <a:r>
              <a:rPr lang="en-US" dirty="0" err="1"/>
              <a:t>файл</a:t>
            </a:r>
            <a:r>
              <a:rPr lang="en-US" dirty="0"/>
              <a:t>, </a:t>
            </a:r>
            <a:r>
              <a:rPr lang="en-US" dirty="0" err="1"/>
              <a:t>хотим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обязательно</a:t>
            </a:r>
            <a:r>
              <a:rPr lang="en-US" dirty="0"/>
              <a:t> </a:t>
            </a:r>
            <a:r>
              <a:rPr lang="en-US" dirty="0" err="1"/>
              <a:t>сохранять</a:t>
            </a:r>
            <a:r>
              <a:rPr lang="en-US" dirty="0"/>
              <a:t>, </a:t>
            </a:r>
            <a:r>
              <a:rPr lang="en-US" dirty="0" err="1"/>
              <a:t>какая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была</a:t>
            </a:r>
            <a:r>
              <a:rPr lang="en-US" dirty="0"/>
              <a:t> </a:t>
            </a:r>
            <a:r>
              <a:rPr lang="en-US" dirty="0" err="1"/>
              <a:t>выделена</a:t>
            </a:r>
            <a:r>
              <a:rPr lang="en-US" dirty="0"/>
              <a:t> </a:t>
            </a:r>
            <a:r>
              <a:rPr lang="en-US" dirty="0" err="1"/>
              <a:t>пользователем</a:t>
            </a:r>
            <a:r>
              <a:rPr lang="en-US" dirty="0"/>
              <a:t>?</a:t>
            </a:r>
          </a:p>
          <a:p>
            <a:r>
              <a:rPr lang="en-US" dirty="0" err="1"/>
              <a:t>Скорее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, </a:t>
            </a:r>
            <a:r>
              <a:rPr lang="en-US" dirty="0" err="1"/>
              <a:t>нет</a:t>
            </a:r>
            <a:r>
              <a:rPr lang="en-US" dirty="0"/>
              <a:t>.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интересует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 </a:t>
            </a:r>
            <a:r>
              <a:rPr lang="en-US" dirty="0" err="1"/>
              <a:t>документа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случайное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в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сохранения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представим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открыт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в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окнах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окне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прямоугольником</a:t>
            </a:r>
            <a:r>
              <a:rPr lang="en-US" dirty="0"/>
              <a:t>, а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втором</a:t>
            </a:r>
            <a:r>
              <a:rPr lang="en-US" dirty="0"/>
              <a:t> — с </a:t>
            </a:r>
            <a:r>
              <a:rPr lang="en-US" dirty="0" err="1"/>
              <a:t>эллипсом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Если</a:t>
            </a:r>
            <a:r>
              <a:rPr lang="en-US" dirty="0"/>
              <a:t> selection </a:t>
            </a:r>
            <a:r>
              <a:rPr lang="en-US" dirty="0" err="1"/>
              <a:t>хранится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IShape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dirty="0" err="1"/>
              <a:t>оба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 </a:t>
            </a:r>
            <a:r>
              <a:rPr lang="en-US" dirty="0" err="1"/>
              <a:t>вынуждены</a:t>
            </a:r>
            <a:r>
              <a:rPr lang="en-US" dirty="0"/>
              <a:t>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видеть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и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выделение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свойство</a:t>
            </a:r>
            <a:r>
              <a:rPr lang="en-US" dirty="0"/>
              <a:t> </a:t>
            </a:r>
            <a:r>
              <a:rPr lang="en-US" dirty="0" err="1"/>
              <a:t>самого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Получается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 </a:t>
            </a:r>
            <a:r>
              <a:rPr lang="en-US" dirty="0" err="1"/>
              <a:t>характеризует</a:t>
            </a:r>
            <a:r>
              <a:rPr lang="en-US" dirty="0"/>
              <a:t> </a:t>
            </a:r>
            <a:r>
              <a:rPr lang="en-US" b="1" dirty="0" err="1"/>
              <a:t>текущий</a:t>
            </a:r>
            <a:r>
              <a:rPr lang="en-US" b="1" dirty="0"/>
              <a:t> </a:t>
            </a:r>
            <a:r>
              <a:rPr lang="en-US" b="1" dirty="0" err="1"/>
              <a:t>процесс</a:t>
            </a:r>
            <a:r>
              <a:rPr lang="en-US" b="1" dirty="0"/>
              <a:t> </a:t>
            </a:r>
            <a:r>
              <a:rPr lang="en-US" b="1" dirty="0" err="1"/>
              <a:t>работы</a:t>
            </a:r>
            <a:r>
              <a:rPr lang="en-US" b="1" dirty="0"/>
              <a:t> с </a:t>
            </a:r>
            <a:r>
              <a:rPr lang="en-US" b="1" dirty="0" err="1"/>
              <a:t>рисунком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ситуацию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смотреть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SRP.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Геометрия</a:t>
            </a:r>
            <a:r>
              <a:rPr lang="en-US" dirty="0"/>
              <a:t> и </a:t>
            </a:r>
            <a:r>
              <a:rPr lang="en-US" dirty="0" err="1"/>
              <a:t>содержимое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 </a:t>
            </a:r>
            <a:r>
              <a:rPr lang="en-US" dirty="0" err="1"/>
              <a:t>изменяются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причинам</a:t>
            </a:r>
            <a:r>
              <a:rPr lang="en-US" dirty="0"/>
              <a:t>, </a:t>
            </a:r>
            <a:r>
              <a:rPr lang="en-US" dirty="0" err="1"/>
              <a:t>связанным</a:t>
            </a:r>
            <a:r>
              <a:rPr lang="en-US" dirty="0"/>
              <a:t> с </a:t>
            </a:r>
            <a:r>
              <a:rPr lang="en-US" dirty="0" err="1"/>
              <a:t>документом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Selection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действий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в </a:t>
            </a:r>
            <a:r>
              <a:rPr lang="en-US" dirty="0" err="1"/>
              <a:t>конкретном</a:t>
            </a:r>
            <a:r>
              <a:rPr lang="en-US" dirty="0"/>
              <a:t> </a:t>
            </a:r>
            <a:r>
              <a:rPr lang="en-US" dirty="0" err="1"/>
              <a:t>контексте</a:t>
            </a:r>
            <a:r>
              <a:rPr lang="en-US" dirty="0"/>
              <a:t> </a:t>
            </a:r>
            <a:r>
              <a:rPr lang="en-US" dirty="0" err="1"/>
              <a:t>редактирования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Это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источники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6177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предыдущего</a:t>
            </a:r>
            <a:r>
              <a:rPr lang="en-US" dirty="0"/>
              <a:t> </a:t>
            </a:r>
            <a:r>
              <a:rPr lang="en-US" dirty="0" err="1"/>
              <a:t>примера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selection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принадлежать</a:t>
            </a:r>
            <a:r>
              <a:rPr lang="en-US" dirty="0"/>
              <a:t> </a:t>
            </a:r>
            <a:r>
              <a:rPr lang="en-US" dirty="0" err="1"/>
              <a:t>каждому</a:t>
            </a:r>
            <a:r>
              <a:rPr lang="en-US" dirty="0"/>
              <a:t> </a:t>
            </a:r>
            <a:r>
              <a:rPr lang="en-US" dirty="0" err="1"/>
              <a:t>конкретному</a:t>
            </a:r>
            <a:r>
              <a:rPr lang="en-US" dirty="0"/>
              <a:t> </a:t>
            </a:r>
            <a:r>
              <a:rPr lang="en-US" dirty="0" err="1"/>
              <a:t>элементу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dirty="0" err="1"/>
              <a:t>отдельно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Вернёмся</a:t>
            </a:r>
            <a:r>
              <a:rPr lang="en-US" dirty="0"/>
              <a:t> к </a:t>
            </a:r>
            <a:r>
              <a:rPr lang="en-US" dirty="0" err="1"/>
              <a:t>нашему</a:t>
            </a:r>
            <a:r>
              <a:rPr lang="en-US" dirty="0"/>
              <a:t> </a:t>
            </a:r>
            <a:r>
              <a:rPr lang="en-US" dirty="0" err="1"/>
              <a:t>гипотетическому</a:t>
            </a:r>
            <a:r>
              <a:rPr lang="en-US" dirty="0"/>
              <a:t> </a:t>
            </a:r>
            <a:r>
              <a:rPr lang="en-US" dirty="0" err="1"/>
              <a:t>редактору</a:t>
            </a:r>
            <a:r>
              <a:rPr lang="en-US" dirty="0"/>
              <a:t> </a:t>
            </a:r>
            <a:r>
              <a:rPr lang="en-US" dirty="0" err="1"/>
              <a:t>анимации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окне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существуют</a:t>
            </a:r>
            <a:r>
              <a:rPr lang="en-US" dirty="0"/>
              <a:t> Canvas и Timeline.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выбирает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Canvas,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ожидаем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выделен</a:t>
            </a:r>
            <a:r>
              <a:rPr lang="en-US" dirty="0"/>
              <a:t> и </a:t>
            </a:r>
            <a:r>
              <a:rPr lang="en-US" dirty="0" err="1"/>
              <a:t>на</a:t>
            </a:r>
            <a:r>
              <a:rPr lang="en-US" dirty="0"/>
              <a:t> Timeline.</a:t>
            </a:r>
          </a:p>
          <a:p>
            <a:r>
              <a:rPr lang="en-US" dirty="0"/>
              <a:t>И </a:t>
            </a:r>
            <a:r>
              <a:rPr lang="en-US" dirty="0" err="1"/>
              <a:t>наоборот</a:t>
            </a:r>
            <a:r>
              <a:rPr lang="en-US" dirty="0"/>
              <a:t>: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дорожки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Timeline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приводить</a:t>
            </a:r>
            <a:r>
              <a:rPr lang="en-US" dirty="0"/>
              <a:t> к </a:t>
            </a:r>
            <a:r>
              <a:rPr lang="en-US" dirty="0" err="1"/>
              <a:t>выделению</a:t>
            </a:r>
            <a:r>
              <a:rPr lang="en-US" dirty="0"/>
              <a:t> </a:t>
            </a:r>
            <a:r>
              <a:rPr lang="en-US" dirty="0" err="1"/>
              <a:t>соответствующей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Canvas.</a:t>
            </a:r>
          </a:p>
          <a:p>
            <a:r>
              <a:rPr lang="en-US" dirty="0" err="1"/>
              <a:t>Значит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 в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b="1" dirty="0" err="1"/>
              <a:t>общим</a:t>
            </a:r>
            <a:r>
              <a:rPr lang="en-US" b="1" dirty="0"/>
              <a:t> </a:t>
            </a:r>
            <a:r>
              <a:rPr lang="en-US" b="1" dirty="0" err="1"/>
              <a:t>для</a:t>
            </a:r>
            <a:r>
              <a:rPr lang="en-US" b="1" dirty="0"/>
              <a:t> </a:t>
            </a:r>
            <a:r>
              <a:rPr lang="en-US" b="1" dirty="0" err="1"/>
              <a:t>нескольких</a:t>
            </a:r>
            <a:r>
              <a:rPr lang="en-US" b="1" dirty="0"/>
              <a:t> </a:t>
            </a:r>
            <a:r>
              <a:rPr lang="en-US" b="1" dirty="0" err="1"/>
              <a:t>частей</a:t>
            </a:r>
            <a:r>
              <a:rPr lang="en-US" b="1" dirty="0"/>
              <a:t> </a:t>
            </a:r>
            <a:r>
              <a:rPr lang="en-US" b="1" dirty="0" err="1"/>
              <a:t>интерфейса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относится</a:t>
            </a:r>
            <a:r>
              <a:rPr lang="en-US" dirty="0"/>
              <a:t> к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currentTime</a:t>
            </a:r>
            <a:r>
              <a:rPr lang="en-US" dirty="0"/>
              <a:t>.</a:t>
            </a:r>
          </a:p>
          <a:p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временного</a:t>
            </a:r>
            <a:r>
              <a:rPr lang="en-US" dirty="0"/>
              <a:t> </a:t>
            </a:r>
            <a:r>
              <a:rPr lang="en-US" dirty="0" err="1"/>
              <a:t>курсора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Timeline </a:t>
            </a:r>
            <a:r>
              <a:rPr lang="en-US" dirty="0" err="1"/>
              <a:t>определяет</a:t>
            </a:r>
            <a:r>
              <a:rPr lang="en-US" dirty="0"/>
              <a:t>, </a:t>
            </a:r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анимации</a:t>
            </a:r>
            <a:r>
              <a:rPr lang="en-US" dirty="0"/>
              <a:t> </a:t>
            </a:r>
            <a:r>
              <a:rPr lang="en-US" dirty="0" err="1"/>
              <a:t>отображает</a:t>
            </a:r>
            <a:r>
              <a:rPr lang="en-US" dirty="0"/>
              <a:t> Canvas.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общим</a:t>
            </a:r>
            <a:r>
              <a:rPr lang="en-US" dirty="0"/>
              <a:t>.</a:t>
            </a:r>
          </a:p>
          <a:p>
            <a:r>
              <a:rPr lang="en-US" dirty="0"/>
              <a:t>Canvas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собственный</a:t>
            </a:r>
            <a:r>
              <a:rPr lang="en-US" dirty="0"/>
              <a:t> </a:t>
            </a:r>
            <a:r>
              <a:rPr lang="en-US" dirty="0" err="1"/>
              <a:t>масштаб</a:t>
            </a:r>
            <a:r>
              <a:rPr lang="en-US" dirty="0"/>
              <a:t> и </a:t>
            </a:r>
            <a:r>
              <a:rPr lang="en-US" dirty="0" err="1"/>
              <a:t>собственную</a:t>
            </a:r>
            <a:r>
              <a:rPr lang="en-US" dirty="0"/>
              <a:t> </a:t>
            </a:r>
            <a:r>
              <a:rPr lang="en-US" dirty="0" err="1"/>
              <a:t>видимую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.</a:t>
            </a:r>
          </a:p>
          <a:p>
            <a:r>
              <a:rPr lang="en-US" dirty="0"/>
              <a:t>Timeline —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dirty="0" err="1"/>
              <a:t>масштаб</a:t>
            </a:r>
            <a:r>
              <a:rPr lang="en-US" dirty="0"/>
              <a:t> </a:t>
            </a:r>
            <a:r>
              <a:rPr lang="en-US" dirty="0" err="1"/>
              <a:t>временной</a:t>
            </a:r>
            <a:r>
              <a:rPr lang="en-US" dirty="0"/>
              <a:t> </a:t>
            </a:r>
            <a:r>
              <a:rPr lang="en-US" dirty="0" err="1"/>
              <a:t>шкалы</a:t>
            </a:r>
            <a:r>
              <a:rPr lang="en-US" dirty="0"/>
              <a:t> и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прокрутки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знакомый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проектный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b="1" dirty="0" err="1"/>
              <a:t>Что</a:t>
            </a:r>
            <a:r>
              <a:rPr lang="en-US" b="1" dirty="0"/>
              <a:t> </a:t>
            </a:r>
            <a:r>
              <a:rPr lang="en-US" b="1" dirty="0" err="1"/>
              <a:t>должно</a:t>
            </a:r>
            <a:r>
              <a:rPr lang="en-US" b="1" dirty="0"/>
              <a:t> </a:t>
            </a:r>
            <a:r>
              <a:rPr lang="en-US" b="1" dirty="0" err="1"/>
              <a:t>изменяться</a:t>
            </a:r>
            <a:r>
              <a:rPr lang="en-US" b="1" dirty="0"/>
              <a:t> </a:t>
            </a:r>
            <a:r>
              <a:rPr lang="en-US" b="1" dirty="0" err="1"/>
              <a:t>вместе</a:t>
            </a:r>
            <a:r>
              <a:rPr lang="en-US" b="1" dirty="0"/>
              <a:t>, а </a:t>
            </a:r>
            <a:r>
              <a:rPr lang="en-US" b="1" dirty="0" err="1"/>
              <a:t>что</a:t>
            </a:r>
            <a:r>
              <a:rPr lang="en-US" b="1" dirty="0"/>
              <a:t> — </a:t>
            </a:r>
            <a:r>
              <a:rPr lang="en-US" b="1" dirty="0" err="1"/>
              <a:t>независимо</a:t>
            </a:r>
            <a:r>
              <a:rPr lang="en-US" b="1" dirty="0"/>
              <a:t>?</a:t>
            </a:r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</a:t>
            </a:r>
            <a:r>
              <a:rPr lang="en-US" dirty="0" err="1"/>
              <a:t>совместного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помогает</a:t>
            </a:r>
            <a:r>
              <a:rPr lang="en-US" dirty="0"/>
              <a:t> </a:t>
            </a:r>
            <a:r>
              <a:rPr lang="en-US" dirty="0" err="1"/>
              <a:t>провести</a:t>
            </a:r>
            <a:r>
              <a:rPr lang="en-US" dirty="0"/>
              <a:t> </a:t>
            </a:r>
            <a:r>
              <a:rPr lang="en-US" dirty="0" err="1"/>
              <a:t>границу</a:t>
            </a:r>
            <a:r>
              <a:rPr lang="en-US" dirty="0"/>
              <a:t> </a:t>
            </a:r>
            <a:r>
              <a:rPr lang="en-US" dirty="0" err="1"/>
              <a:t>ответственности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054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обобщить</a:t>
            </a:r>
            <a:r>
              <a:rPr lang="en-US" dirty="0"/>
              <a:t> </a:t>
            </a:r>
            <a:r>
              <a:rPr lang="en-US" dirty="0" err="1"/>
              <a:t>наши</a:t>
            </a:r>
            <a:r>
              <a:rPr lang="en-US" dirty="0"/>
              <a:t> </a:t>
            </a:r>
            <a:r>
              <a:rPr lang="en-US" dirty="0" err="1"/>
              <a:t>наблюдения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У </a:t>
            </a:r>
            <a:r>
              <a:rPr lang="en-US" dirty="0" err="1"/>
              <a:t>приложения</a:t>
            </a:r>
            <a:r>
              <a:rPr lang="en-US" dirty="0"/>
              <a:t> </a:t>
            </a:r>
            <a:r>
              <a:rPr lang="en-US" dirty="0" err="1"/>
              <a:t>появляются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крайней</a:t>
            </a:r>
            <a:r>
              <a:rPr lang="en-US" dirty="0"/>
              <a:t> </a:t>
            </a:r>
            <a:r>
              <a:rPr lang="en-US" dirty="0" err="1"/>
              <a:t>мере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Первая</a:t>
            </a:r>
            <a:r>
              <a:rPr lang="en-US" dirty="0"/>
              <a:t> —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самого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.</a:t>
            </a:r>
          </a:p>
          <a:p>
            <a:r>
              <a:rPr lang="en-US" dirty="0"/>
              <a:t>Это </a:t>
            </a:r>
            <a:r>
              <a:rPr lang="en-US" dirty="0" err="1"/>
              <a:t>фигуры</a:t>
            </a:r>
            <a:r>
              <a:rPr lang="en-US" dirty="0"/>
              <a:t>,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геометрия</a:t>
            </a:r>
            <a:r>
              <a:rPr lang="en-US" dirty="0"/>
              <a:t>,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наложения</a:t>
            </a:r>
            <a:r>
              <a:rPr lang="en-US" dirty="0"/>
              <a:t>, а в </a:t>
            </a:r>
            <a:r>
              <a:rPr lang="en-US" dirty="0" err="1"/>
              <a:t>анимационном</a:t>
            </a:r>
            <a:r>
              <a:rPr lang="en-US" dirty="0"/>
              <a:t> </a:t>
            </a:r>
            <a:r>
              <a:rPr lang="en-US" dirty="0" err="1"/>
              <a:t>редакторе</a:t>
            </a:r>
            <a:r>
              <a:rPr lang="en-US" dirty="0"/>
              <a:t> — </a:t>
            </a:r>
            <a:r>
              <a:rPr lang="en-US" dirty="0" err="1"/>
              <a:t>интервалы</a:t>
            </a:r>
            <a:r>
              <a:rPr lang="en-US" dirty="0"/>
              <a:t> </a:t>
            </a:r>
            <a:r>
              <a:rPr lang="en-US" dirty="0" err="1"/>
              <a:t>существования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.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относятся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к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и </a:t>
            </a:r>
            <a:r>
              <a:rPr lang="en-US" dirty="0" err="1"/>
              <a:t>входят</a:t>
            </a:r>
            <a:r>
              <a:rPr lang="en-US" dirty="0"/>
              <a:t> в Domain Model.</a:t>
            </a:r>
          </a:p>
          <a:p>
            <a:endParaRPr lang="ru-RU" dirty="0"/>
          </a:p>
          <a:p>
            <a:r>
              <a:rPr lang="en-US" dirty="0" err="1"/>
              <a:t>Вторая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—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рисунком</a:t>
            </a:r>
            <a:r>
              <a:rPr lang="en-US" dirty="0"/>
              <a:t>.</a:t>
            </a:r>
          </a:p>
          <a:p>
            <a:r>
              <a:rPr lang="en-US" dirty="0" err="1"/>
              <a:t>Какая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выбрана</a:t>
            </a:r>
            <a:r>
              <a:rPr lang="en-US" dirty="0"/>
              <a:t>? </a:t>
            </a:r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рассматривается</a:t>
            </a:r>
            <a:r>
              <a:rPr lang="en-US" dirty="0"/>
              <a:t>? </a:t>
            </a:r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dirty="0" err="1"/>
              <a:t>активен</a:t>
            </a:r>
            <a:r>
              <a:rPr lang="en-US" dirty="0"/>
              <a:t>?</a:t>
            </a:r>
          </a:p>
          <a:p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описывают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документ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общими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частей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сеанса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Наконец</a:t>
            </a:r>
            <a:r>
              <a:rPr lang="en-US" dirty="0"/>
              <a:t>,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локальное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элементов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масштаб</a:t>
            </a:r>
            <a:r>
              <a:rPr lang="en-US" dirty="0"/>
              <a:t> Canvas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обязан</a:t>
            </a:r>
            <a:r>
              <a:rPr lang="en-US" dirty="0"/>
              <a:t> </a:t>
            </a:r>
            <a:r>
              <a:rPr lang="en-US" dirty="0" err="1"/>
              <a:t>совпадать</a:t>
            </a:r>
            <a:r>
              <a:rPr lang="en-US" dirty="0"/>
              <a:t> с </a:t>
            </a:r>
            <a:r>
              <a:rPr lang="en-US" dirty="0" err="1"/>
              <a:t>масштабом</a:t>
            </a:r>
            <a:r>
              <a:rPr lang="en-US" dirty="0"/>
              <a:t> </a:t>
            </a:r>
            <a:r>
              <a:rPr lang="en-US" dirty="0" err="1"/>
              <a:t>временной</a:t>
            </a:r>
            <a:r>
              <a:rPr lang="en-US" dirty="0"/>
              <a:t> </a:t>
            </a:r>
            <a:r>
              <a:rPr lang="en-US" dirty="0" err="1"/>
              <a:t>шкалы</a:t>
            </a:r>
            <a:r>
              <a:rPr lang="en-US" dirty="0"/>
              <a:t>. </a:t>
            </a:r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прокрутки</a:t>
            </a:r>
            <a:r>
              <a:rPr lang="en-US" dirty="0"/>
              <a:t> Timeline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относится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к Timeline.</a:t>
            </a:r>
          </a:p>
          <a:p>
            <a:endParaRPr lang="ru-RU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вводим</a:t>
            </a:r>
            <a:r>
              <a:rPr lang="en-US" dirty="0"/>
              <a:t> </a:t>
            </a:r>
            <a:r>
              <a:rPr lang="en-US" dirty="0" err="1"/>
              <a:t>специальное</a:t>
            </a:r>
            <a:r>
              <a:rPr lang="en-US" dirty="0"/>
              <a:t> </a:t>
            </a:r>
            <a:r>
              <a:rPr lang="en-US" dirty="0" err="1"/>
              <a:t>архитектурное</a:t>
            </a:r>
            <a:r>
              <a:rPr lang="en-US" dirty="0"/>
              <a:t> </a:t>
            </a:r>
            <a:r>
              <a:rPr lang="en-US" dirty="0" err="1"/>
              <a:t>название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второго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создаём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важнее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 </a:t>
            </a:r>
            <a:r>
              <a:rPr lang="en-US" dirty="0" err="1"/>
              <a:t>принцип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b="1" dirty="0" err="1"/>
              <a:t>место</a:t>
            </a:r>
            <a:r>
              <a:rPr lang="en-US" b="1" dirty="0"/>
              <a:t> </a:t>
            </a:r>
            <a:r>
              <a:rPr lang="en-US" b="1" dirty="0" err="1"/>
              <a:t>для</a:t>
            </a:r>
            <a:r>
              <a:rPr lang="en-US" b="1" dirty="0"/>
              <a:t> </a:t>
            </a:r>
            <a:r>
              <a:rPr lang="en-US" b="1" dirty="0" err="1"/>
              <a:t>состояния</a:t>
            </a:r>
            <a:r>
              <a:rPr lang="en-US" b="1" dirty="0"/>
              <a:t> </a:t>
            </a:r>
            <a:r>
              <a:rPr lang="en-US" b="1" dirty="0" err="1"/>
              <a:t>определяется</a:t>
            </a:r>
            <a:r>
              <a:rPr lang="en-US" b="1" dirty="0"/>
              <a:t>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его</a:t>
            </a:r>
            <a:r>
              <a:rPr lang="en-US" b="1" dirty="0"/>
              <a:t> </a:t>
            </a:r>
            <a:r>
              <a:rPr lang="en-US" b="1" dirty="0" err="1"/>
              <a:t>типом</a:t>
            </a:r>
            <a:r>
              <a:rPr lang="en-US" b="1" dirty="0"/>
              <a:t> и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удобством</a:t>
            </a:r>
            <a:r>
              <a:rPr lang="en-US" b="1" dirty="0"/>
              <a:t> </a:t>
            </a:r>
            <a:r>
              <a:rPr lang="en-US" b="1" dirty="0" err="1"/>
              <a:t>хранения</a:t>
            </a:r>
            <a:r>
              <a:rPr lang="en-US" b="1" dirty="0"/>
              <a:t>, а </a:t>
            </a:r>
            <a:r>
              <a:rPr lang="en-US" b="1" dirty="0" err="1"/>
              <a:t>его</a:t>
            </a:r>
            <a:r>
              <a:rPr lang="en-US" b="1" dirty="0"/>
              <a:t> </a:t>
            </a:r>
            <a:r>
              <a:rPr lang="en-US" b="1" dirty="0" err="1"/>
              <a:t>смыслом</a:t>
            </a:r>
            <a:r>
              <a:rPr lang="en-US" b="1" dirty="0"/>
              <a:t> и </a:t>
            </a:r>
            <a:r>
              <a:rPr lang="en-US" b="1" dirty="0" err="1"/>
              <a:t>тем</a:t>
            </a:r>
            <a:r>
              <a:rPr lang="en-US" b="1" dirty="0"/>
              <a:t>, </a:t>
            </a:r>
            <a:r>
              <a:rPr lang="en-US" b="1" dirty="0" err="1"/>
              <a:t>какие</a:t>
            </a:r>
            <a:r>
              <a:rPr lang="en-US" b="1" dirty="0"/>
              <a:t> </a:t>
            </a:r>
            <a:r>
              <a:rPr lang="en-US" b="1" dirty="0" err="1"/>
              <a:t>части</a:t>
            </a:r>
            <a:r>
              <a:rPr lang="en-US" b="1" dirty="0"/>
              <a:t> </a:t>
            </a:r>
            <a:r>
              <a:rPr lang="en-US" b="1" dirty="0" err="1"/>
              <a:t>системы</a:t>
            </a:r>
            <a:r>
              <a:rPr lang="en-US" b="1" dirty="0"/>
              <a:t> </a:t>
            </a:r>
            <a:r>
              <a:rPr lang="en-US" b="1" dirty="0" err="1"/>
              <a:t>должны</a:t>
            </a:r>
            <a:r>
              <a:rPr lang="en-US" b="1" dirty="0"/>
              <a:t> </a:t>
            </a:r>
            <a:r>
              <a:rPr lang="en-US" b="1" dirty="0" err="1"/>
              <a:t>им</a:t>
            </a:r>
            <a:r>
              <a:rPr lang="en-US" b="1" dirty="0"/>
              <a:t> </a:t>
            </a:r>
            <a:r>
              <a:rPr lang="en-US" b="1" dirty="0" err="1"/>
              <a:t>совместно</a:t>
            </a:r>
            <a:r>
              <a:rPr lang="en-US" b="1" dirty="0"/>
              <a:t> </a:t>
            </a:r>
            <a:r>
              <a:rPr lang="en-US" b="1" dirty="0" err="1"/>
              <a:t>пользоваться</a:t>
            </a:r>
            <a:r>
              <a:rPr lang="en-US" b="1" dirty="0"/>
              <a:t>.</a:t>
            </a:r>
            <a:endParaRPr lang="en-US" dirty="0"/>
          </a:p>
          <a:p>
            <a:endParaRPr lang="ru-RU" dirty="0"/>
          </a:p>
          <a:p>
            <a:r>
              <a:rPr lang="en-US" dirty="0"/>
              <a:t>Это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 cohesion: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имеющие</a:t>
            </a:r>
            <a:r>
              <a:rPr lang="en-US" dirty="0"/>
              <a:t> </a:t>
            </a:r>
            <a:r>
              <a:rPr lang="en-US" dirty="0" err="1"/>
              <a:t>общую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и </a:t>
            </a:r>
            <a:r>
              <a:rPr lang="en-US" dirty="0" err="1"/>
              <a:t>связанные</a:t>
            </a:r>
            <a:r>
              <a:rPr lang="en-US" dirty="0"/>
              <a:t> </a:t>
            </a:r>
            <a:r>
              <a:rPr lang="en-US" dirty="0" err="1"/>
              <a:t>причины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, </a:t>
            </a:r>
            <a:r>
              <a:rPr lang="en-US" dirty="0" err="1"/>
              <a:t>естественно</a:t>
            </a:r>
            <a:r>
              <a:rPr lang="en-US" dirty="0"/>
              <a:t> </a:t>
            </a:r>
            <a:r>
              <a:rPr lang="en-US" dirty="0" err="1"/>
              <a:t>группировать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1510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рассуждений</a:t>
            </a:r>
            <a:r>
              <a:rPr lang="en-US" dirty="0"/>
              <a:t> </a:t>
            </a:r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захотеть</a:t>
            </a:r>
            <a:r>
              <a:rPr lang="en-US" dirty="0"/>
              <a:t> </a:t>
            </a:r>
            <a:r>
              <a:rPr lang="en-US" dirty="0" err="1"/>
              <a:t>немедленно</a:t>
            </a:r>
            <a:r>
              <a:rPr lang="en-US" dirty="0"/>
              <a:t>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,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EditingContext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будущем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оказаться</a:t>
            </a:r>
            <a:r>
              <a:rPr lang="en-US" dirty="0"/>
              <a:t> </a:t>
            </a:r>
            <a:r>
              <a:rPr lang="en-US" dirty="0" err="1"/>
              <a:t>полезен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мог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выбранную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, </a:t>
            </a:r>
            <a:r>
              <a:rPr lang="en-US" dirty="0" err="1"/>
              <a:t>текущий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, </a:t>
            </a:r>
            <a:r>
              <a:rPr lang="en-US" dirty="0" err="1"/>
              <a:t>активный</a:t>
            </a:r>
            <a:r>
              <a:rPr lang="en-US" dirty="0"/>
              <a:t> </a:t>
            </a:r>
            <a:r>
              <a:rPr lang="en-US" dirty="0" err="1"/>
              <a:t>инструмент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общие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сеанса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документом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в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редактирования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представлено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ради</a:t>
            </a:r>
            <a:r>
              <a:rPr lang="en-US" dirty="0"/>
              <a:t> </a:t>
            </a:r>
            <a:r>
              <a:rPr lang="en-US" dirty="0" err="1"/>
              <a:t>неё</a:t>
            </a:r>
            <a:r>
              <a:rPr lang="en-US" dirty="0"/>
              <a:t>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с </a:t>
            </a:r>
            <a:r>
              <a:rPr lang="en-US" dirty="0" err="1"/>
              <a:t>интерфейсами</a:t>
            </a:r>
            <a:r>
              <a:rPr lang="en-US" dirty="0"/>
              <a:t> и </a:t>
            </a:r>
            <a:r>
              <a:rPr lang="en-US" dirty="0" err="1"/>
              <a:t>несколькими</a:t>
            </a:r>
            <a:r>
              <a:rPr lang="en-US" dirty="0"/>
              <a:t> </a:t>
            </a:r>
            <a:r>
              <a:rPr lang="en-US" dirty="0" err="1"/>
              <a:t>уровнями</a:t>
            </a:r>
            <a:r>
              <a:rPr lang="en-US" dirty="0"/>
              <a:t> </a:t>
            </a:r>
            <a:r>
              <a:rPr lang="en-US" dirty="0" err="1"/>
              <a:t>косвенности</a:t>
            </a:r>
            <a:r>
              <a:rPr lang="en-US" dirty="0"/>
              <a:t>,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вряд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сделает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</a:t>
            </a:r>
            <a:r>
              <a:rPr lang="en-US" dirty="0" err="1"/>
              <a:t>лучше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KISS и YAGNI.</a:t>
            </a:r>
            <a:r>
              <a:rPr lang="ru-RU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разделять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утверждения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Первое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понимаем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относится</a:t>
            </a:r>
            <a:r>
              <a:rPr lang="en-US" dirty="0"/>
              <a:t> к Domain Model.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Второе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обязаны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выделить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первого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второе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ответственности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b="1" dirty="0" err="1"/>
              <a:t>увидеть</a:t>
            </a:r>
            <a:r>
              <a:rPr lang="en-US" b="1" dirty="0"/>
              <a:t> </a:t>
            </a:r>
            <a:r>
              <a:rPr lang="en-US" b="1" dirty="0" err="1"/>
              <a:t>естественную</a:t>
            </a:r>
            <a:r>
              <a:rPr lang="en-US" b="1" dirty="0"/>
              <a:t> </a:t>
            </a:r>
            <a:r>
              <a:rPr lang="en-US" b="1" dirty="0" err="1"/>
              <a:t>будущую</a:t>
            </a:r>
            <a:r>
              <a:rPr lang="en-US" b="1" dirty="0"/>
              <a:t> </a:t>
            </a:r>
            <a:r>
              <a:rPr lang="en-US" b="1" dirty="0" err="1"/>
              <a:t>границу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реализовывать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стоит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приносить</a:t>
            </a:r>
            <a:r>
              <a:rPr lang="en-US" dirty="0"/>
              <a:t> </a:t>
            </a:r>
            <a:r>
              <a:rPr lang="en-US" dirty="0" err="1"/>
              <a:t>пользу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И </a:t>
            </a:r>
            <a:r>
              <a:rPr lang="en-US" dirty="0" err="1"/>
              <a:t>следующая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предпосылки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хотим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выбирать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перетаскивать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мышью</a:t>
            </a:r>
            <a:r>
              <a:rPr lang="en-US" dirty="0"/>
              <a:t>.</a:t>
            </a:r>
          </a:p>
          <a:p>
            <a:r>
              <a:rPr lang="en-US" dirty="0" err="1"/>
              <a:t>Тогда</a:t>
            </a:r>
            <a:r>
              <a:rPr lang="en-US" dirty="0"/>
              <a:t> </a:t>
            </a:r>
            <a:r>
              <a:rPr lang="en-US" dirty="0" err="1"/>
              <a:t>появятся</a:t>
            </a:r>
            <a:r>
              <a:rPr lang="en-US" dirty="0"/>
              <a:t> </a:t>
            </a:r>
            <a:r>
              <a:rPr lang="en-US" dirty="0" err="1"/>
              <a:t>новые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: </a:t>
            </a:r>
            <a:r>
              <a:rPr lang="en-US" dirty="0" err="1"/>
              <a:t>идёт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drag, </a:t>
            </a:r>
            <a:r>
              <a:rPr lang="en-US" dirty="0" err="1"/>
              <a:t>какая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перемещается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захватил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начнёт</a:t>
            </a:r>
            <a:r>
              <a:rPr lang="en-US" dirty="0"/>
              <a:t> </a:t>
            </a:r>
            <a:r>
              <a:rPr lang="en-US" dirty="0" err="1"/>
              <a:t>расти</a:t>
            </a:r>
            <a:r>
              <a:rPr lang="en-US" dirty="0"/>
              <a:t> и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MousePressed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MouseMoved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MouseReleased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И </a:t>
            </a:r>
            <a:r>
              <a:rPr lang="en-US" dirty="0" err="1"/>
              <a:t>тогда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сможем</a:t>
            </a:r>
            <a:r>
              <a:rPr lang="en-US" dirty="0"/>
              <a:t> </a:t>
            </a:r>
            <a:r>
              <a:rPr lang="en-US" dirty="0" err="1"/>
              <a:t>задать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появилась</a:t>
            </a:r>
            <a:r>
              <a:rPr lang="en-US" b="1" dirty="0"/>
              <a:t> </a:t>
            </a:r>
            <a:r>
              <a:rPr lang="en-US" b="1" dirty="0" err="1"/>
              <a:t>ли</a:t>
            </a:r>
            <a:r>
              <a:rPr lang="en-US" b="1" dirty="0"/>
              <a:t> в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b="1" dirty="0"/>
              <a:t> </a:t>
            </a:r>
            <a:r>
              <a:rPr lang="en-US" b="1" dirty="0" err="1"/>
              <a:t>новая</a:t>
            </a:r>
            <a:r>
              <a:rPr lang="en-US" b="1" dirty="0"/>
              <a:t> </a:t>
            </a:r>
            <a:r>
              <a:rPr lang="en-US" b="1" dirty="0" err="1"/>
              <a:t>самостоятельная</a:t>
            </a:r>
            <a:r>
              <a:rPr lang="en-US" b="1" dirty="0"/>
              <a:t> </a:t>
            </a:r>
            <a:r>
              <a:rPr lang="en-US" b="1" dirty="0" err="1"/>
              <a:t>ответственность</a:t>
            </a:r>
            <a:r>
              <a:rPr lang="en-US" b="1" dirty="0"/>
              <a:t> — </a:t>
            </a:r>
            <a:r>
              <a:rPr lang="en-US" b="1" dirty="0" err="1"/>
              <a:t>интерпретация</a:t>
            </a:r>
            <a:r>
              <a:rPr lang="en-US" b="1" dirty="0"/>
              <a:t> </a:t>
            </a:r>
            <a:r>
              <a:rPr lang="en-US" b="1" dirty="0" err="1"/>
              <a:t>действий</a:t>
            </a:r>
            <a:r>
              <a:rPr lang="en-US" b="1" dirty="0"/>
              <a:t> </a:t>
            </a:r>
            <a:r>
              <a:rPr lang="en-US" b="1" dirty="0" err="1"/>
              <a:t>пользователя</a:t>
            </a:r>
            <a:r>
              <a:rPr lang="en-US" b="1" dirty="0"/>
              <a:t>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90039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67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сих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.</a:t>
            </a:r>
          </a:p>
          <a:p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нажал</a:t>
            </a:r>
            <a:r>
              <a:rPr lang="en-US" dirty="0"/>
              <a:t> </a:t>
            </a:r>
            <a:r>
              <a:rPr lang="en-US" dirty="0" err="1"/>
              <a:t>кнопку</a:t>
            </a:r>
            <a:r>
              <a:rPr lang="en-US" dirty="0"/>
              <a:t> —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определили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курсором</a:t>
            </a:r>
            <a:r>
              <a:rPr lang="en-US" dirty="0"/>
              <a:t> и </a:t>
            </a:r>
            <a:r>
              <a:rPr lang="en-US" dirty="0" err="1"/>
              <a:t>запомнили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выбранную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усложним</a:t>
            </a:r>
            <a:r>
              <a:rPr lang="en-US" dirty="0"/>
              <a:t> </a:t>
            </a:r>
            <a:r>
              <a:rPr lang="en-US" dirty="0" err="1"/>
              <a:t>сценарий</a:t>
            </a:r>
            <a:r>
              <a:rPr lang="en-US" dirty="0"/>
              <a:t>: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перетащить</a:t>
            </a:r>
            <a:r>
              <a:rPr lang="en-US" dirty="0"/>
              <a:t> </a:t>
            </a:r>
            <a:r>
              <a:rPr lang="en-US" dirty="0" err="1"/>
              <a:t>выбранную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.</a:t>
            </a:r>
          </a:p>
          <a:p>
            <a:r>
              <a:rPr lang="en-US" dirty="0"/>
              <a:t>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действие</a:t>
            </a:r>
            <a:r>
              <a:rPr lang="en-US" dirty="0"/>
              <a:t> — </a:t>
            </a:r>
            <a:r>
              <a:rPr lang="en-US" dirty="0" err="1"/>
              <a:t>перемещение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места</a:t>
            </a:r>
            <a:r>
              <a:rPr lang="en-US" dirty="0"/>
              <a:t> в </a:t>
            </a:r>
            <a:r>
              <a:rPr lang="en-US" dirty="0" err="1"/>
              <a:t>другое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графическая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о </a:t>
            </a:r>
            <a:r>
              <a:rPr lang="en-US" dirty="0" err="1"/>
              <a:t>действии</a:t>
            </a:r>
            <a:r>
              <a:rPr lang="en-US" dirty="0"/>
              <a:t> «</a:t>
            </a:r>
            <a:r>
              <a:rPr lang="en-US" dirty="0" err="1"/>
              <a:t>перетащить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».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выдаёт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низкоуровневых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нажатие</a:t>
            </a:r>
            <a:r>
              <a:rPr lang="en-US" dirty="0"/>
              <a:t> </a:t>
            </a:r>
            <a:r>
              <a:rPr lang="en-US" dirty="0" err="1"/>
              <a:t>кнопки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.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поступает</a:t>
            </a:r>
            <a:r>
              <a:rPr lang="en-US" dirty="0"/>
              <a:t> </a:t>
            </a:r>
            <a:r>
              <a:rPr lang="en-US" dirty="0" err="1"/>
              <a:t>некоторое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  <a:r>
              <a:rPr lang="en-US" dirty="0" err="1"/>
              <a:t>перемещения</a:t>
            </a:r>
            <a:r>
              <a:rPr lang="en-US" dirty="0"/>
              <a:t>. </a:t>
            </a:r>
            <a:r>
              <a:rPr lang="en-US" dirty="0" err="1"/>
              <a:t>Наконец</a:t>
            </a:r>
            <a:r>
              <a:rPr lang="en-US" dirty="0"/>
              <a:t>, </a:t>
            </a:r>
            <a:r>
              <a:rPr lang="en-US" dirty="0" err="1"/>
              <a:t>кнопка</a:t>
            </a:r>
            <a:r>
              <a:rPr lang="en-US" dirty="0"/>
              <a:t> </a:t>
            </a:r>
            <a:r>
              <a:rPr lang="en-US" dirty="0" err="1"/>
              <a:t>отпускается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себе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MouseMoved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переместить</a:t>
            </a:r>
            <a:r>
              <a:rPr lang="en-US" dirty="0"/>
              <a:t>.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мог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провести</a:t>
            </a:r>
            <a:r>
              <a:rPr lang="en-US" dirty="0"/>
              <a:t> </a:t>
            </a:r>
            <a:r>
              <a:rPr lang="en-US" dirty="0" err="1"/>
              <a:t>мышью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рисунком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Следовательно</a:t>
            </a:r>
            <a:r>
              <a:rPr lang="en-US" dirty="0"/>
              <a:t>,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рассматривать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в </a:t>
            </a:r>
            <a:r>
              <a:rPr lang="en-US" dirty="0" err="1"/>
              <a:t>контексте</a:t>
            </a:r>
            <a:r>
              <a:rPr lang="en-US" dirty="0"/>
              <a:t> </a:t>
            </a:r>
            <a:r>
              <a:rPr lang="en-US" dirty="0" err="1"/>
              <a:t>предыдущих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и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Это </a:t>
            </a:r>
            <a:r>
              <a:rPr lang="en-US" dirty="0" err="1"/>
              <a:t>приводит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к </a:t>
            </a:r>
            <a:r>
              <a:rPr lang="en-US" dirty="0" err="1"/>
              <a:t>важному</a:t>
            </a:r>
            <a:r>
              <a:rPr lang="en-US" dirty="0"/>
              <a:t> </a:t>
            </a:r>
            <a:r>
              <a:rPr lang="en-US" dirty="0" err="1"/>
              <a:t>различию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b="1" dirty="0" err="1"/>
              <a:t>событие</a:t>
            </a:r>
            <a:r>
              <a:rPr lang="en-US" b="1" dirty="0"/>
              <a:t> </a:t>
            </a:r>
            <a:r>
              <a:rPr lang="en-US" b="1" dirty="0" err="1"/>
              <a:t>устройства</a:t>
            </a:r>
            <a:r>
              <a:rPr lang="en-US" b="1" dirty="0"/>
              <a:t> </a:t>
            </a:r>
            <a:r>
              <a:rPr lang="en-US" b="1" dirty="0" err="1"/>
              <a:t>ввода</a:t>
            </a:r>
            <a:r>
              <a:rPr lang="en-US" b="1" dirty="0"/>
              <a:t> и </a:t>
            </a:r>
            <a:r>
              <a:rPr lang="en-US" b="1" dirty="0" err="1"/>
              <a:t>осмысленное</a:t>
            </a:r>
            <a:r>
              <a:rPr lang="en-US" b="1" dirty="0"/>
              <a:t> </a:t>
            </a:r>
            <a:r>
              <a:rPr lang="en-US" b="1" dirty="0" err="1"/>
              <a:t>действие</a:t>
            </a:r>
            <a:r>
              <a:rPr lang="en-US" b="1" dirty="0"/>
              <a:t> </a:t>
            </a:r>
            <a:r>
              <a:rPr lang="en-US" b="1" dirty="0" err="1"/>
              <a:t>пользователя</a:t>
            </a:r>
            <a:r>
              <a:rPr lang="en-US" b="1" dirty="0"/>
              <a:t> —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одно</a:t>
            </a:r>
            <a:r>
              <a:rPr lang="en-US" b="1" dirty="0"/>
              <a:t> и </a:t>
            </a:r>
            <a:r>
              <a:rPr lang="en-US" b="1" dirty="0" err="1"/>
              <a:t>то</a:t>
            </a:r>
            <a:r>
              <a:rPr lang="en-US" b="1" dirty="0"/>
              <a:t> </a:t>
            </a:r>
            <a:r>
              <a:rPr lang="en-US" b="1" dirty="0" err="1"/>
              <a:t>же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85506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Как</a:t>
            </a:r>
            <a:r>
              <a:rPr lang="en-US" dirty="0"/>
              <a:t> и </a:t>
            </a:r>
            <a:r>
              <a:rPr lang="en-US" dirty="0" err="1"/>
              <a:t>раньше</a:t>
            </a:r>
            <a:r>
              <a:rPr lang="en-US" dirty="0"/>
              <a:t>, </a:t>
            </a:r>
            <a:r>
              <a:rPr lang="en-US" dirty="0" err="1"/>
              <a:t>начнём</a:t>
            </a:r>
            <a:r>
              <a:rPr lang="en-US" dirty="0"/>
              <a:t> с </a:t>
            </a:r>
            <a:r>
              <a:rPr lang="en-US" dirty="0" err="1"/>
              <a:t>самого</a:t>
            </a:r>
            <a:r>
              <a:rPr lang="en-US" dirty="0"/>
              <a:t> </a:t>
            </a:r>
            <a:r>
              <a:rPr lang="en-US" dirty="0" err="1"/>
              <a:t>простого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Добавим</a:t>
            </a:r>
            <a:r>
              <a:rPr lang="en-US" dirty="0"/>
              <a:t> </a:t>
            </a:r>
            <a:r>
              <a:rPr lang="en-US" dirty="0" err="1"/>
              <a:t>необходимое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рядом</a:t>
            </a:r>
            <a:r>
              <a:rPr lang="en-US" dirty="0"/>
              <a:t> с </a:t>
            </a:r>
            <a:r>
              <a:rPr lang="en-US" dirty="0" err="1"/>
              <a:t>циклом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</a:p>
          <a:p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помнить</a:t>
            </a:r>
            <a:r>
              <a:rPr lang="en-US" dirty="0"/>
              <a:t> </a:t>
            </a:r>
            <a:r>
              <a:rPr lang="en-US" dirty="0" err="1"/>
              <a:t>выбранную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, </a:t>
            </a:r>
            <a:r>
              <a:rPr lang="en-US" dirty="0" err="1"/>
              <a:t>идёт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перетаскивание</a:t>
            </a:r>
            <a:r>
              <a:rPr lang="en-US" dirty="0"/>
              <a:t> и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находилась</a:t>
            </a:r>
            <a:r>
              <a:rPr lang="en-US" dirty="0"/>
              <a:t> </a:t>
            </a:r>
            <a:r>
              <a:rPr lang="en-US" dirty="0" err="1"/>
              <a:t>мышь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предыдущем</a:t>
            </a:r>
            <a:r>
              <a:rPr lang="en-US" dirty="0"/>
              <a:t> </a:t>
            </a:r>
            <a:r>
              <a:rPr lang="en-US" dirty="0" err="1"/>
              <a:t>шаге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нажатии</a:t>
            </a:r>
            <a:r>
              <a:rPr lang="en-US" dirty="0"/>
              <a:t> </a:t>
            </a:r>
            <a:r>
              <a:rPr lang="en-US" dirty="0" err="1"/>
              <a:t>кнопки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 </a:t>
            </a:r>
            <a:r>
              <a:rPr lang="en-US" dirty="0" err="1"/>
              <a:t>определяем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курсором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найдена</a:t>
            </a:r>
            <a:r>
              <a:rPr lang="en-US" dirty="0"/>
              <a:t>, </a:t>
            </a:r>
            <a:r>
              <a:rPr lang="en-US" dirty="0" err="1"/>
              <a:t>начинаем</a:t>
            </a:r>
            <a:r>
              <a:rPr lang="en-US" dirty="0"/>
              <a:t> </a:t>
            </a:r>
            <a:r>
              <a:rPr lang="en-US" dirty="0" err="1"/>
              <a:t>перетаскивание</a:t>
            </a:r>
            <a:r>
              <a:rPr lang="en-US" dirty="0"/>
              <a:t> и </a:t>
            </a:r>
            <a:r>
              <a:rPr lang="en-US" dirty="0" err="1"/>
              <a:t>запоминаем</a:t>
            </a:r>
            <a:r>
              <a:rPr lang="en-US" dirty="0"/>
              <a:t> </a:t>
            </a:r>
            <a:r>
              <a:rPr lang="en-US" dirty="0" err="1"/>
              <a:t>текущую</a:t>
            </a:r>
            <a:r>
              <a:rPr lang="en-US" dirty="0"/>
              <a:t> </a:t>
            </a:r>
            <a:r>
              <a:rPr lang="en-US" dirty="0" err="1"/>
              <a:t>позицию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отпускания</a:t>
            </a:r>
            <a:r>
              <a:rPr lang="en-US" dirty="0"/>
              <a:t> </a:t>
            </a:r>
            <a:r>
              <a:rPr lang="en-US" dirty="0" err="1"/>
              <a:t>кнопки</a:t>
            </a:r>
            <a:r>
              <a:rPr lang="en-US" dirty="0"/>
              <a:t> </a:t>
            </a:r>
            <a:r>
              <a:rPr lang="en-US" dirty="0" err="1"/>
              <a:t>перетаскивание</a:t>
            </a:r>
            <a:r>
              <a:rPr lang="en-US" dirty="0"/>
              <a:t> </a:t>
            </a:r>
            <a:r>
              <a:rPr lang="en-US" dirty="0" err="1"/>
              <a:t>заканчивается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очередном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MouseMoved</a:t>
            </a:r>
            <a:r>
              <a:rPr lang="en-US" dirty="0"/>
              <a:t> </a:t>
            </a:r>
            <a:r>
              <a:rPr lang="en-US" dirty="0" err="1"/>
              <a:t>вычисляем</a:t>
            </a:r>
            <a:r>
              <a:rPr lang="en-US" dirty="0"/>
              <a:t> </a:t>
            </a:r>
            <a:r>
              <a:rPr lang="en-US" dirty="0" err="1"/>
              <a:t>смещение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предыдущей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 и </a:t>
            </a:r>
            <a:r>
              <a:rPr lang="en-US" dirty="0" err="1"/>
              <a:t>передаём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фигуре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простое</a:t>
            </a:r>
            <a:r>
              <a:rPr lang="en-US" dirty="0"/>
              <a:t>, и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задаче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выделять</a:t>
            </a:r>
            <a:r>
              <a:rPr lang="en-US" dirty="0"/>
              <a:t> </a:t>
            </a:r>
            <a:r>
              <a:rPr lang="en-US" dirty="0" err="1"/>
              <a:t>дополнительный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 </a:t>
            </a:r>
            <a:r>
              <a:rPr lang="en-US" dirty="0" err="1"/>
              <a:t>потенциально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стать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.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 и </a:t>
            </a:r>
            <a:r>
              <a:rPr lang="en-US" dirty="0" err="1"/>
              <a:t>обработчиков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помещаются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.</a:t>
            </a:r>
          </a:p>
          <a:p>
            <a:r>
              <a:rPr lang="en-US" dirty="0"/>
              <a:t>Это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применения</a:t>
            </a:r>
            <a:r>
              <a:rPr lang="en-US" dirty="0"/>
              <a:t> KISS и YAGNI: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следует</a:t>
            </a:r>
            <a:r>
              <a:rPr lang="en-US" b="1" dirty="0"/>
              <a:t> </a:t>
            </a:r>
            <a:r>
              <a:rPr lang="en-US" b="1" dirty="0" err="1"/>
              <a:t>вводить</a:t>
            </a:r>
            <a:r>
              <a:rPr lang="en-US" b="1" dirty="0"/>
              <a:t> </a:t>
            </a:r>
            <a:r>
              <a:rPr lang="en-US" b="1" dirty="0" err="1"/>
              <a:t>новую</a:t>
            </a:r>
            <a:r>
              <a:rPr lang="en-US" b="1" dirty="0"/>
              <a:t> </a:t>
            </a:r>
            <a:r>
              <a:rPr lang="en-US" b="1" dirty="0" err="1"/>
              <a:t>архитектурную</a:t>
            </a:r>
            <a:r>
              <a:rPr lang="en-US" b="1" dirty="0"/>
              <a:t> </a:t>
            </a:r>
            <a:r>
              <a:rPr lang="en-US" b="1" dirty="0" err="1"/>
              <a:t>сущность</a:t>
            </a:r>
            <a:r>
              <a:rPr lang="en-US" b="1" dirty="0"/>
              <a:t> </a:t>
            </a:r>
            <a:r>
              <a:rPr lang="en-US" b="1" dirty="0" err="1"/>
              <a:t>до</a:t>
            </a:r>
            <a:r>
              <a:rPr lang="en-US" b="1" dirty="0"/>
              <a:t> </a:t>
            </a:r>
            <a:r>
              <a:rPr lang="en-US" b="1" dirty="0" err="1"/>
              <a:t>того</a:t>
            </a:r>
            <a:r>
              <a:rPr lang="en-US" b="1" dirty="0"/>
              <a:t>, </a:t>
            </a:r>
            <a:r>
              <a:rPr lang="en-US" b="1" dirty="0" err="1"/>
              <a:t>как</a:t>
            </a:r>
            <a:r>
              <a:rPr lang="en-US" b="1" dirty="0"/>
              <a:t> </a:t>
            </a:r>
            <a:r>
              <a:rPr lang="en-US" b="1" dirty="0" err="1"/>
              <a:t>станет</a:t>
            </a:r>
            <a:r>
              <a:rPr lang="en-US" b="1" dirty="0"/>
              <a:t> </a:t>
            </a:r>
            <a:r>
              <a:rPr lang="en-US" b="1" dirty="0" err="1"/>
              <a:t>понятно</a:t>
            </a:r>
            <a:r>
              <a:rPr lang="en-US" b="1" dirty="0"/>
              <a:t>, </a:t>
            </a:r>
            <a:r>
              <a:rPr lang="en-US" b="1" dirty="0" err="1"/>
              <a:t>какую</a:t>
            </a:r>
            <a:r>
              <a:rPr lang="en-US" b="1" dirty="0"/>
              <a:t> </a:t>
            </a:r>
            <a:r>
              <a:rPr lang="en-US" b="1" dirty="0" err="1"/>
              <a:t>самостоятельную</a:t>
            </a:r>
            <a:r>
              <a:rPr lang="en-US" b="1" dirty="0"/>
              <a:t> </a:t>
            </a:r>
            <a:r>
              <a:rPr lang="en-US" b="1" dirty="0" err="1"/>
              <a:t>ответственность</a:t>
            </a:r>
            <a:r>
              <a:rPr lang="en-US" b="1" dirty="0"/>
              <a:t> </a:t>
            </a:r>
            <a:r>
              <a:rPr lang="en-US" b="1" dirty="0" err="1"/>
              <a:t>она</a:t>
            </a:r>
            <a:r>
              <a:rPr lang="en-US" b="1" dirty="0"/>
              <a:t> </a:t>
            </a:r>
            <a:r>
              <a:rPr lang="en-US" b="1" dirty="0" err="1"/>
              <a:t>должна</a:t>
            </a:r>
            <a:r>
              <a:rPr lang="en-US" b="1" dirty="0"/>
              <a:t> </a:t>
            </a:r>
            <a:r>
              <a:rPr lang="en-US" b="1" dirty="0" err="1"/>
              <a:t>выполнять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внимательнее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получившийся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Оказывается</a:t>
            </a:r>
            <a:r>
              <a:rPr lang="en-US" dirty="0"/>
              <a:t>,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нечто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содержательное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SFML </a:t>
            </a:r>
            <a:r>
              <a:rPr lang="en-US" dirty="0" err="1"/>
              <a:t>дальше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MouseMoved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себе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 «</a:t>
            </a:r>
            <a:r>
              <a:rPr lang="en-US" dirty="0" err="1"/>
              <a:t>переместить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».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смысл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произошло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 и в </a:t>
            </a:r>
            <a:r>
              <a:rPr lang="en-US" dirty="0" err="1"/>
              <a:t>каком</a:t>
            </a:r>
            <a:r>
              <a:rPr lang="en-US" dirty="0"/>
              <a:t> </a:t>
            </a:r>
            <a:r>
              <a:rPr lang="en-US" dirty="0" err="1"/>
              <a:t>состоянии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наблюдение</a:t>
            </a:r>
            <a:r>
              <a:rPr lang="en-US" dirty="0"/>
              <a:t> </a:t>
            </a:r>
            <a:r>
              <a:rPr lang="en-US" dirty="0" err="1"/>
              <a:t>станет</a:t>
            </a:r>
            <a:r>
              <a:rPr lang="en-US" dirty="0"/>
              <a:t> </a:t>
            </a:r>
            <a:r>
              <a:rPr lang="en-US" dirty="0" err="1"/>
              <a:t>следующим</a:t>
            </a:r>
            <a:r>
              <a:rPr lang="en-US" dirty="0"/>
              <a:t> </a:t>
            </a:r>
            <a:r>
              <a:rPr lang="en-US" dirty="0" err="1"/>
              <a:t>шагом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рассуждения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306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MouseMoved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Какое</a:t>
            </a:r>
            <a:r>
              <a:rPr lang="en-US" dirty="0"/>
              <a:t> </a:t>
            </a:r>
            <a:r>
              <a:rPr lang="en-US" dirty="0" err="1"/>
              <a:t>действие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редактор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получении</a:t>
            </a:r>
            <a:r>
              <a:rPr lang="en-US" dirty="0"/>
              <a:t>?</a:t>
            </a:r>
          </a:p>
          <a:p>
            <a:r>
              <a:rPr lang="en-US" dirty="0" err="1"/>
              <a:t>Однозначного</a:t>
            </a:r>
            <a:r>
              <a:rPr lang="en-US" dirty="0"/>
              <a:t> </a:t>
            </a:r>
            <a:r>
              <a:rPr lang="en-US" dirty="0" err="1"/>
              <a:t>ответа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ничего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перетаскивает</a:t>
            </a:r>
            <a:r>
              <a:rPr lang="en-US" dirty="0"/>
              <a:t>, </a:t>
            </a:r>
            <a:r>
              <a:rPr lang="en-US" dirty="0" err="1"/>
              <a:t>возможно</a:t>
            </a:r>
            <a:r>
              <a:rPr lang="en-US" dirty="0"/>
              <a:t>,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никакого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 </a:t>
            </a:r>
            <a:r>
              <a:rPr lang="en-US" dirty="0" err="1"/>
              <a:t>происходить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этим</a:t>
            </a:r>
            <a:r>
              <a:rPr lang="en-US" dirty="0"/>
              <a:t> </a:t>
            </a:r>
            <a:r>
              <a:rPr lang="en-US" dirty="0" err="1"/>
              <a:t>была</a:t>
            </a:r>
            <a:r>
              <a:rPr lang="en-US" dirty="0"/>
              <a:t> </a:t>
            </a:r>
            <a:r>
              <a:rPr lang="en-US" dirty="0" err="1"/>
              <a:t>нажата</a:t>
            </a:r>
            <a:r>
              <a:rPr lang="en-US" dirty="0"/>
              <a:t> </a:t>
            </a:r>
            <a:r>
              <a:rPr lang="en-US" dirty="0" err="1"/>
              <a:t>кнопка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фигурой</a:t>
            </a:r>
            <a:r>
              <a:rPr lang="en-US" dirty="0"/>
              <a:t>, </a:t>
            </a:r>
            <a:r>
              <a:rPr lang="en-US" dirty="0" err="1"/>
              <a:t>движение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означать</a:t>
            </a:r>
            <a:r>
              <a:rPr lang="en-US" dirty="0"/>
              <a:t> </a:t>
            </a:r>
            <a:r>
              <a:rPr lang="en-US" dirty="0" err="1"/>
              <a:t>продолжение</a:t>
            </a:r>
            <a:r>
              <a:rPr lang="en-US" dirty="0"/>
              <a:t> drag.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Если</a:t>
            </a:r>
            <a:r>
              <a:rPr lang="en-US" dirty="0"/>
              <a:t> в </a:t>
            </a:r>
            <a:r>
              <a:rPr lang="en-US" dirty="0" err="1"/>
              <a:t>будущем</a:t>
            </a:r>
            <a:r>
              <a:rPr lang="en-US" dirty="0"/>
              <a:t> </a:t>
            </a:r>
            <a:r>
              <a:rPr lang="en-US" dirty="0" err="1"/>
              <a:t>появятся</a:t>
            </a:r>
            <a:r>
              <a:rPr lang="en-US" dirty="0"/>
              <a:t> </a:t>
            </a:r>
            <a:r>
              <a:rPr lang="en-US" dirty="0" err="1"/>
              <a:t>маркеры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другом</a:t>
            </a:r>
            <a:r>
              <a:rPr lang="en-US" dirty="0"/>
              <a:t> </a:t>
            </a:r>
            <a:r>
              <a:rPr lang="en-US" dirty="0" err="1"/>
              <a:t>состоянии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означать</a:t>
            </a:r>
            <a:r>
              <a:rPr lang="en-US" dirty="0"/>
              <a:t> resize.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активном</a:t>
            </a:r>
            <a:r>
              <a:rPr lang="en-US" dirty="0"/>
              <a:t> </a:t>
            </a:r>
            <a:r>
              <a:rPr lang="en-US" dirty="0" err="1"/>
              <a:t>инструменте</a:t>
            </a:r>
            <a:r>
              <a:rPr lang="en-US" dirty="0"/>
              <a:t> </a:t>
            </a:r>
            <a:r>
              <a:rPr lang="en-US" dirty="0" err="1"/>
              <a:t>создания</a:t>
            </a:r>
            <a:r>
              <a:rPr lang="en-US" dirty="0"/>
              <a:t> </a:t>
            </a:r>
            <a:r>
              <a:rPr lang="en-US" dirty="0" err="1"/>
              <a:t>прямоугольника</a:t>
            </a:r>
            <a:r>
              <a:rPr lang="en-US" dirty="0"/>
              <a:t> </a:t>
            </a:r>
            <a:r>
              <a:rPr lang="en-US" dirty="0" err="1"/>
              <a:t>движение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задавать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новой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инструменте</a:t>
            </a:r>
            <a:r>
              <a:rPr lang="en-US" dirty="0"/>
              <a:t> </a:t>
            </a:r>
            <a:r>
              <a:rPr lang="en-US" dirty="0" err="1"/>
              <a:t>панорамирования</a:t>
            </a:r>
            <a:r>
              <a:rPr lang="en-US" dirty="0"/>
              <a:t> — </a:t>
            </a:r>
            <a:r>
              <a:rPr lang="en-US" dirty="0" err="1"/>
              <a:t>перемещать</a:t>
            </a:r>
            <a:r>
              <a:rPr lang="en-US" dirty="0"/>
              <a:t> </a:t>
            </a:r>
            <a:r>
              <a:rPr lang="en-US" dirty="0" err="1"/>
              <a:t>видимую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</a:t>
            </a:r>
            <a:r>
              <a:rPr lang="en-US" dirty="0" err="1"/>
              <a:t>холста</a:t>
            </a:r>
            <a:r>
              <a:rPr lang="en-US" dirty="0"/>
              <a:t>,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изменяя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SFML </a:t>
            </a:r>
            <a:r>
              <a:rPr lang="en-US" dirty="0" err="1"/>
              <a:t>поставляет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b="1" dirty="0" err="1"/>
              <a:t>факты</a:t>
            </a:r>
            <a:r>
              <a:rPr lang="en-US" b="1" dirty="0"/>
              <a:t> о </a:t>
            </a:r>
            <a:r>
              <a:rPr lang="en-US" b="1" dirty="0" err="1"/>
              <a:t>вводе</a:t>
            </a:r>
            <a:r>
              <a:rPr lang="en-US" dirty="0"/>
              <a:t>:</a:t>
            </a:r>
          </a:p>
          <a:p>
            <a:r>
              <a:rPr lang="en-US" dirty="0" err="1"/>
              <a:t>кнопка</a:t>
            </a:r>
            <a:r>
              <a:rPr lang="en-US" dirty="0"/>
              <a:t> </a:t>
            </a:r>
            <a:r>
              <a:rPr lang="en-US" dirty="0" err="1"/>
              <a:t>нажата</a:t>
            </a:r>
            <a:r>
              <a:rPr lang="en-US" dirty="0"/>
              <a:t>, </a:t>
            </a:r>
            <a:r>
              <a:rPr lang="en-US" dirty="0" err="1"/>
              <a:t>курсор</a:t>
            </a:r>
            <a:r>
              <a:rPr lang="en-US" dirty="0"/>
              <a:t> </a:t>
            </a:r>
            <a:r>
              <a:rPr lang="en-US" dirty="0" err="1"/>
              <a:t>переместился</a:t>
            </a:r>
            <a:r>
              <a:rPr lang="en-US" dirty="0"/>
              <a:t>, </a:t>
            </a:r>
            <a:r>
              <a:rPr lang="en-US" dirty="0" err="1"/>
              <a:t>кнопка</a:t>
            </a:r>
            <a:r>
              <a:rPr lang="en-US" dirty="0"/>
              <a:t> </a:t>
            </a:r>
            <a:r>
              <a:rPr lang="en-US" dirty="0" err="1"/>
              <a:t>отпущена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придать</a:t>
            </a:r>
            <a:r>
              <a:rPr lang="en-US" dirty="0"/>
              <a:t> </a:t>
            </a:r>
            <a:r>
              <a:rPr lang="en-US" dirty="0" err="1"/>
              <a:t>этим</a:t>
            </a:r>
            <a:r>
              <a:rPr lang="en-US" dirty="0"/>
              <a:t> </a:t>
            </a:r>
            <a:r>
              <a:rPr lang="en-US" dirty="0" err="1"/>
              <a:t>фактам</a:t>
            </a:r>
            <a:r>
              <a:rPr lang="en-US" dirty="0"/>
              <a:t> </a:t>
            </a:r>
            <a:r>
              <a:rPr lang="en-US" dirty="0" err="1"/>
              <a:t>смысл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смысл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самим</a:t>
            </a:r>
            <a:r>
              <a:rPr lang="en-US" dirty="0"/>
              <a:t> </a:t>
            </a:r>
            <a:r>
              <a:rPr lang="en-US" dirty="0" err="1"/>
              <a:t>событием</a:t>
            </a:r>
            <a:r>
              <a:rPr lang="en-US" dirty="0"/>
              <a:t>, а </a:t>
            </a:r>
            <a:r>
              <a:rPr lang="en-US" dirty="0" err="1"/>
              <a:t>контекстом</a:t>
            </a:r>
            <a:r>
              <a:rPr lang="en-US" dirty="0"/>
              <a:t>: </a:t>
            </a:r>
            <a:r>
              <a:rPr lang="en-US" dirty="0" err="1"/>
              <a:t>текущим</a:t>
            </a:r>
            <a:r>
              <a:rPr lang="en-US" dirty="0"/>
              <a:t> </a:t>
            </a:r>
            <a:r>
              <a:rPr lang="en-US" dirty="0" err="1"/>
              <a:t>инструментом</a:t>
            </a:r>
            <a:r>
              <a:rPr lang="en-US" dirty="0"/>
              <a:t>, </a:t>
            </a:r>
            <a:r>
              <a:rPr lang="en-US" dirty="0" err="1"/>
              <a:t>состоянием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и </a:t>
            </a:r>
            <a:r>
              <a:rPr lang="en-US" dirty="0" err="1"/>
              <a:t>состоянием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У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проявляться</a:t>
            </a:r>
            <a:r>
              <a:rPr lang="en-US" dirty="0"/>
              <a:t> </a:t>
            </a:r>
            <a:r>
              <a:rPr lang="en-US" dirty="0" err="1"/>
              <a:t>отдельная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: </a:t>
            </a:r>
            <a:r>
              <a:rPr lang="en-US" b="1" dirty="0" err="1"/>
              <a:t>интерпретировать</a:t>
            </a:r>
            <a:r>
              <a:rPr lang="en-US" b="1" dirty="0"/>
              <a:t> </a:t>
            </a:r>
            <a:r>
              <a:rPr lang="en-US" b="1" dirty="0" err="1"/>
              <a:t>низкоуровневый</a:t>
            </a:r>
            <a:r>
              <a:rPr lang="en-US" b="1" dirty="0"/>
              <a:t> </a:t>
            </a:r>
            <a:r>
              <a:rPr lang="en-US" b="1" dirty="0" err="1"/>
              <a:t>пользовательский</a:t>
            </a:r>
            <a:r>
              <a:rPr lang="en-US" b="1" dirty="0"/>
              <a:t> </a:t>
            </a:r>
            <a:r>
              <a:rPr lang="en-US" b="1" dirty="0" err="1"/>
              <a:t>ввод</a:t>
            </a:r>
            <a:r>
              <a:rPr lang="en-US" b="1" dirty="0"/>
              <a:t> </a:t>
            </a:r>
            <a:r>
              <a:rPr lang="en-US" b="1" dirty="0" err="1"/>
              <a:t>как</a:t>
            </a:r>
            <a:r>
              <a:rPr lang="en-US" b="1" dirty="0"/>
              <a:t> </a:t>
            </a:r>
            <a:r>
              <a:rPr lang="en-US" b="1" dirty="0" err="1"/>
              <a:t>осмысленные</a:t>
            </a:r>
            <a:r>
              <a:rPr lang="en-US" b="1" dirty="0"/>
              <a:t> </a:t>
            </a:r>
            <a:r>
              <a:rPr lang="en-US" b="1" dirty="0" err="1"/>
              <a:t>действия</a:t>
            </a:r>
            <a:r>
              <a:rPr lang="en-US" b="1" dirty="0"/>
              <a:t> </a:t>
            </a:r>
            <a:r>
              <a:rPr lang="en-US" b="1" dirty="0" err="1"/>
              <a:t>редактора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06470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длину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, а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причины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которым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создание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 и </a:t>
            </a:r>
            <a:r>
              <a:rPr lang="en-US" dirty="0" err="1"/>
              <a:t>сборку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.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</a:t>
            </a:r>
            <a:r>
              <a:rPr lang="en-US" dirty="0" err="1"/>
              <a:t>меняются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конфигурация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event loop — </a:t>
            </a:r>
            <a:r>
              <a:rPr lang="en-US" dirty="0" err="1"/>
              <a:t>технический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получения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SFML.</a:t>
            </a:r>
          </a:p>
          <a:p>
            <a:endParaRPr lang="ru-RU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рядом</a:t>
            </a:r>
            <a:r>
              <a:rPr lang="en-US" dirty="0"/>
              <a:t> </a:t>
            </a:r>
            <a:r>
              <a:rPr lang="en-US" dirty="0" err="1"/>
              <a:t>постепенно</a:t>
            </a:r>
            <a:r>
              <a:rPr lang="en-US" dirty="0"/>
              <a:t> </a:t>
            </a:r>
            <a:r>
              <a:rPr lang="en-US" dirty="0" err="1"/>
              <a:t>накапливаются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знания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выбрать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начинается</a:t>
            </a:r>
            <a:r>
              <a:rPr lang="en-US" dirty="0"/>
              <a:t> и </a:t>
            </a:r>
            <a:r>
              <a:rPr lang="en-US" dirty="0" err="1"/>
              <a:t>заканчивается</a:t>
            </a:r>
            <a:r>
              <a:rPr lang="en-US" dirty="0"/>
              <a:t> drag.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движении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drag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вычислить</a:t>
            </a:r>
            <a:r>
              <a:rPr lang="en-US" dirty="0"/>
              <a:t> </a:t>
            </a:r>
            <a:r>
              <a:rPr lang="en-US" dirty="0" err="1"/>
              <a:t>смещение</a:t>
            </a:r>
            <a:r>
              <a:rPr lang="en-US" dirty="0"/>
              <a:t> и </a:t>
            </a:r>
            <a:r>
              <a:rPr lang="en-US" dirty="0" err="1"/>
              <a:t>вызвать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добавим</a:t>
            </a:r>
            <a:r>
              <a:rPr lang="en-US" dirty="0"/>
              <a:t> </a:t>
            </a:r>
            <a:r>
              <a:rPr lang="en-US" dirty="0" err="1"/>
              <a:t>инструменты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, </a:t>
            </a:r>
            <a:r>
              <a:rPr lang="en-US" dirty="0" err="1"/>
              <a:t>создания</a:t>
            </a:r>
            <a:r>
              <a:rPr lang="en-US" dirty="0"/>
              <a:t> </a:t>
            </a:r>
            <a:r>
              <a:rPr lang="en-US" dirty="0" err="1"/>
              <a:t>новых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панорамирования</a:t>
            </a:r>
            <a:r>
              <a:rPr lang="en-US" dirty="0"/>
              <a:t>,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начнёт</a:t>
            </a:r>
            <a:r>
              <a:rPr lang="en-US" dirty="0"/>
              <a:t> </a:t>
            </a:r>
            <a:r>
              <a:rPr lang="en-US" dirty="0" err="1"/>
              <a:t>расти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И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в </a:t>
            </a:r>
            <a:r>
              <a:rPr lang="en-US" dirty="0" err="1"/>
              <a:t>механизме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и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в SFML.</a:t>
            </a:r>
            <a:endParaRPr lang="ru-RU" dirty="0"/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b="1" dirty="0" err="1"/>
              <a:t>правил</a:t>
            </a:r>
            <a:r>
              <a:rPr lang="en-US" b="1" dirty="0"/>
              <a:t> </a:t>
            </a:r>
            <a:r>
              <a:rPr lang="en-US" b="1" dirty="0" err="1"/>
              <a:t>взаимодействия</a:t>
            </a:r>
            <a:r>
              <a:rPr lang="en-US" b="1" dirty="0"/>
              <a:t> </a:t>
            </a:r>
            <a:r>
              <a:rPr lang="en-US" b="1" dirty="0" err="1"/>
              <a:t>пользователя</a:t>
            </a:r>
            <a:r>
              <a:rPr lang="en-US" b="1" dirty="0"/>
              <a:t> с </a:t>
            </a:r>
            <a:r>
              <a:rPr lang="en-US" b="1" dirty="0" err="1"/>
              <a:t>редактором</a:t>
            </a:r>
            <a:r>
              <a:rPr lang="en-US" dirty="0"/>
              <a:t>.</a:t>
            </a:r>
          </a:p>
          <a:p>
            <a:r>
              <a:rPr lang="en-US" dirty="0"/>
              <a:t>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SRP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проявляются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причины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видим</a:t>
            </a:r>
            <a:r>
              <a:rPr lang="en-US" dirty="0"/>
              <a:t> и </a:t>
            </a:r>
            <a:r>
              <a:rPr lang="en-US" dirty="0" err="1"/>
              <a:t>высокую</a:t>
            </a:r>
            <a:r>
              <a:rPr lang="en-US" dirty="0"/>
              <a:t> cohesion </a:t>
            </a:r>
            <a:r>
              <a:rPr lang="en-US" dirty="0" err="1"/>
              <a:t>новой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состояние</a:t>
            </a:r>
            <a:r>
              <a:rPr lang="en-US" dirty="0"/>
              <a:t> drag, </a:t>
            </a:r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MousePressed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MouseMoved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MouseReleased</a:t>
            </a:r>
            <a:r>
              <a:rPr lang="en-US" dirty="0"/>
              <a:t>, </a:t>
            </a:r>
            <a:r>
              <a:rPr lang="en-US" dirty="0" err="1"/>
              <a:t>активный</a:t>
            </a:r>
            <a:r>
              <a:rPr lang="en-US" dirty="0"/>
              <a:t> </a:t>
            </a:r>
            <a:r>
              <a:rPr lang="en-US" dirty="0" err="1"/>
              <a:t>инструмент</a:t>
            </a:r>
            <a:r>
              <a:rPr lang="en-US" dirty="0"/>
              <a:t> и </a:t>
            </a:r>
            <a:r>
              <a:rPr lang="en-US" dirty="0" err="1"/>
              <a:t>правила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связаны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у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основание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«</a:t>
            </a:r>
            <a:r>
              <a:rPr lang="en-US" dirty="0" err="1"/>
              <a:t>сократить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», а </a:t>
            </a:r>
            <a:r>
              <a:rPr lang="en-US" dirty="0" err="1"/>
              <a:t>выделить</a:t>
            </a:r>
            <a:r>
              <a:rPr lang="en-US" dirty="0"/>
              <a:t> </a:t>
            </a:r>
            <a:r>
              <a:rPr lang="en-US" b="1" dirty="0" err="1"/>
              <a:t>отдельную</a:t>
            </a:r>
            <a:r>
              <a:rPr lang="en-US" b="1" dirty="0"/>
              <a:t> </a:t>
            </a:r>
            <a:r>
              <a:rPr lang="en-US" b="1" dirty="0" err="1"/>
              <a:t>ответственность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1522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Вынесем</a:t>
            </a:r>
            <a:r>
              <a:rPr lang="en-US" dirty="0"/>
              <a:t> </a:t>
            </a:r>
            <a:r>
              <a:rPr lang="en-US" dirty="0" err="1"/>
              <a:t>обнаруженную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 в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.</a:t>
            </a:r>
          </a:p>
          <a:p>
            <a:r>
              <a:rPr lang="en-US" dirty="0" err="1"/>
              <a:t>Назовём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EditorController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объекты</a:t>
            </a:r>
            <a:r>
              <a:rPr lang="en-US" dirty="0"/>
              <a:t> SFML, а </a:t>
            </a:r>
            <a:r>
              <a:rPr lang="en-US" dirty="0" err="1"/>
              <a:t>понятные</a:t>
            </a:r>
            <a:r>
              <a:rPr lang="en-US" dirty="0"/>
              <a:t> </a:t>
            </a:r>
            <a:r>
              <a:rPr lang="en-US" dirty="0" err="1"/>
              <a:t>нашему</a:t>
            </a:r>
            <a:r>
              <a:rPr lang="en-US" dirty="0"/>
              <a:t> </a:t>
            </a:r>
            <a:r>
              <a:rPr lang="en-US" dirty="0" err="1"/>
              <a:t>приложению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: </a:t>
            </a:r>
            <a:r>
              <a:rPr lang="en-US" dirty="0" err="1"/>
              <a:t>мышь</a:t>
            </a:r>
            <a:r>
              <a:rPr lang="en-US" dirty="0"/>
              <a:t> </a:t>
            </a:r>
            <a:r>
              <a:rPr lang="en-US" dirty="0" err="1"/>
              <a:t>нажата</a:t>
            </a:r>
            <a:r>
              <a:rPr lang="en-US" dirty="0"/>
              <a:t> в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точке</a:t>
            </a:r>
            <a:r>
              <a:rPr lang="en-US" dirty="0"/>
              <a:t>, </a:t>
            </a:r>
            <a:r>
              <a:rPr lang="en-US" dirty="0" err="1"/>
              <a:t>переместилась</a:t>
            </a:r>
            <a:r>
              <a:rPr lang="en-US" dirty="0"/>
              <a:t> в </a:t>
            </a:r>
            <a:r>
              <a:rPr lang="en-US" dirty="0" err="1"/>
              <a:t>некоторую</a:t>
            </a:r>
            <a:r>
              <a:rPr lang="en-US" dirty="0"/>
              <a:t> </a:t>
            </a:r>
            <a:r>
              <a:rPr lang="en-US" dirty="0" err="1"/>
              <a:t>точку</a:t>
            </a:r>
            <a:r>
              <a:rPr lang="en-US" dirty="0"/>
              <a:t>, </a:t>
            </a:r>
            <a:r>
              <a:rPr lang="en-US" dirty="0" err="1"/>
              <a:t>кнопка</a:t>
            </a:r>
            <a:r>
              <a:rPr lang="en-US" dirty="0"/>
              <a:t> </a:t>
            </a:r>
            <a:r>
              <a:rPr lang="en-US" dirty="0" err="1"/>
              <a:t>отпущена</a:t>
            </a:r>
            <a:r>
              <a:rPr lang="en-US" dirty="0"/>
              <a:t>.</a:t>
            </a:r>
          </a:p>
          <a:p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самым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</a:t>
            </a:r>
            <a:r>
              <a:rPr lang="en-US" dirty="0" err="1"/>
              <a:t>технических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SFML в </a:t>
            </a:r>
            <a:r>
              <a:rPr lang="en-US" dirty="0" err="1"/>
              <a:t>наши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Point2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оставить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границе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Controller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, </a:t>
            </a:r>
            <a:r>
              <a:rPr lang="en-US" dirty="0" err="1"/>
              <a:t>необходимое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интерпретации</a:t>
            </a:r>
            <a:r>
              <a:rPr lang="en-US" dirty="0"/>
              <a:t> </a:t>
            </a:r>
            <a:r>
              <a:rPr lang="en-US" dirty="0" err="1"/>
              <a:t>последовательности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, и </a:t>
            </a:r>
            <a:r>
              <a:rPr lang="en-US" dirty="0" err="1"/>
              <a:t>инициирует</a:t>
            </a:r>
            <a:r>
              <a:rPr lang="en-US" dirty="0"/>
              <a:t> </a:t>
            </a:r>
            <a:r>
              <a:rPr lang="en-US" dirty="0" err="1"/>
              <a:t>соответствующие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drag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меняет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обращается</a:t>
            </a:r>
            <a:r>
              <a:rPr lang="en-US" dirty="0"/>
              <a:t> к Domain Model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предметные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736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такого</a:t>
            </a:r>
            <a:r>
              <a:rPr lang="en-US" dirty="0"/>
              <a:t> </a:t>
            </a:r>
            <a:r>
              <a:rPr lang="en-US" dirty="0" err="1"/>
              <a:t>рефакторинга</a:t>
            </a:r>
            <a:r>
              <a:rPr lang="en-US" dirty="0"/>
              <a:t> </a:t>
            </a:r>
            <a:r>
              <a:rPr lang="en-US" dirty="0" err="1"/>
              <a:t>становятся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заметны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</a:t>
            </a:r>
            <a:r>
              <a:rPr lang="en-US" dirty="0" err="1"/>
              <a:t>обязанностей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и </a:t>
            </a:r>
            <a:r>
              <a:rPr lang="en-US" dirty="0" err="1"/>
              <a:t>находящиеся</a:t>
            </a:r>
            <a:r>
              <a:rPr lang="en-US" dirty="0"/>
              <a:t> в </a:t>
            </a:r>
            <a:r>
              <a:rPr lang="en-US" dirty="0" err="1"/>
              <a:t>нём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описывают</a:t>
            </a:r>
            <a:r>
              <a:rPr lang="en-US" dirty="0"/>
              <a:t> </a:t>
            </a:r>
            <a:r>
              <a:rPr lang="en-US" dirty="0" err="1"/>
              <a:t>предметное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и </a:t>
            </a:r>
            <a:r>
              <a:rPr lang="en-US" dirty="0" err="1"/>
              <a:t>поведение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пользователю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EditorController</a:t>
            </a:r>
            <a:r>
              <a:rPr lang="en-US" dirty="0"/>
              <a:t> </a:t>
            </a:r>
            <a:r>
              <a:rPr lang="en-US" dirty="0" err="1"/>
              <a:t>интерпретирует</a:t>
            </a:r>
            <a:r>
              <a:rPr lang="en-US" dirty="0"/>
              <a:t> </a:t>
            </a:r>
            <a:r>
              <a:rPr lang="en-US" dirty="0" err="1"/>
              <a:t>действия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и </a:t>
            </a:r>
            <a:r>
              <a:rPr lang="en-US" dirty="0" err="1"/>
              <a:t>инициирует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начинали</a:t>
            </a:r>
            <a:r>
              <a:rPr lang="en-US" dirty="0"/>
              <a:t> с </a:t>
            </a:r>
            <a:r>
              <a:rPr lang="en-US" dirty="0" err="1"/>
              <a:t>решения</a:t>
            </a:r>
            <a:r>
              <a:rPr lang="en-US" dirty="0"/>
              <a:t> «</a:t>
            </a:r>
            <a:r>
              <a:rPr lang="en-US" dirty="0" err="1"/>
              <a:t>давайте</a:t>
            </a:r>
            <a:r>
              <a:rPr lang="en-US" dirty="0"/>
              <a:t> </a:t>
            </a:r>
            <a:r>
              <a:rPr lang="en-US" dirty="0" err="1"/>
              <a:t>разделим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ru-RU" dirty="0"/>
              <a:t>несколько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ru-RU" dirty="0" err="1"/>
              <a:t>ов</a:t>
            </a:r>
            <a:r>
              <a:rPr lang="en-US" dirty="0"/>
              <a:t>».</a:t>
            </a:r>
            <a:r>
              <a:rPr lang="ru-RU" dirty="0"/>
              <a:t> </a:t>
            </a:r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появилась</a:t>
            </a:r>
            <a:r>
              <a:rPr lang="en-US" dirty="0"/>
              <a:t> в </a:t>
            </a:r>
            <a:r>
              <a:rPr lang="en-US" dirty="0" err="1"/>
              <a:t>ответ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конкретную</a:t>
            </a:r>
            <a:r>
              <a:rPr lang="en-US" dirty="0"/>
              <a:t> </a:t>
            </a:r>
            <a:r>
              <a:rPr lang="en-US" dirty="0" err="1"/>
              <a:t>проблему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потребовалось</a:t>
            </a:r>
            <a:r>
              <a:rPr lang="en-US" dirty="0"/>
              <a:t> </a:t>
            </a:r>
            <a:r>
              <a:rPr lang="en-US" dirty="0" err="1"/>
              <a:t>отделить</a:t>
            </a:r>
            <a:r>
              <a:rPr lang="en-US" dirty="0"/>
              <a:t> </a:t>
            </a:r>
            <a:r>
              <a:rPr lang="en-US" dirty="0" err="1"/>
              <a:t>предметную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технологии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мышью</a:t>
            </a:r>
            <a:r>
              <a:rPr lang="en-US" dirty="0"/>
              <a:t> </a:t>
            </a:r>
            <a:r>
              <a:rPr lang="en-US" dirty="0" err="1"/>
              <a:t>породило</a:t>
            </a:r>
            <a:r>
              <a:rPr lang="en-US" dirty="0"/>
              <a:t> </a:t>
            </a:r>
            <a:r>
              <a:rPr lang="en-US" dirty="0" err="1"/>
              <a:t>собственное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добавления</a:t>
            </a:r>
            <a:r>
              <a:rPr lang="en-US" dirty="0"/>
              <a:t> drag </a:t>
            </a:r>
            <a:r>
              <a:rPr lang="en-US" dirty="0" err="1"/>
              <a:t>стало</a:t>
            </a:r>
            <a:r>
              <a:rPr lang="en-US" dirty="0"/>
              <a:t> </a:t>
            </a:r>
            <a:r>
              <a:rPr lang="en-US" dirty="0" err="1"/>
              <a:t>видно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низкоуровневых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интерпретировать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осмысленные</a:t>
            </a:r>
            <a:r>
              <a:rPr lang="en-US" dirty="0"/>
              <a:t> </a:t>
            </a:r>
            <a:r>
              <a:rPr lang="en-US" dirty="0" err="1"/>
              <a:t>действия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Подобное</a:t>
            </a:r>
            <a:r>
              <a:rPr lang="en-US" dirty="0"/>
              <a:t> </a:t>
            </a:r>
            <a:r>
              <a:rPr lang="en-US" dirty="0" err="1"/>
              <a:t>разделение</a:t>
            </a:r>
            <a:r>
              <a:rPr lang="en-US" dirty="0"/>
              <a:t> </a:t>
            </a:r>
            <a:r>
              <a:rPr lang="en-US" dirty="0" err="1"/>
              <a:t>ролей</a:t>
            </a:r>
            <a:r>
              <a:rPr lang="en-US" dirty="0"/>
              <a:t>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проектировании</a:t>
            </a:r>
            <a:r>
              <a:rPr lang="en-US" dirty="0"/>
              <a:t> </a:t>
            </a:r>
            <a:r>
              <a:rPr lang="en-US" dirty="0" err="1"/>
              <a:t>интерактивных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.</a:t>
            </a:r>
            <a:endParaRPr lang="ru-RU" dirty="0"/>
          </a:p>
          <a:p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лежит</a:t>
            </a:r>
            <a:r>
              <a:rPr lang="en-US" dirty="0"/>
              <a:t> в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известного</a:t>
            </a:r>
            <a:r>
              <a:rPr lang="en-US" dirty="0"/>
              <a:t> </a:t>
            </a:r>
            <a:r>
              <a:rPr lang="en-US" dirty="0" err="1"/>
              <a:t>архитектурного</a:t>
            </a:r>
            <a:r>
              <a:rPr lang="en-US" dirty="0"/>
              <a:t> </a:t>
            </a:r>
            <a:r>
              <a:rPr lang="en-US" dirty="0" err="1"/>
              <a:t>паттерна</a:t>
            </a:r>
            <a:r>
              <a:rPr lang="en-US" dirty="0"/>
              <a:t> </a:t>
            </a:r>
            <a:r>
              <a:rPr lang="en-US" b="1" dirty="0"/>
              <a:t>Model–View–Controller — MVC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разделе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можем</a:t>
            </a:r>
            <a:r>
              <a:rPr lang="en-US" dirty="0"/>
              <a:t> </a:t>
            </a:r>
            <a:r>
              <a:rPr lang="en-US" dirty="0" err="1"/>
              <a:t>рассмотреть</a:t>
            </a:r>
            <a:r>
              <a:rPr lang="en-US" dirty="0"/>
              <a:t> </a:t>
            </a:r>
            <a:r>
              <a:rPr lang="en-US" dirty="0" err="1"/>
              <a:t>получившуюся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с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и </a:t>
            </a:r>
            <a:r>
              <a:rPr lang="en-US" dirty="0" err="1"/>
              <a:t>выяснить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приложении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роли</a:t>
            </a:r>
            <a:r>
              <a:rPr lang="en-US" dirty="0"/>
              <a:t> </a:t>
            </a:r>
            <a:r>
              <a:rPr lang="en-US" b="1" dirty="0"/>
              <a:t>Model</a:t>
            </a:r>
            <a:r>
              <a:rPr lang="en-US" dirty="0"/>
              <a:t>, </a:t>
            </a:r>
            <a:r>
              <a:rPr lang="en-US" b="1" dirty="0"/>
              <a:t>View</a:t>
            </a:r>
            <a:r>
              <a:rPr lang="en-US" dirty="0"/>
              <a:t> и </a:t>
            </a:r>
            <a:r>
              <a:rPr lang="en-US" b="1" dirty="0"/>
              <a:t>Controller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88213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55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Посмотрим</a:t>
            </a:r>
            <a:r>
              <a:rPr lang="en-US" dirty="0"/>
              <a:t>, к </a:t>
            </a:r>
            <a:r>
              <a:rPr lang="en-US" dirty="0" err="1"/>
              <a:t>чему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пришли</a:t>
            </a:r>
            <a:r>
              <a:rPr lang="en-US" dirty="0"/>
              <a:t> 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последовательных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 </a:t>
            </a:r>
            <a:r>
              <a:rPr lang="en-US" dirty="0" err="1"/>
              <a:t>требований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у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была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предметная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и </a:t>
            </a:r>
            <a:r>
              <a:rPr lang="en-US" dirty="0" err="1"/>
              <a:t>находящиеся</a:t>
            </a:r>
            <a:r>
              <a:rPr lang="en-US" dirty="0"/>
              <a:t> в </a:t>
            </a:r>
            <a:r>
              <a:rPr lang="en-US" dirty="0" err="1"/>
              <a:t>нём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понадобилось</a:t>
            </a:r>
            <a:r>
              <a:rPr lang="en-US" dirty="0"/>
              <a:t> </a:t>
            </a:r>
            <a:r>
              <a:rPr lang="en-US" dirty="0" err="1"/>
              <a:t>графическое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,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вынесли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r>
              <a:rPr lang="en-US" dirty="0"/>
              <a:t> в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Domain Model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отвечала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технологию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 </a:t>
            </a:r>
            <a:r>
              <a:rPr lang="en-US" dirty="0" err="1"/>
              <a:t>пользователю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появился</a:t>
            </a:r>
            <a:r>
              <a:rPr lang="en-US" dirty="0"/>
              <a:t> </a:t>
            </a:r>
            <a:r>
              <a:rPr lang="en-US" dirty="0" err="1"/>
              <a:t>пользовательский</a:t>
            </a:r>
            <a:r>
              <a:rPr lang="en-US" dirty="0"/>
              <a:t> </a:t>
            </a:r>
            <a:r>
              <a:rPr lang="en-US" dirty="0" err="1"/>
              <a:t>ввод</a:t>
            </a:r>
            <a:r>
              <a:rPr lang="en-US" dirty="0"/>
              <a:t>.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обработка</a:t>
            </a:r>
            <a:r>
              <a:rPr lang="en-US" dirty="0"/>
              <a:t> </a:t>
            </a:r>
            <a:r>
              <a:rPr lang="en-US" dirty="0" err="1"/>
              <a:t>находилась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появления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, drag и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стало</a:t>
            </a:r>
            <a:r>
              <a:rPr lang="en-US" dirty="0"/>
              <a:t> </a:t>
            </a:r>
            <a:r>
              <a:rPr lang="en-US" dirty="0" err="1"/>
              <a:t>видно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отдельная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 — </a:t>
            </a:r>
            <a:r>
              <a:rPr lang="en-US" dirty="0" err="1"/>
              <a:t>интерпретировать</a:t>
            </a:r>
            <a:r>
              <a:rPr lang="en-US" dirty="0"/>
              <a:t> </a:t>
            </a:r>
            <a:r>
              <a:rPr lang="en-US" dirty="0" err="1"/>
              <a:t>действия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и </a:t>
            </a:r>
            <a:r>
              <a:rPr lang="en-US" dirty="0" err="1"/>
              <a:t>превращать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в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рисунком</a:t>
            </a:r>
            <a:r>
              <a:rPr lang="en-US" dirty="0"/>
              <a:t>.</a:t>
            </a:r>
          </a:p>
          <a:p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появился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EditorController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начинали</a:t>
            </a:r>
            <a:r>
              <a:rPr lang="en-US" dirty="0"/>
              <a:t> </a:t>
            </a:r>
            <a:r>
              <a:rPr lang="en-US" dirty="0" err="1"/>
              <a:t>разработку</a:t>
            </a:r>
            <a:r>
              <a:rPr lang="en-US" dirty="0"/>
              <a:t> с </a:t>
            </a:r>
            <a:r>
              <a:rPr lang="en-US" dirty="0" err="1"/>
              <a:t>решения</a:t>
            </a:r>
            <a:r>
              <a:rPr lang="en-US" dirty="0"/>
              <a:t> </a:t>
            </a:r>
            <a:r>
              <a:rPr lang="en-US" dirty="0" err="1"/>
              <a:t>разделить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.</a:t>
            </a:r>
          </a:p>
          <a:p>
            <a:r>
              <a:rPr lang="en-US" dirty="0" err="1"/>
              <a:t>Каждая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появилась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обнаружили</a:t>
            </a:r>
            <a:r>
              <a:rPr lang="en-US" dirty="0"/>
              <a:t> </a:t>
            </a:r>
            <a:r>
              <a:rPr lang="en-US" dirty="0" err="1"/>
              <a:t>новую</a:t>
            </a:r>
            <a:r>
              <a:rPr lang="en-US" dirty="0"/>
              <a:t> </a:t>
            </a:r>
            <a:r>
              <a:rPr lang="en-US" dirty="0" err="1"/>
              <a:t>причину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дадим</a:t>
            </a:r>
            <a:r>
              <a:rPr lang="en-US" dirty="0"/>
              <a:t> </a:t>
            </a:r>
            <a:r>
              <a:rPr lang="en-US" dirty="0" err="1"/>
              <a:t>этим</a:t>
            </a:r>
            <a:r>
              <a:rPr lang="en-US" dirty="0"/>
              <a:t> </a:t>
            </a:r>
            <a:r>
              <a:rPr lang="en-US" dirty="0" err="1"/>
              <a:t>ролям</a:t>
            </a:r>
            <a:r>
              <a:rPr lang="en-US" dirty="0"/>
              <a:t> </a:t>
            </a:r>
            <a:r>
              <a:rPr lang="en-US" dirty="0" err="1"/>
              <a:t>имена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давно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проектировании</a:t>
            </a:r>
            <a:r>
              <a:rPr lang="en-US" dirty="0"/>
              <a:t> </a:t>
            </a:r>
            <a:r>
              <a:rPr lang="en-US" dirty="0" err="1"/>
              <a:t>интерактивных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b="1" dirty="0"/>
              <a:t>Model, View и Controller.</a:t>
            </a:r>
            <a:endParaRPr lang="en-US" dirty="0"/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разделение</a:t>
            </a:r>
            <a:r>
              <a:rPr lang="en-US" dirty="0"/>
              <a:t> </a:t>
            </a:r>
            <a:r>
              <a:rPr lang="en-US" dirty="0" err="1"/>
              <a:t>лежит</a:t>
            </a:r>
            <a:r>
              <a:rPr lang="en-US" dirty="0"/>
              <a:t> в </a:t>
            </a:r>
            <a:r>
              <a:rPr lang="en-US" dirty="0" err="1"/>
              <a:t>основе</a:t>
            </a:r>
            <a:r>
              <a:rPr lang="en-US" dirty="0"/>
              <a:t> </a:t>
            </a:r>
            <a:r>
              <a:rPr lang="en-US" dirty="0" err="1"/>
              <a:t>архитектурного</a:t>
            </a:r>
            <a:r>
              <a:rPr lang="en-US" dirty="0"/>
              <a:t> </a:t>
            </a:r>
            <a:r>
              <a:rPr lang="en-US" dirty="0" err="1"/>
              <a:t>паттерна</a:t>
            </a:r>
            <a:r>
              <a:rPr lang="en-US" dirty="0"/>
              <a:t> </a:t>
            </a:r>
            <a:r>
              <a:rPr lang="en-US" b="1" dirty="0"/>
              <a:t>Model–View–Controller</a:t>
            </a:r>
            <a:r>
              <a:rPr lang="en-US" dirty="0"/>
              <a:t>, </a:t>
            </a:r>
            <a:r>
              <a:rPr lang="en-US" dirty="0" err="1"/>
              <a:t>или</a:t>
            </a:r>
            <a:r>
              <a:rPr lang="en-US" dirty="0"/>
              <a:t> MVC.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61746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Первая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— </a:t>
            </a:r>
            <a:r>
              <a:rPr lang="en-US" b="1" dirty="0"/>
              <a:t>Model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приложении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основой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знакомая</a:t>
            </a:r>
            <a:r>
              <a:rPr lang="en-US" dirty="0"/>
              <a:t> Domain Model: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IShape</a:t>
            </a:r>
            <a:r>
              <a:rPr lang="en-US" dirty="0"/>
              <a:t> и </a:t>
            </a:r>
            <a:r>
              <a:rPr lang="en-US" dirty="0" err="1"/>
              <a:t>конкретные</a:t>
            </a:r>
            <a:r>
              <a:rPr lang="en-US" dirty="0"/>
              <a:t> </a:t>
            </a:r>
            <a:r>
              <a:rPr lang="en-US" dirty="0" err="1"/>
              <a:t>виды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Model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ту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мира</a:t>
            </a:r>
            <a:r>
              <a:rPr lang="en-US" dirty="0"/>
              <a:t>, с </a:t>
            </a:r>
            <a:r>
              <a:rPr lang="en-US" dirty="0" err="1"/>
              <a:t>которой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 и </a:t>
            </a:r>
            <a:r>
              <a:rPr lang="en-US" dirty="0" err="1"/>
              <a:t>реализует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, </a:t>
            </a:r>
            <a:r>
              <a:rPr lang="en-US" dirty="0" err="1"/>
              <a:t>имеющие</a:t>
            </a:r>
            <a:r>
              <a:rPr lang="en-US" dirty="0"/>
              <a:t> </a:t>
            </a:r>
            <a:r>
              <a:rPr lang="en-US" dirty="0" err="1"/>
              <a:t>предметный</a:t>
            </a:r>
            <a:r>
              <a:rPr lang="en-US" dirty="0"/>
              <a:t> </a:t>
            </a:r>
            <a:r>
              <a:rPr lang="en-US" dirty="0" err="1"/>
              <a:t>смысл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переместить</a:t>
            </a:r>
            <a:r>
              <a:rPr lang="en-US" dirty="0"/>
              <a:t>.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проверить</a:t>
            </a:r>
            <a:r>
              <a:rPr lang="en-US" dirty="0"/>
              <a:t> </a:t>
            </a:r>
            <a:r>
              <a:rPr lang="en-US" dirty="0" err="1"/>
              <a:t>принадлежность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фигуре</a:t>
            </a:r>
            <a:r>
              <a:rPr lang="en-US" dirty="0"/>
              <a:t>.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найти</a:t>
            </a:r>
            <a:r>
              <a:rPr lang="en-US" dirty="0"/>
              <a:t> </a:t>
            </a:r>
            <a:r>
              <a:rPr lang="en-US" dirty="0" err="1"/>
              <a:t>верхнюю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, </a:t>
            </a:r>
            <a:r>
              <a:rPr lang="en-US" dirty="0" err="1"/>
              <a:t>находящуюся</a:t>
            </a:r>
            <a:r>
              <a:rPr lang="en-US" dirty="0"/>
              <a:t> в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точке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 </a:t>
            </a:r>
            <a:r>
              <a:rPr lang="en-US" dirty="0" err="1"/>
              <a:t>ни</a:t>
            </a:r>
            <a:r>
              <a:rPr lang="en-US" dirty="0"/>
              <a:t> о SFML, </a:t>
            </a:r>
            <a:r>
              <a:rPr lang="en-US" dirty="0" err="1"/>
              <a:t>ни</a:t>
            </a:r>
            <a:r>
              <a:rPr lang="en-US" dirty="0"/>
              <a:t> о </a:t>
            </a:r>
            <a:r>
              <a:rPr lang="en-US" dirty="0" err="1"/>
              <a:t>мыши</a:t>
            </a:r>
            <a:r>
              <a:rPr lang="en-US" dirty="0"/>
              <a:t>, </a:t>
            </a:r>
            <a:r>
              <a:rPr lang="en-US" dirty="0" err="1"/>
              <a:t>ни</a:t>
            </a:r>
            <a:r>
              <a:rPr lang="en-US" dirty="0"/>
              <a:t> о </a:t>
            </a:r>
            <a:r>
              <a:rPr lang="en-US" dirty="0" err="1"/>
              <a:t>конкретном</a:t>
            </a:r>
            <a:r>
              <a:rPr lang="en-US" dirty="0"/>
              <a:t> </a:t>
            </a:r>
            <a:r>
              <a:rPr lang="en-US" dirty="0" err="1"/>
              <a:t>способе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Model в MVC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b="1" dirty="0" err="1"/>
              <a:t>архитектурная</a:t>
            </a:r>
            <a:r>
              <a:rPr lang="en-US" b="1" dirty="0"/>
              <a:t> </a:t>
            </a:r>
            <a:r>
              <a:rPr lang="en-US" b="1" dirty="0" err="1"/>
              <a:t>роль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 </a:t>
            </a:r>
            <a:r>
              <a:rPr lang="en-US" dirty="0" err="1"/>
              <a:t>создать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с </a:t>
            </a:r>
            <a:r>
              <a:rPr lang="en-US" dirty="0" err="1"/>
              <a:t>именем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существующих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И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сделанное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dirty="0" err="1"/>
              <a:t>уточнение</a:t>
            </a:r>
            <a:r>
              <a:rPr lang="en-US" dirty="0"/>
              <a:t>: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</a:t>
            </a:r>
            <a:r>
              <a:rPr lang="en-US" dirty="0" err="1"/>
              <a:t>обязательно</a:t>
            </a:r>
            <a:r>
              <a:rPr lang="en-US" dirty="0"/>
              <a:t> </a:t>
            </a:r>
            <a:r>
              <a:rPr lang="en-US" dirty="0" err="1"/>
              <a:t>принадлежит</a:t>
            </a:r>
            <a:r>
              <a:rPr lang="en-US" dirty="0"/>
              <a:t> Domain Model.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текущий</a:t>
            </a:r>
            <a:r>
              <a:rPr lang="en-US" dirty="0"/>
              <a:t> selection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активный</a:t>
            </a:r>
            <a:r>
              <a:rPr lang="en-US" dirty="0"/>
              <a:t> </a:t>
            </a:r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dirty="0" err="1"/>
              <a:t>характеризуют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с </a:t>
            </a:r>
            <a:r>
              <a:rPr lang="en-US" dirty="0" err="1"/>
              <a:t>документом</a:t>
            </a:r>
            <a:r>
              <a:rPr lang="en-US" dirty="0"/>
              <a:t>. В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небольшой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</a:t>
            </a:r>
            <a:r>
              <a:rPr lang="en-US" dirty="0" err="1"/>
              <a:t>рядом</a:t>
            </a:r>
            <a:r>
              <a:rPr lang="en-US" dirty="0"/>
              <a:t> с </a:t>
            </a:r>
            <a:r>
              <a:rPr lang="en-US" dirty="0" err="1"/>
              <a:t>логикой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.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мере</a:t>
            </a:r>
            <a:r>
              <a:rPr lang="en-US" dirty="0"/>
              <a:t> </a:t>
            </a:r>
            <a:r>
              <a:rPr lang="en-US" dirty="0" err="1"/>
              <a:t>развития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собственную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</a:t>
            </a:r>
            <a:r>
              <a:rPr lang="en-US" dirty="0" err="1"/>
              <a:t>ответственности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важна</a:t>
            </a:r>
            <a:r>
              <a:rPr lang="en-US" dirty="0"/>
              <a:t> </a:t>
            </a:r>
            <a:r>
              <a:rPr lang="en-US" dirty="0" err="1"/>
              <a:t>основная</a:t>
            </a:r>
            <a:r>
              <a:rPr lang="en-US" dirty="0"/>
              <a:t> </a:t>
            </a:r>
            <a:r>
              <a:rPr lang="en-US" dirty="0" err="1"/>
              <a:t>граница</a:t>
            </a:r>
            <a:r>
              <a:rPr lang="en-US" dirty="0"/>
              <a:t>:</a:t>
            </a:r>
          </a:p>
          <a:p>
            <a:r>
              <a:rPr lang="en-US" b="1" dirty="0"/>
              <a:t>Model </a:t>
            </a:r>
            <a:r>
              <a:rPr lang="en-US" b="1" dirty="0" err="1"/>
              <a:t>описывает</a:t>
            </a:r>
            <a:r>
              <a:rPr lang="en-US" b="1" dirty="0"/>
              <a:t> </a:t>
            </a:r>
            <a:r>
              <a:rPr lang="en-US" b="1" dirty="0" err="1"/>
              <a:t>то</a:t>
            </a:r>
            <a:r>
              <a:rPr lang="en-US" b="1" dirty="0"/>
              <a:t>, с </a:t>
            </a:r>
            <a:r>
              <a:rPr lang="en-US" b="1" dirty="0" err="1"/>
              <a:t>чем</a:t>
            </a:r>
            <a:r>
              <a:rPr lang="en-US" b="1" dirty="0"/>
              <a:t> </a:t>
            </a:r>
            <a:r>
              <a:rPr lang="en-US" b="1" dirty="0" err="1"/>
              <a:t>работает</a:t>
            </a:r>
            <a:r>
              <a:rPr lang="en-US" b="1" dirty="0"/>
              <a:t> </a:t>
            </a:r>
            <a:r>
              <a:rPr lang="en-US" b="1" dirty="0" err="1"/>
              <a:t>приложение</a:t>
            </a:r>
            <a:r>
              <a:rPr lang="en-US" b="1" dirty="0"/>
              <a:t>, а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способ</a:t>
            </a:r>
            <a:r>
              <a:rPr lang="en-US" b="1" dirty="0"/>
              <a:t>, </a:t>
            </a:r>
            <a:r>
              <a:rPr lang="en-US" b="1" dirty="0" err="1"/>
              <a:t>которым</a:t>
            </a:r>
            <a:r>
              <a:rPr lang="en-US" b="1" dirty="0"/>
              <a:t> </a:t>
            </a:r>
            <a:r>
              <a:rPr lang="en-US" b="1" dirty="0" err="1"/>
              <a:t>пользователь</a:t>
            </a:r>
            <a:r>
              <a:rPr lang="en-US" b="1" dirty="0"/>
              <a:t> </a:t>
            </a:r>
            <a:r>
              <a:rPr lang="en-US" b="1" dirty="0" err="1"/>
              <a:t>это</a:t>
            </a:r>
            <a:r>
              <a:rPr lang="en-US" b="1" dirty="0"/>
              <a:t> </a:t>
            </a:r>
            <a:r>
              <a:rPr lang="en-US" b="1" dirty="0" err="1"/>
              <a:t>видит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10491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Вторая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MVC — </a:t>
            </a:r>
            <a:r>
              <a:rPr lang="en-US" b="1" dirty="0"/>
              <a:t>View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показать</a:t>
            </a:r>
            <a:r>
              <a:rPr lang="en-US" dirty="0"/>
              <a:t> </a:t>
            </a:r>
            <a:r>
              <a:rPr lang="en-US" dirty="0" err="1"/>
              <a:t>пользователю</a:t>
            </a:r>
            <a:r>
              <a:rPr lang="en-US" dirty="0"/>
              <a:t>, и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соответствующее</a:t>
            </a:r>
            <a:r>
              <a:rPr lang="en-US" dirty="0"/>
              <a:t> </a:t>
            </a:r>
            <a:r>
              <a:rPr lang="en-US" dirty="0" err="1"/>
              <a:t>изображение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отображается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Domain Model.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влияет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видит</a:t>
            </a:r>
            <a:r>
              <a:rPr lang="en-US" dirty="0"/>
              <a:t>: </a:t>
            </a:r>
            <a:r>
              <a:rPr lang="en-US" dirty="0" err="1"/>
              <a:t>вокруг</a:t>
            </a:r>
            <a:r>
              <a:rPr lang="en-US" dirty="0"/>
              <a:t> </a:t>
            </a:r>
            <a:r>
              <a:rPr lang="en-US" dirty="0" err="1"/>
              <a:t>выбранной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рамка</a:t>
            </a:r>
            <a:r>
              <a:rPr lang="en-US" dirty="0"/>
              <a:t>.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принадлежит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View в </a:t>
            </a:r>
            <a:r>
              <a:rPr lang="en-US" dirty="0" err="1"/>
              <a:t>общем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Domain Model, а </a:t>
            </a:r>
            <a:r>
              <a:rPr lang="en-US" b="1" dirty="0" err="1"/>
              <a:t>текущее</a:t>
            </a:r>
            <a:r>
              <a:rPr lang="en-US" b="1" dirty="0"/>
              <a:t> </a:t>
            </a:r>
            <a:r>
              <a:rPr lang="en-US" b="1" dirty="0" err="1"/>
              <a:t>состояние</a:t>
            </a:r>
            <a:r>
              <a:rPr lang="en-US" b="1" dirty="0"/>
              <a:t> </a:t>
            </a:r>
            <a:r>
              <a:rPr lang="en-US" b="1" dirty="0" err="1"/>
              <a:t>приложения</a:t>
            </a:r>
            <a:r>
              <a:rPr lang="en-US" b="1" dirty="0"/>
              <a:t>, </a:t>
            </a:r>
            <a:r>
              <a:rPr lang="en-US" b="1" dirty="0" err="1"/>
              <a:t>существенное</a:t>
            </a:r>
            <a:r>
              <a:rPr lang="en-US" b="1" dirty="0"/>
              <a:t> </a:t>
            </a:r>
            <a:r>
              <a:rPr lang="en-US" b="1" dirty="0" err="1"/>
              <a:t>для</a:t>
            </a:r>
            <a:r>
              <a:rPr lang="en-US" b="1" dirty="0"/>
              <a:t> </a:t>
            </a:r>
            <a:r>
              <a:rPr lang="en-US" b="1" dirty="0" err="1"/>
              <a:t>пользователя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своей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SFML. В </a:t>
            </a:r>
            <a:r>
              <a:rPr lang="en-US" dirty="0" err="1"/>
              <a:t>частности</a:t>
            </a:r>
            <a:r>
              <a:rPr lang="en-US" dirty="0"/>
              <a:t>,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RenderTarget</a:t>
            </a:r>
            <a:r>
              <a:rPr lang="en-US" dirty="0"/>
              <a:t>, </a:t>
            </a:r>
            <a:r>
              <a:rPr lang="en-US" dirty="0" err="1"/>
              <a:t>которым</a:t>
            </a:r>
            <a:r>
              <a:rPr lang="en-US" dirty="0"/>
              <a:t> 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приложении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RenderWindow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RenderWindow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считать</a:t>
            </a:r>
            <a:r>
              <a:rPr lang="en-US" dirty="0"/>
              <a:t> </a:t>
            </a:r>
            <a:r>
              <a:rPr lang="en-US" dirty="0" err="1"/>
              <a:t>отдельной</a:t>
            </a:r>
            <a:r>
              <a:rPr lang="en-US" dirty="0"/>
              <a:t> </a:t>
            </a:r>
            <a:r>
              <a:rPr lang="en-US" dirty="0" err="1"/>
              <a:t>архитектурной</a:t>
            </a:r>
            <a:r>
              <a:rPr lang="en-US" dirty="0"/>
              <a:t> </a:t>
            </a:r>
            <a:r>
              <a:rPr lang="en-US" dirty="0" err="1"/>
              <a:t>ролью</a:t>
            </a:r>
            <a:r>
              <a:rPr lang="en-US" dirty="0"/>
              <a:t>. Это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, </a:t>
            </a:r>
            <a:r>
              <a:rPr lang="en-US" dirty="0" err="1"/>
              <a:t>используемый</a:t>
            </a:r>
            <a:r>
              <a:rPr lang="en-US" dirty="0"/>
              <a:t> </a:t>
            </a:r>
            <a:r>
              <a:rPr lang="en-US" dirty="0" err="1"/>
              <a:t>реализацией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заменим</a:t>
            </a:r>
            <a:r>
              <a:rPr lang="en-US" dirty="0"/>
              <a:t> SFML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технологией</a:t>
            </a:r>
            <a:r>
              <a:rPr lang="en-US" dirty="0"/>
              <a:t>, </a:t>
            </a:r>
            <a:r>
              <a:rPr lang="en-US" dirty="0" err="1"/>
              <a:t>изменится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View,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смысл</a:t>
            </a:r>
            <a:r>
              <a:rPr lang="en-US" dirty="0"/>
              <a:t> </a:t>
            </a:r>
            <a:r>
              <a:rPr lang="en-US" dirty="0" err="1"/>
              <a:t>роли</a:t>
            </a:r>
            <a:r>
              <a:rPr lang="en-US" dirty="0"/>
              <a:t> </a:t>
            </a:r>
            <a:r>
              <a:rPr lang="en-US" dirty="0" err="1"/>
              <a:t>останется</a:t>
            </a:r>
            <a:r>
              <a:rPr lang="en-US" dirty="0"/>
              <a:t> </a:t>
            </a:r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: </a:t>
            </a:r>
            <a:r>
              <a:rPr lang="en-US" dirty="0" err="1"/>
              <a:t>показать</a:t>
            </a:r>
            <a:r>
              <a:rPr lang="en-US" dirty="0"/>
              <a:t> </a:t>
            </a:r>
            <a:r>
              <a:rPr lang="en-US" dirty="0" err="1"/>
              <a:t>пользователю</a:t>
            </a:r>
            <a:r>
              <a:rPr lang="en-US" dirty="0"/>
              <a:t> </a:t>
            </a:r>
            <a:r>
              <a:rPr lang="en-US" dirty="0" err="1"/>
              <a:t>актуальное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475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Третья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— </a:t>
            </a:r>
            <a:r>
              <a:rPr lang="en-US" b="1" dirty="0"/>
              <a:t>Controller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Графическая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о </a:t>
            </a:r>
            <a:r>
              <a:rPr lang="en-US" dirty="0" err="1"/>
              <a:t>низкоуровневых</a:t>
            </a:r>
            <a:r>
              <a:rPr lang="en-US" dirty="0"/>
              <a:t> </a:t>
            </a:r>
            <a:r>
              <a:rPr lang="en-US" dirty="0" err="1"/>
              <a:t>событиях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кнопка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 </a:t>
            </a:r>
            <a:r>
              <a:rPr lang="en-US" dirty="0" err="1"/>
              <a:t>нажата</a:t>
            </a:r>
            <a:r>
              <a:rPr lang="en-US" dirty="0"/>
              <a:t>, </a:t>
            </a:r>
            <a:r>
              <a:rPr lang="en-US" dirty="0" err="1"/>
              <a:t>курсор</a:t>
            </a:r>
            <a:r>
              <a:rPr lang="en-US" dirty="0"/>
              <a:t> </a:t>
            </a:r>
            <a:r>
              <a:rPr lang="en-US" dirty="0" err="1"/>
              <a:t>переместился</a:t>
            </a:r>
            <a:r>
              <a:rPr lang="en-US" dirty="0"/>
              <a:t>, </a:t>
            </a:r>
            <a:r>
              <a:rPr lang="en-US" dirty="0" err="1"/>
              <a:t>кнопка</a:t>
            </a:r>
            <a:r>
              <a:rPr lang="en-US" dirty="0"/>
              <a:t> </a:t>
            </a:r>
            <a:r>
              <a:rPr lang="en-US" dirty="0" err="1"/>
              <a:t>отпущена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говорит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хочет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.</a:t>
            </a:r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видели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и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MouseMoved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означать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вещи</a:t>
            </a:r>
            <a:r>
              <a:rPr lang="en-US" dirty="0"/>
              <a:t>: </a:t>
            </a:r>
            <a:r>
              <a:rPr lang="en-US" dirty="0" err="1"/>
              <a:t>перемещение</a:t>
            </a:r>
            <a:r>
              <a:rPr lang="en-US" dirty="0"/>
              <a:t> </a:t>
            </a:r>
            <a:r>
              <a:rPr lang="en-US" dirty="0" err="1"/>
              <a:t>курсора</a:t>
            </a:r>
            <a:r>
              <a:rPr lang="en-US" dirty="0"/>
              <a:t>, drag </a:t>
            </a:r>
            <a:r>
              <a:rPr lang="en-US" dirty="0" err="1"/>
              <a:t>фигуры</a:t>
            </a:r>
            <a:r>
              <a:rPr lang="en-US" dirty="0"/>
              <a:t>,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, </a:t>
            </a:r>
            <a:r>
              <a:rPr lang="en-US" dirty="0" err="1"/>
              <a:t>создание</a:t>
            </a:r>
            <a:r>
              <a:rPr lang="en-US" dirty="0"/>
              <a:t> </a:t>
            </a:r>
            <a:r>
              <a:rPr lang="en-US" dirty="0" err="1"/>
              <a:t>новой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панорамирование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кому-то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интерпретировать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в </a:t>
            </a:r>
            <a:r>
              <a:rPr lang="en-US" dirty="0" err="1"/>
              <a:t>контексте</a:t>
            </a:r>
            <a:r>
              <a:rPr lang="en-US" dirty="0"/>
              <a:t> </a:t>
            </a:r>
            <a:r>
              <a:rPr lang="en-US" dirty="0" err="1"/>
              <a:t>текущего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эту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Controller.</a:t>
            </a:r>
          </a:p>
          <a:p>
            <a:endParaRPr lang="en-US" dirty="0"/>
          </a:p>
          <a:p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EditorController</a:t>
            </a:r>
            <a:r>
              <a:rPr lang="en-US" dirty="0"/>
              <a:t> </a:t>
            </a:r>
            <a:r>
              <a:rPr lang="en-US" dirty="0" err="1"/>
              <a:t>понимает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MousePressed</a:t>
            </a:r>
            <a:r>
              <a:rPr lang="en-US" dirty="0"/>
              <a:t>,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MouseMoved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MouseReleased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 </a:t>
            </a:r>
            <a:r>
              <a:rPr lang="en-US" dirty="0" err="1"/>
              <a:t>перетаскивание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инициирует</a:t>
            </a:r>
            <a:r>
              <a:rPr lang="en-US" dirty="0"/>
              <a:t> </a:t>
            </a:r>
            <a:r>
              <a:rPr lang="en-US" dirty="0" err="1"/>
              <a:t>предметную</a:t>
            </a:r>
            <a:r>
              <a:rPr lang="en-US" dirty="0"/>
              <a:t> </a:t>
            </a:r>
            <a:r>
              <a:rPr lang="en-US" dirty="0" err="1"/>
              <a:t>операцию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Model —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различать</a:t>
            </a:r>
            <a:r>
              <a:rPr lang="en-US" dirty="0"/>
              <a:t> </a:t>
            </a:r>
            <a:r>
              <a:rPr lang="en-US" dirty="0" err="1"/>
              <a:t>обязанности</a:t>
            </a:r>
            <a:r>
              <a:rPr lang="en-US" dirty="0"/>
              <a:t> Controller и View.</a:t>
            </a:r>
          </a:p>
          <a:p>
            <a:r>
              <a:rPr lang="en-US" dirty="0"/>
              <a:t>View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 </a:t>
            </a:r>
            <a:r>
              <a:rPr lang="en-US" b="1" dirty="0" err="1"/>
              <a:t>Что</a:t>
            </a:r>
            <a:r>
              <a:rPr lang="en-US" b="1" dirty="0"/>
              <a:t> </a:t>
            </a:r>
            <a:r>
              <a:rPr lang="en-US" b="1" dirty="0" err="1"/>
              <a:t>сейчас</a:t>
            </a:r>
            <a:r>
              <a:rPr lang="en-US" b="1" dirty="0"/>
              <a:t> </a:t>
            </a:r>
            <a:r>
              <a:rPr lang="en-US" b="1" dirty="0" err="1"/>
              <a:t>нужно</a:t>
            </a:r>
            <a:r>
              <a:rPr lang="en-US" b="1" dirty="0"/>
              <a:t> </a:t>
            </a:r>
            <a:r>
              <a:rPr lang="en-US" b="1" dirty="0" err="1"/>
              <a:t>показать</a:t>
            </a:r>
            <a:r>
              <a:rPr lang="en-US" b="1" dirty="0"/>
              <a:t> </a:t>
            </a:r>
            <a:r>
              <a:rPr lang="en-US" b="1" dirty="0" err="1"/>
              <a:t>пользователю</a:t>
            </a:r>
            <a:r>
              <a:rPr lang="en-US" b="1" dirty="0"/>
              <a:t>?</a:t>
            </a:r>
            <a:endParaRPr lang="en-US" dirty="0"/>
          </a:p>
          <a:p>
            <a:r>
              <a:rPr lang="en-US" dirty="0"/>
              <a:t>Controller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 </a:t>
            </a:r>
            <a:r>
              <a:rPr lang="en-US" b="1" dirty="0" err="1"/>
              <a:t>Что</a:t>
            </a:r>
            <a:r>
              <a:rPr lang="en-US" b="1" dirty="0"/>
              <a:t> </a:t>
            </a:r>
            <a:r>
              <a:rPr lang="en-US" b="1" dirty="0" err="1"/>
              <a:t>означает</a:t>
            </a:r>
            <a:r>
              <a:rPr lang="en-US" b="1" dirty="0"/>
              <a:t> </a:t>
            </a:r>
            <a:r>
              <a:rPr lang="en-US" b="1" dirty="0" err="1"/>
              <a:t>действие</a:t>
            </a:r>
            <a:r>
              <a:rPr lang="en-US" b="1" dirty="0"/>
              <a:t> </a:t>
            </a:r>
            <a:r>
              <a:rPr lang="en-US" b="1" dirty="0" err="1"/>
              <a:t>пользователя</a:t>
            </a:r>
            <a:r>
              <a:rPr lang="en-US" b="1" dirty="0"/>
              <a:t> и </a:t>
            </a:r>
            <a:r>
              <a:rPr lang="en-US" b="1" dirty="0" err="1"/>
              <a:t>какое</a:t>
            </a:r>
            <a:r>
              <a:rPr lang="en-US" b="1" dirty="0"/>
              <a:t> </a:t>
            </a:r>
            <a:r>
              <a:rPr lang="en-US" b="1" dirty="0" err="1"/>
              <a:t>изменение</a:t>
            </a:r>
            <a:r>
              <a:rPr lang="en-US" b="1" dirty="0"/>
              <a:t> </a:t>
            </a:r>
            <a:r>
              <a:rPr lang="en-US" b="1" dirty="0" err="1"/>
              <a:t>приложения</a:t>
            </a:r>
            <a:r>
              <a:rPr lang="en-US" b="1" dirty="0"/>
              <a:t> </a:t>
            </a:r>
            <a:r>
              <a:rPr lang="en-US" b="1" dirty="0" err="1"/>
              <a:t>оно</a:t>
            </a:r>
            <a:r>
              <a:rPr lang="en-US" b="1" dirty="0"/>
              <a:t> </a:t>
            </a:r>
            <a:r>
              <a:rPr lang="en-US" b="1" dirty="0" err="1"/>
              <a:t>должно</a:t>
            </a:r>
            <a:r>
              <a:rPr lang="en-US" b="1" dirty="0"/>
              <a:t> </a:t>
            </a:r>
            <a:r>
              <a:rPr lang="en-US" b="1" dirty="0" err="1"/>
              <a:t>вызвать</a:t>
            </a:r>
            <a:r>
              <a:rPr lang="en-US" b="1" dirty="0"/>
              <a:t>?</a:t>
            </a:r>
          </a:p>
          <a:p>
            <a:endParaRPr lang="en-US" dirty="0"/>
          </a:p>
          <a:p>
            <a:r>
              <a:rPr lang="en-US" dirty="0" err="1"/>
              <a:t>Разделение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обязанностей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важным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мере</a:t>
            </a:r>
            <a:r>
              <a:rPr lang="en-US" dirty="0"/>
              <a:t> </a:t>
            </a:r>
            <a:r>
              <a:rPr lang="en-US" dirty="0" err="1"/>
              <a:t>роста</a:t>
            </a:r>
            <a:r>
              <a:rPr lang="en-US" dirty="0"/>
              <a:t> </a:t>
            </a:r>
            <a:r>
              <a:rPr lang="en-US" dirty="0" err="1"/>
              <a:t>числа</a:t>
            </a:r>
            <a:r>
              <a:rPr lang="en-US" dirty="0"/>
              <a:t> </a:t>
            </a:r>
            <a:r>
              <a:rPr lang="en-US" dirty="0" err="1"/>
              <a:t>инструментов</a:t>
            </a:r>
            <a:r>
              <a:rPr lang="en-US" dirty="0"/>
              <a:t> и </a:t>
            </a:r>
            <a:r>
              <a:rPr lang="en-US" dirty="0" err="1"/>
              <a:t>сценариев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8690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довольно</a:t>
            </a:r>
            <a:r>
              <a:rPr lang="en-US" dirty="0"/>
              <a:t> </a:t>
            </a:r>
            <a:r>
              <a:rPr lang="en-US" dirty="0" err="1"/>
              <a:t>далеко</a:t>
            </a:r>
            <a:r>
              <a:rPr lang="en-US" dirty="0"/>
              <a:t> </a:t>
            </a:r>
            <a:r>
              <a:rPr lang="en-US" dirty="0" err="1"/>
              <a:t>продвинулись</a:t>
            </a:r>
            <a:r>
              <a:rPr lang="en-US" dirty="0"/>
              <a:t> в </a:t>
            </a:r>
            <a:r>
              <a:rPr lang="en-US" dirty="0" err="1"/>
              <a:t>разделении</a:t>
            </a:r>
            <a:r>
              <a:rPr lang="en-US" dirty="0"/>
              <a:t> </a:t>
            </a:r>
            <a:r>
              <a:rPr lang="en-US" dirty="0" err="1"/>
              <a:t>ответственностей</a:t>
            </a:r>
            <a:r>
              <a:rPr lang="en-US" dirty="0"/>
              <a:t>.</a:t>
            </a:r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и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образуют</a:t>
            </a:r>
            <a:r>
              <a:rPr lang="en-US" dirty="0"/>
              <a:t> </a:t>
            </a:r>
            <a:r>
              <a:rPr lang="en-US" dirty="0" err="1"/>
              <a:t>понятную</a:t>
            </a:r>
            <a:r>
              <a:rPr lang="en-US" dirty="0"/>
              <a:t> </a:t>
            </a:r>
            <a:r>
              <a:rPr lang="en-US" dirty="0" err="1"/>
              <a:t>предметную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EditorController</a:t>
            </a:r>
            <a:r>
              <a:rPr lang="en-US" dirty="0"/>
              <a:t> </a:t>
            </a:r>
            <a:r>
              <a:rPr lang="en-US" dirty="0" err="1"/>
              <a:t>получил</a:t>
            </a:r>
            <a:r>
              <a:rPr lang="en-US" dirty="0"/>
              <a:t> </a:t>
            </a:r>
            <a:r>
              <a:rPr lang="en-US" dirty="0" err="1"/>
              <a:t>самостоятельную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: </a:t>
            </a:r>
            <a:r>
              <a:rPr lang="en-US" dirty="0" err="1"/>
              <a:t>интерпретировать</a:t>
            </a:r>
            <a:r>
              <a:rPr lang="en-US" dirty="0"/>
              <a:t> </a:t>
            </a:r>
            <a:r>
              <a:rPr lang="en-US" dirty="0" err="1"/>
              <a:t>действия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и </a:t>
            </a:r>
            <a:r>
              <a:rPr lang="en-US" dirty="0" err="1"/>
              <a:t>инициировать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рисунком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экране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взгляд</a:t>
            </a:r>
            <a:r>
              <a:rPr lang="en-US" dirty="0"/>
              <a:t> </a:t>
            </a:r>
            <a:r>
              <a:rPr lang="en-US" dirty="0" err="1"/>
              <a:t>кажется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получили</a:t>
            </a:r>
            <a:r>
              <a:rPr lang="en-US" dirty="0"/>
              <a:t> Model, View и Controller.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внимательнее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оставшийся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предыдущих</a:t>
            </a:r>
            <a:r>
              <a:rPr lang="en-US" dirty="0"/>
              <a:t> </a:t>
            </a:r>
            <a:r>
              <a:rPr lang="en-US" dirty="0" err="1"/>
              <a:t>рефакторингов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стал</a:t>
            </a:r>
            <a:r>
              <a:rPr lang="en-US" dirty="0"/>
              <a:t> </a:t>
            </a:r>
            <a:r>
              <a:rPr lang="en-US" dirty="0" err="1"/>
              <a:t>заметно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нём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содержательный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pollEvent</a:t>
            </a:r>
            <a:r>
              <a:rPr lang="en-US" dirty="0"/>
              <a:t>, </a:t>
            </a:r>
            <a:r>
              <a:rPr lang="en-US" dirty="0" err="1"/>
              <a:t>разбирает</a:t>
            </a:r>
            <a:r>
              <a:rPr lang="en-US" dirty="0"/>
              <a:t> </a:t>
            </a:r>
            <a:r>
              <a:rPr lang="en-US" dirty="0" err="1"/>
              <a:t>конкретные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SFML, </a:t>
            </a:r>
            <a:r>
              <a:rPr lang="en-US" dirty="0" err="1"/>
              <a:t>извлекает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,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в </a:t>
            </a:r>
            <a:r>
              <a:rPr lang="en-US" dirty="0" err="1"/>
              <a:t>наши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Point2</a:t>
            </a:r>
            <a:r>
              <a:rPr lang="en-US" dirty="0"/>
              <a:t> и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EditorController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владеет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RenderWindow</a:t>
            </a:r>
            <a:r>
              <a:rPr lang="en-US" dirty="0"/>
              <a:t> и </a:t>
            </a:r>
            <a:r>
              <a:rPr lang="en-US" dirty="0" err="1"/>
              <a:t>организует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.</a:t>
            </a:r>
          </a:p>
          <a:p>
            <a:r>
              <a:rPr lang="en-US" dirty="0" err="1"/>
              <a:t>Получается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знание</a:t>
            </a:r>
            <a:r>
              <a:rPr lang="en-US" dirty="0"/>
              <a:t> о </a:t>
            </a:r>
            <a:r>
              <a:rPr lang="en-US" dirty="0" err="1"/>
              <a:t>конкретной</a:t>
            </a:r>
            <a:r>
              <a:rPr lang="en-US" dirty="0"/>
              <a:t> GUI-</a:t>
            </a:r>
            <a:r>
              <a:rPr lang="en-US" dirty="0" err="1"/>
              <a:t>библиотеке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минимум</a:t>
            </a:r>
            <a:r>
              <a:rPr lang="en-US" dirty="0"/>
              <a:t> в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местах</a:t>
            </a:r>
            <a:r>
              <a:rPr lang="en-US" dirty="0"/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SFML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отрисовки</a:t>
            </a:r>
            <a:r>
              <a:rPr lang="en-US" dirty="0"/>
              <a:t>.</a:t>
            </a:r>
          </a:p>
          <a:p>
            <a:r>
              <a:rPr lang="en-US" dirty="0"/>
              <a:t>А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использует</a:t>
            </a:r>
            <a:r>
              <a:rPr lang="en-US" dirty="0"/>
              <a:t> SFML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получения</a:t>
            </a:r>
            <a:r>
              <a:rPr lang="en-US" dirty="0"/>
              <a:t> </a:t>
            </a:r>
            <a:r>
              <a:rPr lang="en-US" dirty="0" err="1"/>
              <a:t>пользовательского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 и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окном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говорить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всю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View,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преждевременно</a:t>
            </a:r>
            <a:r>
              <a:rPr lang="en-US" dirty="0"/>
              <a:t>.</a:t>
            </a:r>
          </a:p>
          <a:p>
            <a:r>
              <a:rPr lang="en-US" dirty="0"/>
              <a:t>У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скорее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b="1" dirty="0" err="1"/>
              <a:t>часть</a:t>
            </a:r>
            <a:r>
              <a:rPr lang="en-US" b="1" dirty="0"/>
              <a:t> </a:t>
            </a:r>
            <a:r>
              <a:rPr lang="en-US" b="1" dirty="0" err="1"/>
              <a:t>ответственности</a:t>
            </a:r>
            <a:r>
              <a:rPr lang="en-US" b="1" dirty="0"/>
              <a:t> </a:t>
            </a:r>
            <a:r>
              <a:rPr lang="en-US" b="1" dirty="0" err="1"/>
              <a:t>представления</a:t>
            </a:r>
            <a:r>
              <a:rPr lang="en-US" dirty="0"/>
              <a:t>, а </a:t>
            </a:r>
            <a:r>
              <a:rPr lang="en-US" dirty="0" err="1"/>
              <a:t>остальная</a:t>
            </a:r>
            <a:r>
              <a:rPr lang="en-US" dirty="0"/>
              <a:t> GUI-</a:t>
            </a:r>
            <a:r>
              <a:rPr lang="en-US" dirty="0" err="1"/>
              <a:t>специфичная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важный</a:t>
            </a:r>
            <a:r>
              <a:rPr lang="en-US" dirty="0"/>
              <a:t> </a:t>
            </a:r>
            <a:r>
              <a:rPr lang="en-US" dirty="0" err="1"/>
              <a:t>промежуточный</a:t>
            </a:r>
            <a:r>
              <a:rPr lang="en-US" dirty="0"/>
              <a:t> </a:t>
            </a:r>
            <a:r>
              <a:rPr lang="en-US" dirty="0" err="1"/>
              <a:t>результат</a:t>
            </a:r>
            <a:r>
              <a:rPr lang="en-US" dirty="0"/>
              <a:t>.</a:t>
            </a:r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понимаем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роли</a:t>
            </a:r>
            <a:r>
              <a:rPr lang="en-US" dirty="0"/>
              <a:t> </a:t>
            </a:r>
            <a:r>
              <a:rPr lang="en-US" dirty="0" err="1"/>
              <a:t>начинают</a:t>
            </a:r>
            <a:r>
              <a:rPr lang="en-US" dirty="0"/>
              <a:t> </a:t>
            </a:r>
            <a:r>
              <a:rPr lang="en-US" dirty="0" err="1"/>
              <a:t>формироваться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закончили</a:t>
            </a:r>
            <a:r>
              <a:rPr lang="en-US" dirty="0"/>
              <a:t> </a:t>
            </a:r>
            <a:r>
              <a:rPr lang="en-US" dirty="0" err="1"/>
              <a:t>проводить</a:t>
            </a:r>
            <a:r>
              <a:rPr lang="en-US" dirty="0"/>
              <a:t> </a:t>
            </a:r>
            <a:r>
              <a:rPr lang="en-US" dirty="0" err="1"/>
              <a:t>границы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разобраться</a:t>
            </a:r>
            <a:r>
              <a:rPr lang="en-US" dirty="0"/>
              <a:t> с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непосредственной</a:t>
            </a:r>
            <a:r>
              <a:rPr lang="en-US" dirty="0"/>
              <a:t> </a:t>
            </a:r>
            <a:r>
              <a:rPr lang="en-US" dirty="0" err="1"/>
              <a:t>проблемой</a:t>
            </a:r>
            <a:r>
              <a:rPr lang="en-US" dirty="0"/>
              <a:t>: </a:t>
            </a:r>
            <a:r>
              <a:rPr lang="en-US" b="1" dirty="0" err="1"/>
              <a:t>почему</a:t>
            </a:r>
            <a:r>
              <a:rPr lang="en-US" b="1" dirty="0"/>
              <a:t> </a:t>
            </a:r>
            <a:r>
              <a:rPr lang="en-US" b="1" dirty="0" err="1"/>
              <a:t>точка</a:t>
            </a:r>
            <a:r>
              <a:rPr lang="en-US" b="1" dirty="0"/>
              <a:t> </a:t>
            </a:r>
            <a:r>
              <a:rPr lang="en-US" b="1" dirty="0" err="1"/>
              <a:t>входа</a:t>
            </a:r>
            <a:r>
              <a:rPr lang="en-US" b="1" dirty="0"/>
              <a:t> </a:t>
            </a:r>
            <a:r>
              <a:rPr lang="en-US" b="1" dirty="0" err="1"/>
              <a:t>приложения</a:t>
            </a:r>
            <a:r>
              <a:rPr lang="en-US" b="1" dirty="0"/>
              <a:t> </a:t>
            </a:r>
            <a:r>
              <a:rPr lang="en-US" b="1" dirty="0" err="1"/>
              <a:t>всё</a:t>
            </a:r>
            <a:r>
              <a:rPr lang="en-US" b="1" dirty="0"/>
              <a:t> </a:t>
            </a:r>
            <a:r>
              <a:rPr lang="en-US" b="1" dirty="0" err="1"/>
              <a:t>ещё</a:t>
            </a:r>
            <a:r>
              <a:rPr lang="en-US" b="1" dirty="0"/>
              <a:t> </a:t>
            </a:r>
            <a:r>
              <a:rPr lang="en-US" b="1" dirty="0" err="1"/>
              <a:t>знает</a:t>
            </a:r>
            <a:r>
              <a:rPr lang="en-US" b="1" dirty="0"/>
              <a:t> </a:t>
            </a:r>
            <a:r>
              <a:rPr lang="en-US" b="1" dirty="0" err="1"/>
              <a:t>столько</a:t>
            </a:r>
            <a:r>
              <a:rPr lang="en-US" b="1" dirty="0"/>
              <a:t> </a:t>
            </a:r>
            <a:r>
              <a:rPr lang="en-US" b="1" dirty="0" err="1"/>
              <a:t>подробностей</a:t>
            </a:r>
            <a:r>
              <a:rPr lang="en-US" b="1" dirty="0"/>
              <a:t> о SFML и </a:t>
            </a:r>
            <a:r>
              <a:rPr lang="en-US" b="1" dirty="0" err="1"/>
              <a:t>куда</a:t>
            </a:r>
            <a:r>
              <a:rPr lang="en-US" b="1" dirty="0"/>
              <a:t> </a:t>
            </a:r>
            <a:r>
              <a:rPr lang="en-US" b="1" dirty="0" err="1"/>
              <a:t>должна</a:t>
            </a:r>
            <a:r>
              <a:rPr lang="en-US" b="1" dirty="0"/>
              <a:t> </a:t>
            </a:r>
            <a:r>
              <a:rPr lang="en-US" b="1" dirty="0" err="1"/>
              <a:t>переехать</a:t>
            </a:r>
            <a:r>
              <a:rPr lang="en-US" b="1" dirty="0"/>
              <a:t> </a:t>
            </a:r>
            <a:r>
              <a:rPr lang="en-US" b="1" dirty="0" err="1"/>
              <a:t>эта</a:t>
            </a:r>
            <a:r>
              <a:rPr lang="en-US" b="1" dirty="0"/>
              <a:t> </a:t>
            </a:r>
            <a:r>
              <a:rPr lang="en-US" b="1" dirty="0" err="1"/>
              <a:t>ответственность</a:t>
            </a:r>
            <a:r>
              <a:rPr lang="en-US" b="1" dirty="0"/>
              <a:t>?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сможем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уверенно</a:t>
            </a:r>
            <a:r>
              <a:rPr lang="en-US" dirty="0"/>
              <a:t> </a:t>
            </a:r>
            <a:r>
              <a:rPr lang="en-US" dirty="0" err="1"/>
              <a:t>посмотреть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получившуюся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MVC.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79373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53264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вынесли</a:t>
            </a:r>
            <a:r>
              <a:rPr lang="en-US" dirty="0"/>
              <a:t> </a:t>
            </a:r>
            <a:r>
              <a:rPr lang="en-US" dirty="0" err="1"/>
              <a:t>предметную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, </a:t>
            </a:r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выделили</a:t>
            </a:r>
            <a:r>
              <a:rPr lang="en-US" dirty="0"/>
              <a:t> </a:t>
            </a:r>
            <a:r>
              <a:rPr lang="en-US" dirty="0" err="1"/>
              <a:t>отрисовку</a:t>
            </a:r>
            <a:r>
              <a:rPr lang="en-US" dirty="0"/>
              <a:t> и </a:t>
            </a:r>
            <a:r>
              <a:rPr lang="en-US" dirty="0" err="1"/>
              <a:t>отдельно</a:t>
            </a:r>
            <a:r>
              <a:rPr lang="en-US" dirty="0"/>
              <a:t> — </a:t>
            </a:r>
            <a:r>
              <a:rPr lang="en-US" dirty="0" err="1"/>
              <a:t>интерпретацию</a:t>
            </a:r>
            <a:r>
              <a:rPr lang="en-US" dirty="0"/>
              <a:t> </a:t>
            </a:r>
            <a:r>
              <a:rPr lang="en-US" dirty="0" err="1"/>
              <a:t>действий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осталось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окно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про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pollEvent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конкретные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SFML.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 и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методы</a:t>
            </a:r>
            <a:r>
              <a:rPr lang="en-US" dirty="0"/>
              <a:t> Controller.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очищает</a:t>
            </a:r>
            <a:r>
              <a:rPr lang="en-US" dirty="0"/>
              <a:t> </a:t>
            </a:r>
            <a:r>
              <a:rPr lang="en-US" dirty="0" err="1"/>
              <a:t>окно</a:t>
            </a:r>
            <a:r>
              <a:rPr lang="en-US" dirty="0"/>
              <a:t>, </a:t>
            </a:r>
            <a:r>
              <a:rPr lang="en-US" dirty="0" err="1"/>
              <a:t>запускает</a:t>
            </a:r>
            <a:r>
              <a:rPr lang="en-US" dirty="0"/>
              <a:t> rendering и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себе</a:t>
            </a:r>
            <a:r>
              <a:rPr lang="en-US" dirty="0"/>
              <a:t> </a:t>
            </a:r>
            <a:r>
              <a:rPr lang="en-US" dirty="0" err="1"/>
              <a:t>большой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проблемой</a:t>
            </a:r>
            <a:r>
              <a:rPr lang="en-US" dirty="0"/>
              <a:t>.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написать</a:t>
            </a:r>
            <a:r>
              <a:rPr lang="en-US" dirty="0"/>
              <a:t> </a:t>
            </a:r>
            <a:r>
              <a:rPr lang="en-US" dirty="0" err="1"/>
              <a:t>длинную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, у </a:t>
            </a:r>
            <a:r>
              <a:rPr lang="en-US" dirty="0" err="1"/>
              <a:t>которой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понятная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 </a:t>
            </a:r>
            <a:r>
              <a:rPr lang="en-US" dirty="0" err="1"/>
              <a:t>другая</a:t>
            </a:r>
            <a:r>
              <a:rPr lang="en-US" dirty="0"/>
              <a:t>: 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месте</a:t>
            </a:r>
            <a:r>
              <a:rPr lang="en-US" dirty="0"/>
              <a:t> </a:t>
            </a:r>
            <a:r>
              <a:rPr lang="en-US" dirty="0" err="1"/>
              <a:t>оказались</a:t>
            </a:r>
            <a:r>
              <a:rPr lang="en-US" dirty="0"/>
              <a:t> </a:t>
            </a:r>
            <a:r>
              <a:rPr lang="en-US" dirty="0" err="1"/>
              <a:t>знания</a:t>
            </a:r>
            <a:r>
              <a:rPr lang="en-US" dirty="0"/>
              <a:t>, </a:t>
            </a:r>
            <a:r>
              <a:rPr lang="en-US" dirty="0" err="1"/>
              <a:t>изменяющиеся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разным</a:t>
            </a:r>
            <a:r>
              <a:rPr lang="en-US" dirty="0"/>
              <a:t> </a:t>
            </a:r>
            <a:r>
              <a:rPr lang="en-US" dirty="0" err="1"/>
              <a:t>причинам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создания</a:t>
            </a:r>
            <a:r>
              <a:rPr lang="en-US" dirty="0"/>
              <a:t> и </a:t>
            </a:r>
            <a:r>
              <a:rPr lang="en-US" dirty="0" err="1"/>
              <a:t>компоновки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</a:t>
            </a:r>
            <a:r>
              <a:rPr lang="en-US" dirty="0" err="1"/>
              <a:t>почти</a:t>
            </a:r>
            <a:r>
              <a:rPr lang="en-US" dirty="0"/>
              <a:t> </a:t>
            </a:r>
            <a:r>
              <a:rPr lang="en-US" dirty="0" err="1"/>
              <a:t>никак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связан</a:t>
            </a:r>
            <a:r>
              <a:rPr lang="en-US" dirty="0"/>
              <a:t> с </a:t>
            </a:r>
            <a:r>
              <a:rPr lang="en-US" dirty="0" err="1"/>
              <a:t>тем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SFML </a:t>
            </a:r>
            <a:r>
              <a:rPr lang="en-US" dirty="0" err="1"/>
              <a:t>сообщает</a:t>
            </a:r>
            <a:r>
              <a:rPr lang="en-US" dirty="0"/>
              <a:t> о </a:t>
            </a:r>
            <a:r>
              <a:rPr lang="en-US" dirty="0" err="1"/>
              <a:t>движении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завтра</a:t>
            </a:r>
            <a:r>
              <a:rPr lang="en-US" dirty="0"/>
              <a:t> </a:t>
            </a:r>
            <a:r>
              <a:rPr lang="en-US" dirty="0" err="1"/>
              <a:t>изменится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,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придётся</a:t>
            </a:r>
            <a:r>
              <a:rPr lang="en-US" dirty="0"/>
              <a:t> </a:t>
            </a:r>
            <a:r>
              <a:rPr lang="en-US" dirty="0" err="1"/>
              <a:t>менять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изменится</a:t>
            </a:r>
            <a:r>
              <a:rPr lang="en-US" dirty="0"/>
              <a:t> </a:t>
            </a:r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— </a:t>
            </a:r>
            <a:r>
              <a:rPr lang="en-US" dirty="0" err="1"/>
              <a:t>опять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попробуем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придумать</a:t>
            </a:r>
            <a:r>
              <a:rPr lang="en-US" dirty="0"/>
              <a:t> </a:t>
            </a:r>
            <a:r>
              <a:rPr lang="en-US" dirty="0" err="1"/>
              <a:t>новую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</a:t>
            </a:r>
            <a:r>
              <a:rPr lang="en-US" dirty="0" err="1"/>
              <a:t>целиком</a:t>
            </a:r>
            <a:r>
              <a:rPr lang="en-US" dirty="0"/>
              <a:t>, а </a:t>
            </a:r>
            <a:r>
              <a:rPr lang="en-US" dirty="0" err="1"/>
              <a:t>последовательно</a:t>
            </a:r>
            <a:r>
              <a:rPr lang="en-US" dirty="0"/>
              <a:t> </a:t>
            </a:r>
            <a:r>
              <a:rPr lang="en-US" dirty="0" err="1"/>
              <a:t>разобрать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существующие</a:t>
            </a:r>
            <a:r>
              <a:rPr lang="en-US" dirty="0"/>
              <a:t> </a:t>
            </a:r>
            <a:r>
              <a:rPr lang="en-US" dirty="0" err="1"/>
              <a:t>обязанности</a:t>
            </a:r>
            <a:r>
              <a:rPr lang="en-US" dirty="0"/>
              <a:t>.</a:t>
            </a:r>
          </a:p>
          <a:p>
            <a:r>
              <a:rPr lang="en-US" dirty="0"/>
              <a:t>И </a:t>
            </a:r>
            <a:r>
              <a:rPr lang="en-US" dirty="0" err="1"/>
              <a:t>начнём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с SFML, а с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небольшой</a:t>
            </a:r>
            <a:r>
              <a:rPr lang="en-US" dirty="0"/>
              <a:t> </a:t>
            </a:r>
            <a:r>
              <a:rPr lang="en-US" dirty="0" err="1"/>
              <a:t>странности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появилась</a:t>
            </a:r>
            <a:r>
              <a:rPr lang="en-US" dirty="0"/>
              <a:t> 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коде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48323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сих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 </a:t>
            </a:r>
            <a:r>
              <a:rPr lang="en-US" dirty="0" err="1"/>
              <a:t>выбранная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хранилась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Controller.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первой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нормально</a:t>
            </a:r>
            <a:r>
              <a:rPr lang="en-US" dirty="0"/>
              <a:t>: </a:t>
            </a:r>
            <a:r>
              <a:rPr lang="en-US" dirty="0" err="1"/>
              <a:t>именно</a:t>
            </a:r>
            <a:r>
              <a:rPr lang="en-US" dirty="0"/>
              <a:t> Controller </a:t>
            </a:r>
            <a:r>
              <a:rPr lang="en-US" dirty="0" err="1"/>
              <a:t>выбирал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естественно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рядом</a:t>
            </a:r>
            <a:r>
              <a:rPr lang="en-US" dirty="0"/>
              <a:t> с </a:t>
            </a:r>
            <a:r>
              <a:rPr lang="en-US" dirty="0" err="1"/>
              <a:t>кодом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ru-RU" dirty="0"/>
              <a:t> </a:t>
            </a:r>
            <a:r>
              <a:rPr lang="en-US" dirty="0"/>
              <a:t>main </a:t>
            </a:r>
            <a:r>
              <a:rPr lang="ru-RU" dirty="0"/>
              <a:t>спрашивает</a:t>
            </a:r>
            <a:r>
              <a:rPr lang="en-US" dirty="0"/>
              <a:t> </a:t>
            </a:r>
            <a:r>
              <a:rPr lang="en-US" dirty="0" err="1"/>
              <a:t>спрашивает</a:t>
            </a:r>
            <a:r>
              <a:rPr lang="en-US" dirty="0"/>
              <a:t> у Controller, </a:t>
            </a:r>
            <a:r>
              <a:rPr lang="en-US" dirty="0" err="1"/>
              <a:t>какая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выбрана</a:t>
            </a:r>
            <a:r>
              <a:rPr lang="ru-RU" dirty="0"/>
              <a:t>, чтобы передать её в </a:t>
            </a:r>
            <a:r>
              <a:rPr lang="en-US" dirty="0" err="1"/>
              <a:t>DrawingRenderer</a:t>
            </a:r>
            <a:r>
              <a:rPr lang="en-US" dirty="0"/>
              <a:t>.</a:t>
            </a:r>
          </a:p>
          <a:p>
            <a:r>
              <a:rPr lang="en-US" dirty="0"/>
              <a:t>Это </a:t>
            </a:r>
            <a:r>
              <a:rPr lang="en-US" dirty="0" err="1"/>
              <a:t>повод</a:t>
            </a:r>
            <a:r>
              <a:rPr lang="en-US" dirty="0"/>
              <a:t> </a:t>
            </a:r>
            <a:r>
              <a:rPr lang="en-US" dirty="0" err="1"/>
              <a:t>задуматься</a:t>
            </a:r>
            <a:r>
              <a:rPr lang="en-US" dirty="0"/>
              <a:t>: selection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внутренней</a:t>
            </a:r>
            <a:r>
              <a:rPr lang="en-US" dirty="0"/>
              <a:t> </a:t>
            </a:r>
            <a:r>
              <a:rPr lang="en-US" dirty="0" err="1"/>
              <a:t>подробностью</a:t>
            </a:r>
            <a:r>
              <a:rPr lang="en-US" dirty="0"/>
              <a:t> Controller?</a:t>
            </a:r>
          </a:p>
          <a:p>
            <a:r>
              <a:rPr lang="en-US" dirty="0" err="1"/>
              <a:t>Нет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Selection </a:t>
            </a:r>
            <a:r>
              <a:rPr lang="en-US" dirty="0" err="1"/>
              <a:t>описывает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с </a:t>
            </a:r>
            <a:r>
              <a:rPr lang="en-US" dirty="0" err="1"/>
              <a:t>документом</a:t>
            </a:r>
            <a:r>
              <a:rPr lang="en-US" dirty="0"/>
              <a:t>.</a:t>
            </a:r>
          </a:p>
          <a:p>
            <a:r>
              <a:rPr lang="en-US" dirty="0"/>
              <a:t>Controller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b="1" dirty="0" err="1"/>
              <a:t>изменяет</a:t>
            </a:r>
            <a:r>
              <a:rPr lang="en-US" dirty="0"/>
              <a:t>, а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b="1" dirty="0" err="1"/>
              <a:t>читает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нарисовать</a:t>
            </a:r>
            <a:r>
              <a:rPr lang="en-US" dirty="0"/>
              <a:t> </a:t>
            </a:r>
            <a:r>
              <a:rPr lang="en-US" dirty="0" err="1"/>
              <a:t>рамку</a:t>
            </a:r>
            <a:r>
              <a:rPr lang="en-US" dirty="0"/>
              <a:t> </a:t>
            </a:r>
            <a:r>
              <a:rPr lang="en-US" dirty="0" err="1"/>
              <a:t>выделения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когда-нибудь</a:t>
            </a:r>
            <a:r>
              <a:rPr lang="en-US" dirty="0"/>
              <a:t> </a:t>
            </a:r>
            <a:r>
              <a:rPr lang="en-US" dirty="0" err="1"/>
              <a:t>появится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документа</a:t>
            </a:r>
            <a:r>
              <a:rPr lang="en-US" dirty="0"/>
              <a:t>, </a:t>
            </a:r>
            <a:r>
              <a:rPr lang="en-US" dirty="0" err="1"/>
              <a:t>оно</a:t>
            </a:r>
            <a:r>
              <a:rPr lang="en-US" dirty="0"/>
              <a:t>, </a:t>
            </a:r>
            <a:r>
              <a:rPr lang="en-US" dirty="0" err="1"/>
              <a:t>скорее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,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показывать</a:t>
            </a:r>
            <a:r>
              <a:rPr lang="en-US" dirty="0"/>
              <a:t>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небольшой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. В </a:t>
            </a:r>
            <a:r>
              <a:rPr lang="en-US" dirty="0" err="1"/>
              <a:t>нём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храним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свалить</a:t>
            </a:r>
            <a:r>
              <a:rPr lang="en-US" dirty="0"/>
              <a:t> </a:t>
            </a:r>
            <a:r>
              <a:rPr lang="en-US" dirty="0" err="1"/>
              <a:t>туда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isDragging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lastMousePosition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Controller.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описывают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сеанс</a:t>
            </a:r>
            <a:r>
              <a:rPr lang="en-US" dirty="0"/>
              <a:t> </a:t>
            </a:r>
            <a:r>
              <a:rPr lang="en-US" dirty="0" err="1"/>
              <a:t>редактирования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, а </a:t>
            </a:r>
            <a:r>
              <a:rPr lang="en-US" dirty="0" err="1"/>
              <a:t>конкретное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мышью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полезное</a:t>
            </a:r>
            <a:r>
              <a:rPr lang="en-US" dirty="0"/>
              <a:t> </a:t>
            </a:r>
            <a:r>
              <a:rPr lang="en-US" dirty="0" err="1"/>
              <a:t>различие</a:t>
            </a:r>
            <a:r>
              <a:rPr lang="en-US" dirty="0"/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самого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 —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 с </a:t>
            </a:r>
            <a:r>
              <a:rPr lang="en-US" dirty="0" err="1"/>
              <a:t>этим</a:t>
            </a:r>
            <a:r>
              <a:rPr lang="en-US" dirty="0"/>
              <a:t> </a:t>
            </a:r>
            <a:r>
              <a:rPr lang="en-US" dirty="0" err="1"/>
              <a:t>рисунком</a:t>
            </a:r>
            <a:r>
              <a:rPr lang="en-US" dirty="0"/>
              <a:t>.</a:t>
            </a:r>
          </a:p>
          <a:p>
            <a:r>
              <a:rPr lang="en-US" dirty="0"/>
              <a:t>А Controller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временное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жеста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Это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случай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сознательно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вводили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</a:t>
            </a:r>
            <a:r>
              <a:rPr lang="en-US" dirty="0" err="1"/>
              <a:t>ради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. </a:t>
            </a:r>
            <a:r>
              <a:rPr lang="en-US" dirty="0" err="1"/>
              <a:t>Теперь</a:t>
            </a:r>
            <a:r>
              <a:rPr lang="en-US" dirty="0"/>
              <a:t> у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появился</a:t>
            </a:r>
            <a:r>
              <a:rPr lang="en-US" dirty="0"/>
              <a:t> </a:t>
            </a:r>
            <a:r>
              <a:rPr lang="en-US" dirty="0" err="1"/>
              <a:t>второй</a:t>
            </a:r>
            <a:r>
              <a:rPr lang="en-US" dirty="0"/>
              <a:t> </a:t>
            </a:r>
            <a:r>
              <a:rPr lang="en-US" dirty="0" err="1"/>
              <a:t>потребитель</a:t>
            </a:r>
            <a:r>
              <a:rPr lang="en-US" dirty="0"/>
              <a:t>, и </a:t>
            </a:r>
            <a:r>
              <a:rPr lang="en-US" dirty="0" err="1"/>
              <a:t>выделение</a:t>
            </a:r>
            <a:r>
              <a:rPr lang="en-US" dirty="0"/>
              <a:t> </a:t>
            </a:r>
            <a:r>
              <a:rPr lang="en-US" dirty="0" err="1"/>
              <a:t>стало</a:t>
            </a:r>
            <a:r>
              <a:rPr lang="en-US" dirty="0"/>
              <a:t> </a:t>
            </a:r>
            <a:r>
              <a:rPr lang="en-US" dirty="0" err="1"/>
              <a:t>оправданным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85935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появления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 </a:t>
            </a:r>
            <a:r>
              <a:rPr lang="en-US" dirty="0" err="1"/>
              <a:t>стоит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посмотреть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наш</a:t>
            </a:r>
            <a:r>
              <a:rPr lang="en-US" dirty="0"/>
              <a:t> Controller.</a:t>
            </a:r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назвали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EditorController</a:t>
            </a:r>
            <a:r>
              <a:rPr lang="en-US" dirty="0"/>
              <a:t>, </a:t>
            </a:r>
            <a:r>
              <a:rPr lang="en-US" dirty="0" err="1"/>
              <a:t>потому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в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единственный</a:t>
            </a:r>
            <a:r>
              <a:rPr lang="en-US" dirty="0"/>
              <a:t> Controller в </a:t>
            </a:r>
            <a:r>
              <a:rPr lang="en-US" dirty="0" err="1"/>
              <a:t>приложении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деле</a:t>
            </a:r>
            <a:r>
              <a:rPr lang="en-US" dirty="0"/>
              <a:t> </a:t>
            </a:r>
            <a:r>
              <a:rPr lang="en-US" dirty="0" err="1"/>
              <a:t>контролирует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реагирует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клик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. </a:t>
            </a:r>
            <a:r>
              <a:rPr lang="en-US" dirty="0" err="1"/>
              <a:t>Ищет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курсором</a:t>
            </a:r>
            <a:r>
              <a:rPr lang="en-US" dirty="0"/>
              <a:t>. </a:t>
            </a:r>
            <a:r>
              <a:rPr lang="en-US" dirty="0" err="1"/>
              <a:t>Начинает</a:t>
            </a:r>
            <a:r>
              <a:rPr lang="en-US" dirty="0"/>
              <a:t> drag.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движение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 </a:t>
            </a:r>
            <a:r>
              <a:rPr lang="en-US" dirty="0" err="1"/>
              <a:t>перемещает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.</a:t>
            </a:r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Controller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.</a:t>
            </a:r>
          </a:p>
          <a:p>
            <a:r>
              <a:rPr lang="en-US" dirty="0"/>
              <a:t>Это Controller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интерактивного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 — Canvas.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точное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 —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кажется</a:t>
            </a:r>
            <a:r>
              <a:rPr lang="en-US" dirty="0"/>
              <a:t> </a:t>
            </a:r>
            <a:r>
              <a:rPr lang="en-US" dirty="0" err="1"/>
              <a:t>косметическим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хорошее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 </a:t>
            </a:r>
            <a:r>
              <a:rPr lang="en-US" dirty="0" err="1"/>
              <a:t>фиксирует</a:t>
            </a:r>
            <a:r>
              <a:rPr lang="en-US" dirty="0"/>
              <a:t> </a:t>
            </a:r>
            <a:r>
              <a:rPr lang="en-US" dirty="0" err="1"/>
              <a:t>архитектурную</a:t>
            </a:r>
            <a:r>
              <a:rPr lang="en-US" dirty="0"/>
              <a:t> </a:t>
            </a:r>
            <a:r>
              <a:rPr lang="en-US" dirty="0" err="1"/>
              <a:t>границу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позднее</a:t>
            </a:r>
            <a:r>
              <a:rPr lang="en-US" dirty="0"/>
              <a:t> </a:t>
            </a:r>
            <a:r>
              <a:rPr lang="en-US" dirty="0" err="1"/>
              <a:t>появятся</a:t>
            </a:r>
            <a:r>
              <a:rPr lang="en-US" dirty="0"/>
              <a:t> </a:t>
            </a:r>
            <a:r>
              <a:rPr lang="en-US" dirty="0" err="1"/>
              <a:t>меню</a:t>
            </a:r>
            <a:r>
              <a:rPr lang="en-US" dirty="0"/>
              <a:t>, </a:t>
            </a:r>
            <a:r>
              <a:rPr lang="en-US" dirty="0" err="1"/>
              <a:t>панель</a:t>
            </a:r>
            <a:r>
              <a:rPr lang="en-US" dirty="0"/>
              <a:t> </a:t>
            </a:r>
            <a:r>
              <a:rPr lang="en-US" dirty="0" err="1"/>
              <a:t>свойств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другое</a:t>
            </a:r>
            <a:r>
              <a:rPr lang="en-US" dirty="0"/>
              <a:t> </a:t>
            </a:r>
            <a:r>
              <a:rPr lang="en-US" dirty="0" err="1"/>
              <a:t>интерактивное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,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обязано</a:t>
            </a:r>
            <a:r>
              <a:rPr lang="en-US" dirty="0"/>
              <a:t> </a:t>
            </a:r>
            <a:r>
              <a:rPr lang="en-US" dirty="0" err="1"/>
              <a:t>попадать</a:t>
            </a:r>
            <a:r>
              <a:rPr lang="en-US" dirty="0"/>
              <a:t> в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и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зависимости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SFML.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с </a:t>
            </a:r>
            <a:r>
              <a:rPr lang="en-US" dirty="0" err="1"/>
              <a:t>нашими</a:t>
            </a:r>
            <a:r>
              <a:rPr lang="en-US" dirty="0"/>
              <a:t> </a:t>
            </a:r>
            <a:r>
              <a:rPr lang="en-US" dirty="0" err="1"/>
              <a:t>понятиями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Point2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GUI-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о </a:t>
            </a:r>
            <a:r>
              <a:rPr lang="en-US" dirty="0" err="1"/>
              <a:t>физических</a:t>
            </a:r>
            <a:r>
              <a:rPr lang="en-US" dirty="0"/>
              <a:t> </a:t>
            </a:r>
            <a:r>
              <a:rPr lang="en-US" dirty="0" err="1"/>
              <a:t>событиях</a:t>
            </a:r>
            <a:r>
              <a:rPr lang="en-US" dirty="0"/>
              <a:t> </a:t>
            </a:r>
            <a:r>
              <a:rPr lang="en-US" dirty="0" err="1"/>
              <a:t>где-то</a:t>
            </a:r>
            <a:r>
              <a:rPr lang="en-US" dirty="0"/>
              <a:t> </a:t>
            </a:r>
            <a:r>
              <a:rPr lang="en-US" dirty="0" err="1"/>
              <a:t>снаружи</a:t>
            </a:r>
            <a:r>
              <a:rPr lang="en-US" dirty="0"/>
              <a:t>, а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языке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07704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вернёмся</a:t>
            </a:r>
            <a:r>
              <a:rPr lang="en-US" dirty="0"/>
              <a:t> к </a:t>
            </a:r>
            <a:r>
              <a:rPr lang="en-US" dirty="0" err="1"/>
              <a:t>коду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.</a:t>
            </a:r>
          </a:p>
          <a:p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остались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группы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относятся</a:t>
            </a:r>
            <a:r>
              <a:rPr lang="en-US" dirty="0"/>
              <a:t> к Canvas.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,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получаем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SFML и </a:t>
            </a:r>
            <a:r>
              <a:rPr lang="en-US" dirty="0" err="1"/>
              <a:t>переводим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в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.</a:t>
            </a:r>
          </a:p>
          <a:p>
            <a:r>
              <a:rPr lang="en-US" dirty="0"/>
              <a:t>С </a:t>
            </a:r>
            <a:r>
              <a:rPr lang="en-US" dirty="0" err="1"/>
              <a:t>другой</a:t>
            </a:r>
            <a:r>
              <a:rPr lang="en-US" dirty="0"/>
              <a:t> — </a:t>
            </a:r>
            <a:r>
              <a:rPr lang="en-US" dirty="0" err="1"/>
              <a:t>вызываем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показать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 и </a:t>
            </a:r>
            <a:r>
              <a:rPr lang="en-US" dirty="0" err="1"/>
              <a:t>выделение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элемента</a:t>
            </a:r>
            <a:r>
              <a:rPr lang="en-US" dirty="0"/>
              <a:t> </a:t>
            </a:r>
            <a:r>
              <a:rPr lang="en-US" dirty="0" err="1"/>
              <a:t>пользовательского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.</a:t>
            </a:r>
          </a:p>
          <a:p>
            <a:r>
              <a:rPr lang="en-US" dirty="0"/>
              <a:t>Canvas </a:t>
            </a:r>
            <a:r>
              <a:rPr lang="en-US" dirty="0" err="1"/>
              <a:t>что-то</a:t>
            </a:r>
            <a:r>
              <a:rPr lang="en-US" dirty="0"/>
              <a:t> </a:t>
            </a:r>
            <a:r>
              <a:rPr lang="en-US" b="1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пользователю</a:t>
            </a:r>
            <a:r>
              <a:rPr lang="en-US" dirty="0"/>
              <a:t> и </a:t>
            </a:r>
            <a:r>
              <a:rPr lang="en-US" dirty="0" err="1"/>
              <a:t>что-то</a:t>
            </a:r>
            <a:r>
              <a:rPr lang="en-US" dirty="0"/>
              <a:t> </a:t>
            </a:r>
            <a:r>
              <a:rPr lang="en-US" b="1" dirty="0" err="1"/>
              <a:t>принимает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оформим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самостоятельный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 —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смешиваем</a:t>
            </a:r>
            <a:r>
              <a:rPr lang="en-US" dirty="0"/>
              <a:t> </a:t>
            </a:r>
            <a:r>
              <a:rPr lang="en-US" dirty="0" err="1"/>
              <a:t>ответственности</a:t>
            </a:r>
            <a:r>
              <a:rPr lang="en-US" dirty="0"/>
              <a:t> </a:t>
            </a:r>
            <a:r>
              <a:rPr lang="en-US" dirty="0" err="1"/>
              <a:t>обратно</a:t>
            </a:r>
            <a:r>
              <a:rPr lang="en-US" dirty="0"/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решать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 drag.</a:t>
            </a:r>
          </a:p>
          <a:p>
            <a:endParaRPr lang="en-US" dirty="0"/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dirty="0" err="1"/>
              <a:t>конкретной</a:t>
            </a:r>
            <a:r>
              <a:rPr lang="en-US" dirty="0"/>
              <a:t> GUI-</a:t>
            </a:r>
            <a:r>
              <a:rPr lang="en-US" dirty="0" err="1"/>
              <a:t>библиотеки</a:t>
            </a:r>
            <a:r>
              <a:rPr lang="en-US" dirty="0"/>
              <a:t> </a:t>
            </a:r>
            <a:r>
              <a:rPr lang="en-US" dirty="0" err="1"/>
              <a:t>превратить</a:t>
            </a:r>
            <a:r>
              <a:rPr lang="en-US" dirty="0"/>
              <a:t> в </a:t>
            </a:r>
            <a:r>
              <a:rPr lang="en-US" dirty="0" err="1"/>
              <a:t>входные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Controller.</a:t>
            </a:r>
          </a:p>
          <a:p>
            <a:r>
              <a:rPr lang="en-US" dirty="0" err="1"/>
              <a:t>Например</a:t>
            </a:r>
            <a:r>
              <a:rPr lang="en-US" dirty="0"/>
              <a:t>: </a:t>
            </a:r>
            <a:r>
              <a:rPr lang="ru-RU" dirty="0"/>
              <a:t>преобразовать событие </a:t>
            </a:r>
            <a:r>
              <a:rPr lang="en-US" dirty="0"/>
              <a:t>MouseMoved</a:t>
            </a:r>
            <a:r>
              <a:rPr lang="ru-RU" dirty="0"/>
              <a:t> в вызов </a:t>
            </a:r>
            <a:r>
              <a:rPr lang="en-US" dirty="0" err="1"/>
              <a:t>OnMouseMoved</a:t>
            </a:r>
            <a:r>
              <a:rPr lang="ru-RU" dirty="0"/>
              <a:t> контролера</a:t>
            </a:r>
            <a:endParaRPr lang="en-US" dirty="0"/>
          </a:p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движение</a:t>
            </a:r>
            <a:r>
              <a:rPr lang="en-US" dirty="0"/>
              <a:t> — </a:t>
            </a:r>
            <a:r>
              <a:rPr lang="en-US" dirty="0" err="1"/>
              <a:t>решает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А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по-прежнему</a:t>
            </a:r>
            <a:r>
              <a:rPr lang="en-US" dirty="0"/>
              <a:t> </a:t>
            </a:r>
            <a:r>
              <a:rPr lang="en-US" dirty="0" err="1"/>
              <a:t>решает</a:t>
            </a:r>
            <a:r>
              <a:rPr lang="en-US" dirty="0"/>
              <a:t> </a:t>
            </a:r>
            <a:r>
              <a:rPr lang="en-US" dirty="0" err="1"/>
              <a:t>отдельную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: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набором</a:t>
            </a:r>
            <a:r>
              <a:rPr lang="en-US" dirty="0"/>
              <a:t> </a:t>
            </a:r>
            <a:r>
              <a:rPr lang="en-US" dirty="0" err="1"/>
              <a:t>графических</a:t>
            </a:r>
            <a:r>
              <a:rPr lang="en-US" dirty="0"/>
              <a:t> </a:t>
            </a:r>
            <a:r>
              <a:rPr lang="en-US" dirty="0" err="1"/>
              <a:t>примитивов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.</a:t>
            </a:r>
            <a:endParaRPr lang="ru-RU" dirty="0"/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в </a:t>
            </a:r>
            <a:r>
              <a:rPr lang="en-US" dirty="0" err="1"/>
              <a:t>один</a:t>
            </a:r>
            <a:r>
              <a:rPr lang="en-US" dirty="0"/>
              <a:t> UI-</a:t>
            </a:r>
            <a:r>
              <a:rPr lang="en-US" dirty="0" err="1"/>
              <a:t>компонент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И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естественно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владеет</a:t>
            </a:r>
            <a:r>
              <a:rPr lang="en-US" dirty="0"/>
              <a:t> </a:t>
            </a:r>
            <a:r>
              <a:rPr lang="en-US" dirty="0" err="1"/>
              <a:t>своим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Controller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Canvas, и </a:t>
            </a:r>
            <a:r>
              <a:rPr lang="en-US" dirty="0" err="1"/>
              <a:t>отдельного</a:t>
            </a:r>
            <a:r>
              <a:rPr lang="en-US" dirty="0"/>
              <a:t> </a:t>
            </a:r>
            <a:r>
              <a:rPr lang="en-US" dirty="0" err="1"/>
              <a:t>жизненного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32076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видно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связывает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выделенные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верхней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показан</a:t>
            </a:r>
            <a:r>
              <a:rPr lang="en-US" dirty="0"/>
              <a:t> </a:t>
            </a:r>
            <a:r>
              <a:rPr lang="en-US" dirty="0" err="1"/>
              <a:t>путь</a:t>
            </a:r>
            <a:r>
              <a:rPr lang="en-US" dirty="0"/>
              <a:t> </a:t>
            </a:r>
            <a:r>
              <a:rPr lang="en-US" dirty="0" err="1"/>
              <a:t>пользовательского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SFML,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в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предметный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OnMouseMoved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(point)</a:t>
            </a:r>
            <a:r>
              <a:rPr lang="en-US" dirty="0"/>
              <a:t>, а </a:t>
            </a:r>
            <a:r>
              <a:rPr lang="en-US" dirty="0" err="1"/>
              <a:t>дальше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решает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движение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и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нижней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— </a:t>
            </a:r>
            <a:r>
              <a:rPr lang="en-US" dirty="0" err="1"/>
              <a:t>обратное</a:t>
            </a:r>
            <a:r>
              <a:rPr lang="en-US" dirty="0"/>
              <a:t> </a:t>
            </a:r>
            <a:r>
              <a:rPr lang="en-US" dirty="0" err="1"/>
              <a:t>направление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отрисовке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 и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в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точкой</a:t>
            </a:r>
            <a:r>
              <a:rPr lang="en-US" dirty="0"/>
              <a:t> </a:t>
            </a:r>
            <a:r>
              <a:rPr lang="en-US" dirty="0" err="1"/>
              <a:t>координации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: с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адаптирует</a:t>
            </a:r>
            <a:r>
              <a:rPr lang="en-US" dirty="0"/>
              <a:t> </a:t>
            </a:r>
            <a:r>
              <a:rPr lang="en-US" dirty="0" err="1"/>
              <a:t>ввод</a:t>
            </a:r>
            <a:r>
              <a:rPr lang="en-US" dirty="0"/>
              <a:t>, с </a:t>
            </a:r>
            <a:r>
              <a:rPr lang="en-US" dirty="0" err="1"/>
              <a:t>другой</a:t>
            </a:r>
            <a:r>
              <a:rPr lang="en-US" dirty="0"/>
              <a:t> — </a:t>
            </a:r>
            <a:r>
              <a:rPr lang="en-US" dirty="0" err="1"/>
              <a:t>собирает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необходимые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берет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dirty="0" err="1"/>
              <a:t>предметную</a:t>
            </a:r>
            <a:r>
              <a:rPr lang="en-US" dirty="0"/>
              <a:t> </a:t>
            </a:r>
            <a:r>
              <a:rPr lang="en-US" dirty="0" err="1"/>
              <a:t>логику</a:t>
            </a:r>
            <a:r>
              <a:rPr lang="en-US" dirty="0"/>
              <a:t>,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dirty="0" err="1"/>
              <a:t>логику</a:t>
            </a:r>
            <a:r>
              <a:rPr lang="en-US" dirty="0"/>
              <a:t> drag,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dirty="0" err="1"/>
              <a:t>детали</a:t>
            </a:r>
            <a:r>
              <a:rPr lang="en-US" dirty="0"/>
              <a:t> </a:t>
            </a:r>
            <a:r>
              <a:rPr lang="en-US" dirty="0" err="1"/>
              <a:t>рисования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56273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появления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довольно</a:t>
            </a:r>
            <a:r>
              <a:rPr lang="en-US" dirty="0"/>
              <a:t> </a:t>
            </a:r>
            <a:r>
              <a:rPr lang="en-US" dirty="0" err="1"/>
              <a:t>естественный</a:t>
            </a:r>
            <a:r>
              <a:rPr lang="en-US" dirty="0"/>
              <a:t> </a:t>
            </a:r>
            <a:r>
              <a:rPr lang="en-US" dirty="0" err="1"/>
              <a:t>соблазн</a:t>
            </a:r>
            <a:r>
              <a:rPr lang="en-US" dirty="0"/>
              <a:t> </a:t>
            </a:r>
            <a:r>
              <a:rPr lang="en-US" dirty="0" err="1"/>
              <a:t>перенести</a:t>
            </a:r>
            <a:r>
              <a:rPr lang="en-US" dirty="0"/>
              <a:t> </a:t>
            </a:r>
            <a:r>
              <a:rPr lang="en-US" dirty="0" err="1"/>
              <a:t>туда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весь</a:t>
            </a:r>
            <a:r>
              <a:rPr lang="en-US" dirty="0"/>
              <a:t> GUI-</a:t>
            </a:r>
            <a:r>
              <a:rPr lang="en-US" dirty="0" err="1"/>
              <a:t>код</a:t>
            </a:r>
            <a:r>
              <a:rPr lang="en-US" dirty="0"/>
              <a:t>, </a:t>
            </a:r>
            <a:r>
              <a:rPr lang="en-US" dirty="0" err="1"/>
              <a:t>включая</a:t>
            </a:r>
            <a:r>
              <a:rPr lang="en-US" dirty="0"/>
              <a:t> </a:t>
            </a:r>
            <a:r>
              <a:rPr lang="en-US" dirty="0" err="1"/>
              <a:t>создание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 и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pollEvent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сегодняшнего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работало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смысл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ответственности</a:t>
            </a:r>
            <a:r>
              <a:rPr lang="en-US" dirty="0"/>
              <a:t>.</a:t>
            </a:r>
          </a:p>
          <a:p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pollEvent</a:t>
            </a:r>
            <a:r>
              <a:rPr lang="en-US" dirty="0"/>
              <a:t> </a:t>
            </a:r>
            <a:r>
              <a:rPr lang="en-US" dirty="0" err="1"/>
              <a:t>относится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к Canvas.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относится</a:t>
            </a:r>
            <a:r>
              <a:rPr lang="en-US" dirty="0"/>
              <a:t> </a:t>
            </a:r>
            <a:r>
              <a:rPr lang="en-US" dirty="0" err="1"/>
              <a:t>ко</a:t>
            </a:r>
            <a:r>
              <a:rPr lang="en-US" dirty="0"/>
              <a:t> </a:t>
            </a:r>
            <a:r>
              <a:rPr lang="en-US" dirty="0" err="1"/>
              <a:t>всему</a:t>
            </a:r>
            <a:r>
              <a:rPr lang="en-US" dirty="0"/>
              <a:t> </a:t>
            </a:r>
            <a:r>
              <a:rPr lang="en-US" dirty="0" err="1"/>
              <a:t>окну</a:t>
            </a:r>
            <a:r>
              <a:rPr lang="en-US" dirty="0"/>
              <a:t>.</a:t>
            </a:r>
          </a:p>
          <a:p>
            <a:r>
              <a:rPr lang="en-US" dirty="0"/>
              <a:t>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окне</a:t>
            </a:r>
            <a:r>
              <a:rPr lang="en-US" dirty="0"/>
              <a:t>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представлений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сверху</a:t>
            </a:r>
            <a:r>
              <a:rPr lang="en-US" dirty="0"/>
              <a:t> Canvas, а </a:t>
            </a:r>
            <a:r>
              <a:rPr lang="en-US" dirty="0" err="1"/>
              <a:t>снизу</a:t>
            </a:r>
            <a:r>
              <a:rPr lang="en-US" dirty="0"/>
              <a:t> — </a:t>
            </a:r>
            <a:r>
              <a:rPr lang="en-US" dirty="0" err="1"/>
              <a:t>какая-нибудь</a:t>
            </a:r>
            <a:r>
              <a:rPr lang="en-US" dirty="0"/>
              <a:t> </a:t>
            </a:r>
            <a:r>
              <a:rPr lang="en-US" dirty="0" err="1"/>
              <a:t>другая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совершенно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реализовывать</a:t>
            </a:r>
            <a:r>
              <a:rPr lang="en-US" dirty="0"/>
              <a:t> </a:t>
            </a:r>
            <a:r>
              <a:rPr lang="en-US" dirty="0" err="1"/>
              <a:t>второе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видно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у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pollEvent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Окно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, </a:t>
            </a:r>
            <a:r>
              <a:rPr lang="en-US" dirty="0" err="1"/>
              <a:t>значит</a:t>
            </a:r>
            <a:r>
              <a:rPr lang="en-US" dirty="0"/>
              <a:t> и </a:t>
            </a:r>
            <a:r>
              <a:rPr lang="en-US" dirty="0" err="1"/>
              <a:t>источник</a:t>
            </a:r>
            <a:r>
              <a:rPr lang="en-US" dirty="0"/>
              <a:t> </a:t>
            </a:r>
            <a:r>
              <a:rPr lang="en-US" dirty="0" err="1"/>
              <a:t>оконных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выделяем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EditorWindow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владеет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RenderWindow</a:t>
            </a:r>
            <a:r>
              <a:rPr lang="en-US" dirty="0"/>
              <a:t>,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жизненным</a:t>
            </a:r>
            <a:r>
              <a:rPr lang="en-US" dirty="0"/>
              <a:t> </a:t>
            </a:r>
            <a:r>
              <a:rPr lang="en-US" dirty="0" err="1"/>
              <a:t>циклом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,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</a:t>
            </a:r>
            <a:r>
              <a:rPr lang="en-US" dirty="0" err="1"/>
              <a:t>закрывает</a:t>
            </a:r>
            <a:r>
              <a:rPr lang="en-US" dirty="0"/>
              <a:t> </a:t>
            </a:r>
            <a:r>
              <a:rPr lang="en-US" dirty="0" err="1"/>
              <a:t>окно</a:t>
            </a:r>
            <a:r>
              <a:rPr lang="en-US" dirty="0"/>
              <a:t> и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clear</a:t>
            </a:r>
            <a:r>
              <a:rPr lang="en-US" dirty="0"/>
              <a:t>/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</a:t>
            </a:r>
            <a:r>
              <a:rPr lang="en-US" dirty="0"/>
              <a:t>.</a:t>
            </a:r>
          </a:p>
          <a:p>
            <a:r>
              <a:rPr lang="en-US" dirty="0"/>
              <a:t>А </a:t>
            </a:r>
            <a:r>
              <a:rPr lang="en-US" dirty="0" err="1"/>
              <a:t>события</a:t>
            </a:r>
            <a:r>
              <a:rPr lang="en-US" dirty="0"/>
              <a:t>, </a:t>
            </a:r>
            <a:r>
              <a:rPr lang="en-US" dirty="0" err="1"/>
              <a:t>относящиеся</a:t>
            </a:r>
            <a:r>
              <a:rPr lang="en-US" dirty="0"/>
              <a:t> к </a:t>
            </a:r>
            <a:r>
              <a:rPr lang="en-US" dirty="0" err="1"/>
              <a:t>содержимому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,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дальше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 View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m_canvasView.HandleEvent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(*event);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реально</a:t>
            </a:r>
            <a:r>
              <a:rPr lang="en-US" dirty="0"/>
              <a:t> </a:t>
            </a:r>
            <a:r>
              <a:rPr lang="en-US" dirty="0" err="1"/>
              <a:t>появятся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областей</a:t>
            </a:r>
            <a:r>
              <a:rPr lang="en-US" dirty="0"/>
              <a:t>, </a:t>
            </a:r>
            <a:r>
              <a:rPr lang="en-US" dirty="0" err="1"/>
              <a:t>тогда</a:t>
            </a:r>
            <a:r>
              <a:rPr lang="en-US" dirty="0"/>
              <a:t> и </a:t>
            </a:r>
            <a:r>
              <a:rPr lang="en-US" dirty="0" err="1"/>
              <a:t>появится</a:t>
            </a:r>
            <a:r>
              <a:rPr lang="en-US" dirty="0"/>
              <a:t> </a:t>
            </a:r>
            <a:r>
              <a:rPr lang="en-US" dirty="0" err="1"/>
              <a:t>задача</a:t>
            </a:r>
            <a:r>
              <a:rPr lang="en-US" dirty="0"/>
              <a:t> </a:t>
            </a:r>
            <a:r>
              <a:rPr lang="en-US" dirty="0" err="1"/>
              <a:t>маршрутизации</a:t>
            </a:r>
            <a:r>
              <a:rPr lang="en-US" dirty="0"/>
              <a:t>: </a:t>
            </a:r>
            <a:r>
              <a:rPr lang="en-US" dirty="0" err="1"/>
              <a:t>определить</a:t>
            </a:r>
            <a:r>
              <a:rPr lang="en-US" dirty="0"/>
              <a:t>, </a:t>
            </a:r>
            <a:r>
              <a:rPr lang="en-US" dirty="0" err="1"/>
              <a:t>какой</a:t>
            </a:r>
            <a:r>
              <a:rPr lang="en-US" dirty="0"/>
              <a:t> View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конкретное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проектировать</a:t>
            </a:r>
            <a:r>
              <a:rPr lang="en-US" dirty="0"/>
              <a:t> layout, focus, mouse capture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универсальный</a:t>
            </a:r>
            <a:r>
              <a:rPr lang="en-US" dirty="0"/>
              <a:t> event dispatcher </a:t>
            </a:r>
            <a:r>
              <a:rPr lang="en-US" dirty="0" err="1"/>
              <a:t>прямо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.</a:t>
            </a:r>
          </a:p>
          <a:p>
            <a:r>
              <a:rPr lang="en-US" dirty="0"/>
              <a:t>Это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YAGNI.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92788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понятнее</a:t>
            </a:r>
            <a:r>
              <a:rPr lang="en-US" dirty="0"/>
              <a:t>, </a:t>
            </a:r>
            <a:r>
              <a:rPr lang="en-US" dirty="0" err="1"/>
              <a:t>кому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принадлежать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окно</a:t>
            </a:r>
            <a:r>
              <a:rPr lang="en-US" dirty="0"/>
              <a:t> </a:t>
            </a:r>
            <a:r>
              <a:rPr lang="en-US" dirty="0" err="1"/>
              <a:t>уничтожено</a:t>
            </a:r>
            <a:r>
              <a:rPr lang="en-US" dirty="0"/>
              <a:t>, </a:t>
            </a:r>
            <a:r>
              <a:rPr lang="en-US" dirty="0" err="1"/>
              <a:t>отдельный</a:t>
            </a:r>
            <a:r>
              <a:rPr lang="en-US" dirty="0"/>
              <a:t> Canvas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особого</a:t>
            </a:r>
            <a:r>
              <a:rPr lang="en-US" dirty="0"/>
              <a:t> </a:t>
            </a:r>
            <a:r>
              <a:rPr lang="en-US" dirty="0" err="1"/>
              <a:t>смысла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и </a:t>
            </a:r>
            <a:r>
              <a:rPr lang="en-US" dirty="0" err="1"/>
              <a:t>передавать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EditorWindow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ссылке</a:t>
            </a:r>
            <a:r>
              <a:rPr lang="en-US" dirty="0"/>
              <a:t> — </a:t>
            </a:r>
            <a:r>
              <a:rPr lang="en-US" dirty="0" err="1"/>
              <a:t>окно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владеть</a:t>
            </a:r>
            <a:r>
              <a:rPr lang="en-US" dirty="0"/>
              <a:t> </a:t>
            </a:r>
            <a:r>
              <a:rPr lang="en-US" dirty="0" err="1"/>
              <a:t>им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самое</a:t>
            </a:r>
            <a:r>
              <a:rPr lang="en-US" dirty="0"/>
              <a:t> </a:t>
            </a:r>
            <a:r>
              <a:rPr lang="en-US" dirty="0" err="1"/>
              <a:t>относится</a:t>
            </a:r>
            <a:r>
              <a:rPr lang="en-US" dirty="0"/>
              <a:t> и к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.</a:t>
            </a:r>
          </a:p>
          <a:p>
            <a:r>
              <a:rPr lang="en-US" dirty="0"/>
              <a:t>Selection </a:t>
            </a:r>
            <a:r>
              <a:rPr lang="en-US" dirty="0" err="1"/>
              <a:t>описывает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документ</a:t>
            </a:r>
            <a:r>
              <a:rPr lang="en-US" dirty="0"/>
              <a:t>, а </a:t>
            </a:r>
            <a:r>
              <a:rPr lang="en-US" dirty="0" err="1"/>
              <a:t>то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с </a:t>
            </a:r>
            <a:r>
              <a:rPr lang="en-US" dirty="0" err="1"/>
              <a:t>ним</a:t>
            </a:r>
            <a:r>
              <a:rPr lang="en-US" dirty="0"/>
              <a:t> в </a:t>
            </a:r>
            <a:r>
              <a:rPr lang="en-US" dirty="0" err="1"/>
              <a:t>конкретном</a:t>
            </a:r>
            <a:r>
              <a:rPr lang="en-US" dirty="0"/>
              <a:t> </a:t>
            </a:r>
            <a:r>
              <a:rPr lang="en-US" dirty="0" err="1"/>
              <a:t>окне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жизни</a:t>
            </a:r>
            <a:r>
              <a:rPr lang="en-US" dirty="0"/>
              <a:t> session </a:t>
            </a:r>
            <a:r>
              <a:rPr lang="en-US" dirty="0" err="1"/>
              <a:t>естественно</a:t>
            </a:r>
            <a:r>
              <a:rPr lang="en-US" dirty="0"/>
              <a:t> </a:t>
            </a:r>
            <a:r>
              <a:rPr lang="en-US" dirty="0" err="1"/>
              <a:t>совпадает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временем</a:t>
            </a:r>
            <a:r>
              <a:rPr lang="en-US" dirty="0"/>
              <a:t> </a:t>
            </a:r>
            <a:r>
              <a:rPr lang="en-US" dirty="0" err="1"/>
              <a:t>жизни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видно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, </a:t>
            </a:r>
            <a:r>
              <a:rPr lang="en-US" dirty="0" err="1"/>
              <a:t>открывающих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и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окне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выбрать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, а в </a:t>
            </a:r>
            <a:r>
              <a:rPr lang="en-US" dirty="0" err="1"/>
              <a:t>другом</a:t>
            </a:r>
            <a:r>
              <a:rPr lang="en-US" dirty="0"/>
              <a:t> — </a:t>
            </a:r>
            <a:r>
              <a:rPr lang="en-US" dirty="0" err="1"/>
              <a:t>эллипс</a:t>
            </a:r>
            <a:r>
              <a:rPr lang="en-US" dirty="0"/>
              <a:t>.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рисунок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общим</a:t>
            </a:r>
            <a:r>
              <a:rPr lang="en-US" dirty="0"/>
              <a:t>, а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редактирования</a:t>
            </a:r>
            <a:r>
              <a:rPr lang="en-US" dirty="0"/>
              <a:t> </a:t>
            </a:r>
            <a:r>
              <a:rPr lang="en-US" dirty="0" err="1"/>
              <a:t>разное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снаружи</a:t>
            </a:r>
            <a:r>
              <a:rPr lang="en-US" dirty="0"/>
              <a:t> и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окну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ссылке</a:t>
            </a:r>
            <a:r>
              <a:rPr lang="en-US" dirty="0"/>
              <a:t>, а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 </a:t>
            </a:r>
            <a:r>
              <a:rPr lang="en-US" dirty="0" err="1"/>
              <a:t>создаётся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EditorWindow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ссылки</a:t>
            </a:r>
            <a:r>
              <a:rPr lang="en-US" dirty="0"/>
              <a:t> и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и </a:t>
            </a:r>
            <a:r>
              <a:rPr lang="en-US" dirty="0" err="1"/>
              <a:t>на</a:t>
            </a:r>
            <a:r>
              <a:rPr lang="en-US" dirty="0"/>
              <a:t> session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.</a:t>
            </a:r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видно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полезное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:</a:t>
            </a:r>
          </a:p>
          <a:p>
            <a:r>
              <a:rPr lang="en-US" b="1" dirty="0" err="1"/>
              <a:t>владение</a:t>
            </a:r>
            <a:r>
              <a:rPr lang="en-US" b="1" dirty="0"/>
              <a:t> </a:t>
            </a:r>
            <a:r>
              <a:rPr lang="en-US" b="1" dirty="0" err="1"/>
              <a:t>часто</a:t>
            </a:r>
            <a:r>
              <a:rPr lang="en-US" b="1" dirty="0"/>
              <a:t> </a:t>
            </a:r>
            <a:r>
              <a:rPr lang="en-US" b="1" dirty="0" err="1"/>
              <a:t>определяется</a:t>
            </a:r>
            <a:r>
              <a:rPr lang="en-US" b="1" dirty="0"/>
              <a:t>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только</a:t>
            </a:r>
            <a:r>
              <a:rPr lang="en-US" b="1" dirty="0"/>
              <a:t> </a:t>
            </a:r>
            <a:r>
              <a:rPr lang="en-US" b="1" dirty="0" err="1"/>
              <a:t>зависимостями</a:t>
            </a:r>
            <a:r>
              <a:rPr lang="en-US" b="1" dirty="0"/>
              <a:t>, </a:t>
            </a:r>
            <a:r>
              <a:rPr lang="en-US" b="1" dirty="0" err="1"/>
              <a:t>но</a:t>
            </a:r>
            <a:r>
              <a:rPr lang="en-US" b="1" dirty="0"/>
              <a:t> и </a:t>
            </a:r>
            <a:r>
              <a:rPr lang="en-US" b="1" dirty="0" err="1"/>
              <a:t>временем</a:t>
            </a:r>
            <a:r>
              <a:rPr lang="en-US" b="1" dirty="0"/>
              <a:t> </a:t>
            </a:r>
            <a:r>
              <a:rPr lang="en-US" b="1" dirty="0" err="1"/>
              <a:t>жизни</a:t>
            </a:r>
            <a:r>
              <a:rPr lang="en-US" b="1" dirty="0"/>
              <a:t> </a:t>
            </a:r>
            <a:r>
              <a:rPr lang="en-US" b="1" dirty="0" err="1"/>
              <a:t>объекта</a:t>
            </a:r>
            <a:r>
              <a:rPr lang="en-US" b="1" dirty="0"/>
              <a:t> и </a:t>
            </a:r>
            <a:r>
              <a:rPr lang="en-US" b="1" dirty="0" err="1"/>
              <a:t>областью</a:t>
            </a:r>
            <a:r>
              <a:rPr lang="en-US" b="1" dirty="0"/>
              <a:t> </a:t>
            </a:r>
            <a:r>
              <a:rPr lang="en-US" b="1" dirty="0" err="1"/>
              <a:t>совместного</a:t>
            </a:r>
            <a:r>
              <a:rPr lang="en-US" b="1" dirty="0"/>
              <a:t> </a:t>
            </a:r>
            <a:r>
              <a:rPr lang="en-US" b="1" dirty="0" err="1"/>
              <a:t>использования</a:t>
            </a:r>
            <a:r>
              <a:rPr lang="en-US" b="1" dirty="0"/>
              <a:t> </a:t>
            </a:r>
            <a:r>
              <a:rPr lang="en-US" b="1" dirty="0" err="1"/>
              <a:t>его</a:t>
            </a:r>
            <a:r>
              <a:rPr lang="en-US" b="1" dirty="0"/>
              <a:t> </a:t>
            </a:r>
            <a:r>
              <a:rPr lang="en-US" b="1" dirty="0" err="1"/>
              <a:t>состояния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  <a:p>
            <a:r>
              <a:rPr lang="en-US" dirty="0"/>
              <a:t>И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Run()</a:t>
            </a:r>
            <a:r>
              <a:rPr lang="en-US" dirty="0"/>
              <a:t> </a:t>
            </a:r>
            <a:r>
              <a:rPr lang="en-US" dirty="0" err="1"/>
              <a:t>окно</a:t>
            </a:r>
            <a:r>
              <a:rPr lang="en-US" dirty="0"/>
              <a:t> </a:t>
            </a:r>
            <a:r>
              <a:rPr lang="en-US" dirty="0" err="1"/>
              <a:t>решает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своего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: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</a:t>
            </a:r>
            <a:r>
              <a:rPr lang="en-US" dirty="0" err="1"/>
              <a:t>закрывается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Closed</a:t>
            </a:r>
            <a:r>
              <a:rPr lang="en-US" dirty="0"/>
              <a:t>, </a:t>
            </a:r>
            <a:r>
              <a:rPr lang="en-US" dirty="0" err="1"/>
              <a:t>очищает</a:t>
            </a:r>
            <a:r>
              <a:rPr lang="en-US" dirty="0"/>
              <a:t> </a:t>
            </a:r>
            <a:r>
              <a:rPr lang="en-US" dirty="0" err="1"/>
              <a:t>поверхность</a:t>
            </a:r>
            <a:r>
              <a:rPr lang="en-US" dirty="0"/>
              <a:t>,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и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отрисовку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EditorWindow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оболочкой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RenderWindow</a:t>
            </a:r>
            <a:r>
              <a:rPr lang="en-US" dirty="0"/>
              <a:t>, а </a:t>
            </a:r>
            <a:r>
              <a:rPr lang="en-US" dirty="0" err="1"/>
              <a:t>контейнером</a:t>
            </a:r>
            <a:r>
              <a:rPr lang="en-US" dirty="0"/>
              <a:t> UI-</a:t>
            </a:r>
            <a:r>
              <a:rPr lang="en-US" dirty="0" err="1"/>
              <a:t>сеанса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367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Посмотрим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осталось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ru-RU" dirty="0"/>
              <a:t>Функция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документ</a:t>
            </a:r>
            <a:r>
              <a:rPr lang="en-US" dirty="0"/>
              <a:t> —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dirty="0" err="1"/>
              <a:t>наполняет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начальными</a:t>
            </a:r>
            <a:r>
              <a:rPr lang="en-US" dirty="0"/>
              <a:t> </a:t>
            </a:r>
            <a:r>
              <a:rPr lang="en-US" dirty="0" err="1"/>
              <a:t>фигурами</a:t>
            </a:r>
            <a:r>
              <a:rPr lang="en-US" dirty="0"/>
              <a:t>,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EditorWindow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</a:t>
            </a:r>
            <a:r>
              <a:rPr lang="en-US" dirty="0" err="1"/>
              <a:t>этим</a:t>
            </a:r>
            <a:r>
              <a:rPr lang="en-US" dirty="0"/>
              <a:t> </a:t>
            </a:r>
            <a:r>
              <a:rPr lang="en-US" dirty="0" err="1"/>
              <a:t>документом</a:t>
            </a:r>
            <a:r>
              <a:rPr lang="en-US" dirty="0"/>
              <a:t> и </a:t>
            </a:r>
            <a:r>
              <a:rPr lang="en-US" dirty="0" err="1"/>
              <a:t>запускает</a:t>
            </a:r>
            <a:r>
              <a:rPr lang="en-US" dirty="0"/>
              <a:t> </a:t>
            </a:r>
            <a:r>
              <a:rPr lang="en-US" dirty="0" err="1"/>
              <a:t>окно</a:t>
            </a:r>
            <a:r>
              <a:rPr lang="en-US" dirty="0"/>
              <a:t>.</a:t>
            </a:r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pollEvent</a:t>
            </a:r>
            <a:r>
              <a:rPr lang="en-US" dirty="0"/>
              <a:t>,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,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, </a:t>
            </a:r>
            <a:r>
              <a:rPr lang="en-US" dirty="0" err="1"/>
              <a:t>ни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Причём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стали</a:t>
            </a:r>
            <a:r>
              <a:rPr lang="en-US" dirty="0"/>
              <a:t> </a:t>
            </a:r>
            <a:r>
              <a:rPr lang="en-US" dirty="0" err="1"/>
              <a:t>заставлять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 </a:t>
            </a:r>
            <a:r>
              <a:rPr lang="en-US" dirty="0" err="1"/>
              <a:t>собирать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 </a:t>
            </a:r>
            <a:r>
              <a:rPr lang="en-US" dirty="0" err="1"/>
              <a:t>принадлежит</a:t>
            </a:r>
            <a:r>
              <a:rPr lang="en-US" dirty="0"/>
              <a:t> </a:t>
            </a:r>
            <a:r>
              <a:rPr lang="en-US" dirty="0" err="1"/>
              <a:t>конкретному</a:t>
            </a:r>
            <a:r>
              <a:rPr lang="en-US" dirty="0"/>
              <a:t> </a:t>
            </a:r>
            <a:r>
              <a:rPr lang="en-US" dirty="0" err="1"/>
              <a:t>окну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EditorWindow</a:t>
            </a:r>
            <a:r>
              <a:rPr lang="en-US" dirty="0"/>
              <a:t>.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живёт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дольше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 и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составной</a:t>
            </a:r>
            <a:r>
              <a:rPr lang="en-US" dirty="0"/>
              <a:t> </a:t>
            </a:r>
            <a:r>
              <a:rPr lang="en-US" dirty="0" err="1"/>
              <a:t>частью</a:t>
            </a:r>
            <a:r>
              <a:rPr lang="en-US" dirty="0"/>
              <a:t>. А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владеет</a:t>
            </a:r>
            <a:r>
              <a:rPr lang="en-US" dirty="0"/>
              <a:t> </a:t>
            </a:r>
            <a:r>
              <a:rPr lang="en-US" dirty="0" err="1"/>
              <a:t>своими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простая</a:t>
            </a:r>
            <a:r>
              <a:rPr lang="en-US" dirty="0"/>
              <a:t> </a:t>
            </a:r>
            <a:r>
              <a:rPr lang="en-US" dirty="0" err="1"/>
              <a:t>иерархия</a:t>
            </a:r>
            <a:r>
              <a:rPr lang="en-US" dirty="0"/>
              <a:t> </a:t>
            </a:r>
            <a:r>
              <a:rPr lang="en-US" dirty="0" err="1"/>
              <a:t>владения</a:t>
            </a:r>
            <a:r>
              <a:rPr lang="en-US" dirty="0"/>
              <a:t>: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те</a:t>
            </a:r>
            <a:r>
              <a:rPr lang="en-US" dirty="0"/>
              <a:t> </a:t>
            </a:r>
            <a:r>
              <a:rPr lang="en-US" dirty="0" err="1"/>
              <a:t>внутренние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, </a:t>
            </a:r>
            <a:r>
              <a:rPr lang="en-US" dirty="0" err="1"/>
              <a:t>жизненным</a:t>
            </a:r>
            <a:r>
              <a:rPr lang="en-US" dirty="0"/>
              <a:t> </a:t>
            </a:r>
            <a:r>
              <a:rPr lang="en-US" dirty="0" err="1"/>
              <a:t>циклом</a:t>
            </a:r>
            <a:r>
              <a:rPr lang="en-US" dirty="0"/>
              <a:t>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естественно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dirty="0" err="1"/>
              <a:t>наоборот</a:t>
            </a:r>
            <a:r>
              <a:rPr lang="en-US" dirty="0"/>
              <a:t>,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снаружи</a:t>
            </a:r>
            <a:r>
              <a:rPr lang="en-US" dirty="0"/>
              <a:t>. Это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документа</a:t>
            </a:r>
            <a:r>
              <a:rPr lang="en-US" dirty="0"/>
              <a:t>, и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жизни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обязано</a:t>
            </a:r>
            <a:r>
              <a:rPr lang="en-US" dirty="0"/>
              <a:t> </a:t>
            </a:r>
            <a:r>
              <a:rPr lang="en-US" dirty="0" err="1"/>
              <a:t>совпадать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временем</a:t>
            </a:r>
            <a:r>
              <a:rPr lang="en-US" dirty="0"/>
              <a:t> </a:t>
            </a:r>
            <a:r>
              <a:rPr lang="en-US" dirty="0" err="1"/>
              <a:t>жизни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. </a:t>
            </a:r>
            <a:r>
              <a:rPr lang="en-US" dirty="0" err="1"/>
              <a:t>Один</a:t>
            </a:r>
            <a:r>
              <a:rPr lang="en-US" dirty="0"/>
              <a:t> и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в </a:t>
            </a:r>
            <a:r>
              <a:rPr lang="en-US" dirty="0" err="1"/>
              <a:t>принципе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открыть</a:t>
            </a:r>
            <a:r>
              <a:rPr lang="en-US" dirty="0"/>
              <a:t> и в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окнах</a:t>
            </a:r>
            <a:r>
              <a:rPr lang="en-US" dirty="0"/>
              <a:t>.</a:t>
            </a:r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остаётся</a:t>
            </a:r>
            <a:r>
              <a:rPr lang="en-US" dirty="0"/>
              <a:t> </a:t>
            </a:r>
            <a:r>
              <a:rPr lang="en-US" dirty="0" err="1"/>
              <a:t>точкой</a:t>
            </a:r>
            <a:r>
              <a:rPr lang="en-US" dirty="0"/>
              <a:t> </a:t>
            </a:r>
            <a:r>
              <a:rPr lang="en-US" b="1" dirty="0" err="1"/>
              <a:t>верхнеуровневой</a:t>
            </a:r>
            <a:r>
              <a:rPr lang="en-US" b="1" dirty="0"/>
              <a:t> </a:t>
            </a:r>
            <a:r>
              <a:rPr lang="en-US" b="1" dirty="0" err="1"/>
              <a:t>сборки</a:t>
            </a:r>
            <a:r>
              <a:rPr lang="en-US" b="1" dirty="0"/>
              <a:t> </a:t>
            </a:r>
            <a:r>
              <a:rPr lang="en-US" b="1" dirty="0" err="1"/>
              <a:t>приложения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составного</a:t>
            </a:r>
            <a:r>
              <a:rPr lang="en-US" dirty="0"/>
              <a:t> </a:t>
            </a:r>
            <a:r>
              <a:rPr lang="en-US" dirty="0" err="1"/>
              <a:t>компонента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И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пришлось</a:t>
            </a:r>
            <a:r>
              <a:rPr lang="en-US" dirty="0"/>
              <a:t> </a:t>
            </a:r>
            <a:r>
              <a:rPr lang="en-US" dirty="0" err="1"/>
              <a:t>вводить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, View </a:t>
            </a:r>
            <a:r>
              <a:rPr lang="en-US" dirty="0" err="1"/>
              <a:t>или</a:t>
            </a:r>
            <a:r>
              <a:rPr lang="en-US" dirty="0"/>
              <a:t> Controller.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распределили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существующие</a:t>
            </a:r>
            <a:r>
              <a:rPr lang="en-US" dirty="0"/>
              <a:t> </a:t>
            </a:r>
            <a:r>
              <a:rPr lang="en-US" dirty="0" err="1"/>
              <a:t>ответственности</a:t>
            </a:r>
            <a:r>
              <a:rPr lang="en-US" dirty="0"/>
              <a:t> и </a:t>
            </a:r>
            <a:r>
              <a:rPr lang="en-US" dirty="0" err="1"/>
              <a:t>владение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объектами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65561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61981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разделили</a:t>
            </a:r>
            <a:r>
              <a:rPr lang="en-US" dirty="0"/>
              <a:t> Model, View и Controller,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возникнуть</a:t>
            </a:r>
            <a:r>
              <a:rPr lang="en-US" dirty="0"/>
              <a:t> </a:t>
            </a:r>
            <a:r>
              <a:rPr lang="en-US" dirty="0" err="1"/>
              <a:t>желание</a:t>
            </a:r>
            <a:r>
              <a:rPr lang="en-US" dirty="0"/>
              <a:t> </a:t>
            </a:r>
            <a:r>
              <a:rPr lang="en-US" dirty="0" err="1"/>
              <a:t>немедленно</a:t>
            </a:r>
            <a:r>
              <a:rPr lang="en-US" dirty="0"/>
              <a:t> </a:t>
            </a:r>
            <a:r>
              <a:rPr lang="en-US" dirty="0" err="1"/>
              <a:t>добавить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уведомлений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ними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в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 </a:t>
            </a:r>
            <a:r>
              <a:rPr lang="en-US" dirty="0" err="1"/>
              <a:t>никакой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 </a:t>
            </a:r>
            <a:r>
              <a:rPr lang="en-US" dirty="0" err="1"/>
              <a:t>перемещает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::Draw</a:t>
            </a:r>
            <a:r>
              <a:rPr lang="en-US" dirty="0"/>
              <a:t>.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оказывается</a:t>
            </a:r>
            <a:r>
              <a:rPr lang="en-US" dirty="0"/>
              <a:t> в </a:t>
            </a:r>
            <a:r>
              <a:rPr lang="en-US" dirty="0" err="1"/>
              <a:t>новой</a:t>
            </a:r>
            <a:r>
              <a:rPr lang="en-US" dirty="0"/>
              <a:t> </a:t>
            </a:r>
            <a:r>
              <a:rPr lang="en-US" dirty="0" err="1"/>
              <a:t>позиции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Canvas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обязан</a:t>
            </a:r>
            <a:r>
              <a:rPr lang="en-US" dirty="0"/>
              <a:t> </a:t>
            </a:r>
            <a:r>
              <a:rPr lang="en-US" dirty="0" err="1"/>
              <a:t>узнавать</a:t>
            </a:r>
            <a:r>
              <a:rPr lang="en-US" dirty="0"/>
              <a:t> о </a:t>
            </a:r>
            <a:r>
              <a:rPr lang="en-US" dirty="0" err="1"/>
              <a:t>событии</a:t>
            </a:r>
            <a:r>
              <a:rPr lang="en-US" dirty="0"/>
              <a:t> «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перемещена</a:t>
            </a:r>
            <a:r>
              <a:rPr lang="en-US" dirty="0"/>
              <a:t>».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кадре</a:t>
            </a:r>
            <a:r>
              <a:rPr lang="en-US" dirty="0"/>
              <a:t> </a:t>
            </a:r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актуальное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вводить</a:t>
            </a:r>
            <a:r>
              <a:rPr lang="en-US" dirty="0"/>
              <a:t> </a:t>
            </a:r>
            <a:r>
              <a:rPr lang="ru-RU" dirty="0"/>
              <a:t>паттерн </a:t>
            </a:r>
            <a:r>
              <a:rPr lang="en-US" dirty="0"/>
              <a:t>Observer </a:t>
            </a:r>
            <a:r>
              <a:rPr lang="en-US" dirty="0" err="1"/>
              <a:t>прямо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преждевременно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механизма</a:t>
            </a:r>
            <a:r>
              <a:rPr lang="en-US" dirty="0"/>
              <a:t> </a:t>
            </a:r>
            <a:r>
              <a:rPr lang="en-US" dirty="0" err="1"/>
              <a:t>появилась</a:t>
            </a:r>
            <a:r>
              <a:rPr lang="en-US" dirty="0"/>
              <a:t> </a:t>
            </a:r>
            <a:r>
              <a:rPr lang="en-US" dirty="0" err="1"/>
              <a:t>причина</a:t>
            </a:r>
            <a:r>
              <a:rPr lang="en-US" dirty="0"/>
              <a:t>,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новое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57534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добавим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небольшую</a:t>
            </a:r>
            <a:r>
              <a:rPr lang="en-US" dirty="0"/>
              <a:t> </a:t>
            </a:r>
            <a:r>
              <a:rPr lang="en-US" dirty="0" err="1"/>
              <a:t>панель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списком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и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координатами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обязаны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реализовывать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View.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перетаскивает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Canvas.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изменяются</a:t>
            </a:r>
            <a:r>
              <a:rPr lang="en-US" dirty="0"/>
              <a:t>.</a:t>
            </a:r>
          </a:p>
          <a:p>
            <a:r>
              <a:rPr lang="en-US" dirty="0"/>
              <a:t>Canvas </a:t>
            </a:r>
            <a:r>
              <a:rPr lang="en-US" dirty="0" err="1"/>
              <a:t>увидит</a:t>
            </a:r>
            <a:r>
              <a:rPr lang="en-US" dirty="0"/>
              <a:t> </a:t>
            </a:r>
            <a:r>
              <a:rPr lang="en-US" dirty="0" err="1"/>
              <a:t>новую</a:t>
            </a:r>
            <a:r>
              <a:rPr lang="en-US" dirty="0"/>
              <a:t> </a:t>
            </a:r>
            <a:r>
              <a:rPr lang="en-US" dirty="0" err="1"/>
              <a:t>позицию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кадре</a:t>
            </a:r>
            <a:r>
              <a:rPr lang="en-US" dirty="0"/>
              <a:t>, </a:t>
            </a:r>
            <a:r>
              <a:rPr lang="en-US" dirty="0" err="1"/>
              <a:t>потому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перечитывает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ShapeListView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устроен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.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никакой</a:t>
            </a:r>
            <a:r>
              <a:rPr lang="en-US" dirty="0"/>
              <a:t> </a:t>
            </a:r>
            <a:r>
              <a:rPr lang="en-US" dirty="0" err="1"/>
              <a:t>причины</a:t>
            </a:r>
            <a:r>
              <a:rPr lang="en-US" dirty="0"/>
              <a:t> </a:t>
            </a:r>
            <a:r>
              <a:rPr lang="en-US" dirty="0" err="1"/>
              <a:t>заново</a:t>
            </a:r>
            <a:r>
              <a:rPr lang="en-US" dirty="0"/>
              <a:t> </a:t>
            </a:r>
            <a:r>
              <a:rPr lang="en-US" dirty="0" err="1"/>
              <a:t>перестраивать</a:t>
            </a:r>
            <a:r>
              <a:rPr lang="en-US" dirty="0"/>
              <a:t> </a:t>
            </a:r>
            <a:r>
              <a:rPr lang="en-US" dirty="0" err="1"/>
              <a:t>список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десятков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в </a:t>
            </a:r>
            <a:r>
              <a:rPr lang="en-US" dirty="0" err="1"/>
              <a:t>секунду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обновиться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интересующие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изменились</a:t>
            </a:r>
            <a:r>
              <a:rPr lang="en-US" dirty="0"/>
              <a:t>.</a:t>
            </a:r>
          </a:p>
          <a:p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 </a:t>
            </a:r>
            <a:r>
              <a:rPr lang="en-US" b="1" dirty="0" err="1"/>
              <a:t>как</a:t>
            </a:r>
            <a:r>
              <a:rPr lang="en-US" b="1" dirty="0"/>
              <a:t> </a:t>
            </a:r>
            <a:r>
              <a:rPr lang="en-US" b="1" dirty="0" err="1"/>
              <a:t>один</a:t>
            </a:r>
            <a:r>
              <a:rPr lang="en-US" b="1" dirty="0"/>
              <a:t> </a:t>
            </a:r>
            <a:r>
              <a:rPr lang="en-US" b="1" dirty="0" err="1"/>
              <a:t>компонент</a:t>
            </a:r>
            <a:r>
              <a:rPr lang="en-US" b="1" dirty="0"/>
              <a:t> </a:t>
            </a:r>
            <a:r>
              <a:rPr lang="en-US" b="1" dirty="0" err="1"/>
              <a:t>узнаёт</a:t>
            </a:r>
            <a:r>
              <a:rPr lang="en-US" b="1" dirty="0"/>
              <a:t> </a:t>
            </a:r>
            <a:r>
              <a:rPr lang="en-US" b="1" dirty="0" err="1"/>
              <a:t>об</a:t>
            </a:r>
            <a:r>
              <a:rPr lang="en-US" b="1" dirty="0"/>
              <a:t> </a:t>
            </a:r>
            <a:r>
              <a:rPr lang="en-US" b="1" dirty="0" err="1"/>
              <a:t>изменении</a:t>
            </a:r>
            <a:r>
              <a:rPr lang="en-US" b="1" dirty="0"/>
              <a:t> </a:t>
            </a:r>
            <a:r>
              <a:rPr lang="en-US" b="1" dirty="0" err="1"/>
              <a:t>другого</a:t>
            </a:r>
            <a:r>
              <a:rPr lang="en-US" b="1" dirty="0"/>
              <a:t>,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опрашивая</a:t>
            </a:r>
            <a:r>
              <a:rPr lang="en-US" b="1" dirty="0"/>
              <a:t> </a:t>
            </a:r>
            <a:r>
              <a:rPr lang="en-US" b="1" dirty="0" err="1"/>
              <a:t>его</a:t>
            </a:r>
            <a:r>
              <a:rPr lang="en-US" b="1" dirty="0"/>
              <a:t> </a:t>
            </a:r>
            <a:r>
              <a:rPr lang="en-US" b="1" dirty="0" err="1"/>
              <a:t>постоянно</a:t>
            </a:r>
            <a:r>
              <a:rPr lang="en-US" b="1" dirty="0"/>
              <a:t>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5624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решить</a:t>
            </a:r>
            <a:r>
              <a:rPr lang="en-US" dirty="0"/>
              <a:t> </a:t>
            </a:r>
            <a:r>
              <a:rPr lang="en-US" dirty="0" err="1"/>
              <a:t>проблему</a:t>
            </a:r>
            <a:r>
              <a:rPr lang="en-US" dirty="0"/>
              <a:t> </a:t>
            </a:r>
            <a:r>
              <a:rPr lang="en-US" dirty="0" err="1"/>
              <a:t>самым</a:t>
            </a:r>
            <a:r>
              <a:rPr lang="en-US" dirty="0"/>
              <a:t> </a:t>
            </a:r>
            <a:r>
              <a:rPr lang="en-US" dirty="0" err="1"/>
              <a:t>прямым</a:t>
            </a:r>
            <a:r>
              <a:rPr lang="en-US" dirty="0"/>
              <a:t> </a:t>
            </a:r>
            <a:r>
              <a:rPr lang="en-US" dirty="0" err="1"/>
              <a:t>способом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Раз</a:t>
            </a:r>
            <a:r>
              <a:rPr lang="en-US" dirty="0"/>
              <a:t> Controller </a:t>
            </a:r>
            <a:r>
              <a:rPr lang="en-US" dirty="0" err="1"/>
              <a:t>изменил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, </a:t>
            </a:r>
            <a:r>
              <a:rPr lang="en-US" dirty="0" err="1"/>
              <a:t>пусть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обновит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заинтересованные</a:t>
            </a:r>
            <a:r>
              <a:rPr lang="en-US" dirty="0"/>
              <a:t> View.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 </a:t>
            </a:r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разумно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связь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расти</a:t>
            </a:r>
            <a:r>
              <a:rPr lang="en-US" dirty="0"/>
              <a:t> в </a:t>
            </a:r>
            <a:r>
              <a:rPr lang="en-US" dirty="0" err="1"/>
              <a:t>неправильном</a:t>
            </a:r>
            <a:r>
              <a:rPr lang="en-US" dirty="0"/>
              <a:t> </a:t>
            </a:r>
            <a:r>
              <a:rPr lang="en-US" dirty="0" err="1"/>
              <a:t>направлении</a:t>
            </a:r>
            <a:r>
              <a:rPr lang="en-US" dirty="0"/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и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и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заинтересован</a:t>
            </a:r>
            <a:r>
              <a:rPr lang="en-US" dirty="0"/>
              <a:t> 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.</a:t>
            </a:r>
          </a:p>
          <a:p>
            <a:r>
              <a:rPr lang="en-US" dirty="0" err="1"/>
              <a:t>Добавили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 — </a:t>
            </a:r>
            <a:r>
              <a:rPr lang="en-US" dirty="0" err="1"/>
              <a:t>изменяем</a:t>
            </a:r>
            <a:r>
              <a:rPr lang="en-US" dirty="0"/>
              <a:t> Controller.</a:t>
            </a:r>
          </a:p>
          <a:p>
            <a:r>
              <a:rPr lang="en-US" dirty="0" err="1"/>
              <a:t>Есть</a:t>
            </a:r>
            <a:r>
              <a:rPr lang="en-US" dirty="0"/>
              <a:t> и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серьёзная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А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изменился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?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позднее</a:t>
            </a:r>
            <a:r>
              <a:rPr lang="en-US" dirty="0"/>
              <a:t> </a:t>
            </a:r>
            <a:r>
              <a:rPr lang="en-US" dirty="0" err="1"/>
              <a:t>появится</a:t>
            </a:r>
            <a:r>
              <a:rPr lang="en-US" dirty="0"/>
              <a:t> </a:t>
            </a:r>
            <a:r>
              <a:rPr lang="en-US" dirty="0" err="1"/>
              <a:t>команда</a:t>
            </a:r>
            <a:r>
              <a:rPr lang="en-US" dirty="0"/>
              <a:t> </a:t>
            </a:r>
            <a:r>
              <a:rPr lang="en-US" dirty="0" err="1"/>
              <a:t>удаления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, </a:t>
            </a:r>
            <a:r>
              <a:rPr lang="en-US" dirty="0" err="1"/>
              <a:t>загрузка</a:t>
            </a:r>
            <a:r>
              <a:rPr lang="en-US" dirty="0"/>
              <a:t> </a:t>
            </a:r>
            <a:r>
              <a:rPr lang="en-US" dirty="0" err="1"/>
              <a:t>документа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Controller.</a:t>
            </a:r>
          </a:p>
          <a:p>
            <a:endParaRPr lang="en-US" dirty="0"/>
          </a:p>
          <a:p>
            <a:r>
              <a:rPr lang="en-US" dirty="0" err="1"/>
              <a:t>Каждое</a:t>
            </a:r>
            <a:r>
              <a:rPr lang="en-US" dirty="0"/>
              <a:t> </a:t>
            </a:r>
            <a:r>
              <a:rPr lang="en-US" dirty="0" err="1"/>
              <a:t>место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помнить</a:t>
            </a:r>
            <a:r>
              <a:rPr lang="en-US" dirty="0"/>
              <a:t>, </a:t>
            </a:r>
            <a:r>
              <a:rPr lang="en-US" dirty="0" err="1"/>
              <a:t>кого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обновить</a:t>
            </a:r>
            <a:r>
              <a:rPr lang="en-US" dirty="0"/>
              <a:t>.</a:t>
            </a:r>
          </a:p>
          <a:p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22982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Попробуем</a:t>
            </a:r>
            <a:r>
              <a:rPr lang="en-US" dirty="0"/>
              <a:t> </a:t>
            </a:r>
            <a:r>
              <a:rPr lang="en-US" dirty="0" err="1"/>
              <a:t>развернуть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</a:t>
            </a:r>
            <a:r>
              <a:rPr lang="en-US" dirty="0"/>
              <a:t> Controller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 </a:t>
            </a:r>
            <a:r>
              <a:rPr lang="en-US" dirty="0" err="1"/>
              <a:t>всех</a:t>
            </a:r>
            <a:r>
              <a:rPr lang="en-US" dirty="0"/>
              <a:t>, </a:t>
            </a:r>
            <a:r>
              <a:rPr lang="en-US" dirty="0" err="1"/>
              <a:t>кого</a:t>
            </a:r>
            <a:r>
              <a:rPr lang="en-US" dirty="0"/>
              <a:t> </a:t>
            </a:r>
            <a:r>
              <a:rPr lang="en-US" dirty="0" err="1"/>
              <a:t>затронуло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.</a:t>
            </a:r>
          </a:p>
          <a:p>
            <a:r>
              <a:rPr lang="en-US" dirty="0" err="1"/>
              <a:t>Пусть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источник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: «</a:t>
            </a:r>
            <a:r>
              <a:rPr lang="en-US" dirty="0" err="1"/>
              <a:t>моё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изменилось</a:t>
            </a:r>
            <a:r>
              <a:rPr lang="en-US" dirty="0"/>
              <a:t>».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 о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ShapeListView</a:t>
            </a:r>
            <a:r>
              <a:rPr lang="en-US" dirty="0"/>
              <a:t>, Canvas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какой-либо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.</a:t>
            </a:r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контракт</a:t>
            </a:r>
            <a:r>
              <a:rPr lang="en-US" dirty="0"/>
              <a:t>: </a:t>
            </a:r>
            <a:r>
              <a:rPr lang="en-US" dirty="0" err="1"/>
              <a:t>объект</a:t>
            </a:r>
            <a:r>
              <a:rPr lang="en-US" dirty="0"/>
              <a:t>, </a:t>
            </a:r>
            <a:r>
              <a:rPr lang="en-US" dirty="0" err="1"/>
              <a:t>заинтересованный</a:t>
            </a:r>
            <a:r>
              <a:rPr lang="en-US" dirty="0"/>
              <a:t> в </a:t>
            </a:r>
            <a:r>
              <a:rPr lang="en-US" dirty="0" err="1"/>
              <a:t>изменениях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, </a:t>
            </a:r>
            <a:r>
              <a:rPr lang="en-US" dirty="0" err="1"/>
              <a:t>умеет</a:t>
            </a:r>
            <a:r>
              <a:rPr lang="en-US" dirty="0"/>
              <a:t> </a:t>
            </a:r>
            <a:r>
              <a:rPr lang="en-US" dirty="0" err="1"/>
              <a:t>обработать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OnDrawingChanged</a:t>
            </a:r>
            <a:r>
              <a:rPr lang="en-US" dirty="0"/>
              <a:t>.</a:t>
            </a:r>
            <a:r>
              <a:rPr lang="ru-RU" dirty="0"/>
              <a:t> Этот контракт – интерфейс </a:t>
            </a:r>
            <a:r>
              <a:rPr lang="en-US" dirty="0" err="1"/>
              <a:t>IDrawingListener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Заинтересованный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 </a:t>
            </a:r>
            <a:r>
              <a:rPr lang="en-US" dirty="0" err="1"/>
              <a:t>подписывается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Model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сообщить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изменении</a:t>
            </a:r>
            <a:r>
              <a:rPr lang="en-US" dirty="0"/>
              <a:t> </a:t>
            </a:r>
            <a:r>
              <a:rPr lang="en-US" dirty="0" err="1"/>
              <a:t>всем</a:t>
            </a:r>
            <a:r>
              <a:rPr lang="en-US" dirty="0"/>
              <a:t> </a:t>
            </a:r>
            <a:r>
              <a:rPr lang="en-US" dirty="0" err="1"/>
              <a:t>подписчикам</a:t>
            </a:r>
            <a:r>
              <a:rPr lang="en-US" dirty="0"/>
              <a:t>, </a:t>
            </a:r>
            <a:r>
              <a:rPr lang="en-US" dirty="0" err="1"/>
              <a:t>ничего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зная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конкретных</a:t>
            </a:r>
            <a:r>
              <a:rPr lang="en-US" dirty="0"/>
              <a:t> </a:t>
            </a:r>
            <a:r>
              <a:rPr lang="en-US" dirty="0" err="1"/>
              <a:t>типах</a:t>
            </a:r>
            <a:r>
              <a:rPr lang="en-US" dirty="0"/>
              <a:t> и о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зачем</a:t>
            </a:r>
            <a:r>
              <a:rPr lang="en-US" dirty="0"/>
              <a:t> </a:t>
            </a:r>
            <a:r>
              <a:rPr lang="en-US" dirty="0" err="1"/>
              <a:t>им</a:t>
            </a:r>
            <a:r>
              <a:rPr lang="en-US" dirty="0"/>
              <a:t> </a:t>
            </a:r>
            <a:r>
              <a:rPr lang="en-US" dirty="0" err="1"/>
              <a:t>понадобилось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уведомление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Получается</a:t>
            </a:r>
            <a:r>
              <a:rPr lang="en-US" dirty="0"/>
              <a:t> </a:t>
            </a:r>
            <a:r>
              <a:rPr lang="en-US" dirty="0" err="1"/>
              <a:t>отношение</a:t>
            </a:r>
            <a:r>
              <a:rPr lang="en-US" dirty="0"/>
              <a:t> </a:t>
            </a:r>
            <a:r>
              <a:rPr lang="en-US" b="1" dirty="0" err="1"/>
              <a:t>один</a:t>
            </a:r>
            <a:r>
              <a:rPr lang="en-US" b="1" dirty="0"/>
              <a:t> </a:t>
            </a:r>
            <a:r>
              <a:rPr lang="en-US" b="1" dirty="0" err="1"/>
              <a:t>ко</a:t>
            </a:r>
            <a:r>
              <a:rPr lang="en-US" b="1" dirty="0"/>
              <a:t> </a:t>
            </a:r>
            <a:r>
              <a:rPr lang="en-US" b="1" dirty="0" err="1"/>
              <a:t>многим</a:t>
            </a:r>
            <a:r>
              <a:rPr lang="en-US" dirty="0"/>
              <a:t>, </a:t>
            </a:r>
            <a:r>
              <a:rPr lang="en-US" dirty="0" err="1"/>
              <a:t>причём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получателей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источника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42397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важная</a:t>
            </a:r>
            <a:r>
              <a:rPr lang="en-US" dirty="0"/>
              <a:t> </a:t>
            </a:r>
            <a:r>
              <a:rPr lang="en-US" dirty="0" err="1"/>
              <a:t>деталь</a:t>
            </a:r>
            <a:r>
              <a:rPr lang="en-US" dirty="0"/>
              <a:t>.</a:t>
            </a:r>
          </a:p>
          <a:p>
            <a:r>
              <a:rPr lang="en-US" dirty="0" err="1"/>
              <a:t>Сейчас</a:t>
            </a:r>
            <a:r>
              <a:rPr lang="en-US" dirty="0"/>
              <a:t> Controller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и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вызвать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NotifyListeners</a:t>
            </a:r>
            <a:r>
              <a:rPr lang="en-US" dirty="0"/>
              <a:t>,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перекладываем</a:t>
            </a:r>
            <a:r>
              <a:rPr lang="en-US" dirty="0"/>
              <a:t> </a:t>
            </a:r>
            <a:r>
              <a:rPr lang="en-US" dirty="0" err="1"/>
              <a:t>дополнительную</a:t>
            </a:r>
            <a:r>
              <a:rPr lang="en-US" dirty="0"/>
              <a:t> </a:t>
            </a:r>
            <a:r>
              <a:rPr lang="en-US" dirty="0" err="1"/>
              <a:t>обязанность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.</a:t>
            </a:r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написать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en-US" dirty="0"/>
              <a:t> и </a:t>
            </a:r>
            <a:r>
              <a:rPr lang="en-US" dirty="0" err="1"/>
              <a:t>забыть</a:t>
            </a:r>
            <a:r>
              <a:rPr lang="en-US" dirty="0"/>
              <a:t> </a:t>
            </a:r>
            <a:r>
              <a:rPr lang="en-US" dirty="0" err="1"/>
              <a:t>уведомление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сообщение</a:t>
            </a:r>
            <a:r>
              <a:rPr lang="en-US" dirty="0"/>
              <a:t> о </a:t>
            </a:r>
            <a:r>
              <a:rPr lang="en-US" dirty="0" err="1"/>
              <a:t>своих</a:t>
            </a:r>
            <a:r>
              <a:rPr lang="en-US" dirty="0"/>
              <a:t> </a:t>
            </a:r>
            <a:r>
              <a:rPr lang="en-US" dirty="0" err="1"/>
              <a:t>изменениях</a:t>
            </a:r>
            <a:r>
              <a:rPr lang="en-US" dirty="0"/>
              <a:t>,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контролировать</a:t>
            </a:r>
            <a:r>
              <a:rPr lang="en-US" dirty="0"/>
              <a:t> и </a:t>
            </a:r>
            <a:r>
              <a:rPr lang="en-US" dirty="0" err="1"/>
              <a:t>сами</a:t>
            </a:r>
            <a:r>
              <a:rPr lang="en-US" dirty="0"/>
              <a:t> </a:t>
            </a:r>
            <a:r>
              <a:rPr lang="en-US" dirty="0" err="1"/>
              <a:t>наблюдаемые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перемещение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Drawing::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MoveShape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Тогда</a:t>
            </a:r>
            <a:r>
              <a:rPr lang="en-US" dirty="0"/>
              <a:t> 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месте</a:t>
            </a:r>
            <a:r>
              <a:rPr lang="en-US" dirty="0"/>
              <a:t> </a:t>
            </a:r>
            <a:r>
              <a:rPr lang="en-US" dirty="0" err="1"/>
              <a:t>находятся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связанные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: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и </a:t>
            </a:r>
            <a:r>
              <a:rPr lang="en-US" dirty="0" err="1"/>
              <a:t>сообщение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изменении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немного</a:t>
            </a:r>
            <a:r>
              <a:rPr lang="en-US" dirty="0"/>
              <a:t> </a:t>
            </a:r>
            <a:r>
              <a:rPr lang="en-US" dirty="0" err="1"/>
              <a:t>меняет</a:t>
            </a:r>
            <a:r>
              <a:rPr lang="en-US" dirty="0"/>
              <a:t> API </a:t>
            </a:r>
            <a:r>
              <a:rPr lang="en-US" dirty="0" err="1"/>
              <a:t>нашей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случайно</a:t>
            </a:r>
            <a:r>
              <a:rPr lang="en-US" dirty="0"/>
              <a:t>.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архитектурный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иногда</a:t>
            </a:r>
            <a:r>
              <a:rPr lang="en-US" dirty="0"/>
              <a:t> </a:t>
            </a:r>
            <a:r>
              <a:rPr lang="en-US" dirty="0" err="1"/>
              <a:t>выявляет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прежняя</a:t>
            </a:r>
            <a:r>
              <a:rPr lang="en-US" dirty="0"/>
              <a:t> </a:t>
            </a:r>
            <a:r>
              <a:rPr lang="en-US" dirty="0" err="1"/>
              <a:t>граница</a:t>
            </a:r>
            <a:r>
              <a:rPr lang="en-US" dirty="0"/>
              <a:t> </a:t>
            </a:r>
            <a:r>
              <a:rPr lang="en-US" dirty="0" err="1"/>
              <a:t>инкапсуляции</a:t>
            </a:r>
            <a:r>
              <a:rPr lang="en-US" dirty="0"/>
              <a:t> </a:t>
            </a:r>
            <a:r>
              <a:rPr lang="en-US" dirty="0" err="1"/>
              <a:t>была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слабой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Раньше</a:t>
            </a:r>
            <a:r>
              <a:rPr lang="en-US" dirty="0"/>
              <a:t> </a:t>
            </a:r>
            <a:r>
              <a:rPr lang="en-US" dirty="0" err="1"/>
              <a:t>внешнему</a:t>
            </a:r>
            <a:r>
              <a:rPr lang="en-US" dirty="0"/>
              <a:t> </a:t>
            </a:r>
            <a:r>
              <a:rPr lang="en-US" dirty="0" err="1"/>
              <a:t>коду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разрешено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принадлежащие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увидели</a:t>
            </a:r>
            <a:r>
              <a:rPr lang="en-US" dirty="0"/>
              <a:t> </a:t>
            </a:r>
            <a:r>
              <a:rPr lang="en-US" dirty="0" err="1"/>
              <a:t>цену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свободы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049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View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подписаться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Model </a:t>
            </a:r>
            <a:r>
              <a:rPr lang="en-US" dirty="0" err="1"/>
              <a:t>изменилась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метод</a:t>
            </a:r>
            <a:r>
              <a:rPr lang="en-US" dirty="0"/>
              <a:t> </a:t>
            </a:r>
            <a:r>
              <a:rPr lang="en-US" dirty="0" err="1"/>
              <a:t>подписчиков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Model </a:t>
            </a:r>
            <a:r>
              <a:rPr lang="en-US" dirty="0" err="1"/>
              <a:t>по-прежнему</a:t>
            </a:r>
            <a:r>
              <a:rPr lang="en-US" dirty="0"/>
              <a:t> </a:t>
            </a:r>
            <a:r>
              <a:rPr lang="en-US" dirty="0" err="1"/>
              <a:t>ничего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о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конкретно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уведомления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Один</a:t>
            </a:r>
            <a:r>
              <a:rPr lang="en-US" dirty="0"/>
              <a:t> View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немедленно</a:t>
            </a:r>
            <a:r>
              <a:rPr lang="en-US" dirty="0"/>
              <a:t> </a:t>
            </a:r>
            <a:r>
              <a:rPr lang="en-US" dirty="0" err="1"/>
              <a:t>обновить</a:t>
            </a:r>
            <a:r>
              <a:rPr lang="en-US" dirty="0"/>
              <a:t> </a:t>
            </a:r>
            <a:r>
              <a:rPr lang="en-US" dirty="0" err="1"/>
              <a:t>таблицу</a:t>
            </a:r>
            <a:r>
              <a:rPr lang="en-US" dirty="0"/>
              <a:t>.</a:t>
            </a:r>
          </a:p>
          <a:p>
            <a:r>
              <a:rPr lang="en-US" dirty="0" err="1"/>
              <a:t>Другой</a:t>
            </a:r>
            <a:r>
              <a:rPr lang="en-US" dirty="0"/>
              <a:t> —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пометить</a:t>
            </a:r>
            <a:r>
              <a:rPr lang="en-US" dirty="0"/>
              <a:t> </a:t>
            </a:r>
            <a:r>
              <a:rPr lang="en-US" dirty="0" err="1"/>
              <a:t>свои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устаревшие</a:t>
            </a:r>
            <a:r>
              <a:rPr lang="en-US" dirty="0"/>
              <a:t>.</a:t>
            </a:r>
          </a:p>
          <a:p>
            <a:r>
              <a:rPr lang="en-US" dirty="0" err="1"/>
              <a:t>Третий</a:t>
            </a:r>
            <a:r>
              <a:rPr lang="en-US" dirty="0"/>
              <a:t> — </a:t>
            </a:r>
            <a:r>
              <a:rPr lang="en-US" dirty="0" err="1"/>
              <a:t>запросить</a:t>
            </a:r>
            <a:r>
              <a:rPr lang="en-US" dirty="0"/>
              <a:t> </a:t>
            </a:r>
            <a:r>
              <a:rPr lang="en-US" dirty="0" err="1"/>
              <a:t>перерисовку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И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пытаться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</a:t>
            </a:r>
            <a:r>
              <a:rPr lang="en-US" dirty="0" err="1"/>
              <a:t>симметричной</a:t>
            </a:r>
            <a:r>
              <a:rPr lang="en-US" dirty="0"/>
              <a:t> </a:t>
            </a:r>
            <a:r>
              <a:rPr lang="en-US" dirty="0" err="1"/>
              <a:t>ради</a:t>
            </a:r>
            <a:r>
              <a:rPr lang="en-US" dirty="0"/>
              <a:t> </a:t>
            </a:r>
            <a:r>
              <a:rPr lang="en-US" dirty="0" err="1"/>
              <a:t>красоты</a:t>
            </a:r>
            <a:r>
              <a:rPr lang="en-US" dirty="0"/>
              <a:t>.</a:t>
            </a:r>
          </a:p>
          <a:p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отрисовывается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кадр</a:t>
            </a:r>
            <a:r>
              <a:rPr lang="en-US" dirty="0"/>
              <a:t> и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уведомление</a:t>
            </a:r>
            <a:r>
              <a:rPr lang="en-US" dirty="0"/>
              <a:t> </a:t>
            </a:r>
            <a:r>
              <a:rPr lang="en-US" dirty="0" err="1"/>
              <a:t>ничего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даёт</a:t>
            </a:r>
            <a:r>
              <a:rPr lang="en-US" dirty="0"/>
              <a:t> — </a:t>
            </a:r>
            <a:r>
              <a:rPr lang="en-US" dirty="0" err="1"/>
              <a:t>подписывать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.</a:t>
            </a:r>
          </a:p>
          <a:p>
            <a:r>
              <a:rPr lang="en-US" dirty="0" err="1"/>
              <a:t>Разные</a:t>
            </a:r>
            <a:r>
              <a:rPr lang="en-US" dirty="0"/>
              <a:t> View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стратегии</a:t>
            </a:r>
            <a:r>
              <a:rPr lang="en-US" dirty="0"/>
              <a:t> </a:t>
            </a:r>
            <a:r>
              <a:rPr lang="en-US" dirty="0" err="1"/>
              <a:t>обновления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32230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конструкции</a:t>
            </a:r>
            <a:r>
              <a:rPr lang="en-US" dirty="0"/>
              <a:t>, </a:t>
            </a:r>
            <a:r>
              <a:rPr lang="en-US" dirty="0" err="1"/>
              <a:t>которую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получили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требований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дать</a:t>
            </a:r>
            <a:r>
              <a:rPr lang="en-US" dirty="0"/>
              <a:t> </a:t>
            </a:r>
            <a:r>
              <a:rPr lang="en-US" dirty="0" err="1"/>
              <a:t>имя</a:t>
            </a:r>
            <a:r>
              <a:rPr lang="en-US" dirty="0"/>
              <a:t>.</a:t>
            </a:r>
          </a:p>
          <a:p>
            <a:r>
              <a:rPr lang="en-US" dirty="0"/>
              <a:t>Это </a:t>
            </a:r>
            <a:r>
              <a:rPr lang="en-US" dirty="0" err="1"/>
              <a:t>паттерн</a:t>
            </a:r>
            <a:r>
              <a:rPr lang="en-US" dirty="0"/>
              <a:t> </a:t>
            </a:r>
            <a:r>
              <a:rPr lang="en-US" b="1" dirty="0"/>
              <a:t>Observer</a:t>
            </a:r>
            <a:r>
              <a:rPr lang="en-US" dirty="0"/>
              <a:t>, </a:t>
            </a:r>
            <a:r>
              <a:rPr lang="en-US" dirty="0" err="1"/>
              <a:t>или</a:t>
            </a:r>
            <a:r>
              <a:rPr lang="en-US" dirty="0"/>
              <a:t> «</a:t>
            </a:r>
            <a:r>
              <a:rPr lang="en-US" dirty="0" err="1"/>
              <a:t>Наблюдатель</a:t>
            </a:r>
            <a:r>
              <a:rPr lang="en-US" dirty="0"/>
              <a:t>».</a:t>
            </a:r>
          </a:p>
          <a:p>
            <a:endParaRPr lang="en-US" dirty="0"/>
          </a:p>
          <a:p>
            <a:r>
              <a:rPr lang="en-US" dirty="0" err="1"/>
              <a:t>Объект</a:t>
            </a:r>
            <a:r>
              <a:rPr lang="en-US" dirty="0"/>
              <a:t>,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интересно</a:t>
            </a:r>
            <a:r>
              <a:rPr lang="en-US" dirty="0"/>
              <a:t> </a:t>
            </a:r>
            <a:r>
              <a:rPr lang="en-US" dirty="0" err="1"/>
              <a:t>другим</a:t>
            </a:r>
            <a:r>
              <a:rPr lang="en-US" dirty="0"/>
              <a:t>,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Subject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Observable</a:t>
            </a:r>
            <a:r>
              <a:rPr lang="en-US" dirty="0"/>
              <a:t>.</a:t>
            </a:r>
          </a:p>
          <a:p>
            <a:r>
              <a:rPr lang="en-US" dirty="0" err="1"/>
              <a:t>Заинтересованные</a:t>
            </a:r>
            <a:r>
              <a:rPr lang="en-US" dirty="0"/>
              <a:t> </a:t>
            </a:r>
            <a:r>
              <a:rPr lang="en-US" dirty="0" err="1"/>
              <a:t>объекты</a:t>
            </a:r>
            <a:r>
              <a:rPr lang="en-US" dirty="0"/>
              <a:t> —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Observers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нашем</a:t>
            </a:r>
            <a:r>
              <a:rPr lang="en-US" dirty="0"/>
              <a:t>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выступает</a:t>
            </a:r>
            <a:r>
              <a:rPr lang="en-US" dirty="0"/>
              <a:t> </a:t>
            </a:r>
            <a:r>
              <a:rPr lang="en-US" dirty="0" err="1"/>
              <a:t>источником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, а View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подписываться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уведомления</a:t>
            </a:r>
            <a:r>
              <a:rPr lang="en-US" dirty="0"/>
              <a:t>.</a:t>
            </a:r>
          </a:p>
          <a:p>
            <a:r>
              <a:rPr lang="en-US" dirty="0" err="1"/>
              <a:t>Главное</a:t>
            </a:r>
            <a:r>
              <a:rPr lang="en-US" dirty="0"/>
              <a:t> </a:t>
            </a:r>
            <a:r>
              <a:rPr lang="en-US" dirty="0" err="1"/>
              <a:t>преимущество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в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вызове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OnDrawingChanged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источник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конкретных</a:t>
            </a:r>
            <a:r>
              <a:rPr lang="en-US" dirty="0"/>
              <a:t> </a:t>
            </a:r>
            <a:r>
              <a:rPr lang="en-US" dirty="0" err="1"/>
              <a:t>получателей</a:t>
            </a:r>
            <a:r>
              <a:rPr lang="en-US" dirty="0"/>
              <a:t>.</a:t>
            </a:r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можем</a:t>
            </a:r>
            <a:r>
              <a:rPr lang="en-US" dirty="0"/>
              <a:t> </a:t>
            </a:r>
            <a:r>
              <a:rPr lang="en-US" dirty="0" err="1"/>
              <a:t>добавить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View, </a:t>
            </a:r>
            <a:r>
              <a:rPr lang="en-US" dirty="0" err="1"/>
              <a:t>логирование</a:t>
            </a:r>
            <a:r>
              <a:rPr lang="en-US" dirty="0"/>
              <a:t>, </a:t>
            </a:r>
            <a:r>
              <a:rPr lang="en-US" dirty="0" err="1"/>
              <a:t>автосохранение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добавляя</a:t>
            </a:r>
            <a:r>
              <a:rPr lang="en-US" dirty="0"/>
              <a:t> </a:t>
            </a:r>
            <a:r>
              <a:rPr lang="en-US" dirty="0" err="1"/>
              <a:t>соответствующую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в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CanvasController</a:t>
            </a:r>
            <a:r>
              <a:rPr lang="en-US" dirty="0"/>
              <a:t>.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Observer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b="1" dirty="0" err="1"/>
              <a:t>роль</a:t>
            </a:r>
            <a:r>
              <a:rPr lang="en-US" b="1" dirty="0"/>
              <a:t> и </a:t>
            </a:r>
            <a:r>
              <a:rPr lang="en-US" b="1" dirty="0" err="1"/>
              <a:t>способ</a:t>
            </a:r>
            <a:r>
              <a:rPr lang="en-US" b="1" dirty="0"/>
              <a:t> </a:t>
            </a:r>
            <a:r>
              <a:rPr lang="en-US" b="1" dirty="0" err="1"/>
              <a:t>организации</a:t>
            </a:r>
            <a:r>
              <a:rPr lang="en-US" b="1" dirty="0"/>
              <a:t> </a:t>
            </a:r>
            <a:r>
              <a:rPr lang="en-US" b="1" dirty="0" err="1"/>
              <a:t>зависимости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 </a:t>
            </a:r>
            <a:r>
              <a:rPr lang="en-US" dirty="0" err="1"/>
              <a:t>обязательно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с </a:t>
            </a:r>
            <a:r>
              <a:rPr lang="en-US" dirty="0" err="1"/>
              <a:t>названием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Observer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реализована</a:t>
            </a:r>
            <a:r>
              <a:rPr lang="en-US" dirty="0"/>
              <a:t> callbacks, </a:t>
            </a:r>
            <a:r>
              <a:rPr lang="en-US" dirty="0" err="1"/>
              <a:t>событиями</a:t>
            </a:r>
            <a:r>
              <a:rPr lang="en-US" dirty="0"/>
              <a:t>, </a:t>
            </a:r>
            <a:r>
              <a:rPr lang="en-US" dirty="0" err="1"/>
              <a:t>сигналами</a:t>
            </a:r>
            <a:r>
              <a:rPr lang="en-US" dirty="0"/>
              <a:t> и </a:t>
            </a:r>
            <a:r>
              <a:rPr lang="en-US" dirty="0" err="1"/>
              <a:t>слотами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средствами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 и </a:t>
            </a:r>
            <a:r>
              <a:rPr lang="en-US" dirty="0" err="1"/>
              <a:t>библиотеки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45522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Observer </a:t>
            </a:r>
            <a:r>
              <a:rPr lang="en-US" dirty="0" err="1"/>
              <a:t>специально</a:t>
            </a:r>
            <a:r>
              <a:rPr lang="en-US" dirty="0"/>
              <a:t> </a:t>
            </a:r>
            <a:r>
              <a:rPr lang="en-US" dirty="0" err="1"/>
              <a:t>максимально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.</a:t>
            </a:r>
          </a:p>
          <a:p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факт</a:t>
            </a:r>
            <a:r>
              <a:rPr lang="en-US" dirty="0"/>
              <a:t>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изменился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небольшого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мере</a:t>
            </a:r>
            <a:r>
              <a:rPr lang="en-US" dirty="0"/>
              <a:t> </a:t>
            </a:r>
            <a:r>
              <a:rPr lang="en-US" dirty="0" err="1"/>
              <a:t>роста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у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подписчиков</a:t>
            </a:r>
            <a:r>
              <a:rPr lang="en-US" dirty="0"/>
              <a:t> </a:t>
            </a:r>
            <a:r>
              <a:rPr lang="en-US" dirty="0" err="1"/>
              <a:t>появятся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интересы</a:t>
            </a:r>
            <a:r>
              <a:rPr lang="en-US" dirty="0"/>
              <a:t>.</a:t>
            </a:r>
          </a:p>
          <a:p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интересует</a:t>
            </a:r>
            <a:r>
              <a:rPr lang="en-US" dirty="0"/>
              <a:t> </a:t>
            </a:r>
            <a:r>
              <a:rPr lang="en-US" dirty="0" err="1"/>
              <a:t>добавление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, </a:t>
            </a:r>
            <a:r>
              <a:rPr lang="en-US" dirty="0" err="1"/>
              <a:t>другого</a:t>
            </a:r>
            <a:r>
              <a:rPr lang="en-US" dirty="0"/>
              <a:t> — </a:t>
            </a:r>
            <a:r>
              <a:rPr lang="en-US" dirty="0" err="1"/>
              <a:t>геометрия</a:t>
            </a:r>
            <a:r>
              <a:rPr lang="en-US" dirty="0"/>
              <a:t>, </a:t>
            </a:r>
            <a:r>
              <a:rPr lang="en-US" dirty="0" err="1"/>
              <a:t>третьего</a:t>
            </a:r>
            <a:r>
              <a:rPr lang="en-US" dirty="0"/>
              <a:t> —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слоёв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продолжать</a:t>
            </a:r>
            <a:r>
              <a:rPr lang="en-US" dirty="0"/>
              <a:t> </a:t>
            </a:r>
            <a:r>
              <a:rPr lang="en-US" dirty="0" err="1"/>
              <a:t>посылать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универсальное</a:t>
            </a:r>
            <a:r>
              <a:rPr lang="en-US" dirty="0"/>
              <a:t> </a:t>
            </a:r>
            <a:r>
              <a:rPr lang="en-US" dirty="0" err="1"/>
              <a:t>уведомление</a:t>
            </a:r>
            <a:r>
              <a:rPr lang="en-US" dirty="0"/>
              <a:t> и </a:t>
            </a:r>
            <a:r>
              <a:rPr lang="en-US" dirty="0" err="1"/>
              <a:t>заставлять</a:t>
            </a:r>
            <a:r>
              <a:rPr lang="en-US" dirty="0"/>
              <a:t> </a:t>
            </a:r>
            <a:r>
              <a:rPr lang="en-US" dirty="0" err="1"/>
              <a:t>подписчиков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перечитывать</a:t>
            </a:r>
            <a:r>
              <a:rPr lang="en-US" dirty="0"/>
              <a:t> </a:t>
            </a:r>
            <a:r>
              <a:rPr lang="en-US" dirty="0" err="1"/>
              <a:t>необходимые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А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специализированными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дизайнерский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.</a:t>
            </a:r>
          </a:p>
          <a:p>
            <a:r>
              <a:rPr lang="en-US" dirty="0"/>
              <a:t>И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универсально</a:t>
            </a:r>
            <a:r>
              <a:rPr lang="en-US" dirty="0"/>
              <a:t> </a:t>
            </a:r>
            <a:r>
              <a:rPr lang="en-US" dirty="0" err="1"/>
              <a:t>правильного</a:t>
            </a:r>
            <a:r>
              <a:rPr lang="en-US" dirty="0"/>
              <a:t> </a:t>
            </a:r>
            <a:r>
              <a:rPr lang="en-US" dirty="0" err="1"/>
              <a:t>ответа</a:t>
            </a:r>
            <a:r>
              <a:rPr lang="en-US" dirty="0"/>
              <a:t>: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точные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уменьшают</a:t>
            </a:r>
            <a:r>
              <a:rPr lang="en-US" dirty="0"/>
              <a:t> </a:t>
            </a:r>
            <a:r>
              <a:rPr lang="en-US" dirty="0" err="1"/>
              <a:t>лишнюю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подписчиков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делают</a:t>
            </a:r>
            <a:r>
              <a:rPr lang="en-US" dirty="0"/>
              <a:t> </a:t>
            </a:r>
            <a:r>
              <a:rPr lang="en-US" dirty="0" err="1"/>
              <a:t>протокол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Observer </a:t>
            </a:r>
            <a:r>
              <a:rPr lang="en-US" dirty="0" err="1"/>
              <a:t>решает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проблему</a:t>
            </a:r>
            <a:r>
              <a:rPr lang="en-US" dirty="0"/>
              <a:t> — </a:t>
            </a:r>
            <a:r>
              <a:rPr lang="en-US" b="1" dirty="0" err="1"/>
              <a:t>как</a:t>
            </a:r>
            <a:r>
              <a:rPr lang="en-US" b="1" dirty="0"/>
              <a:t> </a:t>
            </a:r>
            <a:r>
              <a:rPr lang="en-US" b="1" dirty="0" err="1"/>
              <a:t>сообщить</a:t>
            </a:r>
            <a:r>
              <a:rPr lang="en-US" b="1" dirty="0"/>
              <a:t> </a:t>
            </a:r>
            <a:r>
              <a:rPr lang="en-US" b="1" dirty="0" err="1"/>
              <a:t>неизвестным</a:t>
            </a:r>
            <a:r>
              <a:rPr lang="en-US" b="1" dirty="0"/>
              <a:t> </a:t>
            </a:r>
            <a:r>
              <a:rPr lang="en-US" b="1" dirty="0" err="1"/>
              <a:t>заранее</a:t>
            </a:r>
            <a:r>
              <a:rPr lang="en-US" b="1" dirty="0"/>
              <a:t> </a:t>
            </a:r>
            <a:r>
              <a:rPr lang="en-US" b="1" dirty="0" err="1"/>
              <a:t>подписчикам</a:t>
            </a:r>
            <a:r>
              <a:rPr lang="en-US" b="1" dirty="0"/>
              <a:t> </a:t>
            </a:r>
            <a:r>
              <a:rPr lang="en-US" b="1" dirty="0" err="1"/>
              <a:t>об</a:t>
            </a:r>
            <a:r>
              <a:rPr lang="en-US" b="1" dirty="0"/>
              <a:t> </a:t>
            </a:r>
            <a:r>
              <a:rPr lang="en-US" b="1" dirty="0" err="1"/>
              <a:t>изменении</a:t>
            </a:r>
            <a:r>
              <a:rPr lang="en-US" dirty="0"/>
              <a:t>, —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открывает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 </a:t>
            </a:r>
            <a:r>
              <a:rPr lang="en-US" b="1" dirty="0" err="1"/>
              <a:t>что</a:t>
            </a:r>
            <a:r>
              <a:rPr lang="en-US" b="1" dirty="0"/>
              <a:t> </a:t>
            </a:r>
            <a:r>
              <a:rPr lang="en-US" b="1" dirty="0" err="1"/>
              <a:t>именно</a:t>
            </a:r>
            <a:r>
              <a:rPr lang="en-US" b="1" dirty="0"/>
              <a:t> </a:t>
            </a:r>
            <a:r>
              <a:rPr lang="en-US" b="1" dirty="0" err="1"/>
              <a:t>им</a:t>
            </a:r>
            <a:r>
              <a:rPr lang="en-US" b="1" dirty="0"/>
              <a:t> </a:t>
            </a:r>
            <a:r>
              <a:rPr lang="en-US" b="1" dirty="0" err="1"/>
              <a:t>сообщать</a:t>
            </a:r>
            <a:r>
              <a:rPr lang="en-US" b="1" dirty="0"/>
              <a:t>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85613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6410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dirty="0" err="1"/>
              <a:t>первый</a:t>
            </a:r>
            <a:r>
              <a:rPr lang="en-US" dirty="0"/>
              <a:t> </a:t>
            </a:r>
            <a:r>
              <a:rPr lang="en-US" dirty="0" err="1"/>
              <a:t>вариант</a:t>
            </a:r>
            <a:r>
              <a:rPr lang="en-US" dirty="0"/>
              <a:t> Observer </a:t>
            </a:r>
            <a:r>
              <a:rPr lang="en-US" dirty="0" err="1"/>
              <a:t>решает</a:t>
            </a:r>
            <a:r>
              <a:rPr lang="en-US" dirty="0"/>
              <a:t> </a:t>
            </a:r>
            <a:r>
              <a:rPr lang="en-US" dirty="0" err="1"/>
              <a:t>главную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сообщить</a:t>
            </a:r>
            <a:r>
              <a:rPr lang="en-US" dirty="0"/>
              <a:t> </a:t>
            </a:r>
            <a:r>
              <a:rPr lang="en-US" dirty="0" err="1"/>
              <a:t>подписчикам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изменилось</a:t>
            </a:r>
            <a:r>
              <a:rPr lang="en-US" dirty="0"/>
              <a:t>.</a:t>
            </a:r>
          </a:p>
          <a:p>
            <a:r>
              <a:rPr lang="en-US" dirty="0"/>
              <a:t>И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небольшого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, </a:t>
            </a:r>
            <a:r>
              <a:rPr lang="en-US" dirty="0" err="1"/>
              <a:t>которую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подписчик</a:t>
            </a:r>
            <a:r>
              <a:rPr lang="en-US" dirty="0"/>
              <a:t>.</a:t>
            </a:r>
          </a:p>
          <a:p>
            <a:r>
              <a:rPr lang="en-US" dirty="0" err="1"/>
              <a:t>Добавили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—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OnDrawingChanged</a:t>
            </a:r>
            <a:r>
              <a:rPr lang="en-US" dirty="0"/>
              <a:t>.</a:t>
            </a:r>
          </a:p>
          <a:p>
            <a:r>
              <a:rPr lang="en-US" dirty="0" err="1"/>
              <a:t>Удалили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—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OnDrawingChanged</a:t>
            </a:r>
            <a:r>
              <a:rPr lang="en-US" dirty="0"/>
              <a:t>.</a:t>
            </a:r>
          </a:p>
          <a:p>
            <a:r>
              <a:rPr lang="en-US" dirty="0" err="1"/>
              <a:t>Передвинули</a:t>
            </a:r>
            <a:r>
              <a:rPr lang="en-US" dirty="0"/>
              <a:t> </a:t>
            </a:r>
            <a:r>
              <a:rPr lang="en-US" dirty="0" err="1"/>
              <a:t>прямоугольник</a:t>
            </a:r>
            <a:r>
              <a:rPr lang="en-US" dirty="0"/>
              <a:t> —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вызов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Подписчик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факт</a:t>
            </a:r>
            <a:r>
              <a:rPr lang="en-US" dirty="0"/>
              <a:t>: </a:t>
            </a:r>
            <a:r>
              <a:rPr lang="en-US" dirty="0" err="1"/>
              <a:t>что-то</a:t>
            </a:r>
            <a:r>
              <a:rPr lang="en-US" dirty="0"/>
              <a:t> </a:t>
            </a:r>
            <a:r>
              <a:rPr lang="en-US" dirty="0" err="1"/>
              <a:t>изменилось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,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заново</a:t>
            </a:r>
            <a:r>
              <a:rPr lang="en-US" dirty="0"/>
              <a:t> </a:t>
            </a:r>
            <a:r>
              <a:rPr lang="en-US" dirty="0" err="1"/>
              <a:t>прочитать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 и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выяснить</a:t>
            </a:r>
            <a:r>
              <a:rPr lang="en-US" dirty="0"/>
              <a:t>.</a:t>
            </a:r>
          </a:p>
          <a:p>
            <a:r>
              <a:rPr lang="en-US" dirty="0"/>
              <a:t>Это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обязательно</a:t>
            </a:r>
            <a:r>
              <a:rPr lang="en-US" dirty="0"/>
              <a:t> </a:t>
            </a:r>
            <a:r>
              <a:rPr lang="en-US" dirty="0" err="1"/>
              <a:t>плохо</a:t>
            </a:r>
            <a:r>
              <a:rPr lang="en-US" dirty="0"/>
              <a:t>. </a:t>
            </a:r>
            <a:r>
              <a:rPr lang="en-US" dirty="0" err="1"/>
              <a:t>Универсальное</a:t>
            </a:r>
            <a:r>
              <a:rPr lang="en-US" dirty="0"/>
              <a:t> </a:t>
            </a:r>
            <a:r>
              <a:rPr lang="en-US" dirty="0" err="1"/>
              <a:t>уведомление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простое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 </a:t>
            </a:r>
            <a:r>
              <a:rPr lang="en-US" dirty="0" err="1"/>
              <a:t>реагируют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по-разному</a:t>
            </a:r>
            <a:r>
              <a:rPr lang="en-US" dirty="0"/>
              <a:t>, </a:t>
            </a:r>
            <a:r>
              <a:rPr lang="en-US" dirty="0" err="1"/>
              <a:t>возникает</a:t>
            </a:r>
            <a:r>
              <a:rPr lang="en-US" dirty="0"/>
              <a:t> </a:t>
            </a:r>
            <a:r>
              <a:rPr lang="en-US" dirty="0" err="1"/>
              <a:t>естественный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 </a:t>
            </a:r>
            <a:r>
              <a:rPr lang="en-US" b="1" dirty="0" err="1"/>
              <a:t>можем</a:t>
            </a:r>
            <a:r>
              <a:rPr lang="en-US" b="1" dirty="0"/>
              <a:t> </a:t>
            </a:r>
            <a:r>
              <a:rPr lang="en-US" b="1" dirty="0" err="1"/>
              <a:t>ли</a:t>
            </a:r>
            <a:r>
              <a:rPr lang="en-US" b="1" dirty="0"/>
              <a:t> </a:t>
            </a:r>
            <a:r>
              <a:rPr lang="en-US" b="1" dirty="0" err="1"/>
              <a:t>мы</a:t>
            </a:r>
            <a:r>
              <a:rPr lang="en-US" b="1" dirty="0"/>
              <a:t> </a:t>
            </a:r>
            <a:r>
              <a:rPr lang="en-US" b="1" dirty="0" err="1"/>
              <a:t>сообщать</a:t>
            </a:r>
            <a:r>
              <a:rPr lang="en-US" b="1" dirty="0"/>
              <a:t> </a:t>
            </a:r>
            <a:r>
              <a:rPr lang="en-US" b="1" dirty="0" err="1"/>
              <a:t>подписчику</a:t>
            </a:r>
            <a:r>
              <a:rPr lang="en-US" b="1" dirty="0"/>
              <a:t> </a:t>
            </a:r>
            <a:r>
              <a:rPr lang="en-US" b="1" dirty="0" err="1"/>
              <a:t>немного</a:t>
            </a:r>
            <a:r>
              <a:rPr lang="en-US" b="1" dirty="0"/>
              <a:t> </a:t>
            </a:r>
            <a:r>
              <a:rPr lang="en-US" b="1" dirty="0" err="1"/>
              <a:t>больше</a:t>
            </a:r>
            <a:r>
              <a:rPr lang="en-US" b="1" dirty="0"/>
              <a:t>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80035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Самое</a:t>
            </a:r>
            <a:r>
              <a:rPr lang="en-US" dirty="0"/>
              <a:t> </a:t>
            </a:r>
            <a:r>
              <a:rPr lang="en-US" dirty="0" err="1"/>
              <a:t>прямое</a:t>
            </a:r>
            <a:r>
              <a:rPr lang="en-US" dirty="0"/>
              <a:t> </a:t>
            </a:r>
            <a:r>
              <a:rPr lang="en-US" dirty="0" err="1"/>
              <a:t>развитие</a:t>
            </a:r>
            <a:r>
              <a:rPr lang="en-US" dirty="0"/>
              <a:t> </a:t>
            </a:r>
            <a:r>
              <a:rPr lang="en-US" dirty="0" err="1"/>
              <a:t>нашего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—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 с </a:t>
            </a:r>
            <a:r>
              <a:rPr lang="en-US" dirty="0" err="1"/>
              <a:t>уведомлением</a:t>
            </a:r>
            <a:r>
              <a:rPr lang="en-US" dirty="0"/>
              <a:t> </a:t>
            </a:r>
            <a:r>
              <a:rPr lang="en-US" dirty="0" err="1"/>
              <a:t>описание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о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факте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о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разновидности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ShapeListView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перемещении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обновить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соответствующую</a:t>
            </a:r>
            <a:r>
              <a:rPr lang="en-US" dirty="0"/>
              <a:t> </a:t>
            </a:r>
            <a:r>
              <a:rPr lang="en-US" dirty="0" err="1"/>
              <a:t>строку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перестраивать</a:t>
            </a:r>
            <a:r>
              <a:rPr lang="en-US" dirty="0"/>
              <a:t> </a:t>
            </a:r>
            <a:r>
              <a:rPr lang="en-US" dirty="0" err="1"/>
              <a:t>весь</a:t>
            </a:r>
            <a:r>
              <a:rPr lang="en-US" dirty="0"/>
              <a:t> </a:t>
            </a:r>
            <a:r>
              <a:rPr lang="en-US" dirty="0" err="1"/>
              <a:t>список</a:t>
            </a:r>
            <a:r>
              <a:rPr lang="en-US" dirty="0"/>
              <a:t>.</a:t>
            </a:r>
          </a:p>
          <a:p>
            <a:r>
              <a:rPr lang="en-US" dirty="0"/>
              <a:t>Это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заметно</a:t>
            </a:r>
            <a:r>
              <a:rPr lang="en-US" dirty="0"/>
              <a:t> </a:t>
            </a:r>
            <a:r>
              <a:rPr lang="en-US" dirty="0" err="1"/>
              <a:t>полезнее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начали</a:t>
            </a:r>
            <a:r>
              <a:rPr lang="en-US" dirty="0"/>
              <a:t>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b="1" dirty="0" err="1"/>
              <a:t>протокол</a:t>
            </a:r>
            <a:r>
              <a:rPr lang="en-US" b="1" dirty="0"/>
              <a:t> </a:t>
            </a:r>
            <a:r>
              <a:rPr lang="en-US" b="1" dirty="0" err="1"/>
              <a:t>событий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Model и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подписчиками</a:t>
            </a:r>
            <a:r>
              <a:rPr lang="en-US" dirty="0"/>
              <a:t>.</a:t>
            </a:r>
          </a:p>
          <a:p>
            <a:r>
              <a:rPr lang="en-US" dirty="0"/>
              <a:t>И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возможностей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у </a:t>
            </a:r>
            <a:r>
              <a:rPr lang="en-US" dirty="0" err="1"/>
              <a:t>редактора</a:t>
            </a:r>
            <a:r>
              <a:rPr lang="en-US" dirty="0"/>
              <a:t>, </a:t>
            </a:r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протокол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Сегодня</a:t>
            </a:r>
            <a:r>
              <a:rPr lang="en-US" dirty="0"/>
              <a:t> у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разновидности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 </a:t>
            </a:r>
            <a:r>
              <a:rPr lang="en-US" dirty="0" err="1"/>
              <a:t>Завтра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появиться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порядка</a:t>
            </a:r>
            <a:r>
              <a:rPr lang="en-US" dirty="0"/>
              <a:t> </a:t>
            </a:r>
            <a:r>
              <a:rPr lang="en-US" dirty="0" err="1"/>
              <a:t>слоёв</a:t>
            </a:r>
            <a:r>
              <a:rPr lang="en-US" dirty="0"/>
              <a:t>,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стиля</a:t>
            </a:r>
            <a:r>
              <a:rPr lang="en-US" dirty="0"/>
              <a:t>, </a:t>
            </a:r>
            <a:r>
              <a:rPr lang="en-US" dirty="0" err="1"/>
              <a:t>группировка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</a:p>
          <a:p>
            <a:r>
              <a:rPr lang="en-US" dirty="0" err="1"/>
              <a:t>Посмотрим</a:t>
            </a:r>
            <a:r>
              <a:rPr lang="en-US" dirty="0"/>
              <a:t>, к </a:t>
            </a:r>
            <a:r>
              <a:rPr lang="en-US" dirty="0" err="1"/>
              <a:t>чему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универсальный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57299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</a:t>
            </a:r>
            <a:r>
              <a:rPr lang="en-US" dirty="0" err="1"/>
              <a:t>универсального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OnDrawingChanged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проявляться</a:t>
            </a:r>
            <a:r>
              <a:rPr lang="en-US" dirty="0"/>
              <a:t> </a:t>
            </a:r>
            <a:r>
              <a:rPr lang="en-US" dirty="0" err="1"/>
              <a:t>другая</a:t>
            </a:r>
            <a:r>
              <a:rPr lang="en-US" dirty="0"/>
              <a:t> </a:t>
            </a:r>
            <a:r>
              <a:rPr lang="en-US" dirty="0" err="1"/>
              <a:t>цена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подписчик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а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сам</a:t>
            </a:r>
            <a:r>
              <a:rPr lang="en-US" dirty="0"/>
              <a:t> </a:t>
            </a:r>
            <a:r>
              <a:rPr lang="en-US" dirty="0" err="1"/>
              <a:t>решает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интересны</a:t>
            </a:r>
            <a:r>
              <a:rPr lang="en-US" dirty="0"/>
              <a:t>.</a:t>
            </a:r>
          </a:p>
          <a:p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switch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цепочке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одному</a:t>
            </a:r>
            <a:r>
              <a:rPr lang="en-US" dirty="0"/>
              <a:t> View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нужны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а </a:t>
            </a:r>
            <a:r>
              <a:rPr lang="en-US" dirty="0" err="1"/>
              <a:t>другому</a:t>
            </a:r>
            <a:r>
              <a:rPr lang="en-US" dirty="0"/>
              <a:t> —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перемещение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</a:t>
            </a:r>
          </a:p>
          <a:p>
            <a:r>
              <a:rPr lang="en-US" dirty="0" err="1"/>
              <a:t>Получается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dirty="0" err="1"/>
              <a:t>контракт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стал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широким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естественно</a:t>
            </a:r>
            <a:r>
              <a:rPr lang="en-US" dirty="0"/>
              <a:t> </a:t>
            </a:r>
            <a:r>
              <a:rPr lang="en-US" dirty="0" err="1"/>
              <a:t>вспоминается</a:t>
            </a:r>
            <a:r>
              <a:rPr lang="en-US" dirty="0"/>
              <a:t> ISP: </a:t>
            </a:r>
            <a:r>
              <a:rPr lang="en-US" dirty="0" err="1"/>
              <a:t>клиенту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стоит</a:t>
            </a:r>
            <a:r>
              <a:rPr lang="en-US" dirty="0"/>
              <a:t> </a:t>
            </a:r>
            <a:r>
              <a:rPr lang="en-US" dirty="0" err="1"/>
              <a:t>навязывать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пользуется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вовсе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обязательно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новых</a:t>
            </a:r>
            <a:r>
              <a:rPr lang="en-US" dirty="0"/>
              <a:t> </a:t>
            </a:r>
            <a:r>
              <a:rPr lang="en-US" dirty="0" err="1"/>
              <a:t>интерфейса</a:t>
            </a:r>
            <a:r>
              <a:rPr lang="en-US" dirty="0"/>
              <a:t> </a:t>
            </a:r>
            <a:r>
              <a:rPr lang="en-US" dirty="0" err="1"/>
              <a:t>вроде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IShapeAddedObserver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IShapeRemovedObserver</a:t>
            </a:r>
            <a:r>
              <a:rPr lang="en-US" dirty="0"/>
              <a:t> и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IShapeChangedObserver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пойти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интересует</a:t>
            </a:r>
            <a:r>
              <a:rPr lang="en-US" dirty="0"/>
              <a:t> </a:t>
            </a:r>
            <a:r>
              <a:rPr lang="en-US" dirty="0" err="1"/>
              <a:t>конкретное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—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подписываться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08192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шаг</a:t>
            </a:r>
            <a:r>
              <a:rPr lang="en-US" dirty="0"/>
              <a:t>.</a:t>
            </a:r>
          </a:p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сих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 </a:t>
            </a:r>
            <a:r>
              <a:rPr lang="en-US" dirty="0" err="1"/>
              <a:t>подписчиком</a:t>
            </a:r>
            <a:r>
              <a:rPr lang="en-US" dirty="0"/>
              <a:t> у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обязательно</a:t>
            </a:r>
            <a:r>
              <a:rPr lang="en-US" dirty="0"/>
              <a:t>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, </a:t>
            </a:r>
            <a:r>
              <a:rPr lang="en-US" dirty="0" err="1"/>
              <a:t>реализующий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ShapeListView</a:t>
            </a:r>
            <a:r>
              <a:rPr lang="en-US" dirty="0"/>
              <a:t> </a:t>
            </a:r>
            <a:r>
              <a:rPr lang="en-US" dirty="0" err="1"/>
              <a:t>интересует</a:t>
            </a:r>
            <a:r>
              <a:rPr lang="en-US" dirty="0"/>
              <a:t> </a:t>
            </a:r>
            <a:r>
              <a:rPr lang="en-US" dirty="0" err="1"/>
              <a:t>конкретное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, </a:t>
            </a:r>
            <a:r>
              <a:rPr lang="en-US" dirty="0" err="1"/>
              <a:t>нам</a:t>
            </a:r>
            <a:r>
              <a:rPr lang="en-US" dirty="0"/>
              <a:t> в </a:t>
            </a:r>
            <a:r>
              <a:rPr lang="en-US" dirty="0" err="1"/>
              <a:t>сущности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разновидность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.</a:t>
            </a:r>
          </a:p>
          <a:p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 </a:t>
            </a:r>
            <a:r>
              <a:rPr lang="en-US" b="1" dirty="0" err="1"/>
              <a:t>функция</a:t>
            </a:r>
            <a:r>
              <a:rPr lang="en-US" b="1" dirty="0"/>
              <a:t>, </a:t>
            </a:r>
            <a:r>
              <a:rPr lang="en-US" b="1" dirty="0" err="1"/>
              <a:t>которую</a:t>
            </a:r>
            <a:r>
              <a:rPr lang="en-US" b="1" dirty="0"/>
              <a:t> </a:t>
            </a:r>
            <a:r>
              <a:rPr lang="en-US" b="1" dirty="0" err="1"/>
              <a:t>следует</a:t>
            </a:r>
            <a:r>
              <a:rPr lang="en-US" b="1" dirty="0"/>
              <a:t> </a:t>
            </a:r>
            <a:r>
              <a:rPr lang="en-US" b="1" dirty="0" err="1"/>
              <a:t>вызвать</a:t>
            </a:r>
            <a:r>
              <a:rPr lang="en-US" b="1" dirty="0"/>
              <a:t> </a:t>
            </a:r>
            <a:r>
              <a:rPr lang="en-US" b="1" dirty="0" err="1"/>
              <a:t>при</a:t>
            </a:r>
            <a:r>
              <a:rPr lang="en-US" b="1" dirty="0"/>
              <a:t> </a:t>
            </a:r>
            <a:r>
              <a:rPr lang="en-US" b="1" dirty="0" err="1"/>
              <a:t>наступлении</a:t>
            </a:r>
            <a:r>
              <a:rPr lang="en-US" b="1" dirty="0"/>
              <a:t> </a:t>
            </a:r>
            <a:r>
              <a:rPr lang="en-US" b="1" dirty="0" err="1"/>
              <a:t>этого</a:t>
            </a:r>
            <a:r>
              <a:rPr lang="en-US" b="1" dirty="0"/>
              <a:t> </a:t>
            </a:r>
            <a:r>
              <a:rPr lang="en-US" b="1" dirty="0" err="1"/>
              <a:t>события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AddListener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дать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подписки</a:t>
            </a:r>
            <a:r>
              <a:rPr lang="en-US" dirty="0"/>
              <a:t>.</a:t>
            </a:r>
          </a:p>
          <a:p>
            <a:r>
              <a:rPr lang="en-US" dirty="0" err="1"/>
              <a:t>Подписчик</a:t>
            </a:r>
            <a:r>
              <a:rPr lang="en-US" dirty="0"/>
              <a:t> </a:t>
            </a:r>
            <a:r>
              <a:rPr lang="en-US" dirty="0" err="1"/>
              <a:t>выбирает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те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нужны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ShapeChanged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подписать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callback.</a:t>
            </a:r>
          </a:p>
          <a:p>
            <a:r>
              <a:rPr lang="en-US" dirty="0"/>
              <a:t>Это </a:t>
            </a:r>
            <a:r>
              <a:rPr lang="en-US" dirty="0" err="1"/>
              <a:t>уменьшает</a:t>
            </a:r>
            <a:r>
              <a:rPr lang="en-US" dirty="0"/>
              <a:t> </a:t>
            </a:r>
            <a:r>
              <a:rPr lang="en-US" dirty="0" err="1"/>
              <a:t>связанность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сильнее</a:t>
            </a:r>
            <a:r>
              <a:rPr lang="en-US" dirty="0"/>
              <a:t>: </a:t>
            </a:r>
            <a:r>
              <a:rPr lang="en-US" dirty="0" err="1"/>
              <a:t>источнику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какой-то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Observer.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интересует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определённой</a:t>
            </a:r>
            <a:r>
              <a:rPr lang="en-US" dirty="0"/>
              <a:t> </a:t>
            </a:r>
            <a:r>
              <a:rPr lang="en-US" dirty="0" err="1"/>
              <a:t>сигнатуры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 </a:t>
            </a:r>
            <a:r>
              <a:rPr lang="en-US" dirty="0" err="1"/>
              <a:t>Событию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нужна</a:t>
            </a:r>
            <a:r>
              <a:rPr lang="en-US" dirty="0"/>
              <a:t> </a:t>
            </a:r>
            <a:r>
              <a:rPr lang="en-US" dirty="0" err="1"/>
              <a:t>сама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другого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аргументов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иным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постепенно</a:t>
            </a:r>
            <a:r>
              <a:rPr lang="en-US" dirty="0"/>
              <a:t> </a:t>
            </a:r>
            <a:r>
              <a:rPr lang="en-US" dirty="0" err="1"/>
              <a:t>пришли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объектного</a:t>
            </a:r>
            <a:r>
              <a:rPr lang="en-US" dirty="0"/>
              <a:t> Observer к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общему</a:t>
            </a:r>
            <a:r>
              <a:rPr lang="en-US" dirty="0"/>
              <a:t> </a:t>
            </a:r>
            <a:r>
              <a:rPr lang="en-US" dirty="0" err="1"/>
              <a:t>механизму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37883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,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бессмысленно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вектор</a:t>
            </a:r>
            <a:r>
              <a:rPr lang="en-US" dirty="0"/>
              <a:t> </a:t>
            </a:r>
            <a:r>
              <a:rPr lang="en-US" dirty="0" err="1"/>
              <a:t>подписчиков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AddListener</a:t>
            </a:r>
            <a:r>
              <a:rPr lang="en-US" dirty="0"/>
              <a:t>,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RemoveListener</a:t>
            </a:r>
            <a:r>
              <a:rPr lang="en-US" dirty="0"/>
              <a:t> и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уведомления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Это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повторяющийся</a:t>
            </a:r>
            <a:r>
              <a:rPr lang="en-US" dirty="0"/>
              <a:t> </a:t>
            </a:r>
            <a:r>
              <a:rPr lang="en-US" dirty="0" err="1"/>
              <a:t>технический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обобщить</a:t>
            </a:r>
            <a:r>
              <a:rPr lang="en-US" dirty="0"/>
              <a:t> в </a:t>
            </a:r>
            <a:r>
              <a:rPr lang="en-US" dirty="0" err="1"/>
              <a:t>сущность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Signal</a:t>
            </a:r>
            <a:r>
              <a:rPr lang="en-US" dirty="0"/>
              <a:t>.</a:t>
            </a:r>
          </a:p>
          <a:p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некоторую</a:t>
            </a:r>
            <a:r>
              <a:rPr lang="en-US" dirty="0"/>
              <a:t> </a:t>
            </a:r>
            <a:r>
              <a:rPr lang="en-US" dirty="0" err="1"/>
              <a:t>сигнатуру</a:t>
            </a:r>
            <a:r>
              <a:rPr lang="en-US" dirty="0"/>
              <a:t>. К </a:t>
            </a:r>
            <a:r>
              <a:rPr lang="en-US" dirty="0" err="1"/>
              <a:t>нему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подключить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—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называют</a:t>
            </a:r>
            <a:r>
              <a:rPr lang="en-US" dirty="0"/>
              <a:t> slots.</a:t>
            </a:r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испускается</a:t>
            </a:r>
            <a:r>
              <a:rPr lang="en-US" dirty="0"/>
              <a:t>, </a:t>
            </a:r>
            <a:r>
              <a:rPr lang="en-US" dirty="0" err="1"/>
              <a:t>вызываются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подключённые</a:t>
            </a:r>
            <a:r>
              <a:rPr lang="en-US" dirty="0"/>
              <a:t> </a:t>
            </a:r>
            <a:r>
              <a:rPr lang="en-US" dirty="0" err="1"/>
              <a:t>обработчики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C++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существуют</a:t>
            </a:r>
            <a:r>
              <a:rPr lang="en-US" dirty="0"/>
              <a:t> </a:t>
            </a:r>
            <a:r>
              <a:rPr lang="en-US" dirty="0" err="1"/>
              <a:t>готовые</a:t>
            </a:r>
            <a:r>
              <a:rPr lang="en-US" dirty="0"/>
              <a:t> </a:t>
            </a:r>
            <a:r>
              <a:rPr lang="en-US" dirty="0" err="1"/>
              <a:t>библиотеки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boost::signals2</a:t>
            </a:r>
            <a:r>
              <a:rPr lang="en-US" dirty="0"/>
              <a:t>. В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языках</a:t>
            </a:r>
            <a:r>
              <a:rPr lang="en-US" dirty="0"/>
              <a:t> </a:t>
            </a:r>
            <a:r>
              <a:rPr lang="en-US" dirty="0" err="1"/>
              <a:t>аналогичная</a:t>
            </a:r>
            <a:r>
              <a:rPr lang="en-US" dirty="0"/>
              <a:t> </a:t>
            </a:r>
            <a:r>
              <a:rPr lang="en-US" dirty="0" err="1"/>
              <a:t>идея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называться</a:t>
            </a:r>
            <a:r>
              <a:rPr lang="en-US" dirty="0"/>
              <a:t> events, delegates, signals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callbacks.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различать</a:t>
            </a:r>
            <a:r>
              <a:rPr lang="en-US" dirty="0"/>
              <a:t> </a:t>
            </a:r>
            <a:r>
              <a:rPr lang="en-US" b="1" dirty="0" err="1"/>
              <a:t>паттерн</a:t>
            </a:r>
            <a:r>
              <a:rPr lang="en-US" b="1" dirty="0"/>
              <a:t> и </a:t>
            </a:r>
            <a:r>
              <a:rPr lang="en-US" b="1" dirty="0" err="1"/>
              <a:t>конкретный</a:t>
            </a:r>
            <a:r>
              <a:rPr lang="en-US" b="1" dirty="0"/>
              <a:t> </a:t>
            </a:r>
            <a:r>
              <a:rPr lang="en-US" b="1" dirty="0" err="1"/>
              <a:t>инструмент</a:t>
            </a:r>
            <a:r>
              <a:rPr lang="en-US" dirty="0"/>
              <a:t>.</a:t>
            </a:r>
          </a:p>
          <a:p>
            <a:r>
              <a:rPr lang="en-US" dirty="0"/>
              <a:t>Observer </a:t>
            </a:r>
            <a:r>
              <a:rPr lang="en-US" dirty="0" err="1"/>
              <a:t>описывает</a:t>
            </a:r>
            <a:r>
              <a:rPr lang="en-US" dirty="0"/>
              <a:t> </a:t>
            </a:r>
            <a:r>
              <a:rPr lang="en-US" dirty="0" err="1"/>
              <a:t>отношение</a:t>
            </a:r>
            <a:r>
              <a:rPr lang="en-US" dirty="0"/>
              <a:t>: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источник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неизвестному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набору</a:t>
            </a:r>
            <a:r>
              <a:rPr lang="en-US" dirty="0"/>
              <a:t> </a:t>
            </a:r>
            <a:r>
              <a:rPr lang="en-US" dirty="0" err="1"/>
              <a:t>заинтересованных</a:t>
            </a:r>
            <a:r>
              <a:rPr lang="en-US" dirty="0"/>
              <a:t> </a:t>
            </a:r>
            <a:r>
              <a:rPr lang="en-US" dirty="0" err="1"/>
              <a:t>получателей</a:t>
            </a:r>
            <a:r>
              <a:rPr lang="en-US" dirty="0"/>
              <a:t>.</a:t>
            </a:r>
          </a:p>
          <a:p>
            <a:r>
              <a:rPr lang="en-US" dirty="0" err="1"/>
              <a:t>Сигналы</a:t>
            </a:r>
            <a:r>
              <a:rPr lang="en-US" dirty="0"/>
              <a:t> и </a:t>
            </a:r>
            <a:r>
              <a:rPr lang="en-US" dirty="0" err="1"/>
              <a:t>слоты</a:t>
            </a:r>
            <a:r>
              <a:rPr lang="en-US" dirty="0"/>
              <a:t> — </a:t>
            </a:r>
            <a:r>
              <a:rPr lang="en-US" dirty="0" err="1"/>
              <a:t>удобный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, </a:t>
            </a:r>
            <a:r>
              <a:rPr lang="en-US" dirty="0" err="1"/>
              <a:t>которым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отношение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реализовать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И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готовая</a:t>
            </a:r>
            <a:r>
              <a:rPr lang="en-US" dirty="0"/>
              <a:t> </a:t>
            </a:r>
            <a:r>
              <a:rPr lang="en-US" dirty="0" err="1"/>
              <a:t>библиотека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решает</a:t>
            </a:r>
            <a:r>
              <a:rPr lang="en-US" dirty="0"/>
              <a:t> </a:t>
            </a:r>
            <a:r>
              <a:rPr lang="en-US" dirty="0" err="1"/>
              <a:t>неприятные</a:t>
            </a:r>
            <a:r>
              <a:rPr lang="en-US" dirty="0"/>
              <a:t> </a:t>
            </a:r>
            <a:r>
              <a:rPr lang="en-US" dirty="0" err="1"/>
              <a:t>технические</a:t>
            </a:r>
            <a:r>
              <a:rPr lang="en-US" dirty="0"/>
              <a:t> </a:t>
            </a:r>
            <a:r>
              <a:rPr lang="en-US" dirty="0" err="1"/>
              <a:t>детали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подпиской</a:t>
            </a:r>
            <a:r>
              <a:rPr lang="en-US" dirty="0"/>
              <a:t> и </a:t>
            </a:r>
            <a:r>
              <a:rPr lang="en-US" dirty="0" err="1"/>
              <a:t>отключением</a:t>
            </a:r>
            <a:r>
              <a:rPr lang="en-US" dirty="0"/>
              <a:t> </a:t>
            </a:r>
            <a:r>
              <a:rPr lang="en-US" dirty="0" err="1"/>
              <a:t>обработчиков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6532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76993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месте</a:t>
            </a:r>
            <a:r>
              <a:rPr lang="en-US" dirty="0"/>
              <a:t> </a:t>
            </a:r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решить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</a:t>
            </a:r>
            <a:r>
              <a:rPr lang="en-US" dirty="0" err="1"/>
              <a:t>наконец-то</a:t>
            </a:r>
            <a:r>
              <a:rPr lang="en-US" dirty="0"/>
              <a:t> </a:t>
            </a:r>
            <a:r>
              <a:rPr lang="en-US" dirty="0" err="1"/>
              <a:t>готова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у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интерактивного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окончательной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лишь</a:t>
            </a:r>
            <a:r>
              <a:rPr lang="en-US" dirty="0"/>
              <a:t> </a:t>
            </a:r>
            <a:r>
              <a:rPr lang="en-US" dirty="0" err="1"/>
              <a:t>нашли</a:t>
            </a:r>
            <a:r>
              <a:rPr lang="en-US" dirty="0"/>
              <a:t> </a:t>
            </a:r>
            <a:r>
              <a:rPr lang="en-US" dirty="0" err="1"/>
              <a:t>структуру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b="1" dirty="0" err="1"/>
              <a:t>сегодняшним</a:t>
            </a:r>
            <a:r>
              <a:rPr lang="en-US" b="1" dirty="0"/>
              <a:t> </a:t>
            </a:r>
            <a:r>
              <a:rPr lang="en-US" b="1" dirty="0" err="1"/>
              <a:t>требованиям</a:t>
            </a:r>
            <a:r>
              <a:rPr lang="en-US" dirty="0"/>
              <a:t>.</a:t>
            </a:r>
          </a:p>
          <a:p>
            <a:r>
              <a:rPr lang="en-US" dirty="0" err="1"/>
              <a:t>Следующие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показать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какая-то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там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ей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удобнее</a:t>
            </a:r>
            <a:r>
              <a:rPr lang="en-US" dirty="0"/>
              <a:t> </a:t>
            </a:r>
            <a:r>
              <a:rPr lang="en-US" dirty="0" err="1"/>
              <a:t>жить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дальше</a:t>
            </a:r>
            <a:r>
              <a:rPr lang="en-US" dirty="0"/>
              <a:t> я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буду</a:t>
            </a:r>
            <a:r>
              <a:rPr lang="en-US" dirty="0"/>
              <a:t> </a:t>
            </a:r>
            <a:r>
              <a:rPr lang="en-US" dirty="0" err="1"/>
              <a:t>давать</a:t>
            </a:r>
            <a:r>
              <a:rPr lang="en-US" dirty="0"/>
              <a:t> </a:t>
            </a:r>
            <a:r>
              <a:rPr lang="en-US" dirty="0" err="1"/>
              <a:t>готовые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требований</a:t>
            </a:r>
            <a:r>
              <a:rPr lang="en-US" dirty="0"/>
              <a:t>, с </a:t>
            </a:r>
            <a:r>
              <a:rPr lang="en-US" dirty="0" err="1"/>
              <a:t>которыми</a:t>
            </a:r>
            <a:r>
              <a:rPr lang="en-US" dirty="0"/>
              <a:t> </a:t>
            </a:r>
            <a:r>
              <a:rPr lang="en-US" dirty="0" err="1"/>
              <a:t>вам</a:t>
            </a:r>
            <a:r>
              <a:rPr lang="en-US" dirty="0"/>
              <a:t>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встретиться</a:t>
            </a:r>
            <a:r>
              <a:rPr lang="en-US" dirty="0"/>
              <a:t> </a:t>
            </a:r>
            <a:r>
              <a:rPr lang="en-US" dirty="0" err="1"/>
              <a:t>редактор</a:t>
            </a:r>
            <a:r>
              <a:rPr lang="en-US" dirty="0"/>
              <a:t>, и </a:t>
            </a:r>
            <a:r>
              <a:rPr lang="en-US" dirty="0" err="1"/>
              <a:t>попробуем</a:t>
            </a:r>
            <a:r>
              <a:rPr lang="en-US" dirty="0"/>
              <a:t> </a:t>
            </a:r>
            <a:r>
              <a:rPr lang="en-US" dirty="0" err="1"/>
              <a:t>сформулировать</a:t>
            </a:r>
            <a:r>
              <a:rPr lang="en-US" dirty="0"/>
              <a:t> </a:t>
            </a:r>
            <a:r>
              <a:rPr lang="en-US" dirty="0" err="1"/>
              <a:t>вопросы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уметь</a:t>
            </a:r>
            <a:r>
              <a:rPr lang="en-US" dirty="0"/>
              <a:t> </a:t>
            </a:r>
            <a:r>
              <a:rPr lang="en-US" dirty="0" err="1"/>
              <a:t>задавать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18156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умеет</a:t>
            </a:r>
            <a:r>
              <a:rPr lang="en-US" dirty="0"/>
              <a:t> </a:t>
            </a:r>
            <a:r>
              <a:rPr lang="en-US" dirty="0" err="1"/>
              <a:t>отобразить</a:t>
            </a:r>
            <a:r>
              <a:rPr lang="en-US" dirty="0"/>
              <a:t> </a:t>
            </a:r>
            <a:r>
              <a:rPr lang="en-US" dirty="0" err="1"/>
              <a:t>весь</a:t>
            </a:r>
            <a:r>
              <a:rPr lang="en-US" dirty="0"/>
              <a:t> </a:t>
            </a:r>
            <a:r>
              <a:rPr lang="en-US" dirty="0" err="1"/>
              <a:t>рисунок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нескольких</a:t>
            </a:r>
            <a:r>
              <a:rPr lang="en-US" dirty="0"/>
              <a:t> </a:t>
            </a:r>
            <a:r>
              <a:rPr lang="en-US" dirty="0" err="1"/>
              <a:t>простых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вполне</a:t>
            </a:r>
            <a:r>
              <a:rPr lang="en-US" dirty="0"/>
              <a:t> </a:t>
            </a:r>
            <a:r>
              <a:rPr lang="en-US" dirty="0" err="1"/>
              <a:t>удобно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представим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r>
              <a:rPr lang="en-US" dirty="0"/>
              <a:t> </a:t>
            </a:r>
            <a:r>
              <a:rPr lang="en-US" dirty="0" err="1"/>
              <a:t>отдельной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r>
              <a:rPr lang="en-US" dirty="0"/>
              <a:t>.</a:t>
            </a:r>
          </a:p>
          <a:p>
            <a:r>
              <a:rPr lang="en-US" dirty="0"/>
              <a:t>У </a:t>
            </a:r>
            <a:r>
              <a:rPr lang="en-US" dirty="0" err="1"/>
              <a:t>неё</a:t>
            </a:r>
            <a:r>
              <a:rPr lang="en-US" dirty="0"/>
              <a:t> </a:t>
            </a:r>
            <a:r>
              <a:rPr lang="en-US" dirty="0" err="1"/>
              <a:t>появляются</a:t>
            </a:r>
            <a:r>
              <a:rPr lang="en-US" dirty="0"/>
              <a:t> </a:t>
            </a:r>
            <a:r>
              <a:rPr lang="en-US" dirty="0" err="1"/>
              <a:t>рамка</a:t>
            </a:r>
            <a:r>
              <a:rPr lang="en-US" dirty="0"/>
              <a:t> </a:t>
            </a:r>
            <a:r>
              <a:rPr lang="en-US" dirty="0" err="1"/>
              <a:t>трансформации</a:t>
            </a:r>
            <a:r>
              <a:rPr lang="en-US" dirty="0"/>
              <a:t>,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, hover-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собственные</a:t>
            </a:r>
            <a:r>
              <a:rPr lang="en-US" dirty="0"/>
              <a:t> </a:t>
            </a:r>
            <a:r>
              <a:rPr lang="en-US" dirty="0" err="1"/>
              <a:t>интерактивные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возникнуть</a:t>
            </a:r>
            <a:r>
              <a:rPr lang="en-US" dirty="0"/>
              <a:t> </a:t>
            </a:r>
            <a:r>
              <a:rPr lang="en-US" dirty="0" err="1"/>
              <a:t>желание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каждую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отдельным</a:t>
            </a:r>
            <a:r>
              <a:rPr lang="en-US" dirty="0"/>
              <a:t> </a:t>
            </a:r>
            <a:r>
              <a:rPr lang="en-US" dirty="0" err="1"/>
              <a:t>объектом</a:t>
            </a:r>
            <a:r>
              <a:rPr lang="en-US" dirty="0"/>
              <a:t> View.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отображается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RectangleView</a:t>
            </a:r>
            <a:r>
              <a:rPr lang="en-US" dirty="0"/>
              <a:t>, а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Ellipse</a:t>
            </a:r>
            <a:r>
              <a:rPr lang="en-US" dirty="0"/>
              <a:t> —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EllipseView</a:t>
            </a:r>
            <a:r>
              <a:rPr lang="en-US" dirty="0"/>
              <a:t>.</a:t>
            </a:r>
          </a:p>
          <a:p>
            <a:r>
              <a:rPr lang="en-US" dirty="0"/>
              <a:t>Это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локализовать</a:t>
            </a:r>
            <a:r>
              <a:rPr lang="en-US" dirty="0"/>
              <a:t> </a:t>
            </a:r>
            <a:r>
              <a:rPr lang="en-US" dirty="0" err="1"/>
              <a:t>логику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типа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тут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появляются</a:t>
            </a:r>
            <a:r>
              <a:rPr lang="en-US" dirty="0"/>
              <a:t> </a:t>
            </a:r>
            <a:r>
              <a:rPr lang="en-US" dirty="0" err="1"/>
              <a:t>новые</a:t>
            </a:r>
            <a:r>
              <a:rPr lang="en-US" dirty="0"/>
              <a:t> </a:t>
            </a:r>
            <a:r>
              <a:rPr lang="en-US" dirty="0" err="1"/>
              <a:t>вопросы</a:t>
            </a:r>
            <a:r>
              <a:rPr lang="en-US" dirty="0"/>
              <a:t>.</a:t>
            </a:r>
          </a:p>
          <a:p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нужный</a:t>
            </a:r>
            <a:r>
              <a:rPr lang="en-US" dirty="0"/>
              <a:t> View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появлении</a:t>
            </a:r>
            <a:r>
              <a:rPr lang="en-US" dirty="0"/>
              <a:t> </a:t>
            </a:r>
            <a:r>
              <a:rPr lang="en-US" dirty="0" err="1"/>
              <a:t>новой</a:t>
            </a:r>
            <a:r>
              <a:rPr lang="en-US" dirty="0"/>
              <a:t> Shape?</a:t>
            </a:r>
          </a:p>
          <a:p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уничтожает</a:t>
            </a:r>
            <a:r>
              <a:rPr lang="en-US" dirty="0"/>
              <a:t>?</a:t>
            </a:r>
          </a:p>
          <a:p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CanvasView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параллельную</a:t>
            </a:r>
            <a:r>
              <a:rPr lang="en-US" dirty="0"/>
              <a:t> </a:t>
            </a:r>
            <a:r>
              <a:rPr lang="en-US" dirty="0" err="1"/>
              <a:t>структуру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 View?</a:t>
            </a:r>
          </a:p>
          <a:p>
            <a:endParaRPr lang="en-US" dirty="0"/>
          </a:p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добавлении</a:t>
            </a:r>
            <a:r>
              <a:rPr lang="en-US" dirty="0"/>
              <a:t> и </a:t>
            </a:r>
            <a:r>
              <a:rPr lang="en-US" dirty="0" err="1"/>
              <a:t>удалении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/>
              <a:t>И </a:t>
            </a:r>
            <a:r>
              <a:rPr lang="en-US" dirty="0" err="1"/>
              <a:t>главное</a:t>
            </a:r>
            <a:r>
              <a:rPr lang="en-US" dirty="0"/>
              <a:t>: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эта</a:t>
            </a:r>
            <a:r>
              <a:rPr lang="en-US" dirty="0"/>
              <a:t> </a:t>
            </a:r>
            <a:r>
              <a:rPr lang="en-US" dirty="0" err="1"/>
              <a:t>дополнительная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окупается</a:t>
            </a:r>
            <a:r>
              <a:rPr lang="en-US" dirty="0"/>
              <a:t>,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DrawingRenderer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?</a:t>
            </a:r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ответа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применять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30610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столкнулись</a:t>
            </a:r>
            <a:r>
              <a:rPr lang="en-US" dirty="0"/>
              <a:t> с </a:t>
            </a:r>
            <a:r>
              <a:rPr lang="en-US" dirty="0" err="1"/>
              <a:t>тем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DrawingChanged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грубым</a:t>
            </a:r>
            <a:r>
              <a:rPr lang="en-US" dirty="0"/>
              <a:t> </a:t>
            </a:r>
            <a:r>
              <a:rPr lang="en-US" dirty="0" err="1"/>
              <a:t>событием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естественный</a:t>
            </a:r>
            <a:r>
              <a:rPr lang="en-US" dirty="0"/>
              <a:t> </a:t>
            </a:r>
            <a:r>
              <a:rPr lang="en-US" dirty="0" err="1"/>
              <a:t>следующий</a:t>
            </a:r>
            <a:r>
              <a:rPr lang="en-US" dirty="0"/>
              <a:t> </a:t>
            </a:r>
            <a:r>
              <a:rPr lang="en-US" dirty="0" err="1"/>
              <a:t>шаг</a:t>
            </a:r>
            <a:r>
              <a:rPr lang="en-US" dirty="0"/>
              <a:t> —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наблюдаемыми</a:t>
            </a:r>
            <a:r>
              <a:rPr lang="en-US" dirty="0"/>
              <a:t> </a:t>
            </a:r>
            <a:r>
              <a:rPr lang="en-US" dirty="0" err="1"/>
              <a:t>сами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</a:t>
            </a:r>
          </a:p>
          <a:p>
            <a:r>
              <a:rPr lang="en-US" dirty="0" err="1"/>
              <a:t>Тогда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Rectangle</a:t>
            </a:r>
            <a:r>
              <a:rPr lang="en-US" dirty="0"/>
              <a:t> </a:t>
            </a:r>
            <a:r>
              <a:rPr lang="en-US" dirty="0" err="1"/>
              <a:t>сможет</a:t>
            </a:r>
            <a:r>
              <a:rPr lang="en-US" dirty="0"/>
              <a:t> </a:t>
            </a:r>
            <a:r>
              <a:rPr lang="en-US" dirty="0" err="1"/>
              <a:t>сообщить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изменился</a:t>
            </a:r>
            <a:r>
              <a:rPr lang="en-US" dirty="0"/>
              <a:t>.</a:t>
            </a:r>
          </a:p>
          <a:p>
            <a:r>
              <a:rPr lang="en-US" dirty="0"/>
              <a:t>Это </a:t>
            </a:r>
            <a:r>
              <a:rPr lang="en-US" dirty="0" err="1"/>
              <a:t>кажется</a:t>
            </a:r>
            <a:r>
              <a:rPr lang="en-US" dirty="0"/>
              <a:t> </a:t>
            </a:r>
            <a:r>
              <a:rPr lang="en-US" dirty="0" err="1"/>
              <a:t>удобным</a:t>
            </a:r>
            <a:r>
              <a:rPr lang="en-US" dirty="0"/>
              <a:t>,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у </a:t>
            </a:r>
            <a:r>
              <a:rPr lang="en-US" dirty="0" err="1"/>
              <a:t>каждой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когда-нибудь</a:t>
            </a:r>
            <a:r>
              <a:rPr lang="en-US" dirty="0"/>
              <a:t> </a:t>
            </a:r>
            <a:r>
              <a:rPr lang="en-US" dirty="0" err="1"/>
              <a:t>появится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ShapeView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меняем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зависимостей</a:t>
            </a:r>
            <a:r>
              <a:rPr lang="en-US" dirty="0"/>
              <a:t>.</a:t>
            </a:r>
          </a:p>
          <a:p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будет</a:t>
            </a:r>
            <a:r>
              <a:rPr lang="en-US" dirty="0"/>
              <a:t> </a:t>
            </a:r>
            <a:r>
              <a:rPr lang="en-US" dirty="0" err="1"/>
              <a:t>подписываться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каждую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?</a:t>
            </a:r>
          </a:p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произойдёт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добавлении</a:t>
            </a:r>
            <a:r>
              <a:rPr lang="en-US" dirty="0"/>
              <a:t> </a:t>
            </a:r>
            <a:r>
              <a:rPr lang="en-US" dirty="0" err="1"/>
              <a:t>новой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?</a:t>
            </a:r>
          </a:p>
          <a:p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отписку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удалении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, </a:t>
            </a:r>
            <a:r>
              <a:rPr lang="en-US" dirty="0" err="1"/>
              <a:t>наоборот</a:t>
            </a:r>
            <a:r>
              <a:rPr lang="en-US" dirty="0"/>
              <a:t>, </a:t>
            </a:r>
            <a:r>
              <a:rPr lang="en-US" dirty="0" err="1"/>
              <a:t>правильнее</a:t>
            </a:r>
            <a:r>
              <a:rPr lang="en-US" dirty="0"/>
              <a:t> </a:t>
            </a:r>
            <a:r>
              <a:rPr lang="en-US" dirty="0" err="1"/>
              <a:t>запретить</a:t>
            </a:r>
            <a:r>
              <a:rPr lang="en-US" dirty="0"/>
              <a:t> </a:t>
            </a:r>
            <a:r>
              <a:rPr lang="en-US" dirty="0" err="1"/>
              <a:t>внешнему</a:t>
            </a:r>
            <a:r>
              <a:rPr lang="en-US" dirty="0"/>
              <a:t> </a:t>
            </a:r>
            <a:r>
              <a:rPr lang="en-US" dirty="0" err="1"/>
              <a:t>коду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и </a:t>
            </a:r>
            <a:r>
              <a:rPr lang="en-US" dirty="0" err="1"/>
              <a:t>проводить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наблюдаемые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А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подписываться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свои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и </a:t>
            </a:r>
            <a:r>
              <a:rPr lang="en-US" dirty="0" err="1"/>
              <a:t>транслировать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наружу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какую</a:t>
            </a:r>
            <a:r>
              <a:rPr lang="en-US" dirty="0"/>
              <a:t> </a:t>
            </a:r>
            <a:r>
              <a:rPr lang="en-US" dirty="0" err="1"/>
              <a:t>стоимость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хотим</a:t>
            </a:r>
            <a:r>
              <a:rPr lang="en-US" dirty="0"/>
              <a:t> </a:t>
            </a:r>
            <a:r>
              <a:rPr lang="en-US" dirty="0" err="1"/>
              <a:t>локализовать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48167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показательный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— </a:t>
            </a:r>
            <a:r>
              <a:rPr lang="en-US" dirty="0" err="1"/>
              <a:t>множественный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Сегодня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selectedShape</a:t>
            </a:r>
            <a:r>
              <a:rPr lang="en-US" dirty="0"/>
              <a:t>.</a:t>
            </a:r>
          </a:p>
          <a:p>
            <a:r>
              <a:rPr lang="en-US" dirty="0"/>
              <a:t>Кажется,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заменить</a:t>
            </a:r>
            <a:r>
              <a:rPr lang="en-US" dirty="0"/>
              <a:t>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контейнером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начало</a:t>
            </a:r>
            <a:r>
              <a:rPr lang="en-US" dirty="0"/>
              <a:t>.</a:t>
            </a:r>
          </a:p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click?</a:t>
            </a:r>
          </a:p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click с </a:t>
            </a:r>
            <a:r>
              <a:rPr lang="en-US" dirty="0" err="1"/>
              <a:t>модификатором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drag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выбранных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, </a:t>
            </a:r>
            <a:r>
              <a:rPr lang="en-US" dirty="0" err="1"/>
              <a:t>перемещается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вся</a:t>
            </a:r>
            <a:r>
              <a:rPr lang="en-US" dirty="0"/>
              <a:t> </a:t>
            </a:r>
            <a:r>
              <a:rPr lang="en-US" dirty="0" err="1"/>
              <a:t>группа</a:t>
            </a:r>
            <a:r>
              <a:rPr lang="en-US" dirty="0"/>
              <a:t>?</a:t>
            </a:r>
          </a:p>
          <a:p>
            <a:r>
              <a:rPr lang="en-US" dirty="0" err="1"/>
              <a:t>Как</a:t>
            </a:r>
            <a:r>
              <a:rPr lang="en-US" dirty="0"/>
              <a:t> View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выбранных</a:t>
            </a:r>
            <a:r>
              <a:rPr lang="en-US" dirty="0"/>
              <a:t> </a:t>
            </a:r>
            <a:r>
              <a:rPr lang="en-US" dirty="0" err="1"/>
              <a:t>объектов</a:t>
            </a:r>
            <a:r>
              <a:rPr lang="en-US" dirty="0"/>
              <a:t>?</a:t>
            </a:r>
          </a:p>
          <a:p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bounding box?</a:t>
            </a:r>
          </a:p>
          <a:p>
            <a:endParaRPr lang="en-US" dirty="0"/>
          </a:p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делать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выбранная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была</a:t>
            </a:r>
            <a:r>
              <a:rPr lang="en-US" dirty="0"/>
              <a:t> </a:t>
            </a:r>
            <a:r>
              <a:rPr lang="en-US" dirty="0" err="1"/>
              <a:t>удалена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Drawing</a:t>
            </a:r>
            <a:r>
              <a:rPr lang="en-US" dirty="0"/>
              <a:t>?</a:t>
            </a:r>
          </a:p>
          <a:p>
            <a:r>
              <a:rPr lang="en-US" dirty="0"/>
              <a:t>А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переместить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—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Controller </a:t>
            </a:r>
            <a:r>
              <a:rPr lang="en-US" dirty="0" err="1"/>
              <a:t>вызывать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у Model </a:t>
            </a:r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группой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 </a:t>
            </a:r>
            <a:r>
              <a:rPr lang="en-US" dirty="0" err="1"/>
              <a:t>проходит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EditorSession</a:t>
            </a:r>
            <a:r>
              <a:rPr lang="en-US" dirty="0"/>
              <a:t>, Controller, View и, </a:t>
            </a:r>
            <a:r>
              <a:rPr lang="en-US" dirty="0" err="1"/>
              <a:t>возможно</a:t>
            </a:r>
            <a:r>
              <a:rPr lang="en-US" dirty="0"/>
              <a:t>, Domain Model.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ситуации</a:t>
            </a:r>
            <a:r>
              <a:rPr lang="en-US" dirty="0"/>
              <a:t> и </a:t>
            </a:r>
            <a:r>
              <a:rPr lang="en-US" dirty="0" err="1"/>
              <a:t>требуют</a:t>
            </a:r>
            <a:r>
              <a:rPr lang="en-US" dirty="0"/>
              <a:t> </a:t>
            </a:r>
            <a:r>
              <a:rPr lang="en-US" dirty="0" err="1"/>
              <a:t>архитектурного</a:t>
            </a:r>
            <a:r>
              <a:rPr lang="en-US" dirty="0"/>
              <a:t> </a:t>
            </a:r>
            <a:r>
              <a:rPr lang="en-US" dirty="0" err="1"/>
              <a:t>мышления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знания</a:t>
            </a:r>
            <a:r>
              <a:rPr lang="en-US" dirty="0"/>
              <a:t> </a:t>
            </a:r>
            <a:r>
              <a:rPr lang="en-US" dirty="0" err="1"/>
              <a:t>названия</a:t>
            </a:r>
            <a:r>
              <a:rPr lang="en-US" dirty="0"/>
              <a:t> </a:t>
            </a:r>
            <a:r>
              <a:rPr lang="en-US" dirty="0" err="1"/>
              <a:t>подходящего</a:t>
            </a:r>
            <a:r>
              <a:rPr lang="en-US" dirty="0"/>
              <a:t> </a:t>
            </a:r>
            <a:r>
              <a:rPr lang="en-US" dirty="0" err="1"/>
              <a:t>паттерна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8456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лекции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оставить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действия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я </a:t>
            </a:r>
            <a:r>
              <a:rPr lang="en-US" dirty="0" err="1"/>
              <a:t>бы</a:t>
            </a:r>
            <a:r>
              <a:rPr lang="en-US" dirty="0"/>
              <a:t> </a:t>
            </a:r>
            <a:r>
              <a:rPr lang="en-US" dirty="0" err="1"/>
              <a:t>сформулировал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.</a:t>
            </a:r>
          </a:p>
          <a:p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начинайте</a:t>
            </a:r>
            <a:r>
              <a:rPr lang="en-US" dirty="0"/>
              <a:t> </a:t>
            </a:r>
            <a:r>
              <a:rPr lang="en-US" dirty="0" err="1"/>
              <a:t>проектирование</a:t>
            </a:r>
            <a:r>
              <a:rPr lang="en-US" dirty="0"/>
              <a:t> с </a:t>
            </a:r>
            <a:r>
              <a:rPr lang="en-US" dirty="0" err="1"/>
              <a:t>вопроса</a:t>
            </a:r>
            <a:r>
              <a:rPr lang="en-US" dirty="0"/>
              <a:t>: «</a:t>
            </a:r>
            <a:r>
              <a:rPr lang="en-US" dirty="0" err="1"/>
              <a:t>Какой</a:t>
            </a:r>
            <a:r>
              <a:rPr lang="en-US" dirty="0"/>
              <a:t>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?»</a:t>
            </a:r>
          </a:p>
          <a:p>
            <a:endParaRPr lang="en-US" dirty="0"/>
          </a:p>
          <a:p>
            <a:r>
              <a:rPr lang="en-US" dirty="0" err="1"/>
              <a:t>Начинайте</a:t>
            </a:r>
            <a:r>
              <a:rPr lang="en-US" dirty="0"/>
              <a:t> с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требования</a:t>
            </a:r>
            <a:r>
              <a:rPr lang="en-US" dirty="0"/>
              <a:t>.</a:t>
            </a:r>
          </a:p>
          <a:p>
            <a:r>
              <a:rPr lang="en-US" dirty="0" err="1"/>
              <a:t>Посмотрите</a:t>
            </a:r>
            <a:r>
              <a:rPr lang="en-US" dirty="0"/>
              <a:t>, </a:t>
            </a:r>
            <a:r>
              <a:rPr lang="en-US" dirty="0" err="1"/>
              <a:t>какое</a:t>
            </a:r>
            <a:r>
              <a:rPr lang="en-US" dirty="0"/>
              <a:t> </a:t>
            </a:r>
            <a:r>
              <a:rPr lang="en-US" dirty="0" err="1"/>
              <a:t>новое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принесло</a:t>
            </a:r>
            <a:r>
              <a:rPr lang="en-US" dirty="0"/>
              <a:t> и </a:t>
            </a:r>
            <a:r>
              <a:rPr lang="en-US" dirty="0" err="1"/>
              <a:t>кому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принадлежит</a:t>
            </a:r>
            <a:r>
              <a:rPr lang="en-US" dirty="0"/>
              <a:t>.</a:t>
            </a:r>
          </a:p>
          <a:p>
            <a:r>
              <a:rPr lang="en-US" dirty="0" err="1"/>
              <a:t>Обратите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жизни</a:t>
            </a:r>
            <a:r>
              <a:rPr lang="en-US" dirty="0"/>
              <a:t>: </a:t>
            </a:r>
            <a:r>
              <a:rPr lang="en-US" dirty="0" err="1"/>
              <a:t>документ</a:t>
            </a:r>
            <a:r>
              <a:rPr lang="en-US" dirty="0"/>
              <a:t>, </a:t>
            </a:r>
            <a:r>
              <a:rPr lang="en-US" dirty="0" err="1"/>
              <a:t>окно</a:t>
            </a:r>
            <a:r>
              <a:rPr lang="en-US" dirty="0"/>
              <a:t>, View и </a:t>
            </a:r>
            <a:r>
              <a:rPr lang="en-US" dirty="0" err="1"/>
              <a:t>один</a:t>
            </a:r>
            <a:r>
              <a:rPr lang="en-US" dirty="0"/>
              <a:t> drag </a:t>
            </a:r>
            <a:r>
              <a:rPr lang="en-US" dirty="0" err="1"/>
              <a:t>живут</a:t>
            </a:r>
            <a:r>
              <a:rPr lang="en-US" dirty="0"/>
              <a:t> </a:t>
            </a:r>
            <a:r>
              <a:rPr lang="en-US" dirty="0" err="1"/>
              <a:t>разное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Посмотрите</a:t>
            </a:r>
            <a:r>
              <a:rPr lang="en-US" dirty="0"/>
              <a:t>, </a:t>
            </a:r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изменяет</a:t>
            </a:r>
            <a:r>
              <a:rPr lang="en-US" dirty="0"/>
              <a:t> и </a:t>
            </a:r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читает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отвечать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независимых</a:t>
            </a:r>
            <a:r>
              <a:rPr lang="en-US" dirty="0"/>
              <a:t> </a:t>
            </a:r>
            <a:r>
              <a:rPr lang="en-US" dirty="0" err="1"/>
              <a:t>источников</a:t>
            </a:r>
            <a:r>
              <a:rPr lang="en-US" dirty="0"/>
              <a:t> </a:t>
            </a:r>
            <a:r>
              <a:rPr lang="en-US" dirty="0" err="1"/>
              <a:t>требований</a:t>
            </a:r>
            <a:r>
              <a:rPr lang="en-US" dirty="0"/>
              <a:t> — </a:t>
            </a:r>
            <a:r>
              <a:rPr lang="en-US" dirty="0" err="1"/>
              <a:t>возможно</a:t>
            </a:r>
            <a:r>
              <a:rPr lang="en-US" dirty="0"/>
              <a:t>, </a:t>
            </a:r>
            <a:r>
              <a:rPr lang="en-US" dirty="0" err="1"/>
              <a:t>появилась</a:t>
            </a:r>
            <a:r>
              <a:rPr lang="en-US" dirty="0"/>
              <a:t> </a:t>
            </a:r>
            <a:r>
              <a:rPr lang="en-US" dirty="0" err="1"/>
              <a:t>новая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.</a:t>
            </a:r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добавление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варианта</a:t>
            </a:r>
            <a:r>
              <a:rPr lang="en-US" dirty="0"/>
              <a:t> </a:t>
            </a:r>
            <a:r>
              <a:rPr lang="en-US" dirty="0" err="1"/>
              <a:t>заставляет</a:t>
            </a:r>
            <a:r>
              <a:rPr lang="en-US" dirty="0"/>
              <a:t> </a:t>
            </a:r>
            <a:r>
              <a:rPr lang="en-US" dirty="0" err="1"/>
              <a:t>менять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старых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 — </a:t>
            </a:r>
            <a:r>
              <a:rPr lang="en-US" dirty="0" err="1"/>
              <a:t>возможно</a:t>
            </a:r>
            <a:r>
              <a:rPr lang="en-US" dirty="0"/>
              <a:t>, </a:t>
            </a:r>
            <a:r>
              <a:rPr lang="en-US" dirty="0" err="1"/>
              <a:t>обнаружилась</a:t>
            </a:r>
            <a:r>
              <a:rPr lang="en-US" dirty="0"/>
              <a:t> </a:t>
            </a:r>
            <a:r>
              <a:rPr lang="en-US" dirty="0" err="1"/>
              <a:t>важная</a:t>
            </a:r>
            <a:r>
              <a:rPr lang="en-US" dirty="0"/>
              <a:t> </a:t>
            </a:r>
            <a:r>
              <a:rPr lang="en-US" dirty="0" err="1"/>
              <a:t>ось</a:t>
            </a:r>
            <a:r>
              <a:rPr lang="en-US" dirty="0"/>
              <a:t> </a:t>
            </a:r>
            <a:r>
              <a:rPr lang="en-US" dirty="0" err="1"/>
              <a:t>расширения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задайте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вопрос</a:t>
            </a:r>
            <a:r>
              <a:rPr lang="en-US" dirty="0"/>
              <a:t>: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проблему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решать</a:t>
            </a:r>
            <a:r>
              <a:rPr lang="en-US" dirty="0"/>
              <a:t> </a:t>
            </a:r>
            <a:r>
              <a:rPr lang="en-US" dirty="0" err="1"/>
              <a:t>архитектурно</a:t>
            </a:r>
            <a:r>
              <a:rPr lang="en-US" dirty="0"/>
              <a:t>?</a:t>
            </a:r>
          </a:p>
          <a:p>
            <a:r>
              <a:rPr lang="en-US" dirty="0" err="1"/>
              <a:t>Иногда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строк</a:t>
            </a:r>
            <a:r>
              <a:rPr lang="en-US" dirty="0"/>
              <a:t> в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лучше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класса</a:t>
            </a:r>
            <a:r>
              <a:rPr lang="en-US" dirty="0"/>
              <a:t>. </a:t>
            </a:r>
            <a:r>
              <a:rPr lang="en-US" dirty="0" err="1"/>
              <a:t>Иногда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OnDrawingChanged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</a:t>
            </a:r>
            <a:r>
              <a:rPr lang="en-US" dirty="0" err="1"/>
              <a:t>лучше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десяти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лекции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пришли</a:t>
            </a:r>
            <a:r>
              <a:rPr lang="en-US" dirty="0"/>
              <a:t> к Model, View, Controller и Observer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решили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паттерны</a:t>
            </a:r>
            <a:r>
              <a:rPr lang="en-US" dirty="0"/>
              <a:t>.</a:t>
            </a: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них</a:t>
            </a:r>
            <a:r>
              <a:rPr lang="en-US" dirty="0"/>
              <a:t> </a:t>
            </a:r>
            <a:r>
              <a:rPr lang="en-US" dirty="0" err="1"/>
              <a:t>появился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ответ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конкретное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требований</a:t>
            </a:r>
            <a:r>
              <a:rPr lang="en-US" dirty="0"/>
              <a:t>.</a:t>
            </a:r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способом</a:t>
            </a:r>
            <a:r>
              <a:rPr lang="en-US" dirty="0"/>
              <a:t> </a:t>
            </a:r>
            <a:r>
              <a:rPr lang="en-US" dirty="0" err="1"/>
              <a:t>вам</a:t>
            </a:r>
            <a:r>
              <a:rPr lang="en-US" dirty="0"/>
              <a:t> </a:t>
            </a:r>
            <a:r>
              <a:rPr lang="en-US" dirty="0" err="1"/>
              <a:t>предстоит</a:t>
            </a:r>
            <a:r>
              <a:rPr lang="en-US" dirty="0"/>
              <a:t> </a:t>
            </a:r>
            <a:r>
              <a:rPr lang="en-US" dirty="0" err="1"/>
              <a:t>продолжать</a:t>
            </a:r>
            <a:r>
              <a:rPr lang="en-US" dirty="0"/>
              <a:t> </a:t>
            </a:r>
            <a:r>
              <a:rPr lang="en-US" dirty="0" err="1"/>
              <a:t>проектировать</a:t>
            </a:r>
            <a:r>
              <a:rPr lang="en-US" dirty="0"/>
              <a:t> </a:t>
            </a:r>
            <a:r>
              <a:rPr lang="en-US" dirty="0" err="1"/>
              <a:t>редактор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09261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самостоятельной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я </a:t>
            </a:r>
            <a:r>
              <a:rPr lang="en-US" dirty="0" err="1"/>
              <a:t>рекомендую</a:t>
            </a:r>
            <a:r>
              <a:rPr lang="en-US" dirty="0"/>
              <a:t> </a:t>
            </a:r>
            <a:r>
              <a:rPr lang="en-US" dirty="0" err="1"/>
              <a:t>посмотреть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моей</a:t>
            </a:r>
            <a:r>
              <a:rPr lang="en-US" dirty="0"/>
              <a:t> </a:t>
            </a:r>
            <a:r>
              <a:rPr lang="en-US" dirty="0" err="1"/>
              <a:t>лекции</a:t>
            </a:r>
            <a:r>
              <a:rPr lang="en-US" dirty="0"/>
              <a:t> </a:t>
            </a:r>
            <a:r>
              <a:rPr lang="en-US" dirty="0" err="1"/>
              <a:t>прошлых</a:t>
            </a:r>
            <a:r>
              <a:rPr lang="en-US" dirty="0"/>
              <a:t> </a:t>
            </a:r>
            <a:r>
              <a:rPr lang="en-US" dirty="0" err="1"/>
              <a:t>лет</a:t>
            </a:r>
            <a:r>
              <a:rPr lang="en-US" dirty="0"/>
              <a:t>, </a:t>
            </a:r>
            <a:r>
              <a:rPr lang="en-US" dirty="0" err="1"/>
              <a:t>посвящённую</a:t>
            </a:r>
            <a:r>
              <a:rPr lang="en-US" dirty="0"/>
              <a:t> </a:t>
            </a:r>
            <a:r>
              <a:rPr lang="en-US" dirty="0" err="1"/>
              <a:t>архитектуре</a:t>
            </a:r>
            <a:r>
              <a:rPr lang="en-US" dirty="0"/>
              <a:t> GUI-</a:t>
            </a:r>
            <a:r>
              <a:rPr lang="en-US" dirty="0" err="1"/>
              <a:t>приложений</a:t>
            </a:r>
            <a:r>
              <a:rPr lang="en-US" dirty="0"/>
              <a:t>.</a:t>
            </a:r>
          </a:p>
          <a:p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обзорно</a:t>
            </a:r>
            <a:r>
              <a:rPr lang="en-US" dirty="0"/>
              <a:t> </a:t>
            </a:r>
            <a:r>
              <a:rPr lang="en-US" dirty="0" err="1"/>
              <a:t>рассматриваются</a:t>
            </a:r>
            <a:r>
              <a:rPr lang="en-US" dirty="0"/>
              <a:t> Document–View, MVC, MVP и MVVM.</a:t>
            </a:r>
          </a:p>
          <a:p>
            <a:endParaRPr lang="en-US" dirty="0"/>
          </a:p>
          <a:p>
            <a:r>
              <a:rPr lang="en-US" dirty="0" err="1"/>
              <a:t>Раньше</a:t>
            </a:r>
            <a:r>
              <a:rPr lang="en-US" dirty="0"/>
              <a:t>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материал</a:t>
            </a:r>
            <a:r>
              <a:rPr lang="en-US" dirty="0"/>
              <a:t> </a:t>
            </a:r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воспринимать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похожих</a:t>
            </a:r>
            <a:r>
              <a:rPr lang="en-US" dirty="0"/>
              <a:t> </a:t>
            </a:r>
            <a:r>
              <a:rPr lang="en-US" dirty="0" err="1"/>
              <a:t>диаграмм</a:t>
            </a:r>
            <a:r>
              <a:rPr lang="en-US" dirty="0"/>
              <a:t>: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стрелка</a:t>
            </a:r>
            <a:r>
              <a:rPr lang="en-US" dirty="0"/>
              <a:t> </a:t>
            </a:r>
            <a:r>
              <a:rPr lang="en-US" dirty="0" err="1"/>
              <a:t>идёт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View к Model,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появляется</a:t>
            </a:r>
            <a:r>
              <a:rPr lang="en-US" dirty="0"/>
              <a:t> Presenter, </a:t>
            </a:r>
            <a:r>
              <a:rPr lang="en-US" dirty="0" err="1"/>
              <a:t>здесь</a:t>
            </a:r>
            <a:r>
              <a:rPr lang="en-US" dirty="0"/>
              <a:t> — </a:t>
            </a:r>
            <a:r>
              <a:rPr lang="en-US" dirty="0" err="1"/>
              <a:t>ViewModel</a:t>
            </a:r>
            <a:r>
              <a:rPr lang="en-US" dirty="0"/>
              <a:t>.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сегодняшней</a:t>
            </a:r>
            <a:r>
              <a:rPr lang="en-US" dirty="0"/>
              <a:t> </a:t>
            </a:r>
            <a:r>
              <a:rPr lang="en-US" dirty="0" err="1"/>
              <a:t>лекции</a:t>
            </a:r>
            <a:r>
              <a:rPr lang="en-US" dirty="0"/>
              <a:t> я </a:t>
            </a:r>
            <a:r>
              <a:rPr lang="en-US" dirty="0" err="1"/>
              <a:t>предлагаю</a:t>
            </a:r>
            <a:r>
              <a:rPr lang="en-US" dirty="0"/>
              <a:t> </a:t>
            </a:r>
            <a:r>
              <a:rPr lang="en-US" dirty="0" err="1"/>
              <a:t>смотреть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сами</a:t>
            </a:r>
            <a:r>
              <a:rPr lang="en-US" dirty="0"/>
              <a:t> </a:t>
            </a:r>
            <a:r>
              <a:rPr lang="en-US" dirty="0" err="1"/>
              <a:t>столкнулись</a:t>
            </a:r>
            <a:r>
              <a:rPr lang="en-US" dirty="0"/>
              <a:t> с </a:t>
            </a:r>
            <a:r>
              <a:rPr lang="en-US" dirty="0" err="1"/>
              <a:t>теми</a:t>
            </a:r>
            <a:r>
              <a:rPr lang="en-US" dirty="0"/>
              <a:t> </a:t>
            </a:r>
            <a:r>
              <a:rPr lang="en-US" dirty="0" err="1"/>
              <a:t>проблемами</a:t>
            </a:r>
            <a:r>
              <a:rPr lang="en-US" dirty="0"/>
              <a:t>,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вырастают</a:t>
            </a:r>
            <a:r>
              <a:rPr lang="en-US" dirty="0"/>
              <a:t>: </a:t>
            </a:r>
            <a:r>
              <a:rPr lang="en-US" dirty="0" err="1"/>
              <a:t>отделяли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документа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сеанса</a:t>
            </a:r>
            <a:r>
              <a:rPr lang="en-US" dirty="0"/>
              <a:t>, </a:t>
            </a:r>
            <a:r>
              <a:rPr lang="en-US" dirty="0" err="1"/>
              <a:t>представление</a:t>
            </a:r>
            <a:r>
              <a:rPr lang="en-US" dirty="0"/>
              <a:t> —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, </a:t>
            </a:r>
            <a:r>
              <a:rPr lang="en-US" dirty="0" err="1"/>
              <a:t>интерпретацию</a:t>
            </a:r>
            <a:r>
              <a:rPr lang="en-US" dirty="0"/>
              <a:t> </a:t>
            </a:r>
            <a:r>
              <a:rPr lang="en-US" dirty="0" err="1"/>
              <a:t>пользовательского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 —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, а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решали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 </a:t>
            </a:r>
            <a:r>
              <a:rPr lang="en-US" dirty="0" err="1"/>
              <a:t>распространения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просмотре</a:t>
            </a:r>
            <a:r>
              <a:rPr lang="en-US" dirty="0"/>
              <a:t> </a:t>
            </a:r>
            <a:r>
              <a:rPr lang="en-US" dirty="0" err="1"/>
              <a:t>видео</a:t>
            </a:r>
            <a:r>
              <a:rPr lang="en-US" dirty="0"/>
              <a:t> </a:t>
            </a:r>
            <a:r>
              <a:rPr lang="en-US" dirty="0" err="1"/>
              <a:t>обращайте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столько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названия</a:t>
            </a:r>
            <a:r>
              <a:rPr lang="en-US" dirty="0"/>
              <a:t> </a:t>
            </a:r>
            <a:r>
              <a:rPr lang="en-US" dirty="0" err="1"/>
              <a:t>паттернов</a:t>
            </a:r>
            <a:r>
              <a:rPr lang="en-US" dirty="0"/>
              <a:t>, </a:t>
            </a:r>
            <a:r>
              <a:rPr lang="en-US" dirty="0" err="1"/>
              <a:t>сколько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, </a:t>
            </a:r>
            <a:r>
              <a:rPr lang="en-US" b="1" dirty="0" err="1"/>
              <a:t>какую</a:t>
            </a:r>
            <a:r>
              <a:rPr lang="en-US" b="1" dirty="0"/>
              <a:t> </a:t>
            </a:r>
            <a:r>
              <a:rPr lang="en-US" b="1" dirty="0" err="1"/>
              <a:t>ответственность</a:t>
            </a:r>
            <a:r>
              <a:rPr lang="en-US" b="1" dirty="0"/>
              <a:t> </a:t>
            </a:r>
            <a:r>
              <a:rPr lang="en-US" b="1" dirty="0" err="1"/>
              <a:t>получил</a:t>
            </a:r>
            <a:r>
              <a:rPr lang="en-US" b="1" dirty="0"/>
              <a:t> </a:t>
            </a:r>
            <a:r>
              <a:rPr lang="en-US" b="1" dirty="0" err="1"/>
              <a:t>каждый</a:t>
            </a:r>
            <a:r>
              <a:rPr lang="en-US" b="1" dirty="0"/>
              <a:t> </a:t>
            </a:r>
            <a:r>
              <a:rPr lang="en-US" b="1" dirty="0" err="1"/>
              <a:t>участник</a:t>
            </a:r>
            <a:r>
              <a:rPr lang="en-US" b="1" dirty="0"/>
              <a:t> и </a:t>
            </a:r>
            <a:r>
              <a:rPr lang="en-US" b="1" dirty="0" err="1"/>
              <a:t>какую</a:t>
            </a:r>
            <a:r>
              <a:rPr lang="en-US" b="1" dirty="0"/>
              <a:t> </a:t>
            </a:r>
            <a:r>
              <a:rPr lang="en-US" b="1" dirty="0" err="1"/>
              <a:t>проблему</a:t>
            </a:r>
            <a:r>
              <a:rPr lang="en-US" b="1" dirty="0"/>
              <a:t> в </a:t>
            </a:r>
            <a:r>
              <a:rPr lang="en-US" b="1" dirty="0" err="1"/>
              <a:t>зависимостях</a:t>
            </a:r>
            <a:r>
              <a:rPr lang="en-US" b="1" dirty="0"/>
              <a:t> </a:t>
            </a:r>
            <a:r>
              <a:rPr lang="en-US" b="1" dirty="0" err="1"/>
              <a:t>этим</a:t>
            </a:r>
            <a:r>
              <a:rPr lang="en-US" b="1" dirty="0"/>
              <a:t> </a:t>
            </a:r>
            <a:r>
              <a:rPr lang="en-US" b="1" dirty="0" err="1"/>
              <a:t>пытались</a:t>
            </a:r>
            <a:r>
              <a:rPr lang="en-US" b="1" dirty="0"/>
              <a:t> </a:t>
            </a:r>
            <a:r>
              <a:rPr lang="en-US" b="1" dirty="0" err="1"/>
              <a:t>решить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Тогда</a:t>
            </a:r>
            <a:r>
              <a:rPr lang="en-US" dirty="0"/>
              <a:t> Document–View, MVC, MVP и MVVM </a:t>
            </a:r>
            <a:r>
              <a:rPr lang="en-US" dirty="0" err="1"/>
              <a:t>будут</a:t>
            </a:r>
            <a:r>
              <a:rPr lang="en-US" dirty="0"/>
              <a:t> </a:t>
            </a:r>
            <a:r>
              <a:rPr lang="en-US" dirty="0" err="1"/>
              <a:t>восприниматься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конкурирующие</a:t>
            </a:r>
            <a:r>
              <a:rPr lang="en-US" dirty="0"/>
              <a:t> «</a:t>
            </a:r>
            <a:r>
              <a:rPr lang="en-US" dirty="0" err="1"/>
              <a:t>правильные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», а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способы</a:t>
            </a:r>
            <a:r>
              <a:rPr lang="en-US" dirty="0"/>
              <a:t> </a:t>
            </a:r>
            <a:r>
              <a:rPr lang="en-US" dirty="0" err="1"/>
              <a:t>провести</a:t>
            </a:r>
            <a:r>
              <a:rPr lang="en-US" dirty="0"/>
              <a:t> </a:t>
            </a:r>
            <a:r>
              <a:rPr lang="en-US" dirty="0" err="1"/>
              <a:t>границы</a:t>
            </a:r>
            <a:r>
              <a:rPr lang="en-US" dirty="0"/>
              <a:t> в </a:t>
            </a:r>
            <a:r>
              <a:rPr lang="en-US" dirty="0" err="1"/>
              <a:t>интерактивном</a:t>
            </a:r>
            <a:r>
              <a:rPr lang="en-US" dirty="0"/>
              <a:t> </a:t>
            </a:r>
            <a:r>
              <a:rPr lang="en-US" dirty="0" err="1"/>
              <a:t>приложении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68901C-EDDF-4AD6-9B13-78E9B524B285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39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2737B-6FCD-418D-1761-22863629B1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3A963A-E7DB-9625-82C5-7CD1DAA182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CE21E-525E-654B-278A-246BDB8C5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9DFCAA-DA86-9941-0913-1D321C58F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F5F63A-0E14-BDAB-2828-F0623CF7D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720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23159-315A-0EB6-D145-855EBD9CE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F5FD8-F3FD-F319-AC4F-C2625AA69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F9159-5D59-6AA5-4FBF-4F44EFF21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A8170-E960-AAC0-EE25-78631C672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502E0-A0C4-CD2B-48FD-79B99D61A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047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DC743-D9A0-6EFC-4C64-8B7E551E5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DF8F31-7930-27A3-016F-46654EF6E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73EB1-A5A1-3B17-DC38-91EED61C3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DC957-35E8-16A0-68E1-965AD8CD0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83B4E-7873-CBF9-E47B-45D7255AE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14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25BFF-CA3A-9DF3-ECD0-5A7BB2C3A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CC7D1-F998-954A-5021-2D3EA9CDF0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4F9FC0-E9BE-1D6B-FEED-8AC8B7CA65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49BACD-74D7-61AC-7A46-0123A11E1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5CC1BC-76E4-E3C0-EAF7-C9865904D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65A9CB-10D8-1825-65E4-98DB07E9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678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25BFF-CA3A-9DF3-ECD0-5A7BB2C3A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CC7D1-F998-954A-5021-2D3EA9CDF0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2977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4F9FC0-E9BE-1D6B-FEED-8AC8B7CA65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977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49BACD-74D7-61AC-7A46-0123A11E1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5CC1BC-76E4-E3C0-EAF7-C9865904D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65A9CB-10D8-1825-65E4-98DB07E9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9AC61D6-124D-2ABB-9897-4E25CADC09B6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4864963"/>
            <a:ext cx="10515600" cy="1356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23024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3D1F3-FBDD-A872-58A9-5C10396C9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F2C67-F89B-2A7A-4038-D56F9853A3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A4B695-E5E7-3162-E4C3-7DB142BFF0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0C9BC-E49B-0E80-9E24-8F90F11C3A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445DAB-6D1C-CDED-920A-2A111123A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3951D-8A5A-DEF3-E2EC-448EF7C47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89B61B-8B47-80DA-C019-36DBF69D6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58BC-238C-4A0A-47E5-759704AAF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9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3D1F3-FBDD-A872-58A9-5C10396C9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F2C67-F89B-2A7A-4038-D56F9853A3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A4B695-E5E7-3162-E4C3-7DB142BFF0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25196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0C9BC-E49B-0E80-9E24-8F90F11C3A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445DAB-6D1C-CDED-920A-2A111123A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25196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3951D-8A5A-DEF3-E2EC-448EF7C47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89B61B-8B47-80DA-C019-36DBF69D6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58BC-238C-4A0A-47E5-759704AAF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FAFD56B3-6172-9F8A-05FC-357E159D7729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9788" y="5086905"/>
            <a:ext cx="10512424" cy="11008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34638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0DACF-9264-2045-2DD5-1FC9AFC4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815892-DCC7-BB32-DEE7-9699BC2E6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D013C1-780B-4268-D17A-7DE567137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8012A3-A7A3-CE02-7D65-777F0B02D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41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CE587F-93D5-F0A1-AC05-E2D47AC1A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E7975E-3700-314F-C505-B7AECA335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D4FD7-5776-2A24-5E42-93D6AA54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290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6A2F3-29DF-DAEA-FB6E-FEA99E6AE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D7639-1A33-EF5E-6AEE-6589F9656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7F02A3-CAA5-F82F-6F41-644904ABFF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C53D1-1030-FC3C-D3CB-5D9186EA3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C0C5F-FABB-E956-BBE0-06F4865DC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904A34-C0CD-AAAC-CA45-0F7C47CA2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474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55A1-9869-CCBA-4611-D1667F6D9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2E313D-3322-E969-3AF1-5CF2E976D4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80C8D-74A3-06CD-C630-B415C76937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7B0B77-AA32-BF25-1D82-F465AC9B8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9D04E4-6AB2-5457-57CD-E09EF4BE9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53C0CA-5196-A3A8-6D72-59FA1CADC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680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E7FE5-12B1-71AF-8B7E-FC4BF363F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87C806-9EEC-6E62-98CE-28F699614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AD163C-CC5F-0555-F297-81BAC4668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99831-6929-E2CE-756E-44DF2EDCC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97ED0-4302-5164-DB7C-DE5D03DC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2420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014648-59C1-0904-0F22-43AAADC573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E36D28-B222-FD5A-D413-8ED6F9B61B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463FE-4D8E-8A59-5064-789FB3320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1DE6FD-D8E2-ECD1-386E-B7F2F57A4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610CC-37EC-8564-5077-82EB0FD90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069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0360DB-F456-03F9-EE73-6D135E5D9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3D119D-B8F4-EB7B-FF77-6BD0A6399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D852D-3E8B-51D9-A6B4-4ADE640AB3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640B88-4078-442D-B709-28839D5E1D6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C172AA-74D0-471F-C149-12F7A32DF1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F0B45-1B42-C70A-48B9-CC0350BA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05D6A-3670-4E86-811B-CBCEB2E511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016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61" r:id="rId5"/>
    <p:sldLayoutId id="2147483653" r:id="rId6"/>
    <p:sldLayoutId id="2147483660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hyperlink" Target="https://youtu.be/jPcP1owBZCY" TargetMode="Externa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hyperlink" Target="https://youtu.be/KfbXI2Bf3r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2D86F-FEE1-1C5E-468E-BD867988A9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335337"/>
          </a:xfrm>
        </p:spPr>
        <p:txBody>
          <a:bodyPr>
            <a:normAutofit fontScale="90000"/>
          </a:bodyPr>
          <a:lstStyle/>
          <a:p>
            <a:r>
              <a:rPr lang="ru-RU" dirty="0"/>
              <a:t>От модели к интерфейсу:</a:t>
            </a:r>
            <a:br>
              <a:rPr lang="ru-RU" dirty="0"/>
            </a:br>
            <a:r>
              <a:rPr lang="ru-RU" dirty="0"/>
              <a:t>Проектируем интерактивное приложение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4167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1FB0B-5FE1-3084-5FE8-6CCB7E455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консольного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к </a:t>
            </a:r>
            <a:r>
              <a:rPr lang="en-US" dirty="0" err="1"/>
              <a:t>графическому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73D90-99F3-CB2B-1F0F-6AE1990B20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440318" cy="4351338"/>
          </a:xfrm>
        </p:spPr>
        <p:txBody>
          <a:bodyPr>
            <a:normAutofit/>
          </a:bodyPr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сих</a:t>
            </a:r>
            <a:r>
              <a:rPr lang="en-US" dirty="0"/>
              <a:t> </a:t>
            </a:r>
            <a:r>
              <a:rPr lang="en-US" dirty="0" err="1"/>
              <a:t>пор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работали</a:t>
            </a:r>
            <a:r>
              <a:rPr lang="en-US" dirty="0"/>
              <a:t> с </a:t>
            </a:r>
            <a:r>
              <a:rPr lang="en-US" dirty="0" err="1"/>
              <a:t>рисунком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консоль</a:t>
            </a:r>
            <a:r>
              <a:rPr lang="en-US" dirty="0"/>
              <a:t>.</a:t>
            </a:r>
          </a:p>
          <a:p>
            <a:r>
              <a:rPr lang="en-US" dirty="0" err="1"/>
              <a:t>Новое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Отображать</a:t>
            </a:r>
            <a:r>
              <a:rPr lang="en-US" dirty="0"/>
              <a:t> </a:t>
            </a:r>
            <a:r>
              <a:rPr lang="en-US" dirty="0" err="1"/>
              <a:t>рисунок</a:t>
            </a:r>
            <a:r>
              <a:rPr lang="en-US" dirty="0"/>
              <a:t> в </a:t>
            </a:r>
            <a:r>
              <a:rPr lang="en-US" dirty="0" err="1"/>
              <a:t>окне</a:t>
            </a:r>
            <a:r>
              <a:rPr lang="en-US" dirty="0"/>
              <a:t> и </a:t>
            </a:r>
            <a:r>
              <a:rPr lang="ru-RU" dirty="0"/>
              <a:t>управлять</a:t>
            </a:r>
            <a:r>
              <a:rPr lang="en-US" dirty="0"/>
              <a:t> </a:t>
            </a:r>
            <a:r>
              <a:rPr lang="en-US" dirty="0" err="1"/>
              <a:t>фигурами</a:t>
            </a:r>
            <a:r>
              <a:rPr lang="en-US" dirty="0"/>
              <a:t> </a:t>
            </a:r>
            <a:r>
              <a:rPr lang="en-US" dirty="0" err="1"/>
              <a:t>мышью</a:t>
            </a:r>
            <a:r>
              <a:rPr lang="en-US" dirty="0"/>
              <a:t>.</a:t>
            </a:r>
          </a:p>
          <a:p>
            <a:r>
              <a:rPr lang="en-US" dirty="0" err="1"/>
              <a:t>Минимальная</a:t>
            </a:r>
            <a:r>
              <a:rPr lang="en-US" dirty="0"/>
              <a:t> </a:t>
            </a:r>
            <a:r>
              <a:rPr lang="en-US" dirty="0" err="1"/>
              <a:t>цель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;</a:t>
            </a:r>
          </a:p>
          <a:p>
            <a:pPr lvl="1"/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мышью</a:t>
            </a:r>
            <a:r>
              <a:rPr lang="en-US" dirty="0"/>
              <a:t>;</a:t>
            </a:r>
          </a:p>
          <a:p>
            <a:pPr lvl="1"/>
            <a:r>
              <a:rPr lang="en-US" dirty="0" err="1"/>
              <a:t>перемещение</a:t>
            </a:r>
            <a:r>
              <a:rPr lang="en-US" dirty="0"/>
              <a:t> </a:t>
            </a:r>
            <a:r>
              <a:rPr lang="en-US" dirty="0" err="1"/>
              <a:t>выбранной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E4C8845-1EBA-BB9B-F043-F1324F12ED7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8518" y="1825625"/>
            <a:ext cx="5913482" cy="245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082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594F2-6390-A5BA-91A0-683FAF22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SFML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графический</a:t>
            </a:r>
            <a:r>
              <a:rPr lang="en-US" dirty="0"/>
              <a:t> </a:t>
            </a:r>
            <a:r>
              <a:rPr lang="en-US" dirty="0" err="1"/>
              <a:t>инструментарий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7B82E-9A3A-0450-CDCF-25EC1DB34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776356" cy="4351338"/>
          </a:xfrm>
        </p:spPr>
        <p:txBody>
          <a:bodyPr/>
          <a:lstStyle/>
          <a:p>
            <a:r>
              <a:rPr lang="en-US" dirty="0" err="1"/>
              <a:t>Используем</a:t>
            </a:r>
            <a:r>
              <a:rPr lang="en-US" dirty="0"/>
              <a:t> SFML 3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sf::</a:t>
            </a:r>
            <a:r>
              <a:rPr lang="en-US" dirty="0" err="1">
                <a:latin typeface="Consolas" panose="020B0609020204030204" pitchFamily="49" charset="0"/>
              </a:rPr>
              <a:t>RenderWindow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sf::</a:t>
            </a:r>
            <a:r>
              <a:rPr lang="en-US" dirty="0" err="1">
                <a:latin typeface="Consolas" panose="020B0609020204030204" pitchFamily="49" charset="0"/>
              </a:rPr>
              <a:t>RectangleShape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sf::</a:t>
            </a:r>
            <a:r>
              <a:rPr lang="en-US" dirty="0" err="1">
                <a:latin typeface="Consolas" panose="020B0609020204030204" pitchFamily="49" charset="0"/>
              </a:rPr>
              <a:t>CircleShape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sf::Event</a:t>
            </a:r>
          </a:p>
          <a:p>
            <a:r>
              <a:rPr lang="en-US" dirty="0"/>
              <a:t>SFML — </a:t>
            </a:r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предмет</a:t>
            </a:r>
            <a:r>
              <a:rPr lang="en-US" dirty="0"/>
              <a:t> </a:t>
            </a:r>
            <a:r>
              <a:rPr lang="en-US" dirty="0" err="1"/>
              <a:t>лекции</a:t>
            </a:r>
            <a:r>
              <a:rPr lang="en-US" dirty="0"/>
              <a:t>.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561A549-757C-B27E-4A6E-E4CBA9D496E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75812" y="2068812"/>
            <a:ext cx="4477987" cy="3340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899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7D8E1-A6C8-A115-267F-AAC3C6902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Минимальное</a:t>
            </a:r>
            <a:r>
              <a:rPr lang="en-US" dirty="0"/>
              <a:t> </a:t>
            </a:r>
            <a:r>
              <a:rPr lang="en-US" dirty="0" err="1"/>
              <a:t>графическое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9376D91-58BD-3FFB-9264-46CADC23E6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7125" y="1973427"/>
            <a:ext cx="5146675" cy="40557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EB1048-B6E0-24F4-F34B-2F88BDBDCE83}"/>
              </a:ext>
            </a:extLst>
          </p:cNvPr>
          <p:cNvSpPr txBox="1"/>
          <p:nvPr/>
        </p:nvSpPr>
        <p:spPr>
          <a:xfrm>
            <a:off x="317664" y="1818142"/>
            <a:ext cx="5667500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sf::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RenderWindow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sf::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VideoMode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}),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 SFML</a:t>
            </a:r>
            <a:r>
              <a:rPr lang="en-US" sz="15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sf::</a:t>
            </a:r>
            <a:r>
              <a:rPr lang="en-US" sz="15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RectangleShape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200.f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100.f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300.f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250.f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setFillColor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(sf::Color::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isOpen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pollEvent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5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-&gt;is&lt;sf::Event::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Closed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&gt;())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display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21594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5CD0F-6D6A-1AB3-860A-6780FC928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наш</a:t>
            </a:r>
            <a:r>
              <a:rPr lang="en-US" dirty="0"/>
              <a:t> </a:t>
            </a:r>
            <a:r>
              <a:rPr lang="en-US" dirty="0" err="1"/>
              <a:t>редактор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7CE711-741A-5707-4C61-E9B2211D6A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Наш редактор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5F9FB5-C312-F58B-FD0C-6772A3F1C6C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Rectangle</a:t>
            </a:r>
          </a:p>
          <a:p>
            <a:pPr lvl="1"/>
            <a:r>
              <a:rPr lang="ru-RU" dirty="0"/>
              <a:t>положение</a:t>
            </a:r>
            <a:endParaRPr lang="en-US" dirty="0"/>
          </a:p>
          <a:p>
            <a:pPr lvl="1"/>
            <a:r>
              <a:rPr lang="ru-RU" dirty="0"/>
              <a:t>размер</a:t>
            </a:r>
          </a:p>
          <a:p>
            <a:pPr lvl="1"/>
            <a:r>
              <a:rPr lang="ru-RU" dirty="0"/>
              <a:t>цвет</a:t>
            </a:r>
            <a:endParaRPr lang="en-US" dirty="0"/>
          </a:p>
          <a:p>
            <a:pPr lvl="1"/>
            <a:r>
              <a:rPr lang="en-US" dirty="0" err="1"/>
              <a:t>HitTest</a:t>
            </a:r>
            <a:endParaRPr lang="ru-RU" dirty="0"/>
          </a:p>
          <a:p>
            <a:pPr lvl="1"/>
            <a:r>
              <a:rPr lang="en-US" dirty="0" err="1"/>
              <a:t>MoveBy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FB269D-B466-2BC3-CBAE-12A618C32F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SFML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BEA6F7-008B-55C3-2BC4-8B577B011D4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err="1"/>
              <a:t>sf:RectangleShape</a:t>
            </a:r>
            <a:endParaRPr lang="ru-RU" dirty="0"/>
          </a:p>
          <a:p>
            <a:pPr lvl="1"/>
            <a:r>
              <a:rPr lang="en-US" dirty="0"/>
              <a:t>position</a:t>
            </a:r>
            <a:endParaRPr lang="ru-RU" dirty="0"/>
          </a:p>
          <a:p>
            <a:pPr lvl="1"/>
            <a:r>
              <a:rPr lang="en-US" dirty="0"/>
              <a:t>size</a:t>
            </a:r>
            <a:endParaRPr lang="ru-RU" dirty="0"/>
          </a:p>
          <a:p>
            <a:pPr lvl="1"/>
            <a:r>
              <a:rPr lang="en-US" dirty="0" err="1"/>
              <a:t>fillColor</a:t>
            </a:r>
            <a:endParaRPr lang="en-US" dirty="0"/>
          </a:p>
          <a:p>
            <a:pPr lvl="1"/>
            <a:r>
              <a:rPr lang="en-US" dirty="0"/>
              <a:t>draw(…)</a:t>
            </a:r>
          </a:p>
          <a:p>
            <a:pPr lvl="1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F00141F-C1F7-8A09-445D-0226FA85C35D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r>
              <a:rPr lang="ru-RU" dirty="0"/>
              <a:t>А нужен ли нам вообще объект </a:t>
            </a:r>
            <a:r>
              <a:rPr lang="en-US" dirty="0"/>
              <a:t>Rectangle?</a:t>
            </a:r>
          </a:p>
          <a:p>
            <a:r>
              <a:rPr lang="ru-RU" dirty="0"/>
              <a:t>Почему бы не использовать </a:t>
            </a:r>
            <a:r>
              <a:rPr lang="en-US" dirty="0"/>
              <a:t>sf::</a:t>
            </a:r>
            <a:r>
              <a:rPr lang="en-US" dirty="0" err="1"/>
              <a:t>RectangleShape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072383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68747-3536-E499-2556-E455D1805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М</a:t>
            </a:r>
            <a:r>
              <a:rPr lang="en-US" dirty="0" err="1"/>
              <a:t>одель</a:t>
            </a:r>
            <a:r>
              <a:rPr lang="en-US" dirty="0"/>
              <a:t> </a:t>
            </a:r>
            <a:r>
              <a:rPr lang="ru-RU" dirty="0"/>
              <a:t>предметной области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0F463-2236-1CA4-FC8A-20BF69F2A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649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8CA2D5F-F8C6-EEC6-DBE8-C16E775B2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прямоугольника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0C09319-0037-C501-E07A-A9A323E776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541428"/>
            <a:ext cx="10515600" cy="291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020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316-545D-343F-90B0-AC075313F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(Domain Model*)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0722F-AA08-1582-C803-6793B640B1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/>
              <a:t>Domain Model</a:t>
            </a:r>
            <a:r>
              <a:rPr lang="en-US" dirty="0"/>
              <a:t> — </a:t>
            </a:r>
            <a:r>
              <a:rPr lang="en-US" dirty="0" err="1"/>
              <a:t>программное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понятий</a:t>
            </a:r>
            <a:r>
              <a:rPr lang="en-US" dirty="0"/>
              <a:t> </a:t>
            </a:r>
            <a:r>
              <a:rPr lang="en-US" dirty="0" err="1"/>
              <a:t>предметной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,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, </a:t>
            </a:r>
            <a:r>
              <a:rPr lang="en-US" dirty="0" err="1"/>
              <a:t>поведения</a:t>
            </a:r>
            <a:r>
              <a:rPr lang="en-US" dirty="0"/>
              <a:t> и </a:t>
            </a:r>
            <a:r>
              <a:rPr lang="en-US" dirty="0" err="1"/>
              <a:t>правил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.</a:t>
            </a:r>
          </a:p>
          <a:p>
            <a:r>
              <a:rPr lang="en-US" b="1" dirty="0" err="1"/>
              <a:t>Предметная</a:t>
            </a:r>
            <a:r>
              <a:rPr lang="en-US" b="1" dirty="0"/>
              <a:t> </a:t>
            </a:r>
            <a:r>
              <a:rPr lang="en-US" b="1" dirty="0" err="1"/>
              <a:t>область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рисунок</a:t>
            </a:r>
            <a:r>
              <a:rPr lang="en-US" dirty="0"/>
              <a:t> и </a:t>
            </a:r>
            <a:r>
              <a:rPr lang="en-US" dirty="0" err="1"/>
              <a:t>составляющие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C355AA77-96BB-27DC-E0EB-B67397AFAFA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433627598"/>
              </p:ext>
            </p:extLst>
          </p:nvPr>
        </p:nvGraphicFramePr>
        <p:xfrm>
          <a:off x="6172200" y="1825625"/>
          <a:ext cx="518160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6164">
                  <a:extLst>
                    <a:ext uri="{9D8B030D-6E8A-4147-A177-3AD203B41FA5}">
                      <a16:colId xmlns:a16="http://schemas.microsoft.com/office/drawing/2014/main" val="1175453939"/>
                    </a:ext>
                  </a:extLst>
                </a:gridCol>
                <a:gridCol w="2625436">
                  <a:extLst>
                    <a:ext uri="{9D8B030D-6E8A-4147-A177-3AD203B41FA5}">
                      <a16:colId xmlns:a16="http://schemas.microsoft.com/office/drawing/2014/main" val="2706821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Понятие предметной области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Класс из </a:t>
                      </a:r>
                      <a:r>
                        <a:rPr lang="en-US" dirty="0"/>
                        <a:t>Domain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6497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Рисунок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Drawing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8135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Фигура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Shape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8354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Прямоугольник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Rectangle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13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Эллипс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Ellipse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131444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40C6B74-CB60-5BC5-2B7A-25F94D26CD34}"/>
              </a:ext>
            </a:extLst>
          </p:cNvPr>
          <p:cNvSpPr txBox="1"/>
          <p:nvPr/>
        </p:nvSpPr>
        <p:spPr>
          <a:xfrm>
            <a:off x="838200" y="6176963"/>
            <a:ext cx="48382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В дальнейшем – модель (</a:t>
            </a:r>
            <a:r>
              <a:rPr lang="en-US" dirty="0"/>
              <a:t>model)</a:t>
            </a:r>
          </a:p>
        </p:txBody>
      </p:sp>
    </p:spTree>
    <p:extLst>
      <p:ext uri="{BB962C8B-B14F-4D97-AF65-F5344CB8AC3E}">
        <p14:creationId xmlns:p14="http://schemas.microsoft.com/office/powerpoint/2010/main" val="64741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F216E-5622-F2C7-BDB4-07C59AFB6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Модель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просто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2C912E-3985-74AD-EDBE-89875B934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46964" cy="4351338"/>
          </a:xfrm>
        </p:spPr>
        <p:txBody>
          <a:bodyPr/>
          <a:lstStyle/>
          <a:p>
            <a:r>
              <a:rPr lang="ru-RU" dirty="0"/>
              <a:t>Модель хранит не только данные, но и обладает поведением</a:t>
            </a:r>
          </a:p>
          <a:p>
            <a:pPr lvl="1"/>
            <a:r>
              <a:rPr lang="en-US" dirty="0" err="1"/>
              <a:t>MoveBy</a:t>
            </a:r>
            <a:r>
              <a:rPr lang="en-US" dirty="0"/>
              <a:t> – </a:t>
            </a:r>
            <a:r>
              <a:rPr lang="ru-RU" dirty="0"/>
              <a:t>операция перемещения</a:t>
            </a:r>
          </a:p>
          <a:p>
            <a:pPr lvl="1"/>
            <a:r>
              <a:rPr lang="en-US" dirty="0" err="1"/>
              <a:t>HitTest</a:t>
            </a:r>
            <a:r>
              <a:rPr lang="en-US" dirty="0"/>
              <a:t> – </a:t>
            </a:r>
            <a:r>
              <a:rPr lang="ru-RU" dirty="0"/>
              <a:t>проверка попадания точки внутрь объекта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0E904-4809-96E7-0C55-900B77E25664}"/>
              </a:ext>
            </a:extLst>
          </p:cNvPr>
          <p:cNvSpPr txBox="1"/>
          <p:nvPr/>
        </p:nvSpPr>
        <p:spPr>
          <a:xfrm>
            <a:off x="6308766" y="1825625"/>
            <a:ext cx="579218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Rectangle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MoveBy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HitTest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// ... 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Данные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специфичные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класса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Rectangle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95541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EEBAC-498D-F388-676B-2A819D3B5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проходит</a:t>
            </a:r>
            <a:r>
              <a:rPr lang="en-US" dirty="0"/>
              <a:t> </a:t>
            </a:r>
            <a:r>
              <a:rPr lang="en-US" dirty="0" err="1"/>
              <a:t>граница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F9C8B-40C3-72AE-E62E-31CB6A2498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Domain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5B08E2-5E05-C06F-E829-65215060BFB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Drawing</a:t>
            </a:r>
          </a:p>
          <a:p>
            <a:r>
              <a:rPr lang="en-US" dirty="0"/>
              <a:t>Rectangle</a:t>
            </a:r>
          </a:p>
          <a:p>
            <a:r>
              <a:rPr lang="en-US" dirty="0"/>
              <a:t>Ellipse</a:t>
            </a:r>
          </a:p>
          <a:p>
            <a:r>
              <a:rPr lang="en-US" dirty="0" err="1"/>
              <a:t>MoveBy</a:t>
            </a:r>
            <a:r>
              <a:rPr lang="en-US" dirty="0"/>
              <a:t>(…)</a:t>
            </a:r>
          </a:p>
          <a:p>
            <a:r>
              <a:rPr lang="en-US" dirty="0" err="1"/>
              <a:t>HitTest</a:t>
            </a:r>
            <a:r>
              <a:rPr lang="en-US" dirty="0"/>
              <a:t>(…)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90C48FF-06B6-82A0-1D84-1E8576EDF2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/>
              <a:t>Детали графического интерфейса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0670E8-6D4B-21FE-569F-C4A2A5AD601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sf::</a:t>
            </a:r>
            <a:r>
              <a:rPr lang="en-US" dirty="0" err="1"/>
              <a:t>RenderWindow</a:t>
            </a:r>
            <a:endParaRPr lang="en-US" dirty="0"/>
          </a:p>
          <a:p>
            <a:r>
              <a:rPr lang="en-US" dirty="0"/>
              <a:t>sf::</a:t>
            </a:r>
            <a:r>
              <a:rPr lang="en-US" dirty="0" err="1"/>
              <a:t>RectangleShape</a:t>
            </a:r>
            <a:endParaRPr lang="en-US" dirty="0"/>
          </a:p>
          <a:p>
            <a:r>
              <a:rPr lang="en-US" dirty="0"/>
              <a:t>sf::</a:t>
            </a:r>
            <a:r>
              <a:rPr lang="en-US" dirty="0" err="1"/>
              <a:t>CircleShape</a:t>
            </a:r>
            <a:endParaRPr lang="en-US" dirty="0"/>
          </a:p>
          <a:p>
            <a:r>
              <a:rPr lang="en-US" dirty="0"/>
              <a:t>draw(…)</a:t>
            </a:r>
          </a:p>
          <a:p>
            <a:r>
              <a:rPr lang="en-US" dirty="0" err="1"/>
              <a:t>pollEvent</a:t>
            </a:r>
            <a:r>
              <a:rPr lang="en-US" dirty="0"/>
              <a:t>(…)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6C99E6-0AF0-475A-5EBC-47965C0A55B7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останется</a:t>
            </a:r>
            <a:r>
              <a:rPr lang="en-US" dirty="0"/>
              <a:t> </a:t>
            </a:r>
            <a:r>
              <a:rPr lang="en-US" dirty="0" err="1"/>
              <a:t>прежним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заменить</a:t>
            </a:r>
            <a:r>
              <a:rPr lang="en-US" dirty="0"/>
              <a:t> SFML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библиотекой</a:t>
            </a:r>
            <a:r>
              <a:rPr lang="en-US" dirty="0"/>
              <a:t>?</a:t>
            </a:r>
          </a:p>
          <a:p>
            <a:r>
              <a:rPr lang="en-US" b="1" dirty="0"/>
              <a:t>SRP:</a:t>
            </a:r>
            <a:r>
              <a:rPr lang="en-US" dirty="0"/>
              <a:t> </a:t>
            </a:r>
            <a:r>
              <a:rPr lang="en-US" dirty="0" err="1"/>
              <a:t>предметная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и </a:t>
            </a:r>
            <a:r>
              <a:rPr lang="en-US" dirty="0" err="1"/>
              <a:t>технология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причины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73594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E236B-8528-2B85-0878-BADB0E014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Одна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—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представлений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A693F79-B67F-6DB1-4F3E-C247418D58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95788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Фигуры имеют</a:t>
            </a:r>
          </a:p>
          <a:p>
            <a:pPr lvl="1"/>
            <a:r>
              <a:rPr lang="ru-RU" dirty="0"/>
              <a:t>Время показа</a:t>
            </a:r>
          </a:p>
          <a:p>
            <a:pPr lvl="1"/>
            <a:r>
              <a:rPr lang="ru-RU" dirty="0"/>
              <a:t>Время исчезновения</a:t>
            </a:r>
          </a:p>
          <a:p>
            <a:pPr lvl="1"/>
            <a:r>
              <a:rPr lang="en-US" dirty="0"/>
              <a:t>Z</a:t>
            </a:r>
            <a:r>
              <a:rPr lang="ru-RU" dirty="0"/>
              <a:t>-</a:t>
            </a:r>
            <a:r>
              <a:rPr lang="en-US" dirty="0"/>
              <a:t>order</a:t>
            </a:r>
          </a:p>
          <a:p>
            <a:r>
              <a:rPr lang="en-US" b="1" dirty="0"/>
              <a:t>Canvas</a:t>
            </a:r>
            <a:r>
              <a:rPr lang="ru-RU" dirty="0"/>
              <a:t> показывает рисунок в текущий момент времени</a:t>
            </a:r>
          </a:p>
          <a:p>
            <a:pPr lvl="1"/>
            <a:r>
              <a:rPr lang="ru-RU" dirty="0"/>
              <a:t>Учитывает видимость фигур</a:t>
            </a:r>
          </a:p>
          <a:p>
            <a:pPr lvl="1"/>
            <a:r>
              <a:rPr lang="ru-RU" dirty="0"/>
              <a:t>Отображает с учётом </a:t>
            </a:r>
            <a:r>
              <a:rPr lang="en-US" dirty="0"/>
              <a:t>z-order</a:t>
            </a:r>
          </a:p>
          <a:p>
            <a:r>
              <a:rPr lang="en-US" b="1" dirty="0"/>
              <a:t>Timeline</a:t>
            </a:r>
            <a:r>
              <a:rPr lang="ru-RU" dirty="0"/>
              <a:t> показывает интервалы существования фигур</a:t>
            </a:r>
          </a:p>
          <a:p>
            <a:pPr lvl="1"/>
            <a:r>
              <a:rPr lang="ru-RU" dirty="0"/>
              <a:t>Вертикальная линия – текущий момент времени</a:t>
            </a:r>
          </a:p>
          <a:p>
            <a:pPr lvl="1"/>
            <a:r>
              <a:rPr lang="ru-RU" dirty="0"/>
              <a:t>Порядок дорожек – </a:t>
            </a:r>
            <a:r>
              <a:rPr lang="en-US" dirty="0"/>
              <a:t>z-order</a:t>
            </a:r>
          </a:p>
          <a:p>
            <a:pPr lvl="1"/>
            <a:endParaRPr lang="en-US" dirty="0"/>
          </a:p>
        </p:txBody>
      </p:sp>
      <p:pic>
        <p:nvPicPr>
          <p:cNvPr id="14" name="Content Placeholder 9">
            <a:extLst>
              <a:ext uri="{FF2B5EF4-FFF2-40B4-BE49-F238E27FC236}">
                <a16:creationId xmlns:a16="http://schemas.microsoft.com/office/drawing/2014/main" id="{60FA4E90-4172-18E9-9709-886084BBCD7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855807"/>
            <a:ext cx="5181600" cy="2916199"/>
          </a:xfrm>
          <a:prstGeom prst="rect">
            <a:avLst/>
          </a:prstGeom>
        </p:spPr>
      </p:pic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55421447-9D44-EA84-72A3-AF5FEAEC650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172200" y="4864963"/>
            <a:ext cx="5181600" cy="13564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Canvas и Timeline — </a:t>
            </a:r>
            <a:r>
              <a:rPr lang="en-US" b="1" dirty="0" err="1"/>
              <a:t>разные</a:t>
            </a:r>
            <a:r>
              <a:rPr lang="en-US" b="1" dirty="0"/>
              <a:t> </a:t>
            </a:r>
            <a:r>
              <a:rPr lang="en-US" b="1" dirty="0" err="1"/>
              <a:t>представления</a:t>
            </a:r>
            <a:r>
              <a:rPr lang="en-US" dirty="0"/>
              <a:t> </a:t>
            </a:r>
            <a:r>
              <a:rPr lang="en-US" b="1" dirty="0" err="1"/>
              <a:t>одной</a:t>
            </a:r>
            <a:r>
              <a:rPr lang="en-US" dirty="0"/>
              <a:t> и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ru-RU" b="1" dirty="0"/>
              <a:t>модели</a:t>
            </a:r>
          </a:p>
          <a:p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показывает</a:t>
            </a:r>
            <a:r>
              <a:rPr lang="en-US" dirty="0"/>
              <a:t> </a:t>
            </a:r>
            <a:r>
              <a:rPr lang="en-US" dirty="0" err="1"/>
              <a:t>определённый</a:t>
            </a:r>
            <a:r>
              <a:rPr lang="en-US" dirty="0"/>
              <a:t> </a:t>
            </a:r>
            <a:r>
              <a:rPr lang="en-US" dirty="0" err="1"/>
              <a:t>аспект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самой</a:t>
            </a:r>
            <a:r>
              <a:rPr lang="en-US" dirty="0"/>
              <a:t> </a:t>
            </a:r>
            <a:r>
              <a:rPr lang="en-US" dirty="0" err="1"/>
              <a:t>моделью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091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A9DBC-A964-F2D3-9603-8889D699F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и </a:t>
            </a:r>
            <a:r>
              <a:rPr lang="en-US" dirty="0" err="1"/>
              <a:t>объекты</a:t>
            </a:r>
            <a:r>
              <a:rPr lang="en-US" dirty="0"/>
              <a:t> SFML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и </a:t>
            </a:r>
            <a:r>
              <a:rPr lang="en-US" dirty="0" err="1"/>
              <a:t>то</a:t>
            </a:r>
            <a:r>
              <a:rPr lang="en-US" dirty="0"/>
              <a:t> </a:t>
            </a:r>
            <a:r>
              <a:rPr lang="en-US" dirty="0" err="1"/>
              <a:t>же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EAF6F1-0C4D-B5AF-AA21-614905BEC8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39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D69261-E77D-BA0D-1AEA-1B8CE2E00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 нужен ли </a:t>
            </a:r>
            <a:r>
              <a:rPr lang="en-US" dirty="0" err="1"/>
              <a:t>собственный</a:t>
            </a:r>
            <a:r>
              <a:rPr lang="en-US" dirty="0"/>
              <a:t> Rectangle?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E4B0E1B-B9D2-A047-7946-061E525F9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SFML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предоставляет</a:t>
            </a:r>
            <a:r>
              <a:rPr lang="ru-RU" dirty="0"/>
              <a:t> класс </a:t>
            </a:r>
            <a:r>
              <a:rPr lang="en-US" dirty="0" err="1"/>
              <a:t>RectangleShape</a:t>
            </a:r>
            <a:endParaRPr lang="en-US" dirty="0"/>
          </a:p>
          <a:p>
            <a:r>
              <a:rPr lang="ru-RU" dirty="0"/>
              <a:t>У него есть:</a:t>
            </a:r>
          </a:p>
          <a:p>
            <a:pPr lvl="1"/>
            <a:r>
              <a:rPr lang="ru-RU" dirty="0"/>
              <a:t>положение</a:t>
            </a:r>
          </a:p>
          <a:p>
            <a:pPr lvl="1"/>
            <a:r>
              <a:rPr lang="ru-RU" dirty="0"/>
              <a:t>размер</a:t>
            </a:r>
          </a:p>
          <a:p>
            <a:pPr lvl="1"/>
            <a:r>
              <a:rPr lang="ru-RU" dirty="0"/>
              <a:t>цвет заливки</a:t>
            </a:r>
          </a:p>
          <a:p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ru-RU" dirty="0"/>
              <a:t> в</a:t>
            </a:r>
            <a:r>
              <a:rPr lang="en-US" dirty="0"/>
              <a:t> Drawing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sf::</a:t>
            </a:r>
            <a:r>
              <a:rPr lang="en-US" dirty="0" err="1"/>
              <a:t>RectangleShape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589000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89252-E1C8-DAC6-512B-07D47670F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Похожие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—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роли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19CB06-48D3-0BBD-7395-DA3C65550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2977194"/>
          </a:xfrm>
        </p:spPr>
        <p:txBody>
          <a:bodyPr/>
          <a:lstStyle/>
          <a:p>
            <a:r>
              <a:rPr lang="en-US" dirty="0" err="1"/>
              <a:t>Похожие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означают</a:t>
            </a:r>
            <a:r>
              <a:rPr lang="en-US" dirty="0"/>
              <a:t> </a:t>
            </a:r>
            <a:r>
              <a:rPr lang="en-US" dirty="0" err="1"/>
              <a:t>одинаковую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62B383A-3635-2AC0-0744-5AB16170D81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462163760"/>
              </p:ext>
            </p:extLst>
          </p:nvPr>
        </p:nvGraphicFramePr>
        <p:xfrm>
          <a:off x="838196" y="2864372"/>
          <a:ext cx="10515602" cy="1938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1">
                  <a:extLst>
                    <a:ext uri="{9D8B030D-6E8A-4147-A177-3AD203B41FA5}">
                      <a16:colId xmlns:a16="http://schemas.microsoft.com/office/drawing/2014/main" val="1921128066"/>
                    </a:ext>
                  </a:extLst>
                </a:gridCol>
                <a:gridCol w="5257801">
                  <a:extLst>
                    <a:ext uri="{9D8B030D-6E8A-4147-A177-3AD203B41FA5}">
                      <a16:colId xmlns:a16="http://schemas.microsoft.com/office/drawing/2014/main" val="696188369"/>
                    </a:ext>
                  </a:extLst>
                </a:gridCol>
              </a:tblGrid>
              <a:tr h="233084">
                <a:tc>
                  <a:txBody>
                    <a:bodyPr/>
                    <a:lstStyle/>
                    <a:p>
                      <a:r>
                        <a:rPr lang="en-US"/>
                        <a:t>Rectangle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sf::RectangleShape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478771"/>
                  </a:ext>
                </a:extLst>
              </a:tr>
              <a:tr h="402309">
                <a:tc>
                  <a:txBody>
                    <a:bodyPr/>
                    <a:lstStyle/>
                    <a:p>
                      <a:r>
                        <a:rPr lang="en-US"/>
                        <a:t>Фигура нашего рисунка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Графический примитив SFML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4210914"/>
                  </a:ext>
                </a:extLst>
              </a:tr>
              <a:tr h="233084">
                <a:tc>
                  <a:txBody>
                    <a:bodyPr/>
                    <a:lstStyle/>
                    <a:p>
                      <a:r>
                        <a:rPr lang="en-US"/>
                        <a:t>MoveBy()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setPosition()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5533255"/>
                  </a:ext>
                </a:extLst>
              </a:tr>
              <a:tr h="402309">
                <a:tc>
                  <a:txBody>
                    <a:bodyPr/>
                    <a:lstStyle/>
                    <a:p>
                      <a:r>
                        <a:rPr lang="en-US"/>
                        <a:t>HitTest()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Подготовлен к отрисовке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3520173"/>
                  </a:ext>
                </a:extLst>
              </a:tr>
              <a:tr h="402309">
                <a:tc>
                  <a:txBody>
                    <a:bodyPr/>
                    <a:lstStyle/>
                    <a:p>
                      <a:r>
                        <a:rPr lang="en-US" dirty="0" err="1"/>
                        <a:t>Часть</a:t>
                      </a:r>
                      <a:r>
                        <a:rPr lang="en-US" dirty="0"/>
                        <a:t> Domain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Часть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графической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библиотеки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3667853"/>
                  </a:ext>
                </a:extLst>
              </a:tr>
            </a:tbl>
          </a:graphicData>
        </a:graphic>
      </p:graphicFrame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0C1C53-0AEA-C268-7372-9A87FF134A12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5082639"/>
            <a:ext cx="10515600" cy="1138774"/>
          </a:xfrm>
        </p:spPr>
        <p:txBody>
          <a:bodyPr/>
          <a:lstStyle/>
          <a:p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sf::</a:t>
            </a:r>
            <a:r>
              <a:rPr lang="en-US" dirty="0" err="1"/>
              <a:t>RectangleShape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dirty="0" err="1"/>
              <a:t>вообще</a:t>
            </a:r>
            <a:r>
              <a:rPr lang="en-US" dirty="0"/>
              <a:t> </a:t>
            </a:r>
            <a:r>
              <a:rPr lang="en-US" dirty="0" err="1"/>
              <a:t>ничего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рисует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233150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B05D3-1F43-A413-C41C-D085CF866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добавить новую фигуру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B07E1-099D-D258-BBBC-19C871FBB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Нужно добавить эллипсы</a:t>
            </a:r>
          </a:p>
          <a:p>
            <a:pPr lvl="1"/>
            <a:r>
              <a:rPr lang="ru-RU" dirty="0"/>
              <a:t>Есть ли в </a:t>
            </a:r>
            <a:r>
              <a:rPr lang="en-US" dirty="0"/>
              <a:t>SFML </a:t>
            </a:r>
            <a:r>
              <a:rPr lang="ru-RU" dirty="0"/>
              <a:t>класс </a:t>
            </a:r>
            <a:r>
              <a:rPr lang="en-US" dirty="0"/>
              <a:t>sf::</a:t>
            </a:r>
            <a:r>
              <a:rPr lang="en-US" dirty="0" err="1"/>
              <a:t>EllipseShape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Можем ли мы работать с </a:t>
            </a:r>
            <a:r>
              <a:rPr lang="en-US" dirty="0"/>
              <a:t>sf::</a:t>
            </a:r>
            <a:r>
              <a:rPr lang="en-US" dirty="0" err="1"/>
              <a:t>RectangleShape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sf::</a:t>
            </a:r>
            <a:r>
              <a:rPr lang="en-US" dirty="0" err="1"/>
              <a:t>EllipseShape</a:t>
            </a:r>
            <a:r>
              <a:rPr lang="ru-RU" dirty="0"/>
              <a:t> через общий интерфейс</a:t>
            </a:r>
            <a:r>
              <a:rPr lang="en-US" dirty="0"/>
              <a:t>?</a:t>
            </a:r>
          </a:p>
          <a:p>
            <a:r>
              <a:rPr lang="en-US" dirty="0"/>
              <a:t>OCP</a:t>
            </a:r>
          </a:p>
          <a:p>
            <a:pPr lvl="1"/>
            <a:r>
              <a:rPr lang="ru-RU" dirty="0"/>
              <a:t>Не хотелось бы, чтобы важная ось изменений определялась устройством графической библиотеки</a:t>
            </a:r>
          </a:p>
          <a:p>
            <a:r>
              <a:rPr lang="ru-RU" dirty="0"/>
              <a:t>Не обязательно, что каждой фигуре предметной области будет соответствовать ровно один примитив </a:t>
            </a:r>
            <a:r>
              <a:rPr lang="en-US" dirty="0"/>
              <a:t>SFML</a:t>
            </a:r>
          </a:p>
          <a:p>
            <a:pPr lvl="1"/>
            <a:r>
              <a:rPr lang="ru-RU" dirty="0"/>
              <a:t>Пример: выноска = облачко + хвост</a:t>
            </a:r>
          </a:p>
          <a:p>
            <a:r>
              <a:rPr lang="ru-RU" dirty="0"/>
              <a:t>Не нарушаем ли </a:t>
            </a:r>
            <a:r>
              <a:rPr lang="en-US" dirty="0"/>
              <a:t>KISS </a:t>
            </a:r>
            <a:r>
              <a:rPr lang="ru-RU" dirty="0"/>
              <a:t>и </a:t>
            </a:r>
            <a:r>
              <a:rPr lang="en-US" dirty="0"/>
              <a:t>YAGNI?</a:t>
            </a:r>
          </a:p>
          <a:p>
            <a:pPr lvl="1"/>
            <a:r>
              <a:rPr lang="ru-RU" dirty="0"/>
              <a:t>Эллипс – ожидаемое требование</a:t>
            </a:r>
          </a:p>
          <a:p>
            <a:pPr lvl="1"/>
            <a:r>
              <a:rPr lang="ru-RU" dirty="0"/>
              <a:t>Расширяемость по видам фигур была свойством консольного приложения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8124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F3CFD-5772-EED6-EC7D-12EFE26AB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связать</a:t>
            </a:r>
            <a:r>
              <a:rPr lang="en-US" dirty="0"/>
              <a:t> Domain Model с SFML?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1E32BC-AD8F-7FEE-510F-37125F79BE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Есть и другие технические способы</a:t>
            </a:r>
          </a:p>
          <a:p>
            <a:pPr lvl="1"/>
            <a:r>
              <a:rPr lang="ru-RU" dirty="0"/>
              <a:t>Унаследовать </a:t>
            </a:r>
            <a:r>
              <a:rPr lang="en-US" dirty="0"/>
              <a:t>Rectangle </a:t>
            </a:r>
            <a:r>
              <a:rPr lang="ru-RU" dirty="0"/>
              <a:t>от </a:t>
            </a:r>
            <a:r>
              <a:rPr lang="en-US" dirty="0"/>
              <a:t>sf::</a:t>
            </a:r>
            <a:r>
              <a:rPr lang="en-US" dirty="0" err="1"/>
              <a:t>RectangleShape</a:t>
            </a:r>
            <a:endParaRPr lang="en-US" dirty="0"/>
          </a:p>
          <a:p>
            <a:pPr lvl="1"/>
            <a:r>
              <a:rPr lang="ru-RU" dirty="0"/>
              <a:t>Композиция: поместить </a:t>
            </a:r>
            <a:r>
              <a:rPr lang="en-US" dirty="0"/>
              <a:t>sf::Rectangle </a:t>
            </a:r>
            <a:r>
              <a:rPr lang="ru-RU" dirty="0"/>
              <a:t>внутрь </a:t>
            </a:r>
            <a:r>
              <a:rPr lang="en-US" dirty="0"/>
              <a:t>Rectangle</a:t>
            </a:r>
          </a:p>
          <a:p>
            <a:r>
              <a:rPr lang="ru-RU" dirty="0"/>
              <a:t>Проблема: модель зависит от библиотеки</a:t>
            </a:r>
          </a:p>
          <a:p>
            <a:pPr lvl="1"/>
            <a:r>
              <a:rPr lang="ru-RU" dirty="0"/>
              <a:t>Обновление или смена графической библиотеки могут потребовать изменить модель</a:t>
            </a:r>
          </a:p>
          <a:p>
            <a:r>
              <a:rPr lang="ru-RU" dirty="0"/>
              <a:t>Нарушение </a:t>
            </a:r>
            <a:r>
              <a:rPr lang="en-US" dirty="0"/>
              <a:t>SRP:</a:t>
            </a:r>
            <a:endParaRPr lang="ru-RU" dirty="0"/>
          </a:p>
          <a:p>
            <a:pPr lvl="1"/>
            <a:r>
              <a:rPr lang="ru-RU" dirty="0"/>
              <a:t>В одном компоненте разные источники изменения</a:t>
            </a:r>
            <a:r>
              <a:rPr lang="en-US" dirty="0"/>
              <a:t> </a:t>
            </a:r>
            <a:endParaRPr lang="ru-RU" dirty="0"/>
          </a:p>
          <a:p>
            <a:r>
              <a:rPr lang="ru-RU" dirty="0"/>
              <a:t>Возможное нарушение </a:t>
            </a:r>
            <a:r>
              <a:rPr lang="en-US" dirty="0"/>
              <a:t>DIP:</a:t>
            </a:r>
          </a:p>
          <a:p>
            <a:pPr lvl="1"/>
            <a:r>
              <a:rPr lang="ru-RU" dirty="0"/>
              <a:t>Высокоуровневая зависит от технических деталей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B79C2F-FBCE-A0C6-F8AC-AB19A1E9515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237895"/>
            <a:ext cx="5181600" cy="3526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602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E285-0571-D345-E1DA-3BA0D1D1F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равно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встретиться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A354E-9252-1086-52E4-F75A02B68E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Drawing; </a:t>
            </a:r>
          </a:p>
          <a:p>
            <a:pPr lvl="1"/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средствами</a:t>
            </a:r>
            <a:r>
              <a:rPr lang="en-US" dirty="0"/>
              <a:t> SFML; </a:t>
            </a:r>
          </a:p>
          <a:p>
            <a:pPr lvl="1"/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заставляет</a:t>
            </a:r>
            <a:r>
              <a:rPr lang="en-US" dirty="0"/>
              <a:t> Domain Model </a:t>
            </a:r>
            <a:r>
              <a:rPr lang="en-US" dirty="0" err="1"/>
              <a:t>знать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SFML. </a:t>
            </a:r>
          </a:p>
          <a:p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находиться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 </a:t>
            </a:r>
            <a:r>
              <a:rPr lang="en-US" dirty="0" err="1"/>
              <a:t>модели</a:t>
            </a:r>
            <a:r>
              <a:rPr lang="en-US" dirty="0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95C008-7AFB-C53E-C8EF-308DDBD4357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909380" y="2553195"/>
            <a:ext cx="6151770" cy="250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923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4824B-F923-1B13-8852-A8B1EC2E7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жить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F9832F-9027-8A6B-2878-E475C1F00A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2347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2E66A-6257-9F38-1CF3-6EC1DB2B0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Знакомое </a:t>
            </a:r>
            <a:r>
              <a:rPr lang="en-US" dirty="0" err="1"/>
              <a:t>решение</a:t>
            </a:r>
            <a:r>
              <a:rPr lang="en-US" dirty="0"/>
              <a:t>: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рисует</a:t>
            </a:r>
            <a:r>
              <a:rPr lang="en-US" dirty="0"/>
              <a:t> </a:t>
            </a:r>
            <a:r>
              <a:rPr lang="en-US" dirty="0" err="1"/>
              <a:t>себя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12A6B4-6691-0246-33B0-85F680028539}"/>
              </a:ext>
            </a:extLst>
          </p:cNvPr>
          <p:cNvSpPr txBox="1"/>
          <p:nvPr/>
        </p:nvSpPr>
        <p:spPr>
          <a:xfrm>
            <a:off x="838200" y="1825625"/>
            <a:ext cx="499060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ICanvas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canvas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ICanvas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canvas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canvas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DrawRect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(...);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3FE45F9-AEB4-C0F0-A8E2-7467BEF8B5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2000" y="4851400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/>
              <a:t>OCP</a:t>
            </a:r>
            <a:r>
              <a:rPr lang="en-US" dirty="0"/>
              <a:t>: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→ </a:t>
            </a:r>
            <a:r>
              <a:rPr lang="en-US" dirty="0" err="1"/>
              <a:t>новая</a:t>
            </a:r>
            <a:r>
              <a:rPr lang="en-US" dirty="0"/>
              <a:t> </a:t>
            </a:r>
            <a:r>
              <a:rPr lang="en-US" dirty="0" err="1"/>
              <a:t>реализация</a:t>
            </a:r>
            <a:r>
              <a:rPr lang="en-US" dirty="0"/>
              <a:t> </a:t>
            </a:r>
            <a:r>
              <a:rPr lang="en-US" dirty="0" err="1"/>
              <a:t>ICanvas</a:t>
            </a:r>
            <a:endParaRPr lang="ru-RU" dirty="0"/>
          </a:p>
          <a:p>
            <a:r>
              <a:rPr lang="en-US" b="1" dirty="0"/>
              <a:t>DIP</a:t>
            </a:r>
            <a:r>
              <a:rPr lang="en-US" dirty="0"/>
              <a:t>: </a:t>
            </a:r>
            <a:r>
              <a:rPr lang="en-US" dirty="0" err="1"/>
              <a:t>фигуры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зависят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графической</a:t>
            </a:r>
            <a:r>
              <a:rPr lang="en-US" dirty="0"/>
              <a:t> </a:t>
            </a:r>
            <a:r>
              <a:rPr lang="en-US" dirty="0" err="1"/>
              <a:t>технологии</a:t>
            </a:r>
            <a:endParaRPr lang="en-US" dirty="0"/>
          </a:p>
          <a:p>
            <a:endParaRPr lang="en-US" dirty="0"/>
          </a:p>
        </p:txBody>
      </p:sp>
      <p:pic>
        <p:nvPicPr>
          <p:cNvPr id="14" name="Content Placeholder 9">
            <a:extLst>
              <a:ext uri="{FF2B5EF4-FFF2-40B4-BE49-F238E27FC236}">
                <a16:creationId xmlns:a16="http://schemas.microsoft.com/office/drawing/2014/main" id="{8C3D37BF-EB96-0651-BBA3-9EF6E93C185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25625"/>
            <a:ext cx="5181600" cy="21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6831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CD676-D886-2DEE-C03D-7325EA932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</a:t>
            </a:r>
            <a:r>
              <a:rPr lang="en-US" dirty="0" err="1"/>
              <a:t>лжна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ru-RU" dirty="0"/>
              <a:t>модель </a:t>
            </a:r>
            <a:r>
              <a:rPr lang="en-US" dirty="0" err="1"/>
              <a:t>уметь</a:t>
            </a:r>
            <a:r>
              <a:rPr lang="en-US" dirty="0"/>
              <a:t> </a:t>
            </a:r>
            <a:r>
              <a:rPr lang="en-US" dirty="0" err="1"/>
              <a:t>рисовать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FDE6D-4EE4-B9EE-78BF-EBD3183116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037609"/>
            <a:ext cx="10515600" cy="2139353"/>
          </a:xfrm>
        </p:spPr>
        <p:txBody>
          <a:bodyPr>
            <a:normAutofit/>
          </a:bodyPr>
          <a:lstStyle/>
          <a:p>
            <a:r>
              <a:rPr lang="en-US" dirty="0" err="1"/>
              <a:t>Абстракция</a:t>
            </a:r>
            <a:r>
              <a:rPr lang="en-US" dirty="0"/>
              <a:t> </a:t>
            </a:r>
            <a:r>
              <a:rPr lang="en-US" dirty="0" err="1"/>
              <a:t>скрыла</a:t>
            </a:r>
            <a:r>
              <a:rPr lang="en-US" dirty="0"/>
              <a:t> </a:t>
            </a:r>
            <a:r>
              <a:rPr lang="en-US" dirty="0" err="1"/>
              <a:t>технологию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endParaRPr lang="ru-RU" dirty="0"/>
          </a:p>
          <a:p>
            <a:r>
              <a:rPr lang="en-US" b="1" dirty="0"/>
              <a:t>SRP: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и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разным</a:t>
            </a:r>
            <a:r>
              <a:rPr lang="en-US" dirty="0"/>
              <a:t> </a:t>
            </a:r>
            <a:r>
              <a:rPr lang="en-US" dirty="0" err="1"/>
              <a:t>причинам</a:t>
            </a:r>
            <a:r>
              <a:rPr lang="en-US" dirty="0"/>
              <a:t>.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ABB4F899-C6E6-C061-BA8B-247EBE7D8CC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3578467"/>
              </p:ext>
            </p:extLst>
          </p:nvPr>
        </p:nvGraphicFramePr>
        <p:xfrm>
          <a:off x="6172200" y="1825625"/>
          <a:ext cx="5181600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008">
                  <a:extLst>
                    <a:ext uri="{9D8B030D-6E8A-4147-A177-3AD203B41FA5}">
                      <a16:colId xmlns:a16="http://schemas.microsoft.com/office/drawing/2014/main" val="3822006242"/>
                    </a:ext>
                  </a:extLst>
                </a:gridCol>
                <a:gridCol w="3753592">
                  <a:extLst>
                    <a:ext uri="{9D8B030D-6E8A-4147-A177-3AD203B41FA5}">
                      <a16:colId xmlns:a16="http://schemas.microsoft.com/office/drawing/2014/main" val="10936162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Операция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Почему она существует</a:t>
                      </a:r>
                      <a:r>
                        <a:rPr lang="en-US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0886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MoveBy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Фигуру можно перемещать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831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HitTest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 фигуры есть геометрическая область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5638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Draw()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Фигуру нужно показать пользователю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786744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8B9F5FF-7F47-01E1-21D7-34A4EE9AC126}"/>
              </a:ext>
            </a:extLst>
          </p:cNvPr>
          <p:cNvSpPr txBox="1"/>
          <p:nvPr/>
        </p:nvSpPr>
        <p:spPr>
          <a:xfrm>
            <a:off x="838200" y="1825625"/>
            <a:ext cx="51816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MoveBy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HitTest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ICanvas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canvas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226522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586C9-FCB0-9231-C5BF-A1D512B6C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представлять</a:t>
            </a:r>
            <a:r>
              <a:rPr lang="en-US" dirty="0"/>
              <a:t> </a:t>
            </a:r>
            <a:r>
              <a:rPr lang="en-US" dirty="0" err="1"/>
              <a:t>по-разному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526B7-C074-5D2C-2E09-4B0EF1B525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560126" cy="4351338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принадлежит</a:t>
            </a:r>
            <a:r>
              <a:rPr lang="en-US" dirty="0"/>
              <a:t> </a:t>
            </a:r>
            <a:r>
              <a:rPr lang="en-US" dirty="0" err="1"/>
              <a:t>фигуре</a:t>
            </a:r>
            <a:r>
              <a:rPr lang="ru-RU" dirty="0"/>
              <a:t>, то это приведёт к появлению методов</a:t>
            </a:r>
            <a:endParaRPr lang="en-US" dirty="0"/>
          </a:p>
          <a:p>
            <a:pPr lvl="1"/>
            <a:r>
              <a:rPr lang="en-US" dirty="0" err="1"/>
              <a:t>DrawOnCanvas</a:t>
            </a:r>
            <a:r>
              <a:rPr lang="en-US" dirty="0"/>
              <a:t>(...);</a:t>
            </a:r>
          </a:p>
          <a:p>
            <a:pPr lvl="1"/>
            <a:r>
              <a:rPr lang="en-US" dirty="0" err="1"/>
              <a:t>DrawOnTimeline</a:t>
            </a:r>
            <a:r>
              <a:rPr lang="en-US" dirty="0"/>
              <a:t>(...);</a:t>
            </a:r>
          </a:p>
          <a:p>
            <a:pPr lvl="1"/>
            <a:r>
              <a:rPr lang="en-US" dirty="0" err="1"/>
              <a:t>DrawInPreview</a:t>
            </a:r>
            <a:r>
              <a:rPr lang="en-US" dirty="0"/>
              <a:t>(...);</a:t>
            </a:r>
          </a:p>
          <a:p>
            <a:r>
              <a:rPr lang="ru-RU" dirty="0"/>
              <a:t>Модель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организована</a:t>
            </a:r>
            <a:r>
              <a:rPr lang="en-US" dirty="0"/>
              <a:t> </a:t>
            </a:r>
            <a:r>
              <a:rPr lang="en-US" dirty="0" err="1"/>
              <a:t>вокруг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конкретного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.</a:t>
            </a:r>
            <a:endParaRPr lang="ru-RU" dirty="0"/>
          </a:p>
          <a:p>
            <a:pPr lvl="1"/>
            <a:r>
              <a:rPr lang="ru-RU" dirty="0"/>
              <a:t>Модель – отдельно</a:t>
            </a:r>
          </a:p>
          <a:p>
            <a:pPr lvl="1"/>
            <a:r>
              <a:rPr lang="ru-RU" dirty="0"/>
              <a:t>Её представления - отдельно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680405-1630-856B-037A-3C1A955EF47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326" y="1825625"/>
            <a:ext cx="3955475" cy="2226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5862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8680A-7269-5576-58E9-0767890B5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Отображение</a:t>
            </a:r>
            <a:r>
              <a:rPr lang="en-US" dirty="0"/>
              <a:t> — </a:t>
            </a:r>
            <a:r>
              <a:rPr lang="en-US" dirty="0" err="1"/>
              <a:t>отдельная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2ECEBE-05E1-F343-4D43-7C3400D46C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167310"/>
            <a:ext cx="10515600" cy="100965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Renderer </a:t>
            </a:r>
            <a:r>
              <a:rPr lang="en-US" dirty="0" err="1"/>
              <a:t>знает</a:t>
            </a:r>
            <a:r>
              <a:rPr lang="en-US" dirty="0"/>
              <a:t> о </a:t>
            </a:r>
            <a:r>
              <a:rPr lang="en-US" dirty="0" err="1"/>
              <a:t>модели</a:t>
            </a:r>
            <a:r>
              <a:rPr lang="en-US" dirty="0"/>
              <a:t> и о </a:t>
            </a:r>
            <a:r>
              <a:rPr lang="ru-RU" dirty="0"/>
              <a:t>конкретной</a:t>
            </a:r>
            <a:r>
              <a:rPr lang="en-US" dirty="0"/>
              <a:t> </a:t>
            </a:r>
            <a:r>
              <a:rPr lang="en-US" dirty="0" err="1"/>
              <a:t>технологии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endParaRPr lang="en-US" dirty="0"/>
          </a:p>
          <a:p>
            <a:r>
              <a:rPr lang="en-US" dirty="0"/>
              <a:t>Domain Model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предметную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b="1" dirty="0"/>
              <a:t>.</a:t>
            </a:r>
            <a:endParaRPr lang="en-US" dirty="0"/>
          </a:p>
          <a:p>
            <a:r>
              <a:rPr lang="en-US" b="1" dirty="0"/>
              <a:t>SRP: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отдельную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437B902-10B5-3AB4-4C84-99EBEAEC74B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1807885"/>
            <a:ext cx="5181600" cy="32422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90752D-D55C-0D9D-C95C-F8BD37629246}"/>
              </a:ext>
            </a:extLst>
          </p:cNvPr>
          <p:cNvSpPr txBox="1"/>
          <p:nvPr/>
        </p:nvSpPr>
        <p:spPr>
          <a:xfrm>
            <a:off x="838200" y="1807885"/>
            <a:ext cx="5181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DrawingRenderer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  sf::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RenderTarget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0132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C0A5E95-CF55-E7F1-0D2C-E6FCCF841326}"/>
              </a:ext>
            </a:extLst>
          </p:cNvPr>
          <p:cNvSpPr txBox="1"/>
          <p:nvPr/>
        </p:nvSpPr>
        <p:spPr>
          <a:xfrm>
            <a:off x="838200" y="1816924"/>
            <a:ext cx="80801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DrawingRenderer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sf::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RenderTarget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GetShapeCount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++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Рисуем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прямоугольник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}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Ellipse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Рисуем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эллипс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}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dynamic_cast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Рисуем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треугольник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6D0318-303D-3947-8AFC-D77F71F09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А </a:t>
            </a:r>
            <a:r>
              <a:rPr lang="en-US" dirty="0" err="1"/>
              <a:t>как</a:t>
            </a:r>
            <a:r>
              <a:rPr lang="en-US" dirty="0"/>
              <a:t> Renderer </a:t>
            </a:r>
            <a:r>
              <a:rPr lang="en-US" dirty="0" err="1"/>
              <a:t>узнает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?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2C26E48-A821-C2F5-64F8-2C5AE8398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9445" y="4851400"/>
            <a:ext cx="8824356" cy="1557462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убрали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Domain Model,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стоимость</a:t>
            </a:r>
            <a:r>
              <a:rPr lang="en-US" dirty="0"/>
              <a:t> </a:t>
            </a:r>
            <a:r>
              <a:rPr lang="en-US" dirty="0" err="1"/>
              <a:t>расширения</a:t>
            </a:r>
            <a:r>
              <a:rPr lang="en-US" dirty="0"/>
              <a:t> </a:t>
            </a:r>
            <a:r>
              <a:rPr lang="en-US" dirty="0" err="1"/>
              <a:t>переместилась</a:t>
            </a:r>
            <a:r>
              <a:rPr lang="en-US" dirty="0"/>
              <a:t> в Renderer.</a:t>
            </a:r>
          </a:p>
          <a:p>
            <a:r>
              <a:rPr lang="en-US" b="1" dirty="0"/>
              <a:t>OCP:</a:t>
            </a:r>
            <a:r>
              <a:rPr lang="en-US" dirty="0"/>
              <a:t> </a:t>
            </a:r>
            <a:r>
              <a:rPr lang="en-US" dirty="0" err="1"/>
              <a:t>легко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добавлять</a:t>
            </a:r>
            <a:r>
              <a:rPr lang="en-US" dirty="0"/>
              <a:t> </a:t>
            </a:r>
            <a:r>
              <a:rPr lang="en-US" dirty="0" err="1"/>
              <a:t>новые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?</a:t>
            </a:r>
          </a:p>
          <a:p>
            <a:r>
              <a:rPr lang="en-US" b="1" dirty="0" err="1"/>
              <a:t>Архитектура</a:t>
            </a:r>
            <a:r>
              <a:rPr lang="en-US" b="1" dirty="0"/>
              <a:t> </a:t>
            </a:r>
            <a:r>
              <a:rPr lang="en-US" b="1" dirty="0" err="1"/>
              <a:t>не</a:t>
            </a:r>
            <a:r>
              <a:rPr lang="en-US" b="1" dirty="0"/>
              <a:t> </a:t>
            </a:r>
            <a:r>
              <a:rPr lang="en-US" b="1" dirty="0" err="1"/>
              <a:t>уничтожает</a:t>
            </a:r>
            <a:r>
              <a:rPr lang="en-US" b="1" dirty="0"/>
              <a:t> </a:t>
            </a:r>
            <a:r>
              <a:rPr lang="en-US" b="1" dirty="0" err="1"/>
              <a:t>стоимость</a:t>
            </a:r>
            <a:r>
              <a:rPr lang="en-US" b="1" dirty="0"/>
              <a:t> </a:t>
            </a:r>
            <a:r>
              <a:rPr lang="en-US" b="1" dirty="0" err="1"/>
              <a:t>изменений</a:t>
            </a:r>
            <a:r>
              <a:rPr lang="en-US" b="1" dirty="0"/>
              <a:t> — </a:t>
            </a:r>
            <a:r>
              <a:rPr lang="en-US" b="1" dirty="0" err="1"/>
              <a:t>она</a:t>
            </a:r>
            <a:r>
              <a:rPr lang="en-US" b="1" dirty="0"/>
              <a:t> </a:t>
            </a:r>
            <a:r>
              <a:rPr lang="en-US" b="1" dirty="0" err="1"/>
              <a:t>перераспределяет</a:t>
            </a:r>
            <a:r>
              <a:rPr lang="en-US" b="1" dirty="0"/>
              <a:t> </a:t>
            </a:r>
            <a:r>
              <a:rPr lang="en-US" b="1" dirty="0" err="1"/>
              <a:t>её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609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2572E-49DF-B513-CE44-234077A6B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Добавляем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мышью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633C6-F279-5525-EB13-34F33F15F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8935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16EFA86-135D-FA2D-2949-A351FE100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Новое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: </a:t>
            </a:r>
            <a:r>
              <a:rPr lang="en-US" dirty="0" err="1"/>
              <a:t>выбрать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мышью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7C2B298-7D4F-B31B-822C-CAEA2292A7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щелчка</a:t>
            </a:r>
            <a:r>
              <a:rPr lang="en-US" dirty="0"/>
              <a:t> </a:t>
            </a:r>
            <a:r>
              <a:rPr lang="en-US" dirty="0" err="1"/>
              <a:t>выбранная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визуально</a:t>
            </a:r>
            <a:r>
              <a:rPr lang="en-US" dirty="0"/>
              <a:t> </a:t>
            </a:r>
            <a:r>
              <a:rPr lang="en-US" dirty="0" err="1"/>
              <a:t>выделен</a:t>
            </a:r>
            <a:r>
              <a:rPr lang="ru-RU" dirty="0"/>
              <a:t>а</a:t>
            </a:r>
          </a:p>
          <a:p>
            <a:pPr lvl="1"/>
            <a:r>
              <a:rPr lang="ru-RU" dirty="0"/>
              <a:t>Пока </a:t>
            </a:r>
            <a:r>
              <a:rPr lang="en-US" dirty="0"/>
              <a:t>drag and drop</a:t>
            </a:r>
            <a:endParaRPr lang="ru-RU" dirty="0"/>
          </a:p>
          <a:p>
            <a:r>
              <a:rPr lang="en-US" dirty="0"/>
              <a:t>SFML</a:t>
            </a:r>
            <a:r>
              <a:rPr lang="ru-RU" dirty="0"/>
              <a:t> сообщает о действиях мыши</a:t>
            </a:r>
          </a:p>
          <a:p>
            <a:r>
              <a:rPr lang="ru-RU" dirty="0"/>
              <a:t>Фигуры, по которым щёлкает пользователь, находятся в доменной модели</a:t>
            </a:r>
            <a:endParaRPr lang="en-US" dirty="0"/>
          </a:p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связать</a:t>
            </a:r>
            <a:r>
              <a:rPr lang="en-US" dirty="0"/>
              <a:t> </a:t>
            </a:r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dirty="0" err="1"/>
              <a:t>мыши</a:t>
            </a:r>
            <a:r>
              <a:rPr lang="en-US" dirty="0"/>
              <a:t> с </a:t>
            </a:r>
            <a:r>
              <a:rPr lang="en-US" dirty="0" err="1"/>
              <a:t>объектом</a:t>
            </a:r>
            <a:r>
              <a:rPr lang="en-US" dirty="0"/>
              <a:t> Domain Model?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91252EB-FFDA-2C1E-5922-161973E8EEE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994382"/>
            <a:ext cx="5181600" cy="2013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215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BFEF-31B9-CAF1-B9D2-A724934DE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SFML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координаты</a:t>
            </a:r>
            <a:r>
              <a:rPr lang="en-US" dirty="0"/>
              <a:t> </a:t>
            </a:r>
            <a:r>
              <a:rPr lang="ru-RU" dirty="0"/>
              <a:t>мыши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наши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BE080-9E98-BC41-94C0-CD02C3E6FF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926543"/>
          </a:xfrm>
        </p:spPr>
        <p:txBody>
          <a:bodyPr/>
          <a:lstStyle/>
          <a:p>
            <a:r>
              <a:rPr lang="en-US" dirty="0"/>
              <a:t>SFML </a:t>
            </a:r>
            <a:r>
              <a:rPr lang="ru-RU" dirty="0"/>
              <a:t>сообщает о событии нажатия кнопки мыши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E745BB-6032-04F5-B276-C4C3E9CC63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4999512"/>
            <a:ext cx="10515600" cy="1177451"/>
          </a:xfrm>
        </p:spPr>
        <p:txBody>
          <a:bodyPr/>
          <a:lstStyle/>
          <a:p>
            <a:r>
              <a:rPr lang="ru-RU" dirty="0"/>
              <a:t>Как определить объект рисунка, находящийся в заданной точке</a:t>
            </a:r>
            <a:r>
              <a:rPr lang="en-US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22CEEB-40CF-04FD-15D7-1676FCC02284}"/>
              </a:ext>
            </a:extLst>
          </p:cNvPr>
          <p:cNvSpPr txBox="1"/>
          <p:nvPr/>
        </p:nvSpPr>
        <p:spPr>
          <a:xfrm>
            <a:off x="838200" y="2752168"/>
            <a:ext cx="846017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mouseButtonPressed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&lt;sf::Event::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MouseButtonPressed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&gt;())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mousePosition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sf::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Vector2f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mouseButtonPressed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mouseButtonPressed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Найти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фигуру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на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которую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нажали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C3AA30-DC2E-E83C-3A4E-C84E9A09B4BC}"/>
              </a:ext>
            </a:extLst>
          </p:cNvPr>
          <p:cNvSpPr txBox="1"/>
          <p:nvPr/>
        </p:nvSpPr>
        <p:spPr>
          <a:xfrm>
            <a:off x="7386453" y="3458321"/>
            <a:ext cx="4393870" cy="1541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Point2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ToPoint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(sf::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Vector2i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position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.</a:t>
            </a:r>
            <a:r>
              <a:rPr lang="en-US" sz="1400" dirty="0">
                <a:solidFill>
                  <a:srgbClr val="1F377F"/>
                </a:solidFill>
                <a:latin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float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position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),</a:t>
            </a:r>
          </a:p>
          <a:p>
            <a:pPr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.</a:t>
            </a:r>
            <a:r>
              <a:rPr lang="en-US" sz="1400" dirty="0">
                <a:solidFill>
                  <a:srgbClr val="1F377F"/>
                </a:solidFill>
                <a:latin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float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position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};</a:t>
            </a:r>
          </a:p>
          <a:p>
            <a:pPr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24067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F309A-184C-E47E-0165-91A3354A7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Какая</a:t>
            </a:r>
            <a:r>
              <a:rPr lang="en-US" dirty="0"/>
              <a:t> </a:t>
            </a:r>
            <a:r>
              <a:rPr lang="en-US" dirty="0" err="1"/>
              <a:t>фигура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точке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98AE7-D776-0DF9-054B-A4EFCF05F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r>
              <a:rPr lang="ru-RU" dirty="0"/>
              <a:t>У фигуры есть метод </a:t>
            </a:r>
            <a:r>
              <a:rPr lang="en-US" dirty="0" err="1"/>
              <a:t>HitTest</a:t>
            </a:r>
            <a:endParaRPr lang="en-US" dirty="0"/>
          </a:p>
          <a:p>
            <a:r>
              <a:rPr lang="ru-RU" dirty="0"/>
              <a:t>Рисунок содержит несколько фигур</a:t>
            </a:r>
            <a:endParaRPr lang="en-US" dirty="0"/>
          </a:p>
          <a:p>
            <a:pPr lvl="1"/>
            <a:r>
              <a:rPr lang="ru-RU" dirty="0"/>
              <a:t>Если точка принадлежит нескольким фигурам, выбираем ближайшую к зрителю</a:t>
            </a:r>
            <a:endParaRPr lang="en-US" dirty="0"/>
          </a:p>
          <a:p>
            <a:r>
              <a:rPr lang="en-US" dirty="0"/>
              <a:t>Drawing </a:t>
            </a:r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 и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искать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с </a:t>
            </a:r>
            <a:r>
              <a:rPr lang="en-US" dirty="0" err="1"/>
              <a:t>учётом</a:t>
            </a:r>
            <a:r>
              <a:rPr lang="en-US" dirty="0"/>
              <a:t> z-order.</a:t>
            </a:r>
            <a:endParaRPr lang="ru-RU" dirty="0"/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65B7C4-40D5-B82C-F7E2-4D2997124F9A}"/>
              </a:ext>
            </a:extLst>
          </p:cNvPr>
          <p:cNvSpPr txBox="1"/>
          <p:nvPr/>
        </p:nvSpPr>
        <p:spPr>
          <a:xfrm>
            <a:off x="6096000" y="1804677"/>
            <a:ext cx="6096000" cy="3248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IShape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public: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~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IShape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virtual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HitTest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Point2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400" b="0" dirty="0">
              <a:solidFill>
                <a:srgbClr val="2B91A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Drawing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FindShapeAt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m_shapes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 std::views::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reverse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HitTest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40986910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BF7D-1218-8B60-F1A3-3179C0E2A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Обработаем</a:t>
            </a:r>
            <a:r>
              <a:rPr lang="en-US" dirty="0"/>
              <a:t>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прямо</a:t>
            </a:r>
            <a:r>
              <a:rPr lang="en-US" dirty="0"/>
              <a:t> в 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58B11-0DBB-C261-ECAD-558DE3F17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99992"/>
            <a:ext cx="10515600" cy="67697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KISS/YAGNI: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выделяем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увидим</a:t>
            </a:r>
            <a:r>
              <a:rPr lang="en-US" dirty="0"/>
              <a:t> </a:t>
            </a:r>
            <a:r>
              <a:rPr lang="en-US" dirty="0" err="1"/>
              <a:t>необходимость</a:t>
            </a:r>
            <a:r>
              <a:rPr lang="en-US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7F2DF8-87DA-BF58-B4B7-93DC71569B21}"/>
              </a:ext>
            </a:extLst>
          </p:cNvPr>
          <p:cNvSpPr txBox="1"/>
          <p:nvPr/>
        </p:nvSpPr>
        <p:spPr>
          <a:xfrm>
            <a:off x="838200" y="1825625"/>
            <a:ext cx="105156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selectedShape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1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isOpen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pollEvent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-&gt;is&lt;sf::Event::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Closed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&gt;())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mouseButtonPressed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4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getIf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&lt;sf::Event::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MouseButtonPressed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&gt;()) {</a:t>
            </a:r>
          </a:p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ToPoint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mouseButtonPressed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-&gt;position);</a:t>
            </a:r>
          </a:p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selectedShape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FindShapeAt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renderer.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1" dirty="0" err="1">
                <a:solidFill>
                  <a:srgbClr val="1F377F"/>
                </a:solidFill>
                <a:latin typeface="Consolas" panose="020B0609020204030204" pitchFamily="49" charset="0"/>
              </a:rPr>
              <a:t>selectedShape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window.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display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80534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E4474-6E21-27B7-E03C-CE791B6EE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dirty="0" err="1"/>
              <a:t>закончилось</a:t>
            </a:r>
            <a:r>
              <a:rPr lang="en-US" dirty="0"/>
              <a:t>, а </a:t>
            </a:r>
            <a:r>
              <a:rPr lang="en-US" dirty="0" err="1"/>
              <a:t>выбор</a:t>
            </a:r>
            <a:r>
              <a:rPr lang="en-US" dirty="0"/>
              <a:t> </a:t>
            </a:r>
            <a:r>
              <a:rPr lang="en-US" dirty="0" err="1"/>
              <a:t>остался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657AD62-BA7C-F4EA-E932-F453B1F9CD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9883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 </a:t>
            </a:r>
            <a:r>
              <a:rPr lang="en-US" dirty="0" err="1"/>
              <a:t>принадлежит</a:t>
            </a:r>
            <a:r>
              <a:rPr lang="en-US" dirty="0"/>
              <a:t> Domain Model</a:t>
            </a:r>
            <a:endParaRPr lang="ru-RU" dirty="0"/>
          </a:p>
          <a:p>
            <a:pPr lvl="1"/>
            <a:r>
              <a:rPr lang="ru-RU" dirty="0"/>
              <a:t>Кроме рисунка появляется </a:t>
            </a:r>
            <a:r>
              <a:rPr lang="ru-RU" b="1" dirty="0"/>
              <a:t>состояние редактирования</a:t>
            </a:r>
            <a:endParaRPr lang="ru-RU" dirty="0"/>
          </a:p>
          <a:p>
            <a:pPr lvl="2"/>
            <a:r>
              <a:rPr lang="ru-RU" dirty="0"/>
              <a:t>Выделенная фигура, текущее время, активный инструмент редактирования</a:t>
            </a:r>
          </a:p>
          <a:p>
            <a:pPr lvl="1"/>
            <a:r>
              <a:rPr lang="ru-RU" dirty="0"/>
              <a:t>Часть состояния принадлежит отдельному представлению</a:t>
            </a:r>
          </a:p>
          <a:p>
            <a:pPr lvl="2"/>
            <a:r>
              <a:rPr lang="ru-RU" dirty="0"/>
              <a:t>Масштаб холста и порт просмотра</a:t>
            </a:r>
          </a:p>
          <a:p>
            <a:pPr lvl="2"/>
            <a:r>
              <a:rPr lang="ru-RU" dirty="0"/>
              <a:t>Позиция полосы прокрутки, масштаб временной шкалы</a:t>
            </a:r>
          </a:p>
          <a:p>
            <a:r>
              <a:rPr lang="en-US" dirty="0" err="1"/>
              <a:t>Место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смыслом</a:t>
            </a:r>
            <a:r>
              <a:rPr lang="en-US" dirty="0"/>
              <a:t> и </a:t>
            </a:r>
            <a:r>
              <a:rPr lang="en-US" dirty="0" err="1"/>
              <a:t>областью</a:t>
            </a:r>
            <a:r>
              <a:rPr lang="en-US" dirty="0"/>
              <a:t> </a:t>
            </a:r>
            <a:r>
              <a:rPr lang="en-US" dirty="0" err="1"/>
              <a:t>совместного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.</a:t>
            </a:r>
            <a:endParaRPr lang="ru-RU" dirty="0"/>
          </a:p>
          <a:p>
            <a:r>
              <a:rPr lang="en-US" dirty="0"/>
              <a:t>KISS/YAGNI</a:t>
            </a:r>
            <a:r>
              <a:rPr lang="ru-RU" dirty="0"/>
              <a:t> не запрещают размышлять о границах ответственности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3DA65DE-8791-1EFC-7DE1-3FB490C752E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2068" y="1825625"/>
            <a:ext cx="237173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192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2EE5E-C11B-740C-FEAB-CC3D85667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?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EE99D9-138B-A3F2-5CE0-BD8DE4B5D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1152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6C2BA2-8459-71EA-1C35-7A47704C2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У </a:t>
            </a:r>
            <a:r>
              <a:rPr lang="en-US" dirty="0" err="1"/>
              <a:t>редактора</a:t>
            </a:r>
            <a:r>
              <a:rPr lang="en-US" dirty="0"/>
              <a:t> </a:t>
            </a:r>
            <a:r>
              <a:rPr lang="en-US" dirty="0" err="1"/>
              <a:t>появилось</a:t>
            </a:r>
            <a:r>
              <a:rPr lang="en-US" dirty="0"/>
              <a:t> </a:t>
            </a:r>
            <a:r>
              <a:rPr lang="en-US" dirty="0" err="1"/>
              <a:t>новое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562FAE-D523-159D-3643-A8948DBB5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Раньше состояние приложения находилось в </a:t>
            </a:r>
            <a:r>
              <a:rPr lang="en-US" dirty="0"/>
              <a:t>Drawing</a:t>
            </a:r>
            <a:r>
              <a:rPr lang="ru-RU" dirty="0"/>
              <a:t> и фигурах</a:t>
            </a:r>
          </a:p>
          <a:p>
            <a:r>
              <a:rPr lang="ru-RU" dirty="0"/>
              <a:t>Как только мы добавили выбор фигуры, в программе появилась новая переменная</a:t>
            </a:r>
            <a:endParaRPr lang="en-US" dirty="0"/>
          </a:p>
          <a:p>
            <a:pPr lvl="1"/>
            <a:r>
              <a:rPr lang="en-US" dirty="0"/>
              <a:t>const </a:t>
            </a:r>
            <a:r>
              <a:rPr lang="en-US" dirty="0" err="1"/>
              <a:t>IShape</a:t>
            </a:r>
            <a:r>
              <a:rPr lang="en-US" dirty="0"/>
              <a:t>* </a:t>
            </a:r>
            <a:r>
              <a:rPr lang="en-US" dirty="0" err="1"/>
              <a:t>selectedShape</a:t>
            </a:r>
            <a:endParaRPr lang="en-US" dirty="0"/>
          </a:p>
          <a:p>
            <a:r>
              <a:rPr lang="en-US" dirty="0" err="1"/>
              <a:t>Скоро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появиться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При перетаскивании</a:t>
            </a:r>
            <a:r>
              <a:rPr lang="en-US" dirty="0"/>
              <a:t>: </a:t>
            </a:r>
            <a:r>
              <a:rPr lang="en-US" dirty="0" err="1"/>
              <a:t>isDragging</a:t>
            </a:r>
            <a:r>
              <a:rPr lang="en-US" dirty="0"/>
              <a:t>, </a:t>
            </a:r>
            <a:r>
              <a:rPr lang="en-US" dirty="0" err="1"/>
              <a:t>grabOffset</a:t>
            </a:r>
            <a:endParaRPr lang="en-US" dirty="0"/>
          </a:p>
          <a:p>
            <a:pPr lvl="1"/>
            <a:r>
              <a:rPr lang="ru-RU" dirty="0"/>
              <a:t>Для создания мышью: </a:t>
            </a:r>
            <a:r>
              <a:rPr lang="en-US" dirty="0" err="1"/>
              <a:t>activeTool</a:t>
            </a:r>
            <a:endParaRPr lang="ru-RU" dirty="0"/>
          </a:p>
          <a:p>
            <a:pPr lvl="1"/>
            <a:r>
              <a:rPr lang="ru-RU" dirty="0"/>
              <a:t>При поддержке анимаций: </a:t>
            </a:r>
            <a:r>
              <a:rPr lang="en-US" dirty="0" err="1"/>
              <a:t>currentTime</a:t>
            </a:r>
            <a:endParaRPr lang="en-US" dirty="0"/>
          </a:p>
          <a:p>
            <a:r>
              <a:rPr lang="ru-RU" dirty="0"/>
              <a:t>К какой части программы относится это состояние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Рисунок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Состояние работы пользователя с рисунком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491860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22458-CD43-68BC-6154-6184C0C53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ru-RU" dirty="0"/>
              <a:t>бы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поместить</a:t>
            </a:r>
            <a:r>
              <a:rPr lang="en-US" dirty="0"/>
              <a:t> </a:t>
            </a:r>
            <a:r>
              <a:rPr lang="ru-RU" dirty="0"/>
              <a:t>информацию</a:t>
            </a:r>
            <a:r>
              <a:rPr lang="en-US" dirty="0"/>
              <a:t> </a:t>
            </a:r>
            <a:r>
              <a:rPr lang="ru-RU" dirty="0"/>
              <a:t>о выделении </a:t>
            </a:r>
            <a:r>
              <a:rPr lang="en-US" dirty="0"/>
              <a:t>в Domain Model?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E04EC-A132-349C-1A31-DAD0C4902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60886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, </a:t>
            </a:r>
            <a:r>
              <a:rPr lang="en-US" b="1" dirty="0"/>
              <a:t>selected</a:t>
            </a:r>
            <a:r>
              <a:rPr lang="en-US" dirty="0"/>
              <a:t> — </a:t>
            </a:r>
            <a:r>
              <a:rPr lang="en-US" dirty="0" err="1"/>
              <a:t>свойство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?</a:t>
            </a:r>
            <a:endParaRPr lang="ru-RU" dirty="0"/>
          </a:p>
          <a:p>
            <a:r>
              <a:rPr lang="ru-RU" dirty="0"/>
              <a:t>Проверяем гипотезу</a:t>
            </a:r>
            <a:endParaRPr lang="en-US" dirty="0"/>
          </a:p>
          <a:p>
            <a:pPr lvl="1"/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сохранять</a:t>
            </a:r>
            <a:r>
              <a:rPr lang="en-US" dirty="0"/>
              <a:t> selected </a:t>
            </a:r>
            <a:r>
              <a:rPr lang="en-US" dirty="0" err="1"/>
              <a:t>вместе</a:t>
            </a:r>
            <a:r>
              <a:rPr lang="en-US" dirty="0"/>
              <a:t> с </a:t>
            </a:r>
            <a:r>
              <a:rPr lang="en-US" dirty="0" err="1"/>
              <a:t>рисунком</a:t>
            </a:r>
            <a:r>
              <a:rPr lang="en-US" dirty="0"/>
              <a:t>?</a:t>
            </a:r>
          </a:p>
          <a:p>
            <a:pPr lvl="1"/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ru-RU" dirty="0"/>
              <a:t>, где редактируется</a:t>
            </a:r>
            <a:r>
              <a:rPr lang="en-US" dirty="0"/>
              <a:t> Drawing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одинаковое</a:t>
            </a:r>
            <a:r>
              <a:rPr lang="en-US" dirty="0"/>
              <a:t> </a:t>
            </a:r>
            <a:r>
              <a:rPr lang="en-US" dirty="0" err="1"/>
              <a:t>выделение</a:t>
            </a:r>
            <a:r>
              <a:rPr lang="en-US" dirty="0"/>
              <a:t>?</a:t>
            </a:r>
            <a:endParaRPr lang="ru-RU" dirty="0"/>
          </a:p>
          <a:p>
            <a:r>
              <a:rPr lang="en-US" b="1" dirty="0" err="1"/>
              <a:t>selectedShape</a:t>
            </a:r>
            <a:r>
              <a:rPr lang="ru-RU" dirty="0"/>
              <a:t> характеризует текущий контекст работы с рисунком</a:t>
            </a:r>
          </a:p>
          <a:p>
            <a:r>
              <a:rPr lang="en-US" b="1" dirty="0"/>
              <a:t>SRP: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рисунка</a:t>
            </a:r>
            <a:r>
              <a:rPr lang="en-US" dirty="0"/>
              <a:t> и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редактирования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причины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0EB74D-664B-30B5-5BA2-BFE80462CDE8}"/>
              </a:ext>
            </a:extLst>
          </p:cNvPr>
          <p:cNvSpPr txBox="1"/>
          <p:nvPr/>
        </p:nvSpPr>
        <p:spPr>
          <a:xfrm>
            <a:off x="7199086" y="1825625"/>
            <a:ext cx="489131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IsSelected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SetSelected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selected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92824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82368-3356-DA12-EF15-0A628B30A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общей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C78AA3-7A77-F3F9-E4B8-9EEDD192B7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942944" cy="4351338"/>
          </a:xfrm>
        </p:spPr>
        <p:txBody>
          <a:bodyPr>
            <a:normAutofit/>
          </a:bodyPr>
          <a:lstStyle/>
          <a:p>
            <a:r>
              <a:rPr lang="en-US" dirty="0"/>
              <a:t>В </a:t>
            </a:r>
            <a:r>
              <a:rPr lang="en-US" dirty="0" err="1"/>
              <a:t>одном</a:t>
            </a:r>
            <a:r>
              <a:rPr lang="en-US" dirty="0"/>
              <a:t> </a:t>
            </a:r>
            <a:r>
              <a:rPr lang="en-US" dirty="0" err="1"/>
              <a:t>окне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Общее для нескольких представление:</a:t>
            </a:r>
          </a:p>
          <a:p>
            <a:pPr lvl="2"/>
            <a:r>
              <a:rPr lang="ru-RU" dirty="0"/>
              <a:t>Выделение</a:t>
            </a:r>
          </a:p>
          <a:p>
            <a:pPr lvl="2"/>
            <a:r>
              <a:rPr lang="ru-RU" dirty="0"/>
              <a:t>Текущее время</a:t>
            </a:r>
          </a:p>
          <a:p>
            <a:pPr lvl="1"/>
            <a:r>
              <a:rPr lang="ru-RU" dirty="0"/>
              <a:t>Локальное для каждого</a:t>
            </a:r>
          </a:p>
          <a:p>
            <a:pPr lvl="2"/>
            <a:r>
              <a:rPr lang="ru-RU" dirty="0"/>
              <a:t>Масштаб и видимая область холста</a:t>
            </a:r>
          </a:p>
          <a:p>
            <a:pPr lvl="2"/>
            <a:r>
              <a:rPr lang="ru-RU" dirty="0"/>
              <a:t>Масштаб временной шкалы и положение</a:t>
            </a:r>
          </a:p>
          <a:p>
            <a:r>
              <a:rPr lang="ru-RU" dirty="0"/>
              <a:t>Что должно изменяться вместе, а что – независимо</a:t>
            </a:r>
            <a:r>
              <a:rPr lang="en-US" dirty="0"/>
              <a:t>?</a:t>
            </a:r>
          </a:p>
        </p:txBody>
      </p:sp>
      <p:pic>
        <p:nvPicPr>
          <p:cNvPr id="6" name="Content Placeholder 13">
            <a:extLst>
              <a:ext uri="{FF2B5EF4-FFF2-40B4-BE49-F238E27FC236}">
                <a16:creationId xmlns:a16="http://schemas.microsoft.com/office/drawing/2014/main" id="{05B928F4-D850-6E03-B1D4-4F7B96BB48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2068" y="1825625"/>
            <a:ext cx="237173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273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59B3B-B298-7B1B-05DB-32B598AEA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жизни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8AF532-E01B-F783-23D8-1DC709953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Состояние рисунка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фигуры, геометрия, </a:t>
            </a:r>
            <a:r>
              <a:rPr lang="en-US" dirty="0"/>
              <a:t>z-order, </a:t>
            </a:r>
            <a:r>
              <a:rPr lang="ru-RU" dirty="0"/>
              <a:t>время появления и исчезновения</a:t>
            </a:r>
          </a:p>
          <a:p>
            <a:r>
              <a:rPr lang="ru-RU" dirty="0"/>
              <a:t>Состояние редактирования</a:t>
            </a:r>
          </a:p>
          <a:p>
            <a:pPr lvl="1"/>
            <a:r>
              <a:rPr lang="ru-RU" dirty="0"/>
              <a:t>Выбранная фигура, текущее время, активный инструмент</a:t>
            </a:r>
          </a:p>
          <a:p>
            <a:r>
              <a:rPr lang="ru-RU" dirty="0"/>
              <a:t>Локальное состояние интерфейса</a:t>
            </a:r>
          </a:p>
          <a:p>
            <a:pPr lvl="1"/>
            <a:r>
              <a:rPr lang="ru-RU" dirty="0"/>
              <a:t>Холст: масштаб</a:t>
            </a:r>
            <a:r>
              <a:rPr lang="en-US" dirty="0"/>
              <a:t>, </a:t>
            </a:r>
            <a:r>
              <a:rPr lang="ru-RU" dirty="0"/>
              <a:t>видимая область</a:t>
            </a:r>
            <a:endParaRPr lang="en-US" dirty="0"/>
          </a:p>
          <a:p>
            <a:pPr lvl="1"/>
            <a:r>
              <a:rPr lang="ru-RU" dirty="0"/>
              <a:t>Таймлайн: масштаб отображения времени, позиция прокрутки</a:t>
            </a:r>
          </a:p>
          <a:p>
            <a:r>
              <a:rPr lang="en-US" dirty="0" err="1"/>
              <a:t>Место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смыслом</a:t>
            </a:r>
            <a:r>
              <a:rPr lang="en-US" dirty="0"/>
              <a:t> и </a:t>
            </a:r>
            <a:r>
              <a:rPr lang="en-US" dirty="0" err="1"/>
              <a:t>областью</a:t>
            </a:r>
            <a:r>
              <a:rPr lang="en-US" dirty="0"/>
              <a:t> </a:t>
            </a:r>
            <a:r>
              <a:rPr lang="en-US" dirty="0" err="1"/>
              <a:t>совместного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endParaRPr lang="ru-RU" dirty="0"/>
          </a:p>
          <a:p>
            <a:r>
              <a:rPr lang="en-US" b="1" dirty="0"/>
              <a:t>Cohesion: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 </a:t>
            </a:r>
            <a:r>
              <a:rPr lang="en-US" dirty="0" err="1"/>
              <a:t>стоит</a:t>
            </a:r>
            <a:r>
              <a:rPr lang="en-US" dirty="0"/>
              <a:t> </a:t>
            </a:r>
            <a:r>
              <a:rPr lang="en-US" dirty="0" err="1"/>
              <a:t>хранить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относится</a:t>
            </a:r>
            <a:r>
              <a:rPr lang="en-US" dirty="0"/>
              <a:t> к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роли</a:t>
            </a:r>
            <a:r>
              <a:rPr lang="en-US" dirty="0"/>
              <a:t> и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связанным</a:t>
            </a:r>
            <a:r>
              <a:rPr lang="en-US" dirty="0"/>
              <a:t> </a:t>
            </a:r>
            <a:r>
              <a:rPr lang="en-US" dirty="0" err="1"/>
              <a:t>причинам</a:t>
            </a:r>
            <a:r>
              <a:rPr lang="en-US" dirty="0"/>
              <a:t>.</a:t>
            </a:r>
            <a:endParaRPr lang="ru-RU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5563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F4955-2706-8667-DF91-8E9EE7293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границу</a:t>
            </a:r>
            <a:r>
              <a:rPr lang="en-US" dirty="0"/>
              <a:t>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значит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класс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E5051-0BA0-9C71-36D6-C70F1D819F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838371" cy="4351338"/>
          </a:xfrm>
        </p:spPr>
        <p:txBody>
          <a:bodyPr>
            <a:normAutofit/>
          </a:bodyPr>
          <a:lstStyle/>
          <a:p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нам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EditorSession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Хранит выбранную фигуру, текущий момент времени, инструмент и прочее.</a:t>
            </a:r>
          </a:p>
          <a:p>
            <a:r>
              <a:rPr lang="en-US" b="1" dirty="0"/>
              <a:t>KISS/YAGNI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 ≠ </a:t>
            </a:r>
            <a:r>
              <a:rPr lang="en-US" dirty="0" err="1"/>
              <a:t>немедленно</a:t>
            </a:r>
            <a:r>
              <a:rPr lang="en-US" dirty="0"/>
              <a:t> </a:t>
            </a:r>
            <a:r>
              <a:rPr lang="en-US" dirty="0" err="1"/>
              <a:t>создавать</a:t>
            </a:r>
            <a:r>
              <a:rPr lang="en-US" dirty="0"/>
              <a:t> </a:t>
            </a:r>
            <a:r>
              <a:rPr lang="en-US" dirty="0" err="1"/>
              <a:t>абстракцию</a:t>
            </a:r>
            <a:r>
              <a:rPr lang="en-US" dirty="0"/>
              <a:t>.</a:t>
            </a:r>
            <a:endParaRPr lang="ru-RU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перерастёт</a:t>
            </a:r>
            <a:r>
              <a:rPr lang="en-US" dirty="0"/>
              <a:t> </a:t>
            </a:r>
            <a:r>
              <a:rPr lang="ru-RU" dirty="0"/>
              <a:t>функцию </a:t>
            </a:r>
            <a:r>
              <a:rPr lang="en-US" dirty="0"/>
              <a:t>main?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BFD9A6-9F39-9E55-F2EA-878D465D0FBC}"/>
              </a:ext>
            </a:extLst>
          </p:cNvPr>
          <p:cNvSpPr txBox="1"/>
          <p:nvPr/>
        </p:nvSpPr>
        <p:spPr>
          <a:xfrm>
            <a:off x="6865256" y="1825625"/>
            <a:ext cx="44885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EditorSession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GetSelectedShape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GetCurrentTime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// ...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m_selectedShape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m_currentTime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650455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A867A-5EC9-6159-F983-50FDF4D3C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интерпретирует</a:t>
            </a:r>
            <a:r>
              <a:rPr lang="en-US" dirty="0"/>
              <a:t> </a:t>
            </a:r>
            <a:r>
              <a:rPr lang="en-US" dirty="0" err="1"/>
              <a:t>пользовательский</a:t>
            </a:r>
            <a:r>
              <a:rPr lang="en-US" dirty="0"/>
              <a:t> </a:t>
            </a:r>
            <a:r>
              <a:rPr lang="en-US" dirty="0" err="1"/>
              <a:t>ввод</a:t>
            </a:r>
            <a:r>
              <a:rPr lang="en-US" dirty="0"/>
              <a:t>?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F500F-490D-CC89-C849-F83BA92E5A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4703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316320-4093-7A43-6CA6-D12A2683E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действие</a:t>
            </a:r>
            <a:r>
              <a:rPr lang="en-US" dirty="0"/>
              <a:t> —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73A790-4701-1508-3B2C-A211FFBC58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1959572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Новое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: </a:t>
            </a:r>
            <a:r>
              <a:rPr lang="en-US" dirty="0" err="1"/>
              <a:t>перетаскивать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endParaRPr lang="en-US" dirty="0"/>
          </a:p>
          <a:p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действие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п</a:t>
            </a:r>
            <a:r>
              <a:rPr lang="en-US" dirty="0" err="1"/>
              <a:t>еретащить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точки</a:t>
            </a:r>
            <a:r>
              <a:rPr lang="en-US" dirty="0"/>
              <a:t> A в </a:t>
            </a:r>
            <a:r>
              <a:rPr lang="en-US" dirty="0" err="1"/>
              <a:t>точку</a:t>
            </a:r>
            <a:r>
              <a:rPr lang="en-US" dirty="0"/>
              <a:t> B</a:t>
            </a:r>
          </a:p>
          <a:p>
            <a:r>
              <a:rPr lang="en-US" dirty="0"/>
              <a:t>SFML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 err="1"/>
              <a:t>MouseButtonPressed</a:t>
            </a:r>
            <a:r>
              <a:rPr lang="en-US" dirty="0"/>
              <a:t>, MouseMoved, MouseMoved, …, </a:t>
            </a:r>
            <a:r>
              <a:rPr lang="en-US" dirty="0" err="1"/>
              <a:t>MouseButtonReleased</a:t>
            </a:r>
            <a:endParaRPr lang="ru-RU" dirty="0"/>
          </a:p>
          <a:p>
            <a:r>
              <a:rPr lang="en-US" dirty="0" err="1"/>
              <a:t>Событие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 ≠ </a:t>
            </a:r>
            <a:r>
              <a:rPr lang="en-US" dirty="0" err="1"/>
              <a:t>действие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endParaRPr lang="en-US" dirty="0"/>
          </a:p>
          <a:p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0A7AA0F-B668-6438-58D8-265274D19D4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200" y="3920134"/>
            <a:ext cx="5181600" cy="2707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0518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8372C-651F-027B-B1D1-A88FCFAE1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реализуем</a:t>
            </a:r>
            <a:r>
              <a:rPr lang="en-US" dirty="0"/>
              <a:t> drag </a:t>
            </a:r>
            <a:r>
              <a:rPr lang="en-US" dirty="0" err="1"/>
              <a:t>прямо</a:t>
            </a:r>
            <a:r>
              <a:rPr lang="en-US" dirty="0"/>
              <a:t> в main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303AF3-49E8-B546-3A65-2D91A21B5C43}"/>
              </a:ext>
            </a:extLst>
          </p:cNvPr>
          <p:cNvSpPr txBox="1"/>
          <p:nvPr/>
        </p:nvSpPr>
        <p:spPr>
          <a:xfrm>
            <a:off x="682170" y="1690687"/>
            <a:ext cx="11509829" cy="4310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IShape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selectedShape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nullptr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isDragging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lastMousePosition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mouseButtonPressed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&lt;sf::Event::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MouseButtonPressed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mouseButtonPressed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-&gt;position);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selectedShape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FindShapeAt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isDragging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selectedShape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lastMousePosition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else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mouseButtonReleased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&lt;sf::Event::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MouseButtonReleased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isDragging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else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mouseMoved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&lt;sf::Event::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MouseMoved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&gt;();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mouseMoved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isDragging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mouseMoved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-&gt;position);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selectedShape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MoveBy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1F377F"/>
                </a:solidFill>
                <a:latin typeface="Consolas" panose="020B0609020204030204" pitchFamily="49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-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lastMousePosition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lastMousePosition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8538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1E266-BAC6-7DFE-F7E3-4240C3DAB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интерпретировать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8A2FD-3368-B090-6961-A5BF295DDE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MouseMoved </a:t>
            </a:r>
            <a:r>
              <a:rPr lang="ru-RU" dirty="0"/>
              <a:t>может означать</a:t>
            </a:r>
          </a:p>
          <a:p>
            <a:pPr lvl="1"/>
            <a:r>
              <a:rPr lang="ru-RU" dirty="0"/>
              <a:t>Просто перемещение курсора</a:t>
            </a:r>
          </a:p>
          <a:p>
            <a:pPr lvl="1"/>
            <a:r>
              <a:rPr lang="ru-RU" dirty="0"/>
              <a:t>Продолжение </a:t>
            </a:r>
            <a:r>
              <a:rPr lang="en-US" dirty="0"/>
              <a:t>drag</a:t>
            </a:r>
            <a:endParaRPr lang="ru-RU" dirty="0"/>
          </a:p>
          <a:p>
            <a:pPr lvl="1"/>
            <a:r>
              <a:rPr lang="ru-RU" dirty="0"/>
              <a:t>Продолжение </a:t>
            </a:r>
            <a:r>
              <a:rPr lang="en-US" dirty="0"/>
              <a:t>resize</a:t>
            </a:r>
          </a:p>
          <a:p>
            <a:pPr lvl="1"/>
            <a:r>
              <a:rPr lang="ru-RU" dirty="0"/>
              <a:t>Рисование новой фигуры</a:t>
            </a:r>
          </a:p>
          <a:p>
            <a:pPr lvl="1"/>
            <a:r>
              <a:rPr lang="ru-RU" dirty="0"/>
              <a:t>Панорамирование видимой области холста без смены рисунка</a:t>
            </a:r>
          </a:p>
          <a:p>
            <a:pPr lvl="1"/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91F4D-E688-EBFC-260E-4B9D6713245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Смысл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Состояние взаимодействия</a:t>
            </a:r>
          </a:p>
          <a:p>
            <a:pPr lvl="1"/>
            <a:r>
              <a:rPr lang="ru-RU" dirty="0"/>
              <a:t>Активного инструмента</a:t>
            </a:r>
          </a:p>
          <a:p>
            <a:pPr lvl="1"/>
            <a:r>
              <a:rPr lang="ru-RU" dirty="0"/>
              <a:t>Состояния доменной модели</a:t>
            </a:r>
          </a:p>
          <a:p>
            <a:r>
              <a:rPr lang="ru-RU" dirty="0"/>
              <a:t>Новая ответственность:</a:t>
            </a:r>
          </a:p>
          <a:p>
            <a:pPr lvl="1"/>
            <a:r>
              <a:rPr lang="en-US" dirty="0" err="1"/>
              <a:t>Низкоуровневые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 </a:t>
            </a:r>
            <a:r>
              <a:rPr lang="en-US" dirty="0" err="1"/>
              <a:t>превратить</a:t>
            </a:r>
            <a:r>
              <a:rPr lang="en-US" dirty="0"/>
              <a:t> в </a:t>
            </a:r>
            <a:r>
              <a:rPr lang="en-US" dirty="0" err="1"/>
              <a:t>действия</a:t>
            </a:r>
            <a:r>
              <a:rPr lang="en-US" dirty="0"/>
              <a:t> </a:t>
            </a:r>
            <a:r>
              <a:rPr lang="en-US" dirty="0" err="1"/>
              <a:t>редактора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163059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0BAAB-54D2-9D62-1840-9CFDF3038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У main </a:t>
            </a:r>
            <a:r>
              <a:rPr lang="en-US" dirty="0" err="1"/>
              <a:t>появилась</a:t>
            </a:r>
            <a:r>
              <a:rPr lang="en-US" dirty="0"/>
              <a:t> </a:t>
            </a:r>
            <a:r>
              <a:rPr lang="en-US" dirty="0" err="1"/>
              <a:t>новая</a:t>
            </a:r>
            <a:r>
              <a:rPr lang="en-US" dirty="0"/>
              <a:t> </a:t>
            </a:r>
            <a:r>
              <a:rPr lang="en-US" dirty="0" err="1"/>
              <a:t>причина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0E244-4345-DA09-EB0E-62FA3D029B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main?</a:t>
            </a:r>
            <a:endParaRPr lang="ru-RU" dirty="0"/>
          </a:p>
          <a:p>
            <a:pPr lvl="1"/>
            <a:r>
              <a:rPr lang="en-US" dirty="0" err="1"/>
              <a:t>создаёт</a:t>
            </a:r>
            <a:r>
              <a:rPr lang="en-US" dirty="0"/>
              <a:t> </a:t>
            </a:r>
            <a:r>
              <a:rPr lang="en-US" dirty="0" err="1"/>
              <a:t>окно</a:t>
            </a:r>
            <a:r>
              <a:rPr lang="en-US" dirty="0"/>
              <a:t> и </a:t>
            </a:r>
            <a:r>
              <a:rPr lang="en-US" dirty="0" err="1"/>
              <a:t>компоненты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endParaRPr lang="ru-RU" dirty="0"/>
          </a:p>
          <a:p>
            <a:pPr lvl="1"/>
            <a:r>
              <a:rPr lang="en-US" dirty="0" err="1"/>
              <a:t>выполняет</a:t>
            </a:r>
            <a:r>
              <a:rPr lang="en-US" dirty="0"/>
              <a:t> event loop</a:t>
            </a:r>
            <a:endParaRPr lang="ru-RU" dirty="0"/>
          </a:p>
          <a:p>
            <a:pPr lvl="1"/>
            <a:r>
              <a:rPr lang="en-US" dirty="0" err="1"/>
              <a:t>закрывает</a:t>
            </a:r>
            <a:r>
              <a:rPr lang="en-US" dirty="0"/>
              <a:t> </a:t>
            </a:r>
            <a:r>
              <a:rPr lang="en-US" dirty="0" err="1"/>
              <a:t>окно</a:t>
            </a:r>
            <a:endParaRPr lang="ru-RU" dirty="0"/>
          </a:p>
          <a:p>
            <a:pPr lvl="1"/>
            <a:r>
              <a:rPr lang="en-US" dirty="0" err="1"/>
              <a:t>знает</a:t>
            </a:r>
            <a:r>
              <a:rPr lang="en-US" dirty="0"/>
              <a:t> </a:t>
            </a:r>
            <a:r>
              <a:rPr lang="en-US" dirty="0" err="1"/>
              <a:t>правила</a:t>
            </a:r>
            <a:r>
              <a:rPr lang="en-US" dirty="0"/>
              <a:t> </a:t>
            </a:r>
            <a:r>
              <a:rPr lang="en-US" dirty="0" err="1"/>
              <a:t>выбора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endParaRPr lang="ru-RU" dirty="0"/>
          </a:p>
          <a:p>
            <a:pPr lvl="1"/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drag</a:t>
            </a:r>
            <a:endParaRPr lang="ru-RU" dirty="0"/>
          </a:p>
          <a:p>
            <a:pPr lvl="1"/>
            <a:r>
              <a:rPr lang="en-US" dirty="0" err="1"/>
              <a:t>интерпретирует</a:t>
            </a:r>
            <a:r>
              <a:rPr lang="en-US" dirty="0"/>
              <a:t> MouseMoved</a:t>
            </a:r>
            <a:endParaRPr lang="ru-RU" dirty="0"/>
          </a:p>
          <a:p>
            <a:pPr lvl="1"/>
            <a:r>
              <a:rPr lang="en-US" dirty="0" err="1"/>
              <a:t>вычисляет</a:t>
            </a:r>
            <a:r>
              <a:rPr lang="en-US" dirty="0"/>
              <a:t> </a:t>
            </a:r>
            <a:r>
              <a:rPr lang="en-US" dirty="0" err="1"/>
              <a:t>перемещение</a:t>
            </a:r>
            <a:endParaRPr lang="ru-RU" dirty="0"/>
          </a:p>
          <a:p>
            <a:pPr lvl="1"/>
            <a:r>
              <a:rPr lang="en-US" dirty="0" err="1"/>
              <a:t>запускает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20AE48-C963-AECF-DA61-8FC362A1C6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 dirty="0"/>
              <a:t>SRP:</a:t>
            </a:r>
            <a:endParaRPr lang="ru-RU" b="1" dirty="0"/>
          </a:p>
          <a:p>
            <a:pPr lvl="1"/>
            <a:r>
              <a:rPr lang="en-US" dirty="0" err="1"/>
              <a:t>запуск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и </a:t>
            </a:r>
            <a:r>
              <a:rPr lang="en-US" dirty="0" err="1"/>
              <a:t>правила</a:t>
            </a:r>
            <a:r>
              <a:rPr lang="en-US" dirty="0"/>
              <a:t> </a:t>
            </a:r>
            <a:r>
              <a:rPr lang="en-US" dirty="0" err="1"/>
              <a:t>пользовательского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причины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.</a:t>
            </a:r>
            <a:endParaRPr lang="ru-RU" dirty="0"/>
          </a:p>
          <a:p>
            <a:r>
              <a:rPr lang="en-US" dirty="0"/>
              <a:t>Cohesion:</a:t>
            </a:r>
          </a:p>
          <a:p>
            <a:pPr lvl="1"/>
            <a:r>
              <a:rPr lang="en-US" dirty="0" err="1"/>
              <a:t>Обработчики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 и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связаны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923340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0A992-D325-5E97-9D55-AC53BFB09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Выделяем </a:t>
            </a:r>
            <a:r>
              <a:rPr lang="en-US" dirty="0" err="1"/>
              <a:t>интерпретацию</a:t>
            </a:r>
            <a:r>
              <a:rPr lang="en-US" dirty="0"/>
              <a:t> </a:t>
            </a:r>
            <a:r>
              <a:rPr lang="en-US" dirty="0" err="1"/>
              <a:t>ввода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4A3189-C389-37C5-F4B1-393767A79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4026" cy="4351338"/>
          </a:xfrm>
        </p:spPr>
        <p:txBody>
          <a:bodyPr/>
          <a:lstStyle/>
          <a:p>
            <a:r>
              <a:rPr lang="ru-RU" dirty="0"/>
              <a:t>Вынесем ответственность в отдельный компонент</a:t>
            </a:r>
            <a:r>
              <a:rPr lang="en-US" dirty="0"/>
              <a:t> </a:t>
            </a:r>
            <a:r>
              <a:rPr lang="en-US" dirty="0" err="1"/>
              <a:t>EditorController</a:t>
            </a:r>
            <a:endParaRPr lang="ru-RU" dirty="0"/>
          </a:p>
          <a:p>
            <a:pPr lvl="1"/>
            <a:r>
              <a:rPr lang="ru-RU" dirty="0"/>
              <a:t>Хранит состояние для интерпретации событий</a:t>
            </a:r>
          </a:p>
          <a:p>
            <a:pPr lvl="1"/>
            <a:r>
              <a:rPr lang="ru-RU" dirty="0"/>
              <a:t>Инициирует операции на </a:t>
            </a:r>
            <a:r>
              <a:rPr lang="en-US" dirty="0"/>
              <a:t>Drawing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E79305-C30C-8621-56F2-C87E1EDF28EA}"/>
              </a:ext>
            </a:extLst>
          </p:cNvPr>
          <p:cNvSpPr txBox="1"/>
          <p:nvPr/>
        </p:nvSpPr>
        <p:spPr>
          <a:xfrm>
            <a:off x="6239776" y="1825625"/>
            <a:ext cx="511402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EditorController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EditorController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OnMousePressed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OnMouseMoved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OnMouseReleased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GetSelectedShape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m_drawing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m_selectedShape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m_isDragging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m_lastMousePosition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278066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5B9FC-A05F-8900-253B-1CB3EBA4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Выделим 3 группы обязанностей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D9FA9-9B64-1195-9B8E-E3FB311E4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Drawing</a:t>
            </a:r>
            <a:r>
              <a:rPr lang="en-US" dirty="0"/>
              <a:t> </a:t>
            </a:r>
            <a:r>
              <a:rPr lang="ru-RU" dirty="0"/>
              <a:t>и фигуры описывают </a:t>
            </a:r>
            <a:r>
              <a:rPr lang="ru-RU" b="1" dirty="0"/>
              <a:t>состояние</a:t>
            </a:r>
            <a:r>
              <a:rPr lang="ru-RU" dirty="0"/>
              <a:t> предметной области и её </a:t>
            </a:r>
            <a:r>
              <a:rPr lang="ru-RU" b="1" dirty="0"/>
              <a:t>поведение</a:t>
            </a:r>
          </a:p>
          <a:p>
            <a:r>
              <a:rPr lang="en-US" b="1" dirty="0" err="1"/>
              <a:t>DrawingRenderer</a:t>
            </a:r>
            <a:r>
              <a:rPr lang="en-US" dirty="0"/>
              <a:t> </a:t>
            </a:r>
            <a:r>
              <a:rPr lang="ru-RU" b="1" dirty="0"/>
              <a:t>представляет</a:t>
            </a:r>
            <a:r>
              <a:rPr lang="ru-RU" dirty="0"/>
              <a:t> состояние пользователю</a:t>
            </a:r>
          </a:p>
          <a:p>
            <a:r>
              <a:rPr lang="en-US" b="1" dirty="0" err="1"/>
              <a:t>EditorController</a:t>
            </a:r>
            <a:r>
              <a:rPr lang="ru-RU" dirty="0"/>
              <a:t> </a:t>
            </a:r>
            <a:r>
              <a:rPr lang="ru-RU" b="1" dirty="0"/>
              <a:t>интерпретирует действия</a:t>
            </a:r>
            <a:r>
              <a:rPr lang="ru-RU" dirty="0"/>
              <a:t> пользователя и </a:t>
            </a:r>
            <a:r>
              <a:rPr lang="ru-RU" b="1" dirty="0"/>
              <a:t>инициирует</a:t>
            </a:r>
            <a:r>
              <a:rPr lang="ru-RU" dirty="0"/>
              <a:t> изменения модели</a:t>
            </a:r>
          </a:p>
          <a:p>
            <a:r>
              <a:rPr lang="en-US" b="1" dirty="0"/>
              <a:t>SRP:</a:t>
            </a:r>
            <a:r>
              <a:rPr lang="en-US" dirty="0"/>
              <a:t> </a:t>
            </a:r>
            <a:r>
              <a:rPr lang="en-US" dirty="0" err="1"/>
              <a:t>правила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отделены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и </a:t>
            </a:r>
            <a:r>
              <a:rPr lang="en-US" dirty="0" err="1"/>
              <a:t>отображения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431105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52637-573B-EAEC-8C37-0D2FCA62E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Обнаруживаем</a:t>
            </a:r>
            <a:r>
              <a:rPr lang="en-US" dirty="0"/>
              <a:t> </a:t>
            </a:r>
            <a:r>
              <a:rPr lang="en-US" dirty="0" err="1"/>
              <a:t>роли</a:t>
            </a:r>
            <a:r>
              <a:rPr lang="en-US" dirty="0"/>
              <a:t> Model, View и Controller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70DFB-BF0B-E47B-9A66-5F8215F5C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481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2D4123-01BF-92F4-1594-2A402D987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ответственности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EE33AC-7441-768D-6AB8-42B7C9641E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484914" y="1360628"/>
            <a:ext cx="3222172" cy="549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214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C9E73-A286-A88A-2F43-D03C7F545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– </a:t>
            </a:r>
            <a:r>
              <a:rPr lang="ru-RU" dirty="0"/>
              <a:t>состояние и поведение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DB5B18-3982-F0F0-7193-00E6A28EFE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3419235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В нашем редакторе </a:t>
            </a:r>
            <a:r>
              <a:rPr lang="en-US" dirty="0"/>
              <a:t>Model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Состояние рисунка</a:t>
            </a:r>
          </a:p>
          <a:p>
            <a:pPr lvl="1"/>
            <a:r>
              <a:rPr lang="ru-RU" dirty="0"/>
              <a:t>Правила предметной области</a:t>
            </a:r>
          </a:p>
          <a:p>
            <a:pPr lvl="1"/>
            <a:r>
              <a:rPr lang="ru-RU" dirty="0"/>
              <a:t>Операции над фигурами</a:t>
            </a:r>
            <a:endParaRPr lang="en-US" dirty="0"/>
          </a:p>
          <a:p>
            <a:pPr lvl="2"/>
            <a:r>
              <a:rPr lang="en-US" dirty="0" err="1"/>
              <a:t>IShape</a:t>
            </a:r>
            <a:r>
              <a:rPr lang="en-US" dirty="0"/>
              <a:t>::</a:t>
            </a:r>
            <a:r>
              <a:rPr lang="en-US" dirty="0" err="1"/>
              <a:t>MovBy</a:t>
            </a:r>
            <a:r>
              <a:rPr lang="en-US" dirty="0"/>
              <a:t>(…)</a:t>
            </a:r>
          </a:p>
          <a:p>
            <a:pPr lvl="2"/>
            <a:r>
              <a:rPr lang="en-US" dirty="0" err="1"/>
              <a:t>IShape</a:t>
            </a:r>
            <a:r>
              <a:rPr lang="en-US" dirty="0"/>
              <a:t>::</a:t>
            </a:r>
            <a:r>
              <a:rPr lang="en-US" dirty="0" err="1"/>
              <a:t>HitTest</a:t>
            </a:r>
            <a:r>
              <a:rPr lang="en-US" dirty="0"/>
              <a:t>(…)</a:t>
            </a:r>
          </a:p>
          <a:p>
            <a:pPr lvl="2"/>
            <a:r>
              <a:rPr lang="en-US" dirty="0"/>
              <a:t>Drawing::</a:t>
            </a:r>
            <a:r>
              <a:rPr lang="en-US" dirty="0" err="1"/>
              <a:t>FindShapeAt</a:t>
            </a:r>
            <a:r>
              <a:rPr lang="en-US" dirty="0"/>
              <a:t>(…)</a:t>
            </a:r>
            <a:endParaRPr lang="ru-RU" dirty="0"/>
          </a:p>
          <a:p>
            <a:r>
              <a:rPr lang="en-US" dirty="0"/>
              <a:t>Model — </a:t>
            </a:r>
            <a:r>
              <a:rPr lang="en-US" dirty="0" err="1"/>
              <a:t>роль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класс</a:t>
            </a:r>
            <a:r>
              <a:rPr lang="en-US" dirty="0"/>
              <a:t> с </a:t>
            </a:r>
            <a:r>
              <a:rPr lang="en-US" dirty="0" err="1"/>
              <a:t>именем</a:t>
            </a:r>
            <a:r>
              <a:rPr lang="en-US" dirty="0"/>
              <a:t> Model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43BA3EF-977C-E0BA-ED23-5306B1B4C08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5469147"/>
            <a:ext cx="10515600" cy="75226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Model </a:t>
            </a:r>
            <a:r>
              <a:rPr lang="en-US" dirty="0" err="1"/>
              <a:t>описывает</a:t>
            </a:r>
            <a:r>
              <a:rPr lang="en-US" dirty="0"/>
              <a:t> </a:t>
            </a:r>
            <a:r>
              <a:rPr lang="en-US" dirty="0" err="1"/>
              <a:t>то</a:t>
            </a:r>
            <a:r>
              <a:rPr lang="en-US" dirty="0"/>
              <a:t>, с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способ</a:t>
            </a:r>
            <a:r>
              <a:rPr lang="en-US" dirty="0"/>
              <a:t>, </a:t>
            </a:r>
            <a:r>
              <a:rPr lang="en-US" dirty="0" err="1"/>
              <a:t>которым</a:t>
            </a:r>
            <a:r>
              <a:rPr lang="en-US" dirty="0"/>
              <a:t> </a:t>
            </a:r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видит</a:t>
            </a:r>
            <a:r>
              <a:rPr lang="en-US" dirty="0"/>
              <a:t>.</a:t>
            </a:r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036AAD85-8DD2-681D-2763-3B6E7A9D2F4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30306"/>
            <a:ext cx="5181600" cy="3410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5547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6219D-7E67-2E27-E289-6C0265CA9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—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пользователю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51DF6-4059-3B7C-F6BE-D11664E607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3281213"/>
          </a:xfrm>
        </p:spPr>
        <p:txBody>
          <a:bodyPr/>
          <a:lstStyle/>
          <a:p>
            <a:r>
              <a:rPr lang="ru-RU" dirty="0"/>
              <a:t>В нашем редакторе роль </a:t>
            </a:r>
            <a:r>
              <a:rPr lang="en-US" dirty="0"/>
              <a:t>View </a:t>
            </a:r>
            <a:r>
              <a:rPr lang="ru-RU" dirty="0"/>
              <a:t>сейчас выполняет </a:t>
            </a:r>
            <a:r>
              <a:rPr lang="en-US" dirty="0" err="1"/>
              <a:t>DrawingRenderer</a:t>
            </a:r>
            <a:endParaRPr lang="ru-RU" dirty="0"/>
          </a:p>
          <a:p>
            <a:r>
              <a:rPr lang="ru-RU" dirty="0"/>
              <a:t>Он отображает </a:t>
            </a:r>
            <a:r>
              <a:rPr lang="en-US" dirty="0"/>
              <a:t>Drawing</a:t>
            </a:r>
            <a:r>
              <a:rPr lang="ru-RU" dirty="0"/>
              <a:t> и состояние редактирования при помощи </a:t>
            </a:r>
            <a:r>
              <a:rPr lang="en-US" dirty="0"/>
              <a:t>SFML</a:t>
            </a:r>
            <a:endParaRPr lang="ru-RU" dirty="0"/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1ACBAD5-2B23-2AFF-8878-8F8E788DE67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5018015"/>
            <a:ext cx="10515600" cy="1203397"/>
          </a:xfrm>
        </p:spPr>
        <p:txBody>
          <a:bodyPr>
            <a:normAutofit fontScale="92500" lnSpcReduction="10000"/>
          </a:bodyPr>
          <a:lstStyle/>
          <a:p>
            <a:r>
              <a:rPr lang="ru-RU"/>
              <a:t>View показывает </a:t>
            </a:r>
            <a:r>
              <a:rPr lang="ru-RU" dirty="0"/>
              <a:t>пользователю текущее состояние приложения.</a:t>
            </a:r>
            <a:endParaRPr lang="en-US" dirty="0"/>
          </a:p>
          <a:p>
            <a:r>
              <a:rPr lang="en-US" b="1" dirty="0"/>
              <a:t>SRP: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способа</a:t>
            </a:r>
            <a:r>
              <a:rPr lang="en-US" dirty="0"/>
              <a:t> </a:t>
            </a:r>
            <a:r>
              <a:rPr lang="en-US" dirty="0" err="1"/>
              <a:t>отображения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должно</a:t>
            </a:r>
            <a:r>
              <a:rPr lang="en-US" dirty="0"/>
              <a:t> </a:t>
            </a:r>
            <a:r>
              <a:rPr lang="en-US" dirty="0" err="1"/>
              <a:t>требовать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Domain Model.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9FA6F405-F65F-8EF1-567F-6DCAD7E482B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914597"/>
            <a:ext cx="5181600" cy="3103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6529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E483B-3FDC-E1CD-5FC8-7692A7970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 — </a:t>
            </a:r>
            <a:r>
              <a:rPr lang="en-US" dirty="0" err="1"/>
              <a:t>интерпретация</a:t>
            </a:r>
            <a:r>
              <a:rPr lang="en-US" dirty="0"/>
              <a:t> </a:t>
            </a:r>
            <a:r>
              <a:rPr lang="en-US" dirty="0" err="1"/>
              <a:t>действий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8B0BC-0A5F-0229-D9E8-313B0157F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EditorController</a:t>
            </a:r>
            <a:r>
              <a:rPr lang="en-US" dirty="0"/>
              <a:t> </a:t>
            </a:r>
            <a:r>
              <a:rPr lang="ru-RU" dirty="0"/>
              <a:t>превращает события ввода</a:t>
            </a:r>
          </a:p>
          <a:p>
            <a:pPr lvl="1"/>
            <a:r>
              <a:rPr lang="en-US" dirty="0" err="1"/>
              <a:t>MousePressed</a:t>
            </a:r>
            <a:r>
              <a:rPr lang="en-US" dirty="0"/>
              <a:t>, MouseMoved, </a:t>
            </a:r>
            <a:r>
              <a:rPr lang="en-US" dirty="0" err="1"/>
              <a:t>MouseReleased</a:t>
            </a:r>
            <a:endParaRPr lang="ru-RU" dirty="0"/>
          </a:p>
          <a:p>
            <a:r>
              <a:rPr lang="ru-RU" dirty="0"/>
              <a:t>в действия приложения</a:t>
            </a:r>
            <a:endParaRPr lang="en-US" dirty="0"/>
          </a:p>
          <a:p>
            <a:pPr lvl="1"/>
            <a:r>
              <a:rPr lang="en-US" dirty="0"/>
              <a:t>Select</a:t>
            </a:r>
          </a:p>
          <a:p>
            <a:pPr lvl="1"/>
            <a:r>
              <a:rPr lang="en-US" dirty="0"/>
              <a:t>Move</a:t>
            </a:r>
          </a:p>
          <a:p>
            <a:pPr lvl="1"/>
            <a:r>
              <a:rPr lang="en-US" dirty="0" err="1"/>
              <a:t>FinishDrag</a:t>
            </a:r>
            <a:endParaRPr lang="ru-RU" dirty="0"/>
          </a:p>
          <a:p>
            <a:r>
              <a:rPr lang="ru-RU" dirty="0"/>
              <a:t>Контроллер отвечает на вопрос</a:t>
            </a:r>
          </a:p>
          <a:p>
            <a:pPr lvl="1"/>
            <a:r>
              <a:rPr lang="ru-RU" dirty="0"/>
              <a:t>Что означает действие пользователя и какое изменение приложения оно должно вызвать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440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B819C-C0EA-BDF1-0723-DC920718A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Почти</a:t>
            </a:r>
            <a:r>
              <a:rPr lang="en-US" dirty="0"/>
              <a:t> MVC —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граница</a:t>
            </a:r>
            <a:r>
              <a:rPr lang="en-US" dirty="0"/>
              <a:t> GUI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оформлена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8F31D-2922-C701-AF7E-4198E8C0D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Мы разделили ответственность между </a:t>
            </a:r>
            <a:r>
              <a:rPr lang="en-US" dirty="0"/>
              <a:t>Drawing, </a:t>
            </a:r>
            <a:r>
              <a:rPr lang="en-US" dirty="0" err="1"/>
              <a:t>DrawingRenderer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EditorController</a:t>
            </a:r>
            <a:endParaRPr lang="ru-RU" dirty="0"/>
          </a:p>
          <a:p>
            <a:r>
              <a:rPr lang="ru-RU" dirty="0"/>
              <a:t>Однако </a:t>
            </a:r>
            <a:r>
              <a:rPr lang="en-US" dirty="0"/>
              <a:t>main </a:t>
            </a:r>
            <a:r>
              <a:rPr lang="ru-RU" dirty="0"/>
              <a:t>всё еще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Управляет </a:t>
            </a:r>
            <a:r>
              <a:rPr lang="en-US" dirty="0" err="1"/>
              <a:t>RenderWindow</a:t>
            </a:r>
            <a:endParaRPr lang="en-US" dirty="0"/>
          </a:p>
          <a:p>
            <a:pPr lvl="1"/>
            <a:r>
              <a:rPr lang="ru-RU" dirty="0"/>
              <a:t>Преобразует координаты</a:t>
            </a:r>
          </a:p>
          <a:p>
            <a:pPr lvl="1"/>
            <a:r>
              <a:rPr lang="ru-RU" dirty="0"/>
              <a:t>Обрабатывает события </a:t>
            </a:r>
            <a:r>
              <a:rPr lang="en-US" dirty="0"/>
              <a:t>SFML</a:t>
            </a:r>
          </a:p>
          <a:p>
            <a:pPr lvl="1"/>
            <a:r>
              <a:rPr lang="ru-RU" dirty="0"/>
              <a:t>Передаёт события в </a:t>
            </a:r>
            <a:r>
              <a:rPr lang="en-US" dirty="0" err="1"/>
              <a:t>EditorController</a:t>
            </a:r>
            <a:endParaRPr lang="ru-RU" dirty="0"/>
          </a:p>
          <a:p>
            <a:r>
              <a:rPr lang="ru-RU" dirty="0"/>
              <a:t>Граница между приложением и </a:t>
            </a:r>
            <a:r>
              <a:rPr lang="en-US" dirty="0"/>
              <a:t>GUI </a:t>
            </a:r>
            <a:r>
              <a:rPr lang="ru-RU" dirty="0"/>
              <a:t>библиотекой размазана между </a:t>
            </a:r>
            <a:r>
              <a:rPr lang="en-US" dirty="0" err="1"/>
              <a:t>DrawingRenderer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main</a:t>
            </a:r>
          </a:p>
          <a:p>
            <a:pPr lvl="1"/>
            <a:endParaRPr lang="ru-RU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9451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9621AF-5361-2F0B-1217-FB7B689F5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Оформляем границу пользовательского интерфейса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221159-0B3A-704D-11C9-02BBC0127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8551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56A22C-40FA-BD0A-55D0-5821009C1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много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85DD36-E784-2597-7C86-E7A18C454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en-US" dirty="0" err="1"/>
              <a:t>Сейчас</a:t>
            </a:r>
            <a:r>
              <a:rPr lang="en-US" dirty="0"/>
              <a:t> main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 err="1"/>
              <a:t>сборку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endParaRPr lang="en-US" dirty="0"/>
          </a:p>
          <a:p>
            <a:pPr lvl="1"/>
            <a:r>
              <a:rPr lang="en-US" dirty="0" err="1"/>
              <a:t>окно</a:t>
            </a:r>
            <a:r>
              <a:rPr lang="en-US" dirty="0"/>
              <a:t> и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жизненный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endParaRPr lang="en-US" dirty="0"/>
          </a:p>
          <a:p>
            <a:pPr lvl="1"/>
            <a:r>
              <a:rPr lang="en-US" dirty="0" err="1"/>
              <a:t>обработку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SFML</a:t>
            </a:r>
          </a:p>
          <a:p>
            <a:pPr lvl="1"/>
            <a:r>
              <a:rPr lang="en-US" dirty="0" err="1"/>
              <a:t>передачу</a:t>
            </a:r>
            <a:r>
              <a:rPr lang="en-US" dirty="0"/>
              <a:t> </a:t>
            </a:r>
            <a:r>
              <a:rPr lang="en-US" dirty="0" err="1"/>
              <a:t>ввода</a:t>
            </a:r>
            <a:r>
              <a:rPr lang="en-US" dirty="0"/>
              <a:t> Controller</a:t>
            </a:r>
          </a:p>
          <a:p>
            <a:pPr lvl="1"/>
            <a:r>
              <a:rPr lang="en-US" dirty="0" err="1"/>
              <a:t>запуск</a:t>
            </a:r>
            <a:r>
              <a:rPr lang="en-US" dirty="0"/>
              <a:t> </a:t>
            </a:r>
            <a:r>
              <a:rPr lang="en-US" dirty="0" err="1"/>
              <a:t>отрисовки</a:t>
            </a:r>
            <a:endParaRPr lang="ru-RU" dirty="0"/>
          </a:p>
          <a:p>
            <a:r>
              <a:rPr lang="en-US" b="1" dirty="0"/>
              <a:t>SRP:</a:t>
            </a:r>
            <a:r>
              <a:rPr lang="en-US" dirty="0"/>
              <a:t> </a:t>
            </a:r>
            <a:r>
              <a:rPr lang="en-US" dirty="0" err="1"/>
              <a:t>запуск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r>
              <a:rPr lang="en-US" dirty="0"/>
              <a:t> и </a:t>
            </a:r>
            <a:r>
              <a:rPr lang="en-US" dirty="0" err="1"/>
              <a:t>устройство</a:t>
            </a:r>
            <a:r>
              <a:rPr lang="en-US" dirty="0"/>
              <a:t> GUI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27D043-6A01-D3A1-0BDA-EB8B60AFD99B}"/>
              </a:ext>
            </a:extLst>
          </p:cNvPr>
          <p:cNvSpPr txBox="1"/>
          <p:nvPr/>
        </p:nvSpPr>
        <p:spPr>
          <a:xfrm>
            <a:off x="6254750" y="1825625"/>
            <a:ext cx="509905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sf::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RenderWindow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(...);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isOpen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pollEvent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Closed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MouseButtonPressed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MouseButtonReleased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MouseMoved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clear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renderer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(...,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display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256598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DEF22-05A9-B521-23ED-4AEF68788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внутреннее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ED607-C5E6-27BE-F459-994D759C6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54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Кому</a:t>
            </a:r>
            <a:r>
              <a:rPr lang="en-US" dirty="0"/>
              <a:t> </a:t>
            </a:r>
            <a:r>
              <a:rPr lang="en-US" dirty="0" err="1"/>
              <a:t>принадлежит</a:t>
            </a:r>
            <a:r>
              <a:rPr lang="en-US" dirty="0"/>
              <a:t> </a:t>
            </a:r>
            <a:r>
              <a:rPr lang="en-US" dirty="0" err="1"/>
              <a:t>selectedShape</a:t>
            </a:r>
            <a:r>
              <a:rPr lang="en-US" dirty="0"/>
              <a:t>?</a:t>
            </a:r>
            <a:endParaRPr lang="ru-RU" dirty="0"/>
          </a:p>
          <a:p>
            <a:pPr lvl="1"/>
            <a:r>
              <a:rPr lang="en-US" dirty="0" err="1"/>
              <a:t>renderer.Draw</a:t>
            </a:r>
            <a:r>
              <a:rPr lang="en-US" dirty="0"/>
              <a:t>(drawing,</a:t>
            </a:r>
            <a:r>
              <a:rPr lang="ru-RU" dirty="0"/>
              <a:t> </a:t>
            </a:r>
            <a:r>
              <a:rPr lang="en-US" dirty="0" err="1"/>
              <a:t>controller.GetSelectedShape</a:t>
            </a:r>
            <a:r>
              <a:rPr lang="en-US" dirty="0"/>
              <a:t>(),</a:t>
            </a:r>
            <a:r>
              <a:rPr lang="ru-RU" dirty="0"/>
              <a:t> </a:t>
            </a:r>
            <a:r>
              <a:rPr lang="en-US" dirty="0"/>
              <a:t>window);</a:t>
            </a:r>
          </a:p>
          <a:p>
            <a:r>
              <a:rPr lang="ru-RU" dirty="0"/>
              <a:t>Выделим </a:t>
            </a:r>
            <a:r>
              <a:rPr lang="en-US" dirty="0" err="1"/>
              <a:t>EditorSession</a:t>
            </a:r>
            <a:endParaRPr lang="en-US" dirty="0"/>
          </a:p>
          <a:p>
            <a:r>
              <a:rPr lang="en-US" dirty="0"/>
              <a:t>Drawing – </a:t>
            </a:r>
            <a:r>
              <a:rPr lang="ru-RU" dirty="0"/>
              <a:t>состояние документа</a:t>
            </a:r>
          </a:p>
          <a:p>
            <a:r>
              <a:rPr lang="en-US" dirty="0" err="1"/>
              <a:t>EditorSession</a:t>
            </a:r>
            <a:r>
              <a:rPr lang="en-US" dirty="0"/>
              <a:t> – </a:t>
            </a:r>
            <a:r>
              <a:rPr lang="ru-RU" dirty="0"/>
              <a:t>состояние работы с документом</a:t>
            </a:r>
          </a:p>
          <a:p>
            <a:r>
              <a:rPr lang="en-US" dirty="0"/>
              <a:t>Controller – </a:t>
            </a:r>
            <a:r>
              <a:rPr lang="ru-RU" dirty="0"/>
              <a:t>состояние текущего взаимодействия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A9E35C-0F3F-926D-E4C1-E584E3BAB146}"/>
              </a:ext>
            </a:extLst>
          </p:cNvPr>
          <p:cNvSpPr txBox="1"/>
          <p:nvPr/>
        </p:nvSpPr>
        <p:spPr>
          <a:xfrm>
            <a:off x="6248402" y="1886783"/>
            <a:ext cx="510539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EditorSession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GetSelectedShape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GetSelectedShape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SetSelectedShape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m_selectedShape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748266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19DC0-C6CF-827A-6AB1-2C0A60E7A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Уточняем</a:t>
            </a:r>
            <a:r>
              <a:rPr lang="en-US" dirty="0"/>
              <a:t> </a:t>
            </a:r>
            <a:r>
              <a:rPr lang="en-US" dirty="0" err="1"/>
              <a:t>ответственность</a:t>
            </a:r>
            <a:r>
              <a:rPr lang="en-US" dirty="0"/>
              <a:t>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B1A74-DBA9-5E1E-07EA-131CA4AFF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3794124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Что делает </a:t>
            </a:r>
            <a:r>
              <a:rPr lang="en-US" dirty="0" err="1"/>
              <a:t>EditorController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Нажатие на </a:t>
            </a:r>
            <a:r>
              <a:rPr lang="en-US" dirty="0"/>
              <a:t>Canvas -&gt; </a:t>
            </a:r>
            <a:r>
              <a:rPr lang="ru-RU" dirty="0"/>
              <a:t>выбор фигуры</a:t>
            </a:r>
          </a:p>
          <a:p>
            <a:pPr lvl="1"/>
            <a:r>
              <a:rPr lang="en-US" dirty="0"/>
              <a:t>Drag </a:t>
            </a:r>
            <a:r>
              <a:rPr lang="ru-RU" dirty="0"/>
              <a:t>по </a:t>
            </a:r>
            <a:r>
              <a:rPr lang="en-US" dirty="0"/>
              <a:t>Canvas -&gt;</a:t>
            </a:r>
            <a:r>
              <a:rPr lang="ru-RU" dirty="0"/>
              <a:t> перемещение фигуры</a:t>
            </a:r>
          </a:p>
          <a:p>
            <a:r>
              <a:rPr lang="ru-RU" dirty="0"/>
              <a:t>Он не управляет окном, меню, панелью свойств и другими областями интерфейса</a:t>
            </a:r>
          </a:p>
          <a:p>
            <a:r>
              <a:rPr lang="ru-RU" dirty="0"/>
              <a:t>Сузим его ответственность и назовём </a:t>
            </a:r>
            <a:r>
              <a:rPr lang="en-US" dirty="0" err="1"/>
              <a:t>CanvasController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5C14BD4-35DB-8819-87CD-3DFA502C00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1" y="5619749"/>
            <a:ext cx="10515600" cy="557213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 err="1"/>
              <a:t>Имя</a:t>
            </a:r>
            <a:r>
              <a:rPr lang="en-US" b="1" dirty="0"/>
              <a:t> </a:t>
            </a:r>
            <a:r>
              <a:rPr lang="en-US" b="1" dirty="0" err="1"/>
              <a:t>отражает</a:t>
            </a:r>
            <a:r>
              <a:rPr lang="en-US" b="1" dirty="0"/>
              <a:t> </a:t>
            </a:r>
            <a:r>
              <a:rPr lang="en-US" b="1" dirty="0" err="1"/>
              <a:t>границу</a:t>
            </a:r>
            <a:r>
              <a:rPr lang="en-US" b="1" dirty="0"/>
              <a:t> </a:t>
            </a:r>
            <a:r>
              <a:rPr lang="en-US" b="1" dirty="0" err="1"/>
              <a:t>ответственности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D4CB2-714E-2175-D3B8-C8EBBD25F333}"/>
              </a:ext>
            </a:extLst>
          </p:cNvPr>
          <p:cNvSpPr txBox="1"/>
          <p:nvPr/>
        </p:nvSpPr>
        <p:spPr>
          <a:xfrm>
            <a:off x="6457950" y="1825625"/>
            <a:ext cx="489585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CanvasController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CanvasController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EditorSession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OnMousePressed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OnMouseMoved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OnMouseReleased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688594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C9495-F88C-867F-4AFA-99D558626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У Canvas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r>
              <a:rPr lang="en-US" dirty="0"/>
              <a:t> и </a:t>
            </a:r>
            <a:r>
              <a:rPr lang="en-US" dirty="0" err="1"/>
              <a:t>ввод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D40AF3-16A3-9B77-52CF-8043CE323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ru-RU" dirty="0"/>
              <a:t>Сейчас </a:t>
            </a:r>
            <a:r>
              <a:rPr lang="en-US" dirty="0"/>
              <a:t>main</a:t>
            </a:r>
            <a:r>
              <a:rPr lang="ru-RU" dirty="0"/>
              <a:t> отвечает за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преобразование событий </a:t>
            </a:r>
            <a:r>
              <a:rPr lang="en-US" dirty="0"/>
              <a:t>SFML</a:t>
            </a:r>
            <a:r>
              <a:rPr lang="ru-RU" dirty="0"/>
              <a:t> в вызовы </a:t>
            </a:r>
            <a:r>
              <a:rPr lang="en-US" dirty="0" err="1"/>
              <a:t>CanvasController</a:t>
            </a:r>
            <a:endParaRPr lang="en-US" dirty="0"/>
          </a:p>
          <a:p>
            <a:pPr lvl="1"/>
            <a:r>
              <a:rPr lang="ru-RU" dirty="0"/>
              <a:t>Вызовы </a:t>
            </a:r>
            <a:r>
              <a:rPr lang="en-US" dirty="0" err="1"/>
              <a:t>DrawingRenderer</a:t>
            </a:r>
            <a:r>
              <a:rPr lang="ru-RU" dirty="0"/>
              <a:t>, чтобы показать состояние рисунка</a:t>
            </a:r>
          </a:p>
          <a:p>
            <a:r>
              <a:rPr lang="ru-RU" dirty="0"/>
              <a:t>Выделим эту ответственность в </a:t>
            </a:r>
            <a:r>
              <a:rPr lang="en-US" dirty="0" err="1"/>
              <a:t>CanvasView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58B85C-3516-2774-A8D2-AAA35F2D3507}"/>
              </a:ext>
            </a:extLst>
          </p:cNvPr>
          <p:cNvSpPr txBox="1"/>
          <p:nvPr/>
        </p:nvSpPr>
        <p:spPr>
          <a:xfrm>
            <a:off x="6095999" y="1825625"/>
            <a:ext cx="590005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CanvasView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CanvasView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 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EditorSession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HandleEvent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sf::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(sf::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RenderTarget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CanvasController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m_controller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DrawingRenderer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m_renderer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3812133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11E4F7A-7DE4-F661-E28B-B76D30491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</a:t>
            </a:r>
            <a:r>
              <a:rPr lang="en-US" dirty="0" err="1"/>
              <a:t>CanvasView</a:t>
            </a:r>
            <a:r>
              <a:rPr lang="ru-RU" dirty="0"/>
              <a:t> взаимодействует с другими классами</a:t>
            </a:r>
            <a:endParaRPr lang="en-US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D30906A-9373-5BD4-3B4E-9ECE110D17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66421" y="1825625"/>
            <a:ext cx="54591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5040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2EBAC-B738-D73D-E4B1-A3183BE4C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Кому принадлежит </a:t>
            </a:r>
            <a:r>
              <a:rPr lang="en-US" dirty="0"/>
              <a:t>event loop?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ABC60-9640-6714-24EE-A269619E5D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366077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А </a:t>
            </a:r>
            <a:r>
              <a:rPr lang="en-US" dirty="0" err="1"/>
              <a:t>куда</a:t>
            </a:r>
            <a:r>
              <a:rPr lang="en-US" dirty="0"/>
              <a:t> </a:t>
            </a:r>
            <a:r>
              <a:rPr lang="en-US" dirty="0" err="1"/>
              <a:t>поместить</a:t>
            </a:r>
            <a:r>
              <a:rPr lang="en-US" dirty="0"/>
              <a:t> </a:t>
            </a:r>
            <a:r>
              <a:rPr lang="en-US" dirty="0" err="1"/>
              <a:t>pollEvent</a:t>
            </a:r>
            <a:r>
              <a:rPr lang="en-US" dirty="0"/>
              <a:t>()?</a:t>
            </a:r>
          </a:p>
          <a:p>
            <a:r>
              <a:rPr lang="ru-RU" dirty="0"/>
              <a:t>Тоже в </a:t>
            </a:r>
            <a:r>
              <a:rPr lang="en-US" dirty="0" err="1"/>
              <a:t>CanvasView</a:t>
            </a:r>
            <a:r>
              <a:rPr lang="en-US" dirty="0"/>
              <a:t>?</a:t>
            </a:r>
          </a:p>
          <a:p>
            <a:pPr lvl="1"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CanvasView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74531F"/>
                </a:solidFill>
                <a:latin typeface="Consolas" panose="020B0609020204030204" pitchFamily="49" charset="0"/>
              </a:rPr>
              <a:t>Run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pPr lvl="1"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while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window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isOpen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()) {</a:t>
            </a:r>
          </a:p>
          <a:p>
            <a:pPr lvl="1"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8F08C4"/>
                </a:solidFill>
                <a:latin typeface="Consolas" panose="020B0609020204030204" pitchFamily="49" charset="0"/>
              </a:rPr>
              <a:t>while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1F377F"/>
                </a:solidFill>
                <a:latin typeface="Consolas" panose="020B0609020204030204" pitchFamily="49" charset="0"/>
              </a:rPr>
              <a:t>event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400" dirty="0" err="1">
                <a:solidFill>
                  <a:srgbClr val="1F377F"/>
                </a:solidFill>
                <a:latin typeface="Consolas" panose="020B0609020204030204" pitchFamily="49" charset="0"/>
              </a:rPr>
              <a:t>window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74531F"/>
                </a:solidFill>
                <a:latin typeface="Consolas" panose="020B0609020204030204" pitchFamily="49" charset="0"/>
              </a:rPr>
              <a:t>pollEvent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()) {</a:t>
            </a:r>
          </a:p>
          <a:p>
            <a:pPr lvl="1"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...</a:t>
            </a:r>
          </a:p>
          <a:p>
            <a:pPr lvl="1"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lvl="1"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pPr lvl="1">
              <a:lnSpc>
                <a:spcPct val="113095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В одном окне может содержаться несколько представлений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D9B5C-1DA2-CAA8-5EBD-0D22680314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486399"/>
            <a:ext cx="10515600" cy="690563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  <a:r>
              <a:rPr lang="en-US" dirty="0" err="1"/>
              <a:t>принадлежит</a:t>
            </a:r>
            <a:r>
              <a:rPr lang="en-US" dirty="0"/>
              <a:t> </a:t>
            </a:r>
            <a:r>
              <a:rPr lang="en-US" dirty="0" err="1"/>
              <a:t>окну</a:t>
            </a:r>
            <a:r>
              <a:rPr lang="en-US" dirty="0"/>
              <a:t>, а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конкретному</a:t>
            </a:r>
            <a:r>
              <a:rPr lang="en-US" dirty="0"/>
              <a:t> View.</a:t>
            </a:r>
          </a:p>
        </p:txBody>
      </p:sp>
    </p:spTree>
    <p:extLst>
      <p:ext uri="{BB962C8B-B14F-4D97-AF65-F5344CB8AC3E}">
        <p14:creationId xmlns:p14="http://schemas.microsoft.com/office/powerpoint/2010/main" val="14172211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4304F-343F-3B7E-2E8A-531A1C6F4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Окно</a:t>
            </a:r>
            <a:r>
              <a:rPr lang="en-US" dirty="0"/>
              <a:t> — </a:t>
            </a:r>
            <a:r>
              <a:rPr lang="en-US" dirty="0" err="1"/>
              <a:t>владелец</a:t>
            </a:r>
            <a:r>
              <a:rPr lang="en-US" dirty="0"/>
              <a:t> UI-</a:t>
            </a:r>
            <a:r>
              <a:rPr lang="en-US" dirty="0" err="1"/>
              <a:t>сеанса</a:t>
            </a:r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92081CC-70A1-14E7-2579-6C06E38FBDC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316" y="1825625"/>
            <a:ext cx="5125368" cy="355123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893656-52CE-866E-14B2-552637071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511799"/>
            <a:ext cx="10515600" cy="785483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Состояние</a:t>
            </a:r>
            <a:r>
              <a:rPr lang="en-US" dirty="0"/>
              <a:t>,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представлений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окна</a:t>
            </a:r>
            <a:r>
              <a:rPr lang="en-US" dirty="0"/>
              <a:t>, </a:t>
            </a:r>
            <a:r>
              <a:rPr lang="en-US" dirty="0" err="1"/>
              <a:t>естественно</a:t>
            </a:r>
            <a:r>
              <a:rPr lang="en-US" dirty="0"/>
              <a:t> </a:t>
            </a:r>
            <a:r>
              <a:rPr lang="en-US" dirty="0" err="1"/>
              <a:t>принадлежит</a:t>
            </a:r>
            <a:r>
              <a:rPr lang="en-US" dirty="0"/>
              <a:t> </a:t>
            </a:r>
            <a:r>
              <a:rPr lang="en-US" dirty="0" err="1"/>
              <a:t>окну</a:t>
            </a:r>
            <a:r>
              <a:rPr lang="en-US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0C0EE-5235-6452-E48C-04C060B616F6}"/>
              </a:ext>
            </a:extLst>
          </p:cNvPr>
          <p:cNvSpPr txBox="1"/>
          <p:nvPr/>
        </p:nvSpPr>
        <p:spPr>
          <a:xfrm>
            <a:off x="6172200" y="1825625"/>
            <a:ext cx="518160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EditorWindow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EditorWindow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m_window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(sf::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VideoMode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}),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 SFML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m_canvasView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m_session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{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sf::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RenderWindow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m_window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EditorSession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m_session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CanvasView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m_canvasView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938413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22F31-9B32-7361-4883-E31D6AE17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отвечает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запуск</a:t>
            </a:r>
            <a:r>
              <a:rPr lang="en-US" dirty="0"/>
              <a:t> </a:t>
            </a:r>
            <a:r>
              <a:rPr lang="en-US" dirty="0" err="1"/>
              <a:t>приложения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5FD3EC-116C-FEF0-DAFD-54AC5FEE9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 err="1"/>
              <a:t>Теперь</a:t>
            </a:r>
            <a:r>
              <a:rPr lang="en-US" dirty="0"/>
              <a:t> main:</a:t>
            </a:r>
          </a:p>
          <a:p>
            <a:pPr lvl="1"/>
            <a:r>
              <a:rPr lang="ru-RU" dirty="0"/>
              <a:t>Создаёт документ</a:t>
            </a:r>
          </a:p>
          <a:p>
            <a:pPr lvl="1"/>
            <a:r>
              <a:rPr lang="ru-RU" dirty="0"/>
              <a:t>Создаёт окно редактора</a:t>
            </a:r>
          </a:p>
          <a:p>
            <a:pPr lvl="1"/>
            <a:r>
              <a:rPr lang="ru-RU" dirty="0"/>
              <a:t>Запускает приложение</a:t>
            </a:r>
          </a:p>
          <a:p>
            <a:r>
              <a:rPr lang="en-US" dirty="0" err="1"/>
              <a:t>EditorView</a:t>
            </a:r>
            <a:endParaRPr lang="en-US" dirty="0"/>
          </a:p>
          <a:p>
            <a:pPr lvl="1"/>
            <a:r>
              <a:rPr lang="en-US" dirty="0"/>
              <a:t>sf::</a:t>
            </a:r>
            <a:r>
              <a:rPr lang="en-US" dirty="0" err="1"/>
              <a:t>RenderWindow</a:t>
            </a:r>
            <a:endParaRPr lang="en-US" dirty="0"/>
          </a:p>
          <a:p>
            <a:pPr lvl="1"/>
            <a:r>
              <a:rPr lang="en-US" dirty="0" err="1"/>
              <a:t>EditorSessoin</a:t>
            </a:r>
            <a:endParaRPr lang="en-US" dirty="0"/>
          </a:p>
          <a:p>
            <a:pPr lvl="1"/>
            <a:r>
              <a:rPr lang="en-US" dirty="0" err="1"/>
              <a:t>CanvasView</a:t>
            </a:r>
            <a:endParaRPr lang="en-US" dirty="0"/>
          </a:p>
          <a:p>
            <a:pPr lvl="2"/>
            <a:r>
              <a:rPr lang="en-US" dirty="0" err="1"/>
              <a:t>CanvasController</a:t>
            </a:r>
            <a:endParaRPr lang="en-US" dirty="0"/>
          </a:p>
          <a:p>
            <a:pPr lvl="2"/>
            <a:r>
              <a:rPr lang="en-US" dirty="0" err="1"/>
              <a:t>DrawingRenderer</a:t>
            </a:r>
            <a:endParaRPr lang="ru-RU" dirty="0"/>
          </a:p>
          <a:p>
            <a:r>
              <a:rPr lang="en-US" dirty="0" err="1"/>
              <a:t>Корневые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 </a:t>
            </a:r>
            <a:r>
              <a:rPr lang="en-US" dirty="0" err="1"/>
              <a:t>создаются</a:t>
            </a:r>
            <a:r>
              <a:rPr lang="en-US" dirty="0"/>
              <a:t> </a:t>
            </a:r>
            <a:r>
              <a:rPr lang="en-US" dirty="0" err="1"/>
              <a:t>снаружи</a:t>
            </a:r>
            <a:r>
              <a:rPr lang="en-US" dirty="0"/>
              <a:t>, </a:t>
            </a:r>
            <a:r>
              <a:rPr lang="en-US" dirty="0" err="1"/>
              <a:t>внутренние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— </a:t>
            </a:r>
            <a:r>
              <a:rPr lang="en-US" dirty="0" err="1"/>
              <a:t>своим</a:t>
            </a:r>
            <a:r>
              <a:rPr lang="en-US" dirty="0"/>
              <a:t> </a:t>
            </a:r>
            <a:r>
              <a:rPr lang="en-US" dirty="0" err="1"/>
              <a:t>владельцем</a:t>
            </a:r>
            <a:r>
              <a:rPr lang="en-US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B1A8BD-722C-F09C-8B38-D69324B4DE1C}"/>
              </a:ext>
            </a:extLst>
          </p:cNvPr>
          <p:cNvSpPr txBox="1"/>
          <p:nvPr/>
        </p:nvSpPr>
        <p:spPr>
          <a:xfrm>
            <a:off x="6095999" y="1825625"/>
            <a:ext cx="589471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100.f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100.f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200.f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100.f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Ellipse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400.f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300.f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150.f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100.f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}));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EditorWindow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4516648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0D83B-F592-E0D9-D3B4-74DE81ECB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Как</a:t>
            </a:r>
            <a:r>
              <a:rPr lang="en-US" dirty="0"/>
              <a:t> View </a:t>
            </a:r>
            <a:r>
              <a:rPr lang="en-US" dirty="0" err="1"/>
              <a:t>узнают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изменениях</a:t>
            </a:r>
            <a:r>
              <a:rPr lang="en-US" dirty="0"/>
              <a:t> Model?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C7EB5-63D6-ECE6-5B44-DEA0563E8B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65292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619A0A-8233-1951-DACE-89A8DE0B4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Canvas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видит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DFE71A-33E0-0861-B801-192470F98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Controller </a:t>
            </a:r>
            <a:r>
              <a:rPr lang="en-US" dirty="0" err="1"/>
              <a:t>изменяет</a:t>
            </a:r>
            <a:r>
              <a:rPr lang="en-US" dirty="0"/>
              <a:t> Model:</a:t>
            </a:r>
            <a:endParaRPr lang="ru-RU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selectedShape</a:t>
            </a:r>
            <a:r>
              <a:rPr lang="en-US" dirty="0">
                <a:latin typeface="Consolas" panose="020B0609020204030204" pitchFamily="49" charset="0"/>
              </a:rPr>
              <a:t>-&gt;</a:t>
            </a:r>
            <a:r>
              <a:rPr lang="en-US" dirty="0" err="1">
                <a:latin typeface="Consolas" panose="020B0609020204030204" pitchFamily="49" charset="0"/>
              </a:rPr>
              <a:t>MoveBy</a:t>
            </a:r>
            <a:r>
              <a:rPr lang="en-US" dirty="0">
                <a:latin typeface="Consolas" panose="020B0609020204030204" pitchFamily="49" charset="0"/>
              </a:rPr>
              <a:t>(offset);</a:t>
            </a:r>
          </a:p>
          <a:p>
            <a:r>
              <a:rPr lang="en-US" dirty="0"/>
              <a:t>А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кадре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m_window.clear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m_canvasView.Draw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m_window</a:t>
            </a:r>
            <a:r>
              <a:rPr lang="en-US" dirty="0">
                <a:latin typeface="Consolas" panose="020B0609020204030204" pitchFamily="49" charset="0"/>
              </a:rPr>
              <a:t>);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m_window.display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/>
              <a:t>CanvasView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читает</a:t>
            </a:r>
            <a:r>
              <a:rPr lang="en-US" dirty="0"/>
              <a:t> </a:t>
            </a:r>
            <a:r>
              <a:rPr lang="en-US" dirty="0" err="1"/>
              <a:t>актуальное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Drawing.</a:t>
            </a:r>
          </a:p>
          <a:p>
            <a:r>
              <a:rPr lang="ru-RU" dirty="0"/>
              <a:t>Для </a:t>
            </a:r>
            <a:r>
              <a:rPr lang="ru-RU" dirty="0" err="1"/>
              <a:t>Canvas</a:t>
            </a:r>
            <a:r>
              <a:rPr lang="ru-RU" dirty="0"/>
              <a:t> отдельный механизм уведомлений пока не нужен.</a:t>
            </a:r>
            <a:endParaRPr lang="en-US" dirty="0"/>
          </a:p>
          <a:p>
            <a:r>
              <a:rPr lang="en-US" b="1" dirty="0"/>
              <a:t>KISS / YAGNI: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добавляем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знаем</a:t>
            </a:r>
            <a:r>
              <a:rPr lang="en-US" dirty="0"/>
              <a:t> </a:t>
            </a:r>
            <a:r>
              <a:rPr lang="en-US" dirty="0" err="1"/>
              <a:t>подходящий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.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View </a:t>
            </a:r>
            <a:r>
              <a:rPr lang="en-US" dirty="0" err="1"/>
              <a:t>обязательно</a:t>
            </a:r>
            <a:r>
              <a:rPr lang="en-US" dirty="0"/>
              <a:t> </a:t>
            </a:r>
            <a:r>
              <a:rPr lang="en-US" dirty="0" err="1"/>
              <a:t>перечитывают</a:t>
            </a:r>
            <a:r>
              <a:rPr lang="en-US" dirty="0"/>
              <a:t> Model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кадр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279411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23C4F-E832-57BE-3B36-729356A54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Появляется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CCB06-7690-3723-F772-F1148BF2E1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err="1"/>
              <a:t>Одну</a:t>
            </a:r>
            <a:r>
              <a:rPr lang="en-US" dirty="0"/>
              <a:t> Model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View</a:t>
            </a:r>
            <a:endParaRPr lang="ru-RU" dirty="0"/>
          </a:p>
          <a:p>
            <a:pPr lvl="1"/>
            <a:r>
              <a:rPr lang="en-US" dirty="0" err="1"/>
              <a:t>CanvasView</a:t>
            </a:r>
            <a:endParaRPr lang="en-US" dirty="0"/>
          </a:p>
          <a:p>
            <a:pPr lvl="1"/>
            <a:r>
              <a:rPr lang="en-US" dirty="0" err="1"/>
              <a:t>ShapeListView</a:t>
            </a:r>
            <a:endParaRPr lang="en-US" dirty="0"/>
          </a:p>
          <a:p>
            <a:r>
              <a:rPr lang="en-US" dirty="0" err="1"/>
              <a:t>Пользователь</a:t>
            </a:r>
            <a:r>
              <a:rPr lang="en-US" dirty="0"/>
              <a:t> </a:t>
            </a:r>
            <a:r>
              <a:rPr lang="en-US" dirty="0" err="1"/>
              <a:t>переместил</a:t>
            </a:r>
            <a:r>
              <a:rPr lang="en-US" dirty="0"/>
              <a:t> Rectangle </a:t>
            </a:r>
            <a:r>
              <a:rPr lang="ru-RU" dirty="0"/>
              <a:t>мышью</a:t>
            </a:r>
            <a:endParaRPr lang="en-US" dirty="0"/>
          </a:p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ShapeListView</a:t>
            </a:r>
            <a:r>
              <a:rPr lang="en-US" dirty="0"/>
              <a:t> </a:t>
            </a:r>
            <a:r>
              <a:rPr lang="en-US" dirty="0" err="1"/>
              <a:t>узнает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Drawing </a:t>
            </a:r>
            <a:r>
              <a:rPr lang="en-US" dirty="0" err="1"/>
              <a:t>изменился</a:t>
            </a:r>
            <a:r>
              <a:rPr lang="en-US" dirty="0"/>
              <a:t>?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EB6CD93-2BDA-96C1-6A53-E1D123C23A8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657026"/>
            <a:ext cx="5181600" cy="2688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2035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C01E0-43C1-9AB8-0B66-EC675423E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Пусть</a:t>
            </a:r>
            <a:r>
              <a:rPr lang="en-US" dirty="0"/>
              <a:t> Controller </a:t>
            </a:r>
            <a:r>
              <a:rPr lang="en-US" dirty="0" err="1"/>
              <a:t>обновит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View?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55502-ACE1-9DB3-58CB-D283BD912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Самое</a:t>
            </a:r>
            <a:r>
              <a:rPr lang="en-US" dirty="0"/>
              <a:t> </a:t>
            </a:r>
            <a:r>
              <a:rPr lang="en-US" dirty="0" err="1"/>
              <a:t>прямое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CanvasController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dirty="0" err="1">
                <a:latin typeface="Consolas" panose="020B0609020204030204" pitchFamily="49" charset="0"/>
              </a:rPr>
              <a:t>OnMouseMoved</a:t>
            </a:r>
            <a:r>
              <a:rPr lang="en-US" dirty="0">
                <a:latin typeface="Consolas" panose="020B0609020204030204" pitchFamily="49" charset="0"/>
              </a:rPr>
              <a:t>(Point2 point)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// </a:t>
            </a:r>
            <a:r>
              <a:rPr lang="en-US" dirty="0" err="1">
                <a:latin typeface="Consolas" panose="020B0609020204030204" pitchFamily="49" charset="0"/>
              </a:rPr>
              <a:t>перемещаем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фигуру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m_canvasView.Update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m_shapeListView.Update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При добавлении новых </a:t>
            </a:r>
            <a:r>
              <a:rPr lang="en-US" dirty="0"/>
              <a:t>View</a:t>
            </a:r>
            <a:r>
              <a:rPr lang="ru-RU" dirty="0"/>
              <a:t>, контроллер начинает знать про всех потребителей модели</a:t>
            </a:r>
          </a:p>
          <a:p>
            <a:r>
              <a:rPr lang="en-US" b="1" dirty="0"/>
              <a:t>SRP:</a:t>
            </a:r>
            <a:r>
              <a:rPr lang="en-US" dirty="0"/>
              <a:t> Controller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интерпретировать</a:t>
            </a:r>
            <a:r>
              <a:rPr lang="en-US" dirty="0"/>
              <a:t> </a:t>
            </a:r>
            <a:r>
              <a:rPr lang="en-US" dirty="0" err="1"/>
              <a:t>действия</a:t>
            </a:r>
            <a:r>
              <a:rPr lang="en-US" dirty="0"/>
              <a:t> </a:t>
            </a:r>
            <a:r>
              <a:rPr lang="en-US" dirty="0" err="1"/>
              <a:t>пользователя</a:t>
            </a:r>
            <a:r>
              <a:rPr lang="en-US" dirty="0"/>
              <a:t>.</a:t>
            </a:r>
          </a:p>
          <a:p>
            <a:r>
              <a:rPr lang="en-US" b="1" dirty="0"/>
              <a:t>OCP: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View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заставлять</a:t>
            </a:r>
            <a:r>
              <a:rPr lang="en-US" dirty="0"/>
              <a:t> </a:t>
            </a:r>
            <a:r>
              <a:rPr lang="en-US" dirty="0" err="1"/>
              <a:t>менять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места</a:t>
            </a:r>
            <a:r>
              <a:rPr lang="en-US" dirty="0"/>
              <a:t>, </a:t>
            </a:r>
            <a:r>
              <a:rPr lang="en-US" dirty="0" err="1"/>
              <a:t>изменяющие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2251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E37F3-F316-F96C-866D-5782F9DF4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Пусть</a:t>
            </a:r>
            <a:r>
              <a:rPr lang="en-US" dirty="0"/>
              <a:t> </a:t>
            </a:r>
            <a:r>
              <a:rPr lang="en-US" dirty="0" err="1"/>
              <a:t>источник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изменении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C02C7-12B2-2AA2-9D6C-F9ACE53E8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ru-RU" dirty="0"/>
              <a:t>Не </a:t>
            </a:r>
            <a:r>
              <a:rPr lang="en-US" dirty="0"/>
              <a:t>Controller</a:t>
            </a:r>
            <a:r>
              <a:rPr lang="ru-RU" dirty="0"/>
              <a:t> должен знать всех, кого затронуло изменение</a:t>
            </a:r>
          </a:p>
          <a:p>
            <a:r>
              <a:rPr lang="en-US" dirty="0"/>
              <a:t>Drawing </a:t>
            </a:r>
            <a:r>
              <a:rPr lang="ru-RU" dirty="0"/>
              <a:t>не должен знать про </a:t>
            </a:r>
            <a:r>
              <a:rPr lang="en-US" dirty="0" err="1"/>
              <a:t>ShapeListView</a:t>
            </a:r>
            <a:r>
              <a:rPr lang="en-US" dirty="0"/>
              <a:t>, </a:t>
            </a:r>
            <a:r>
              <a:rPr lang="en-US" dirty="0" err="1"/>
              <a:t>CanvasView</a:t>
            </a:r>
            <a:r>
              <a:rPr lang="ru-RU" dirty="0"/>
              <a:t> или другие конкретные классы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747261-A8AB-30F9-5E06-8A893B0D3683}"/>
              </a:ext>
            </a:extLst>
          </p:cNvPr>
          <p:cNvSpPr txBox="1"/>
          <p:nvPr/>
        </p:nvSpPr>
        <p:spPr>
          <a:xfrm>
            <a:off x="6095999" y="1825625"/>
            <a:ext cx="6446809" cy="319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IDrawingListener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IDrawingListener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OnDrawingChanged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AddListener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IDrawingListener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listener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RemoveListener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IDrawingListener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listener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275958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93C4B-F3F3-801E-2C89-067B9EF78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отправлять</a:t>
            </a:r>
            <a:r>
              <a:rPr lang="en-US" dirty="0"/>
              <a:t> </a:t>
            </a:r>
            <a:r>
              <a:rPr lang="en-US" dirty="0" err="1"/>
              <a:t>уведомление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B3115-5101-67A1-C8B8-7BDA8C1CCB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Изменили</a:t>
            </a:r>
            <a:r>
              <a:rPr lang="en-US" dirty="0"/>
              <a:t> Model — </a:t>
            </a:r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сообщит</a:t>
            </a:r>
            <a:r>
              <a:rPr lang="en-US" dirty="0"/>
              <a:t> </a:t>
            </a:r>
            <a:r>
              <a:rPr lang="en-US" dirty="0" err="1"/>
              <a:t>подписчикам</a:t>
            </a:r>
            <a:r>
              <a:rPr lang="en-US" dirty="0"/>
              <a:t>?</a:t>
            </a:r>
          </a:p>
          <a:p>
            <a:r>
              <a:rPr lang="ru-RU" dirty="0"/>
              <a:t>Плохой вариант: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selectedShape</a:t>
            </a:r>
            <a:r>
              <a:rPr lang="en-US" dirty="0">
                <a:latin typeface="Consolas" panose="020B0609020204030204" pitchFamily="49" charset="0"/>
              </a:rPr>
              <a:t>-&gt;</a:t>
            </a:r>
            <a:r>
              <a:rPr lang="en-US" dirty="0" err="1">
                <a:latin typeface="Consolas" panose="020B0609020204030204" pitchFamily="49" charset="0"/>
              </a:rPr>
              <a:t>MoveBy</a:t>
            </a:r>
            <a:r>
              <a:rPr lang="en-US" dirty="0">
                <a:latin typeface="Consolas" panose="020B0609020204030204" pitchFamily="49" charset="0"/>
              </a:rPr>
              <a:t>(offset);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drawing.NotifyObservers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lvl="1"/>
            <a:r>
              <a:rPr lang="ru-RU" dirty="0"/>
              <a:t>Каждый, кто изменяет модель, должен помнить про </a:t>
            </a:r>
            <a:r>
              <a:rPr lang="en-US" dirty="0"/>
              <a:t>Notify().</a:t>
            </a:r>
          </a:p>
          <a:p>
            <a:r>
              <a:rPr lang="ru-RU" dirty="0"/>
              <a:t>Лучше: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Drawing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public: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void </a:t>
            </a:r>
            <a:r>
              <a:rPr lang="en-US" dirty="0" err="1">
                <a:latin typeface="Consolas" panose="020B0609020204030204" pitchFamily="49" charset="0"/>
              </a:rPr>
              <a:t>MoveShape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IShape</a:t>
            </a:r>
            <a:r>
              <a:rPr lang="en-US" dirty="0">
                <a:latin typeface="Consolas" panose="020B0609020204030204" pitchFamily="49" charset="0"/>
              </a:rPr>
              <a:t>&amp; shape, Vector2 offset)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ru-RU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shape.MoveBy</a:t>
            </a:r>
            <a:r>
              <a:rPr lang="en-US" dirty="0">
                <a:latin typeface="Consolas" panose="020B0609020204030204" pitchFamily="49" charset="0"/>
              </a:rPr>
              <a:t>(offset);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  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NotifyListeners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};</a:t>
            </a:r>
          </a:p>
          <a:p>
            <a:r>
              <a:rPr lang="ru-RU" dirty="0"/>
              <a:t>Контроллер:</a:t>
            </a:r>
          </a:p>
          <a:p>
            <a:pPr lvl="1"/>
            <a:r>
              <a:rPr lang="en-US" dirty="0" err="1"/>
              <a:t>m_drawing.MoveShape</a:t>
            </a:r>
            <a:r>
              <a:rPr lang="en-US" dirty="0"/>
              <a:t>(*</a:t>
            </a:r>
            <a:r>
              <a:rPr lang="en-US" dirty="0" err="1"/>
              <a:t>selectedShape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lang="en-US" dirty="0"/>
              <a:t>point - </a:t>
            </a:r>
            <a:r>
              <a:rPr lang="en-US" dirty="0" err="1"/>
              <a:t>m_lastMousePosition</a:t>
            </a:r>
            <a:r>
              <a:rPr lang="en-US" dirty="0"/>
              <a:t>);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07475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D2910-D728-2787-8E61-D98BC5469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Подписчики</a:t>
            </a:r>
            <a:r>
              <a:rPr lang="en-US" dirty="0"/>
              <a:t> </a:t>
            </a:r>
            <a:r>
              <a:rPr lang="en-US" dirty="0" err="1"/>
              <a:t>реагируют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CDAFC-058F-5F41-A80C-A8690BA88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4026" cy="4351338"/>
          </a:xfrm>
        </p:spPr>
        <p:txBody>
          <a:bodyPr/>
          <a:lstStyle/>
          <a:p>
            <a:r>
              <a:rPr lang="en-US" dirty="0"/>
              <a:t>View </a:t>
            </a:r>
            <a:r>
              <a:rPr lang="ru-RU" dirty="0"/>
              <a:t>подписывается на изменения</a:t>
            </a:r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CanvasView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обязан</a:t>
            </a:r>
            <a:r>
              <a:rPr lang="en-US" dirty="0"/>
              <a:t> </a:t>
            </a:r>
            <a:r>
              <a:rPr lang="en-US" dirty="0" err="1"/>
              <a:t>подписываться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нужно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38276-D565-28A9-5AAE-30D0B8D936BB}"/>
              </a:ext>
            </a:extLst>
          </p:cNvPr>
          <p:cNvSpPr txBox="1"/>
          <p:nvPr/>
        </p:nvSpPr>
        <p:spPr>
          <a:xfrm>
            <a:off x="6239776" y="1911235"/>
            <a:ext cx="595222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ShapeListView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IDrawingListener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OnDrawingChanged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7896643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0E1-4333-0E5E-B277-C5809443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получили</a:t>
            </a:r>
            <a:r>
              <a:rPr lang="en-US" dirty="0"/>
              <a:t> Observer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F8C4D5-C734-8636-A47E-71AF103444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19982" cy="2125273"/>
          </a:xfrm>
        </p:spPr>
        <p:txBody>
          <a:bodyPr/>
          <a:lstStyle/>
          <a:p>
            <a:r>
              <a:rPr lang="en-US" dirty="0" err="1"/>
              <a:t>То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построили</a:t>
            </a:r>
            <a:r>
              <a:rPr lang="en-US" dirty="0"/>
              <a:t>, — </a:t>
            </a:r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паттерн</a:t>
            </a:r>
            <a:r>
              <a:rPr lang="en-US" dirty="0"/>
              <a:t> </a:t>
            </a:r>
            <a:r>
              <a:rPr lang="en-US" b="1" dirty="0"/>
              <a:t>Observer</a:t>
            </a:r>
          </a:p>
          <a:p>
            <a:pPr lvl="1"/>
            <a:r>
              <a:rPr lang="en-US" dirty="0"/>
              <a:t>Subject → Drawing</a:t>
            </a:r>
          </a:p>
          <a:p>
            <a:pPr lvl="1"/>
            <a:r>
              <a:rPr lang="en-US" dirty="0"/>
              <a:t>Observer → </a:t>
            </a:r>
            <a:r>
              <a:rPr lang="en-US" dirty="0" err="1"/>
              <a:t>IDrawingListener</a:t>
            </a:r>
            <a:endParaRPr lang="en-US" dirty="0"/>
          </a:p>
          <a:p>
            <a:pPr lvl="1"/>
            <a:r>
              <a:rPr lang="en-US" dirty="0" err="1"/>
              <a:t>ConcreteObserver</a:t>
            </a:r>
            <a:r>
              <a:rPr lang="en-US" dirty="0"/>
              <a:t> → </a:t>
            </a:r>
            <a:r>
              <a:rPr lang="en-US" dirty="0" err="1"/>
              <a:t>ShapeListView</a:t>
            </a:r>
            <a:r>
              <a:rPr lang="en-US" dirty="0"/>
              <a:t>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170017D-A3BE-F8BF-BADE-D14625E6B92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058182" y="1825625"/>
            <a:ext cx="4295618" cy="1822383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C0D37A5-51F3-F988-FC29-2512824AC2A6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38200" y="4096140"/>
            <a:ext cx="10515600" cy="212527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Observer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источнику</a:t>
            </a:r>
            <a:r>
              <a:rPr lang="en-US" dirty="0"/>
              <a:t> </a:t>
            </a:r>
            <a:r>
              <a:rPr lang="en-US" dirty="0" err="1"/>
              <a:t>сообщать</a:t>
            </a:r>
            <a:r>
              <a:rPr lang="en-US" dirty="0"/>
              <a:t> </a:t>
            </a:r>
            <a:r>
              <a:rPr lang="en-US" dirty="0" err="1"/>
              <a:t>произвольному</a:t>
            </a:r>
            <a:r>
              <a:rPr lang="en-US" dirty="0"/>
              <a:t> </a:t>
            </a:r>
            <a:r>
              <a:rPr lang="en-US" dirty="0" err="1"/>
              <a:t>числу</a:t>
            </a:r>
            <a:r>
              <a:rPr lang="en-US" dirty="0"/>
              <a:t> </a:t>
            </a:r>
            <a:r>
              <a:rPr lang="en-US" dirty="0" err="1"/>
              <a:t>подписчиков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изменениях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зная</a:t>
            </a:r>
            <a:r>
              <a:rPr lang="en-US" dirty="0"/>
              <a:t>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конкретных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.</a:t>
            </a:r>
          </a:p>
          <a:p>
            <a:r>
              <a:rPr lang="en-US" b="1" dirty="0"/>
              <a:t>OCP:</a:t>
            </a:r>
            <a:r>
              <a:rPr lang="en-US" dirty="0"/>
              <a:t> </a:t>
            </a:r>
            <a:r>
              <a:rPr lang="en-US" dirty="0" err="1"/>
              <a:t>новый</a:t>
            </a:r>
            <a:r>
              <a:rPr lang="en-US" dirty="0"/>
              <a:t> </a:t>
            </a:r>
            <a:r>
              <a:rPr lang="en-US" dirty="0" err="1"/>
              <a:t>подписчик</a:t>
            </a:r>
            <a:r>
              <a:rPr lang="en-US" dirty="0"/>
              <a:t> </a:t>
            </a:r>
            <a:r>
              <a:rPr lang="en-US" dirty="0" err="1"/>
              <a:t>подключается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Drawing и Controller.</a:t>
            </a:r>
          </a:p>
          <a:p>
            <a:r>
              <a:rPr lang="en-US" b="1" dirty="0"/>
              <a:t>Coupling:</a:t>
            </a:r>
            <a:r>
              <a:rPr lang="en-US" dirty="0"/>
              <a:t> Model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зависит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конкретных</a:t>
            </a:r>
            <a:r>
              <a:rPr lang="en-US" dirty="0"/>
              <a:t> View.</a:t>
            </a:r>
          </a:p>
          <a:p>
            <a:r>
              <a:rPr lang="en-US" dirty="0"/>
              <a:t>KISS/YAGNI: Observer </a:t>
            </a:r>
            <a:r>
              <a:rPr lang="en-US" dirty="0" err="1"/>
              <a:t>появился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тогда</a:t>
            </a:r>
            <a:r>
              <a:rPr lang="en-US" dirty="0"/>
              <a:t>, </a:t>
            </a:r>
            <a:r>
              <a:rPr lang="ru-RU" dirty="0"/>
              <a:t>стало недостаточно перечитывать состояние </a:t>
            </a:r>
            <a:r>
              <a:rPr lang="en-US" dirty="0"/>
              <a:t>в </a:t>
            </a:r>
            <a:r>
              <a:rPr lang="en-US" dirty="0" err="1"/>
              <a:t>одном</a:t>
            </a:r>
            <a:r>
              <a:rPr lang="en-US" dirty="0"/>
              <a:t> View.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2355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330A5-0BED-D5DA-7F22-DDE73F3FC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OnDrawingChanged</a:t>
            </a:r>
            <a:r>
              <a:rPr lang="en-US" dirty="0"/>
              <a:t>()?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7203AC3-8F9D-B61C-C8C5-BE82EF8EF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подписчик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ru-RU" dirty="0"/>
              <a:t>только уведомление, что </a:t>
            </a:r>
            <a:r>
              <a:rPr lang="en-US" dirty="0"/>
              <a:t>Drawing</a:t>
            </a:r>
            <a:r>
              <a:rPr lang="ru-RU" dirty="0"/>
              <a:t> изменился.</a:t>
            </a:r>
            <a:endParaRPr lang="en-US" dirty="0"/>
          </a:p>
          <a:p>
            <a:r>
              <a:rPr lang="ru-RU" dirty="0"/>
              <a:t>Изменения бывают разными:</a:t>
            </a:r>
          </a:p>
          <a:p>
            <a:pPr lvl="1"/>
            <a:r>
              <a:rPr lang="ru-RU" dirty="0"/>
              <a:t>Фигура добавилась</a:t>
            </a:r>
          </a:p>
          <a:p>
            <a:pPr lvl="1"/>
            <a:r>
              <a:rPr lang="ru-RU" dirty="0"/>
              <a:t>Фигура удалена</a:t>
            </a:r>
          </a:p>
          <a:p>
            <a:pPr lvl="1"/>
            <a:r>
              <a:rPr lang="ru-RU" dirty="0"/>
              <a:t>Фигура перемещена</a:t>
            </a:r>
          </a:p>
          <a:p>
            <a:pPr lvl="1"/>
            <a:r>
              <a:rPr lang="en-US" dirty="0" err="1"/>
              <a:t>ZOrder</a:t>
            </a:r>
            <a:r>
              <a:rPr lang="en-US" dirty="0"/>
              <a:t> </a:t>
            </a:r>
            <a:r>
              <a:rPr lang="ru-RU" dirty="0"/>
              <a:t>изменился</a:t>
            </a:r>
            <a:endParaRPr lang="en-US" dirty="0"/>
          </a:p>
          <a:p>
            <a:r>
              <a:rPr lang="ru-RU" dirty="0"/>
              <a:t>Возможно, лучше добавить несколько специализированных событий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5444318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B7C9E9-24BB-11A9-12A2-DE8CAC10F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именно произошло? От </a:t>
            </a:r>
            <a:r>
              <a:rPr lang="ru-RU" dirty="0" err="1"/>
              <a:t>Changed</a:t>
            </a:r>
            <a:r>
              <a:rPr lang="ru-RU" dirty="0"/>
              <a:t> к событиям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053430-859C-1CEA-BC1E-80E23EC2B1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0980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F67890-D00B-177D-C656-D4D19E11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OnDrawingChanged</a:t>
            </a:r>
            <a:r>
              <a:rPr lang="en-US" dirty="0"/>
              <a:t>()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слишком</a:t>
            </a:r>
            <a:r>
              <a:rPr lang="en-US" dirty="0"/>
              <a:t> </a:t>
            </a:r>
            <a:r>
              <a:rPr lang="en-US" dirty="0" err="1"/>
              <a:t>мало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16FDF9A-6FA0-E277-D11E-E7D9B4694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изменилось</a:t>
            </a:r>
            <a:r>
              <a:rPr lang="en-US" dirty="0"/>
              <a:t>?</a:t>
            </a:r>
          </a:p>
          <a:p>
            <a:r>
              <a:rPr lang="ru-RU" dirty="0"/>
              <a:t>За одним вызовом </a:t>
            </a:r>
            <a:r>
              <a:rPr lang="en-US" dirty="0" err="1"/>
              <a:t>OnDrawingChanged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скрываться</a:t>
            </a:r>
            <a:r>
              <a:rPr lang="en-US" dirty="0"/>
              <a:t> </a:t>
            </a:r>
            <a:r>
              <a:rPr lang="en-US" dirty="0" err="1"/>
              <a:t>разные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.</a:t>
            </a:r>
          </a:p>
          <a:p>
            <a:r>
              <a:rPr lang="ru-RU" dirty="0"/>
              <a:t>Д</a:t>
            </a:r>
            <a:r>
              <a:rPr lang="en-US" dirty="0" err="1"/>
              <a:t>олжен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View </a:t>
            </a:r>
            <a:r>
              <a:rPr lang="en-US" dirty="0" err="1"/>
              <a:t>заново</a:t>
            </a:r>
            <a:r>
              <a:rPr lang="en-US" dirty="0"/>
              <a:t> </a:t>
            </a:r>
            <a:r>
              <a:rPr lang="en-US" dirty="0" err="1"/>
              <a:t>выяснять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произошло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84549029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D7DC2-A468-F8E0-E04E-6A08A8206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Передадим</a:t>
            </a:r>
            <a:r>
              <a:rPr lang="en-US" dirty="0"/>
              <a:t> </a:t>
            </a:r>
            <a:r>
              <a:rPr lang="en-US" dirty="0" err="1"/>
              <a:t>описание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F6B49-CC14-A058-0F40-BA587EB59C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76336" cy="4351338"/>
          </a:xfrm>
        </p:spPr>
        <p:txBody>
          <a:bodyPr/>
          <a:lstStyle/>
          <a:p>
            <a:r>
              <a:rPr lang="ru-RU" dirty="0"/>
              <a:t>Сделаем событие информативнее</a:t>
            </a:r>
            <a:endParaRPr lang="en-US" dirty="0"/>
          </a:p>
          <a:p>
            <a:pPr lvl="1"/>
            <a:r>
              <a:rPr lang="ru-RU" dirty="0"/>
              <a:t>Передадим описание события</a:t>
            </a:r>
          </a:p>
          <a:p>
            <a:r>
              <a:rPr lang="ru-RU" dirty="0"/>
              <a:t>Мы начали формировать протокол событий</a:t>
            </a:r>
          </a:p>
          <a:p>
            <a:pPr lvl="1"/>
            <a:r>
              <a:rPr lang="ru-RU" dirty="0"/>
              <a:t>Чем больше возможностей в редакторе, чем сложнее становится протокол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0CC61E-C813-D44E-754E-0F3C901FD3D5}"/>
              </a:ext>
            </a:extLst>
          </p:cNvPr>
          <p:cNvSpPr txBox="1"/>
          <p:nvPr/>
        </p:nvSpPr>
        <p:spPr>
          <a:xfrm>
            <a:off x="6314536" y="1825625"/>
            <a:ext cx="50392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DrawingEventType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ShapeAdded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ShapeRemoved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ShapeChanged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DrawingEvent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DrawingEventType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type;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shape;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IDrawingListener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IDrawingListener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OnDrawingChanged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7171179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7186F-01FA-F02A-A584-46FE9EC18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подписчика</a:t>
            </a:r>
            <a:r>
              <a:rPr lang="en-US" dirty="0"/>
              <a:t> </a:t>
            </a:r>
            <a:r>
              <a:rPr lang="en-US" dirty="0" err="1"/>
              <a:t>интересуют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B2905-F36F-8689-F73F-D315131BF2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3495139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Подписчик решает, какие из событий ему интересны</a:t>
            </a:r>
          </a:p>
          <a:p>
            <a:pPr lvl="1"/>
            <a:r>
              <a:rPr lang="ru-RU" dirty="0"/>
              <a:t>Появляется цепочка </a:t>
            </a:r>
            <a:r>
              <a:rPr lang="en-US" dirty="0"/>
              <a:t>if </a:t>
            </a:r>
            <a:r>
              <a:rPr lang="ru-RU" dirty="0"/>
              <a:t>или </a:t>
            </a:r>
            <a:r>
              <a:rPr lang="en-US" dirty="0"/>
              <a:t>switch</a:t>
            </a:r>
          </a:p>
          <a:p>
            <a:r>
              <a:rPr lang="ru-RU" dirty="0"/>
              <a:t>Некоторые события могут быть не нужны</a:t>
            </a:r>
          </a:p>
          <a:p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подписчик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реализовывать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протокол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интересуют</a:t>
            </a:r>
            <a:r>
              <a:rPr lang="en-US" dirty="0"/>
              <a:t>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B63A89-1223-5DB1-6F4F-55138956F7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320764"/>
            <a:ext cx="10515600" cy="85619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ISP:</a:t>
            </a:r>
            <a:r>
              <a:rPr lang="en-US" dirty="0"/>
              <a:t> </a:t>
            </a:r>
            <a:r>
              <a:rPr lang="en-US" dirty="0" err="1"/>
              <a:t>клиенту</a:t>
            </a:r>
            <a:r>
              <a:rPr lang="en-US" dirty="0"/>
              <a:t> </a:t>
            </a:r>
            <a:r>
              <a:rPr lang="en-US" dirty="0" err="1"/>
              <a:t>лучше</a:t>
            </a:r>
            <a:r>
              <a:rPr lang="en-US" dirty="0"/>
              <a:t> </a:t>
            </a:r>
            <a:r>
              <a:rPr lang="en-US" dirty="0" err="1"/>
              <a:t>зависеть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тех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ему</a:t>
            </a:r>
            <a:r>
              <a:rPr lang="en-US" dirty="0"/>
              <a:t>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нужны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31C75-80A7-E920-D423-F72EAF3D786A}"/>
              </a:ext>
            </a:extLst>
          </p:cNvPr>
          <p:cNvSpPr txBox="1"/>
          <p:nvPr/>
        </p:nvSpPr>
        <p:spPr>
          <a:xfrm>
            <a:off x="6280029" y="1781334"/>
            <a:ext cx="507377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SomeView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OnDrawingChanged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DrawingEventType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ShapeAdded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DrawingEventType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ShapeRemoved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DrawingEventType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ShapeChanged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3253920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3BC4F-9014-402E-B703-B69FE6EE0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Подписываемся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конкретные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15F04-4582-48D0-EAD8-12A500E0F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 err="1"/>
              <a:t>Подписчик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обязательно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endParaRPr lang="en-US" dirty="0"/>
          </a:p>
          <a:p>
            <a:r>
              <a:rPr lang="ru-RU" dirty="0"/>
              <a:t>Для обработки события нам нужна функция, которую нужно вызвать при наступлении события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F533F8-220D-15F9-ACEF-F3D69BD87929}"/>
              </a:ext>
            </a:extLst>
          </p:cNvPr>
          <p:cNvSpPr txBox="1"/>
          <p:nvPr/>
        </p:nvSpPr>
        <p:spPr>
          <a:xfrm>
            <a:off x="6258464" y="1825625"/>
            <a:ext cx="609887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Drawing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ShapeAddedCallback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=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&amp;)&gt;;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SubscribeShapeAdded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ShapeAddedCallback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UnsubscribeShapeAdded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token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drawing.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SubscribeShapeAdded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([](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Обработка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события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добавления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фигуры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39597919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A999B-4B3C-DD67-4D0D-3E107C7DF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Сигналы</a:t>
            </a:r>
            <a:r>
              <a:rPr lang="en-US" dirty="0"/>
              <a:t> и </a:t>
            </a:r>
            <a:r>
              <a:rPr lang="en-US" dirty="0" err="1"/>
              <a:t>слоты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525A4-4B8D-BC60-C725-5182411948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989771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Обобщим механизм подписки</a:t>
            </a:r>
          </a:p>
          <a:p>
            <a:pPr lvl="1"/>
            <a:r>
              <a:rPr lang="en-US" dirty="0"/>
              <a:t>Signal&lt;</a:t>
            </a:r>
            <a:r>
              <a:rPr lang="en-US" dirty="0" err="1"/>
              <a:t>IShape</a:t>
            </a:r>
            <a:r>
              <a:rPr lang="en-US" dirty="0"/>
              <a:t>&amp;&gt;</a:t>
            </a:r>
          </a:p>
          <a:p>
            <a:pPr lvl="2"/>
            <a:r>
              <a:rPr lang="ru-RU" dirty="0"/>
              <a:t>Хранит список функций-обработчиков (слоты)</a:t>
            </a:r>
          </a:p>
          <a:p>
            <a:pPr lvl="1"/>
            <a:r>
              <a:rPr lang="ru-RU" dirty="0"/>
              <a:t>Когда испускается сигнал, вызываются все подписанные  обработчики</a:t>
            </a:r>
          </a:p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есть библиотеки, вроде </a:t>
            </a:r>
            <a:r>
              <a:rPr lang="en-US" dirty="0"/>
              <a:t>boost::signals2</a:t>
            </a:r>
          </a:p>
          <a:p>
            <a:r>
              <a:rPr lang="ru-RU" dirty="0"/>
              <a:t>В других языках: события, делегаты, сигналы, </a:t>
            </a:r>
            <a:r>
              <a:rPr lang="en-US" dirty="0"/>
              <a:t>callbacks</a:t>
            </a:r>
          </a:p>
          <a:p>
            <a:r>
              <a:rPr lang="ru-RU" dirty="0"/>
              <a:t>Сигналы-слоты – один из механизмов реализации паттерна </a:t>
            </a:r>
            <a:r>
              <a:rPr lang="en-US" dirty="0"/>
              <a:t>Observer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3F5D33F5-DE20-2176-B0D2-EE52B2E187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0142" y="1690688"/>
            <a:ext cx="4241487" cy="30387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D55BF52-E9CB-E05A-B992-C3F201A35E33}"/>
              </a:ext>
            </a:extLst>
          </p:cNvPr>
          <p:cNvSpPr txBox="1"/>
          <p:nvPr/>
        </p:nvSpPr>
        <p:spPr>
          <a:xfrm>
            <a:off x="6952888" y="4982646"/>
            <a:ext cx="4083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https://youtu.be/jPcP1owBZCY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E1FC41D-2FAD-B6B8-9F9E-8C1B325AFA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02785" y="4982646"/>
            <a:ext cx="1417688" cy="14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09206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E9B1C-DFFB-968C-0A71-929C93451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Редактор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расти</a:t>
            </a:r>
            <a:r>
              <a:rPr lang="en-US" dirty="0"/>
              <a:t>: </a:t>
            </a:r>
            <a:r>
              <a:rPr lang="en-US" dirty="0" err="1"/>
              <a:t>следующие</a:t>
            </a:r>
            <a:r>
              <a:rPr lang="en-US" dirty="0"/>
              <a:t> </a:t>
            </a:r>
            <a:r>
              <a:rPr lang="en-US" dirty="0" err="1"/>
              <a:t>решения</a:t>
            </a:r>
            <a:r>
              <a:rPr lang="en-US" dirty="0"/>
              <a:t> — </a:t>
            </a:r>
            <a:r>
              <a:rPr lang="en-US" dirty="0" err="1"/>
              <a:t>ваши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F91D-31DE-ED81-F9A7-35223A463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3747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32D0EF-4959-E882-C0E5-3BE2DE79B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Архитектура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закончена</a:t>
            </a:r>
            <a:endParaRPr lang="en-US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9E1C6746-9979-6865-EB56-1AA1E97405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13927" y="1825625"/>
            <a:ext cx="6364145" cy="4351338"/>
          </a:xfrm>
        </p:spPr>
      </p:pic>
    </p:spTree>
    <p:extLst>
      <p:ext uri="{BB962C8B-B14F-4D97-AF65-F5344CB8AC3E}">
        <p14:creationId xmlns:p14="http://schemas.microsoft.com/office/powerpoint/2010/main" val="3544782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B7738-6468-2505-8CA4-10CDF6BBC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каждой</a:t>
            </a:r>
            <a:r>
              <a:rPr lang="en-US" dirty="0"/>
              <a:t> </a:t>
            </a:r>
            <a:r>
              <a:rPr lang="en-US" dirty="0" err="1"/>
              <a:t>фигуре</a:t>
            </a:r>
            <a:r>
              <a:rPr lang="en-US" dirty="0"/>
              <a:t> </a:t>
            </a:r>
            <a:r>
              <a:rPr lang="en-US" dirty="0" err="1"/>
              <a:t>свой</a:t>
            </a:r>
            <a:r>
              <a:rPr lang="en-US" dirty="0"/>
              <a:t> View?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B77C7-5728-579B-107D-A62B62B25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CanvasView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сложнее</a:t>
            </a:r>
            <a:endParaRPr lang="en-US" dirty="0"/>
          </a:p>
          <a:p>
            <a:pPr lvl="1"/>
            <a:r>
              <a:rPr lang="ru-RU" dirty="0"/>
              <a:t>Рамка трансформации, маркеры изменения размера и т.п.</a:t>
            </a:r>
          </a:p>
          <a:p>
            <a:r>
              <a:rPr lang="ru-RU" dirty="0"/>
              <a:t>Нужно ли для отображения каждой фигуры создавать отдельный объект </a:t>
            </a:r>
            <a:r>
              <a:rPr lang="en-US" dirty="0"/>
              <a:t>View</a:t>
            </a:r>
            <a:r>
              <a:rPr lang="ru-RU" dirty="0"/>
              <a:t> (</a:t>
            </a:r>
            <a:r>
              <a:rPr lang="en-US" dirty="0" err="1"/>
              <a:t>RectangleView</a:t>
            </a:r>
            <a:r>
              <a:rPr lang="en-US" dirty="0"/>
              <a:t>, </a:t>
            </a:r>
            <a:r>
              <a:rPr lang="en-US" dirty="0" err="1"/>
              <a:t>EllipseView</a:t>
            </a:r>
            <a:r>
              <a:rPr lang="en-US" dirty="0"/>
              <a:t>)?</a:t>
            </a:r>
          </a:p>
          <a:p>
            <a:r>
              <a:rPr lang="ru-RU" dirty="0"/>
              <a:t>Если да, то кто должен создавать нужный</a:t>
            </a:r>
            <a:r>
              <a:rPr lang="en-US" dirty="0"/>
              <a:t> View</a:t>
            </a:r>
            <a:r>
              <a:rPr lang="ru-RU" dirty="0"/>
              <a:t> при появлении фигуры</a:t>
            </a:r>
            <a:r>
              <a:rPr lang="en-US" dirty="0"/>
              <a:t>?</a:t>
            </a:r>
          </a:p>
          <a:p>
            <a:r>
              <a:rPr lang="ru-RU" dirty="0"/>
              <a:t>Кто должен удалять этот </a:t>
            </a:r>
            <a:r>
              <a:rPr lang="en-US" dirty="0"/>
              <a:t>View?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06590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AE57-32EB-1198-98D6-7BB59C8CE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сообщать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изменении</a:t>
            </a:r>
            <a:r>
              <a:rPr lang="en-US" dirty="0"/>
              <a:t> </a:t>
            </a:r>
            <a:r>
              <a:rPr lang="en-US" dirty="0" err="1"/>
              <a:t>фигуры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8D276-07DB-7CD2-F21A-1662CC6D5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Вопросы</a:t>
            </a:r>
            <a:r>
              <a:rPr lang="en-US" dirty="0"/>
              <a:t>:</a:t>
            </a:r>
          </a:p>
          <a:p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IShape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наблюдаемыми</a:t>
            </a:r>
            <a:r>
              <a:rPr lang="en-US" dirty="0"/>
              <a:t>?</a:t>
            </a:r>
          </a:p>
          <a:p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проходить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Drawing?</a:t>
            </a:r>
          </a:p>
          <a:p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подписывается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сотни</a:t>
            </a:r>
            <a:r>
              <a:rPr lang="en-US" dirty="0"/>
              <a:t> </a:t>
            </a:r>
            <a:r>
              <a:rPr lang="en-US" dirty="0" err="1"/>
              <a:t>фигур</a:t>
            </a:r>
            <a:r>
              <a:rPr lang="en-US" dirty="0"/>
              <a:t>?</a:t>
            </a:r>
          </a:p>
          <a:p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Drawing </a:t>
            </a:r>
            <a:r>
              <a:rPr lang="en-US" dirty="0" err="1"/>
              <a:t>переиздавать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своих</a:t>
            </a:r>
            <a:r>
              <a:rPr lang="en-US" dirty="0"/>
              <a:t> </a:t>
            </a:r>
            <a:r>
              <a:rPr lang="en-US" dirty="0" err="1"/>
              <a:t>детей</a:t>
            </a:r>
            <a:r>
              <a:rPr lang="en-US" dirty="0"/>
              <a:t>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20812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0E3A6-4515-A2A6-8D40-26CED0161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изменится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множественном</a:t>
            </a:r>
            <a:r>
              <a:rPr lang="en-US" dirty="0"/>
              <a:t> </a:t>
            </a:r>
            <a:r>
              <a:rPr lang="en-US" dirty="0" err="1"/>
              <a:t>выборе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EA570-2A05-7B03-7EF7-C91FC9B06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Выделяем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фигуру</a:t>
            </a:r>
            <a:r>
              <a:rPr lang="en-US" dirty="0"/>
              <a:t>, а </a:t>
            </a:r>
            <a:r>
              <a:rPr lang="en-US" dirty="0" err="1"/>
              <a:t>несколько</a:t>
            </a:r>
            <a:endParaRPr lang="en-US" dirty="0"/>
          </a:p>
          <a:p>
            <a:r>
              <a:rPr lang="ru-RU" dirty="0"/>
              <a:t>Вопросы:</a:t>
            </a:r>
          </a:p>
          <a:p>
            <a:pPr lvl="1"/>
            <a:r>
              <a:rPr lang="ru-RU" dirty="0"/>
              <a:t>Достаточно ли заменить указатель контейнером указателей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Как реализовать </a:t>
            </a:r>
            <a:r>
              <a:rPr lang="en-US" dirty="0"/>
              <a:t>drag</a:t>
            </a:r>
            <a:r>
              <a:rPr lang="ru-RU" dirty="0"/>
              <a:t> всей выделенной группы</a:t>
            </a:r>
            <a:r>
              <a:rPr lang="en-US" dirty="0"/>
              <a:t>?</a:t>
            </a:r>
            <a:endParaRPr lang="ru-RU" dirty="0"/>
          </a:p>
          <a:p>
            <a:pPr lvl="1"/>
            <a:r>
              <a:rPr lang="ru-RU" dirty="0"/>
              <a:t>Как реализовать </a:t>
            </a:r>
            <a:r>
              <a:rPr lang="ru-RU" dirty="0" err="1"/>
              <a:t>ресайз</a:t>
            </a:r>
            <a:r>
              <a:rPr lang="ru-RU" dirty="0"/>
              <a:t> всей выделенной группы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Как обработать удаление выделенных фигур</a:t>
            </a:r>
            <a:r>
              <a:rPr lang="en-US" dirty="0"/>
              <a:t>?</a:t>
            </a:r>
          </a:p>
          <a:p>
            <a:r>
              <a:rPr lang="en-US" dirty="0" err="1"/>
              <a:t>Одно</a:t>
            </a:r>
            <a:r>
              <a:rPr lang="en-US" dirty="0"/>
              <a:t> </a:t>
            </a:r>
            <a:r>
              <a:rPr lang="en-US" dirty="0" err="1"/>
              <a:t>небольшое</a:t>
            </a:r>
            <a:r>
              <a:rPr lang="en-US" dirty="0"/>
              <a:t> </a:t>
            </a:r>
            <a:r>
              <a:rPr lang="en-US" dirty="0" err="1"/>
              <a:t>требование</a:t>
            </a:r>
            <a:r>
              <a:rPr lang="en-US" dirty="0"/>
              <a:t> </a:t>
            </a:r>
            <a:r>
              <a:rPr lang="en-US" dirty="0" err="1"/>
              <a:t>затрагивает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архитектурных</a:t>
            </a:r>
            <a:r>
              <a:rPr lang="en-US" dirty="0"/>
              <a:t> </a:t>
            </a:r>
            <a:r>
              <a:rPr lang="en-US" dirty="0" err="1"/>
              <a:t>ролей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83206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8560F-D7EA-6594-1A23-8FCCEF23F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вопросы</a:t>
            </a:r>
            <a:r>
              <a:rPr lang="en-US" dirty="0"/>
              <a:t> </a:t>
            </a:r>
            <a:r>
              <a:rPr lang="en-US" dirty="0" err="1"/>
              <a:t>задавать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следующем</a:t>
            </a:r>
            <a:r>
              <a:rPr lang="en-US" dirty="0"/>
              <a:t> </a:t>
            </a:r>
            <a:r>
              <a:rPr lang="en-US" dirty="0" err="1"/>
              <a:t>изменении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2373A-B0EE-128D-BF93-74B3CC393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US" dirty="0" err="1"/>
              <a:t>Какое</a:t>
            </a:r>
            <a:r>
              <a:rPr lang="en-US" dirty="0"/>
              <a:t> </a:t>
            </a:r>
            <a:r>
              <a:rPr lang="en-US" dirty="0" err="1"/>
              <a:t>новое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появилось</a:t>
            </a:r>
            <a:r>
              <a:rPr lang="en-US" dirty="0"/>
              <a:t>?</a:t>
            </a:r>
          </a:p>
          <a:p>
            <a:pPr lvl="0"/>
            <a:r>
              <a:rPr lang="en-US" dirty="0" err="1"/>
              <a:t>Кому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принадлежит</a:t>
            </a:r>
            <a:r>
              <a:rPr lang="en-US" dirty="0"/>
              <a:t>?</a:t>
            </a:r>
          </a:p>
          <a:p>
            <a:pPr lvl="0"/>
            <a:r>
              <a:rPr lang="en-US" dirty="0" err="1"/>
              <a:t>Каково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жизни</a:t>
            </a:r>
            <a:r>
              <a:rPr lang="en-US" dirty="0"/>
              <a:t>?</a:t>
            </a:r>
          </a:p>
          <a:p>
            <a:pPr lvl="0"/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изменяет</a:t>
            </a:r>
            <a:r>
              <a:rPr lang="en-US" dirty="0"/>
              <a:t>?</a:t>
            </a:r>
          </a:p>
          <a:p>
            <a:pPr lvl="0"/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читает</a:t>
            </a:r>
            <a:r>
              <a:rPr lang="en-US" dirty="0"/>
              <a:t>?</a:t>
            </a:r>
          </a:p>
          <a:p>
            <a:pPr lvl="0"/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причины</a:t>
            </a:r>
            <a:r>
              <a:rPr lang="en-US" dirty="0"/>
              <a:t> </a:t>
            </a:r>
            <a:r>
              <a:rPr lang="en-US" dirty="0" err="1"/>
              <a:t>изменения</a:t>
            </a:r>
            <a:r>
              <a:rPr lang="en-US" dirty="0"/>
              <a:t> </a:t>
            </a:r>
            <a:r>
              <a:rPr lang="en-US" dirty="0" err="1"/>
              <a:t>сейчас</a:t>
            </a:r>
            <a:r>
              <a:rPr lang="en-US" dirty="0"/>
              <a:t> </a:t>
            </a:r>
            <a:r>
              <a:rPr lang="en-US" dirty="0" err="1"/>
              <a:t>смешались</a:t>
            </a:r>
            <a:r>
              <a:rPr lang="en-US" dirty="0"/>
              <a:t>?</a:t>
            </a:r>
          </a:p>
          <a:p>
            <a:pPr lvl="0"/>
            <a:r>
              <a:rPr lang="en-US" dirty="0" err="1"/>
              <a:t>Какая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появилась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?</a:t>
            </a:r>
          </a:p>
          <a:p>
            <a:pPr lvl="0"/>
            <a:r>
              <a:rPr lang="en-US" dirty="0" err="1"/>
              <a:t>Какую</a:t>
            </a:r>
            <a:r>
              <a:rPr lang="en-US" dirty="0"/>
              <a:t> </a:t>
            </a:r>
            <a:r>
              <a:rPr lang="en-US" dirty="0" err="1"/>
              <a:t>ось</a:t>
            </a:r>
            <a:r>
              <a:rPr lang="en-US" dirty="0"/>
              <a:t> </a:t>
            </a:r>
            <a:r>
              <a:rPr lang="en-US" dirty="0" err="1"/>
              <a:t>будущих</a:t>
            </a:r>
            <a:r>
              <a:rPr lang="en-US" dirty="0"/>
              <a:t> </a:t>
            </a:r>
            <a:r>
              <a:rPr lang="en-US" dirty="0" err="1"/>
              <a:t>изменений</a:t>
            </a:r>
            <a:r>
              <a:rPr lang="en-US" dirty="0"/>
              <a:t> </a:t>
            </a:r>
            <a:r>
              <a:rPr lang="en-US" dirty="0" err="1"/>
              <a:t>действительно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сделать</a:t>
            </a:r>
            <a:r>
              <a:rPr lang="en-US" dirty="0"/>
              <a:t> </a:t>
            </a:r>
            <a:r>
              <a:rPr lang="en-US" dirty="0" err="1"/>
              <a:t>дешёвой</a:t>
            </a:r>
            <a:r>
              <a:rPr lang="en-US" dirty="0"/>
              <a:t>?</a:t>
            </a:r>
          </a:p>
          <a:p>
            <a:pPr lvl="0"/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ли</a:t>
            </a:r>
            <a:r>
              <a:rPr lang="en-US" dirty="0"/>
              <a:t> </a:t>
            </a:r>
            <a:r>
              <a:rPr lang="en-US" dirty="0" err="1"/>
              <a:t>пока</a:t>
            </a:r>
            <a:r>
              <a:rPr lang="en-US" dirty="0"/>
              <a:t> </a:t>
            </a:r>
            <a:r>
              <a:rPr lang="en-US" dirty="0" err="1"/>
              <a:t>решить</a:t>
            </a:r>
            <a:r>
              <a:rPr lang="en-US" dirty="0"/>
              <a:t> </a:t>
            </a:r>
            <a:r>
              <a:rPr lang="en-US" dirty="0" err="1"/>
              <a:t>задачу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603257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EE02F-591A-F074-3C8E-8AEC2DC9E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Архитектуры</a:t>
            </a:r>
            <a:r>
              <a:rPr lang="en-US" dirty="0"/>
              <a:t> GUI-</a:t>
            </a:r>
            <a:r>
              <a:rPr lang="en-US" dirty="0" err="1"/>
              <a:t>приложений</a:t>
            </a:r>
            <a:r>
              <a:rPr lang="en-US" dirty="0"/>
              <a:t> — </a:t>
            </a:r>
            <a:r>
              <a:rPr lang="en-US" dirty="0" err="1"/>
              <a:t>обзор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E099C-3D2D-0DDF-10D7-A5F12C6850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1339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Document–View · MVC · MVP · MVVM</a:t>
            </a:r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лекции</a:t>
            </a:r>
            <a:r>
              <a:rPr lang="en-US" dirty="0"/>
              <a:t> </a:t>
            </a:r>
            <a:r>
              <a:rPr lang="en-US" dirty="0" err="1"/>
              <a:t>попробуйте</a:t>
            </a:r>
            <a:r>
              <a:rPr lang="en-US" dirty="0"/>
              <a:t> </a:t>
            </a:r>
            <a:r>
              <a:rPr lang="en-US" dirty="0" err="1"/>
              <a:t>смотреть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готовых</a:t>
            </a:r>
            <a:r>
              <a:rPr lang="en-US" dirty="0"/>
              <a:t> </a:t>
            </a:r>
            <a:r>
              <a:rPr lang="en-US" dirty="0" err="1"/>
              <a:t>схем</a:t>
            </a:r>
            <a:r>
              <a:rPr lang="en-US" dirty="0"/>
              <a:t>, а </a:t>
            </a:r>
            <a:r>
              <a:rPr lang="en-US" dirty="0" err="1"/>
              <a:t>задавая</a:t>
            </a:r>
            <a:r>
              <a:rPr lang="en-US" dirty="0"/>
              <a:t> </a:t>
            </a:r>
            <a:r>
              <a:rPr lang="en-US" dirty="0" err="1"/>
              <a:t>вопросы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хранится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?</a:t>
            </a:r>
          </a:p>
          <a:p>
            <a:pPr lvl="1"/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отображает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пользователю</a:t>
            </a:r>
            <a:r>
              <a:rPr lang="en-US" dirty="0"/>
              <a:t>?</a:t>
            </a:r>
          </a:p>
          <a:p>
            <a:pPr lvl="1"/>
            <a:r>
              <a:rPr lang="en-US" dirty="0" err="1"/>
              <a:t>Кто</a:t>
            </a:r>
            <a:r>
              <a:rPr lang="en-US" dirty="0"/>
              <a:t> </a:t>
            </a:r>
            <a:r>
              <a:rPr lang="en-US" dirty="0" err="1"/>
              <a:t>интерпретирует</a:t>
            </a:r>
            <a:r>
              <a:rPr lang="en-US" dirty="0"/>
              <a:t> </a:t>
            </a:r>
            <a:r>
              <a:rPr lang="en-US" dirty="0" err="1"/>
              <a:t>пользовательский</a:t>
            </a:r>
            <a:r>
              <a:rPr lang="en-US" dirty="0"/>
              <a:t> </a:t>
            </a:r>
            <a:r>
              <a:rPr lang="en-US" dirty="0" err="1"/>
              <a:t>ввод</a:t>
            </a:r>
            <a:r>
              <a:rPr lang="en-US" dirty="0"/>
              <a:t>?</a:t>
            </a:r>
          </a:p>
          <a:p>
            <a:pPr lvl="1"/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r>
              <a:rPr lang="en-US" dirty="0"/>
              <a:t> </a:t>
            </a:r>
            <a:r>
              <a:rPr lang="en-US" dirty="0" err="1"/>
              <a:t>узнают</a:t>
            </a:r>
            <a:r>
              <a:rPr lang="en-US" dirty="0"/>
              <a:t> </a:t>
            </a:r>
            <a:r>
              <a:rPr lang="en-US" dirty="0" err="1"/>
              <a:t>об</a:t>
            </a:r>
            <a:r>
              <a:rPr lang="en-US" dirty="0"/>
              <a:t> </a:t>
            </a:r>
            <a:r>
              <a:rPr lang="en-US" dirty="0" err="1"/>
              <a:t>изменениях</a:t>
            </a:r>
            <a:r>
              <a:rPr lang="en-US" dirty="0"/>
              <a:t> </a:t>
            </a:r>
            <a:r>
              <a:rPr lang="en-US" dirty="0" err="1"/>
              <a:t>друг</a:t>
            </a:r>
            <a:r>
              <a:rPr lang="en-US" dirty="0"/>
              <a:t> </a:t>
            </a:r>
            <a:r>
              <a:rPr lang="en-US" dirty="0" err="1"/>
              <a:t>друга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В </a:t>
            </a:r>
            <a:r>
              <a:rPr lang="en-US" dirty="0" err="1"/>
              <a:t>каком</a:t>
            </a:r>
            <a:r>
              <a:rPr lang="en-US" dirty="0"/>
              <a:t> </a:t>
            </a:r>
            <a:r>
              <a:rPr lang="en-US" dirty="0" err="1"/>
              <a:t>направлении</a:t>
            </a:r>
            <a:r>
              <a:rPr lang="en-US" dirty="0"/>
              <a:t> </a:t>
            </a:r>
            <a:r>
              <a:rPr lang="en-US" dirty="0" err="1"/>
              <a:t>идут</a:t>
            </a:r>
            <a:r>
              <a:rPr lang="en-US" dirty="0"/>
              <a:t> </a:t>
            </a:r>
            <a:r>
              <a:rPr lang="en-US" dirty="0" err="1"/>
              <a:t>зависимости</a:t>
            </a:r>
            <a:r>
              <a:rPr lang="en-US" dirty="0"/>
              <a:t>?</a:t>
            </a:r>
          </a:p>
          <a:p>
            <a:r>
              <a:rPr lang="en-US" dirty="0" err="1"/>
              <a:t>Теперь</a:t>
            </a:r>
            <a:r>
              <a:rPr lang="en-US" dirty="0"/>
              <a:t> у </a:t>
            </a:r>
            <a:r>
              <a:rPr lang="en-US" dirty="0" err="1"/>
              <a:t>вас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контекст</a:t>
            </a:r>
            <a:r>
              <a:rPr lang="en-US" dirty="0"/>
              <a:t>, </a:t>
            </a:r>
            <a:r>
              <a:rPr lang="en-US" dirty="0" err="1"/>
              <a:t>чтобы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какие</a:t>
            </a:r>
            <a:r>
              <a:rPr lang="en-US" dirty="0"/>
              <a:t> </a:t>
            </a:r>
            <a:r>
              <a:rPr lang="en-US" dirty="0" err="1"/>
              <a:t>проблемы</a:t>
            </a:r>
            <a:r>
              <a:rPr lang="en-US" dirty="0"/>
              <a:t> </a:t>
            </a:r>
            <a:r>
              <a:rPr lang="en-US" dirty="0" err="1"/>
              <a:t>решают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архитектурные</a:t>
            </a:r>
            <a:r>
              <a:rPr lang="en-US" dirty="0"/>
              <a:t> </a:t>
            </a:r>
            <a:r>
              <a:rPr lang="en-US" dirty="0" err="1"/>
              <a:t>паттерны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B09682-6617-38E6-7AA8-9762CEAF37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22" b="3020"/>
          <a:stretch>
            <a:fillRect/>
          </a:stretch>
        </p:blipFill>
        <p:spPr>
          <a:xfrm>
            <a:off x="8679543" y="2042886"/>
            <a:ext cx="3051629" cy="19266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C8127C-12F3-27A4-8C0D-9AD859BD3B65}"/>
              </a:ext>
            </a:extLst>
          </p:cNvPr>
          <p:cNvSpPr txBox="1"/>
          <p:nvPr/>
        </p:nvSpPr>
        <p:spPr>
          <a:xfrm>
            <a:off x="8351594" y="4107389"/>
            <a:ext cx="37075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ctr"/>
            <a:r>
              <a:rPr lang="en-US" sz="2000" dirty="0">
                <a:hlinkClick r:id="rId4"/>
              </a:rPr>
              <a:t>https://youtu.be/KfbXI2Bf3rc</a:t>
            </a:r>
            <a:endParaRPr lang="en-US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AF2360-565E-7AEB-7B4B-078B9F11A6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676" y="4507499"/>
            <a:ext cx="1657496" cy="166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579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2872</TotalTime>
  <Words>15596</Words>
  <Application>Microsoft Office PowerPoint</Application>
  <PresentationFormat>Widescreen</PresentationFormat>
  <Paragraphs>1912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4" baseType="lpstr">
      <vt:lpstr>Aptos</vt:lpstr>
      <vt:lpstr>Aptos Display</vt:lpstr>
      <vt:lpstr>Arial</vt:lpstr>
      <vt:lpstr>Consolas</vt:lpstr>
      <vt:lpstr>Office Theme</vt:lpstr>
      <vt:lpstr>От модели к интерфейсу: Проектируем интерактивное приложение</vt:lpstr>
      <vt:lpstr>От консольного редактора к графическому</vt:lpstr>
      <vt:lpstr>SFML как графический инструментарий</vt:lpstr>
      <vt:lpstr>Минимальное графическое приложение</vt:lpstr>
      <vt:lpstr>Но это ещё не наш редактор</vt:lpstr>
      <vt:lpstr>Модель предметной области</vt:lpstr>
      <vt:lpstr>Два прямоугольника</vt:lpstr>
      <vt:lpstr>Модель предметной области (Domain Model*)</vt:lpstr>
      <vt:lpstr>Модель — это не просто данные</vt:lpstr>
      <vt:lpstr>Где проходит граница модели?</vt:lpstr>
      <vt:lpstr>Одна модель — несколько представлений</vt:lpstr>
      <vt:lpstr>Модель редактора и объекты SFML — не одно и то же</vt:lpstr>
      <vt:lpstr>А нужен ли собственный Rectangle?</vt:lpstr>
      <vt:lpstr>Похожие данные — разные роли</vt:lpstr>
      <vt:lpstr>Как добавить новую фигуру</vt:lpstr>
      <vt:lpstr>Что если связать Domain Model с SFML?</vt:lpstr>
      <vt:lpstr>Две части всё равно должны встретиться</vt:lpstr>
      <vt:lpstr>Где должна жить логика отображения?</vt:lpstr>
      <vt:lpstr>Знакомое решение: фигура рисует себя</vt:lpstr>
      <vt:lpstr>Должна ли модель уметь рисовать себя?</vt:lpstr>
      <vt:lpstr>Одну модель можно представлять по-разному</vt:lpstr>
      <vt:lpstr>Отображение — отдельная ответственность</vt:lpstr>
      <vt:lpstr>А как Renderer узнает тип фигуры?</vt:lpstr>
      <vt:lpstr>Добавляем взаимодействие мышью</vt:lpstr>
      <vt:lpstr>Новое требование: выбрать фигуру мышью</vt:lpstr>
      <vt:lpstr>SFML знает координаты мыши, но не знает наши фигуры</vt:lpstr>
      <vt:lpstr>Какая фигура находится в точке?</vt:lpstr>
      <vt:lpstr>Обработаем выбор прямо в main</vt:lpstr>
      <vt:lpstr>Событие закончилось, а выбор остался</vt:lpstr>
      <vt:lpstr>Где хранить состояние взаимодействия? </vt:lpstr>
      <vt:lpstr>У редактора появилось новое состояние</vt:lpstr>
      <vt:lpstr>Почему бы не поместить информацию о выделении в Domain Model?</vt:lpstr>
      <vt:lpstr>Но часть состояния должна быть общей</vt:lpstr>
      <vt:lpstr>У состояния разные области жизни</vt:lpstr>
      <vt:lpstr>Понимать границу — не значит сразу создавать класс</vt:lpstr>
      <vt:lpstr>Кто интерпретирует пользовательский ввод? </vt:lpstr>
      <vt:lpstr>Одно действие — несколько событий</vt:lpstr>
      <vt:lpstr>Сначала реализуем drag прямо в main</vt:lpstr>
      <vt:lpstr>События нужно интерпретировать</vt:lpstr>
      <vt:lpstr>У main появилась новая причина для изменения</vt:lpstr>
      <vt:lpstr>Выделяем интерпретацию ввода</vt:lpstr>
      <vt:lpstr>Выделим 3 группы обязанностей</vt:lpstr>
      <vt:lpstr>Обнаруживаем роли Model, View и Controller</vt:lpstr>
      <vt:lpstr>Три разные ответственности</vt:lpstr>
      <vt:lpstr>Model – состояние и поведение</vt:lpstr>
      <vt:lpstr>View — представление состояния пользователю</vt:lpstr>
      <vt:lpstr>Controller — интерпретация действий пользователя</vt:lpstr>
      <vt:lpstr>Почти MVC — но граница GUI ещё не оформлена</vt:lpstr>
      <vt:lpstr>Оформляем границу пользовательского интерфейса</vt:lpstr>
      <vt:lpstr>main всё ещё делает слишком много</vt:lpstr>
      <vt:lpstr>Selection — не внутреннее состояние Controller</vt:lpstr>
      <vt:lpstr>Уточняем ответственность Controller</vt:lpstr>
      <vt:lpstr>У Canvas есть отображение и ввод</vt:lpstr>
      <vt:lpstr>Как CanvasView взаимодействует с другими классами</vt:lpstr>
      <vt:lpstr>Кому принадлежит event loop?</vt:lpstr>
      <vt:lpstr>Окно — владелец UI-сеанса</vt:lpstr>
      <vt:lpstr>main снова отвечает только за запуск приложения</vt:lpstr>
      <vt:lpstr>Как View узнают об изменениях Model?</vt:lpstr>
      <vt:lpstr>Canvas и так видит изменения</vt:lpstr>
      <vt:lpstr>Появляется ещё одно представление</vt:lpstr>
      <vt:lpstr>Пусть Controller обновит все View?</vt:lpstr>
      <vt:lpstr>Пусть источник сообщает об изменении</vt:lpstr>
      <vt:lpstr>Кто должен отправлять уведомление?</vt:lpstr>
      <vt:lpstr>Подписчики реагируют независимо</vt:lpstr>
      <vt:lpstr>Мы получили Observer</vt:lpstr>
      <vt:lpstr>Достаточно ли OnDrawingChanged()?</vt:lpstr>
      <vt:lpstr>Что именно произошло? От Changed к событиям</vt:lpstr>
      <vt:lpstr>OnDrawingChanged() сообщает слишком мало</vt:lpstr>
      <vt:lpstr>Передадим описание изменения</vt:lpstr>
      <vt:lpstr>Не каждого подписчика интересуют все события</vt:lpstr>
      <vt:lpstr>Подписываемся на конкретные события</vt:lpstr>
      <vt:lpstr>Сигналы и слоты</vt:lpstr>
      <vt:lpstr>Редактор продолжает расти: следующие решения — ваши</vt:lpstr>
      <vt:lpstr>Архитектура не закончена</vt:lpstr>
      <vt:lpstr>Нужен ли каждой фигуре свой View?</vt:lpstr>
      <vt:lpstr>Кто должен сообщать об изменении фигуры?</vt:lpstr>
      <vt:lpstr>Что изменится при множественном выборе?</vt:lpstr>
      <vt:lpstr>Какие вопросы задавать при следующем изменении?</vt:lpstr>
      <vt:lpstr>Архитектуры GUI-приложений — обзор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20</cp:revision>
  <dcterms:created xsi:type="dcterms:W3CDTF">2026-09-15T20:04:56Z</dcterms:created>
  <dcterms:modified xsi:type="dcterms:W3CDTF">2026-09-21T17:38:00Z</dcterms:modified>
</cp:coreProperties>
</file>