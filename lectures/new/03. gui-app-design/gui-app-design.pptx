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268" r:id="rId3"/>
    <p:sldId id="269" r:id="rId4"/>
    <p:sldId id="270" r:id="rId5"/>
    <p:sldId id="271" r:id="rId6"/>
    <p:sldId id="258" r:id="rId7"/>
    <p:sldId id="272" r:id="rId8"/>
    <p:sldId id="273" r:id="rId9"/>
    <p:sldId id="274" r:id="rId10"/>
    <p:sldId id="275" r:id="rId11"/>
    <p:sldId id="276" r:id="rId12"/>
    <p:sldId id="259" r:id="rId13"/>
    <p:sldId id="277" r:id="rId14"/>
    <p:sldId id="278" r:id="rId15"/>
    <p:sldId id="279" r:id="rId16"/>
    <p:sldId id="280" r:id="rId17"/>
    <p:sldId id="281" r:id="rId18"/>
    <p:sldId id="260" r:id="rId19"/>
    <p:sldId id="282" r:id="rId20"/>
    <p:sldId id="283" r:id="rId21"/>
    <p:sldId id="284" r:id="rId22"/>
    <p:sldId id="285" r:id="rId23"/>
    <p:sldId id="286" r:id="rId24"/>
    <p:sldId id="261" r:id="rId25"/>
    <p:sldId id="287" r:id="rId26"/>
    <p:sldId id="288" r:id="rId27"/>
    <p:sldId id="289" r:id="rId28"/>
    <p:sldId id="290" r:id="rId29"/>
    <p:sldId id="291" r:id="rId30"/>
    <p:sldId id="262" r:id="rId31"/>
    <p:sldId id="292" r:id="rId32"/>
    <p:sldId id="293" r:id="rId33"/>
    <p:sldId id="294" r:id="rId34"/>
    <p:sldId id="295" r:id="rId35"/>
    <p:sldId id="296" r:id="rId36"/>
    <p:sldId id="263" r:id="rId37"/>
    <p:sldId id="297" r:id="rId38"/>
    <p:sldId id="298" r:id="rId39"/>
    <p:sldId id="299" r:id="rId40"/>
    <p:sldId id="300" r:id="rId41"/>
    <p:sldId id="301" r:id="rId42"/>
    <p:sldId id="302" r:id="rId43"/>
    <p:sldId id="264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265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6" r:id="rId68"/>
    <p:sldId id="327" r:id="rId69"/>
    <p:sldId id="328" r:id="rId70"/>
    <p:sldId id="329" r:id="rId71"/>
    <p:sldId id="330" r:id="rId72"/>
    <p:sldId id="331" r:id="rId73"/>
    <p:sldId id="266" r:id="rId74"/>
    <p:sldId id="325" r:id="rId75"/>
    <p:sldId id="332" r:id="rId76"/>
    <p:sldId id="333" r:id="rId77"/>
    <p:sldId id="334" r:id="rId78"/>
    <p:sldId id="335" r:id="rId79"/>
    <p:sldId id="336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41" autoAdjust="0"/>
    <p:restoredTop sz="68132" autoAdjust="0"/>
  </p:normalViewPr>
  <p:slideViewPr>
    <p:cSldViewPr snapToGrid="0" showGuides="1">
      <p:cViewPr varScale="1">
        <p:scale>
          <a:sx n="72" d="100"/>
          <a:sy n="72" d="100"/>
        </p:scale>
        <p:origin x="2190" y="5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37C76-F46A-46AE-BC95-A4AE74D2A38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8901C-EDDF-4AD6-9B13-78E9B524B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499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31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служил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модельным</a:t>
            </a:r>
            <a:r>
              <a:rPr lang="en-US" dirty="0"/>
              <a:t> </a:t>
            </a:r>
            <a:r>
              <a:rPr lang="en-US" dirty="0" err="1"/>
              <a:t>примером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обсуждения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,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HitTest</a:t>
            </a:r>
            <a:r>
              <a:rPr lang="en-US" dirty="0"/>
              <a:t> и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рисунком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оставался</a:t>
            </a:r>
            <a:r>
              <a:rPr lang="en-US" dirty="0"/>
              <a:t> </a:t>
            </a:r>
            <a:r>
              <a:rPr lang="en-US" dirty="0" err="1"/>
              <a:t>консольным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изучения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 </a:t>
            </a:r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изменим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приложению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настоящего</a:t>
            </a:r>
            <a:r>
              <a:rPr lang="en-US" dirty="0"/>
              <a:t> </a:t>
            </a:r>
            <a:r>
              <a:rPr lang="en-US" dirty="0" err="1"/>
              <a:t>интерактивного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отображаться</a:t>
            </a:r>
            <a:r>
              <a:rPr lang="en-US" dirty="0"/>
              <a:t> в </a:t>
            </a:r>
            <a:r>
              <a:rPr lang="en-US" dirty="0" err="1"/>
              <a:t>отдельном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.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указать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 и 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поставим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скромную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.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панели</a:t>
            </a:r>
            <a:r>
              <a:rPr lang="en-US" dirty="0"/>
              <a:t> </a:t>
            </a:r>
            <a:r>
              <a:rPr lang="en-US" dirty="0" err="1"/>
              <a:t>инструментов</a:t>
            </a:r>
            <a:r>
              <a:rPr lang="en-US" dirty="0"/>
              <a:t>, </a:t>
            </a:r>
            <a:r>
              <a:rPr lang="en-US" dirty="0" err="1"/>
              <a:t>меню</a:t>
            </a:r>
            <a:r>
              <a:rPr lang="en-US" dirty="0"/>
              <a:t>, </a:t>
            </a:r>
            <a:r>
              <a:rPr lang="en-US" dirty="0" err="1"/>
              <a:t>диалоги</a:t>
            </a:r>
            <a:r>
              <a:rPr lang="en-US" dirty="0"/>
              <a:t> </a:t>
            </a:r>
            <a:r>
              <a:rPr lang="en-US" dirty="0" err="1"/>
              <a:t>свойств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полноценный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простейшего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в </a:t>
            </a:r>
            <a:r>
              <a:rPr lang="en-US" dirty="0" err="1"/>
              <a:t>первую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b="1" dirty="0" err="1"/>
              <a:t>новое</a:t>
            </a:r>
            <a:r>
              <a:rPr lang="en-US" b="1" dirty="0"/>
              <a:t> </a:t>
            </a:r>
            <a:r>
              <a:rPr lang="en-US" b="1" dirty="0" err="1"/>
              <a:t>требование</a:t>
            </a:r>
            <a:r>
              <a:rPr lang="en-US" b="1" dirty="0"/>
              <a:t> к </a:t>
            </a:r>
            <a:r>
              <a:rPr lang="en-US" b="1" dirty="0" err="1"/>
              <a:t>существующему</a:t>
            </a:r>
            <a:r>
              <a:rPr lang="en-US" b="1" dirty="0"/>
              <a:t> </a:t>
            </a:r>
            <a:r>
              <a:rPr lang="en-US" b="1" dirty="0" err="1"/>
              <a:t>приложению</a:t>
            </a:r>
            <a:r>
              <a:rPr lang="en-US" dirty="0"/>
              <a:t>.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в </a:t>
            </a:r>
            <a:r>
              <a:rPr lang="en-US" dirty="0" err="1"/>
              <a:t>конструкции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повлечёт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6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графикой</a:t>
            </a:r>
            <a:r>
              <a:rPr lang="en-US" dirty="0"/>
              <a:t> в </a:t>
            </a:r>
            <a:r>
              <a:rPr lang="en-US" dirty="0" err="1"/>
              <a:t>примерах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SFML 3. С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библиотекой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изучать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API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базовых</a:t>
            </a:r>
            <a:r>
              <a:rPr lang="en-US" dirty="0"/>
              <a:t> </a:t>
            </a:r>
            <a:r>
              <a:rPr lang="en-US" dirty="0" err="1"/>
              <a:t>возможностей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RenderWindow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графику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CircleShape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простые</a:t>
            </a:r>
            <a:r>
              <a:rPr lang="en-US" dirty="0"/>
              <a:t> </a:t>
            </a:r>
            <a:r>
              <a:rPr lang="en-US" dirty="0" err="1"/>
              <a:t>геометрические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SFML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закрытии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, </a:t>
            </a:r>
            <a:r>
              <a:rPr lang="en-US" dirty="0" err="1"/>
              <a:t>нажатиях</a:t>
            </a:r>
            <a:r>
              <a:rPr lang="en-US" dirty="0"/>
              <a:t> </a:t>
            </a:r>
            <a:r>
              <a:rPr lang="en-US" dirty="0" err="1"/>
              <a:t>кнопок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</a:t>
            </a:r>
            <a:r>
              <a:rPr lang="en-US" dirty="0" err="1"/>
              <a:t>перемещении</a:t>
            </a:r>
            <a:r>
              <a:rPr lang="en-US" dirty="0"/>
              <a:t> </a:t>
            </a:r>
            <a:r>
              <a:rPr lang="en-US" dirty="0" err="1"/>
              <a:t>курсора</a:t>
            </a:r>
            <a:r>
              <a:rPr lang="en-US" dirty="0"/>
              <a:t>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действиях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зафиксировать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SFML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проектируем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i="1" dirty="0" err="1"/>
              <a:t>вокруг</a:t>
            </a:r>
            <a:r>
              <a:rPr lang="en-US" i="1" dirty="0"/>
              <a:t> SFML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изучаем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 SFML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—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техническое</a:t>
            </a:r>
            <a:r>
              <a:rPr lang="en-US" dirty="0"/>
              <a:t> </a:t>
            </a:r>
            <a:r>
              <a:rPr lang="en-US" dirty="0" err="1"/>
              <a:t>средство</a:t>
            </a:r>
            <a:r>
              <a:rPr lang="en-US" dirty="0"/>
              <a:t>,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реализуем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графическую</a:t>
            </a:r>
            <a:r>
              <a:rPr lang="en-US" dirty="0"/>
              <a:t> </a:t>
            </a:r>
            <a:r>
              <a:rPr lang="en-US" dirty="0" err="1"/>
              <a:t>библиотеку</a:t>
            </a:r>
            <a:r>
              <a:rPr lang="en-US" dirty="0"/>
              <a:t>,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технические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изменятся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проектные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интересовать</a:t>
            </a:r>
            <a:r>
              <a:rPr lang="en-US" dirty="0"/>
              <a:t>, </a:t>
            </a:r>
            <a:r>
              <a:rPr lang="en-US" dirty="0" err="1"/>
              <a:t>останутся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многом</a:t>
            </a:r>
            <a:r>
              <a:rPr lang="en-US" dirty="0"/>
              <a:t> </a:t>
            </a:r>
            <a:r>
              <a:rPr lang="en-US" dirty="0" err="1"/>
              <a:t>теми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699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минимального</a:t>
            </a:r>
            <a:r>
              <a:rPr lang="en-US" dirty="0"/>
              <a:t> </a:t>
            </a:r>
            <a:r>
              <a:rPr lang="en-US" dirty="0" err="1"/>
              <a:t>работающего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en-US" dirty="0" err="1"/>
              <a:t>размером</a:t>
            </a:r>
            <a:r>
              <a:rPr lang="en-US" dirty="0"/>
              <a:t> 800 </a:t>
            </a:r>
            <a:r>
              <a:rPr lang="en-US" dirty="0" err="1"/>
              <a:t>на</a:t>
            </a:r>
            <a:r>
              <a:rPr lang="en-US" dirty="0"/>
              <a:t> 600 </a:t>
            </a:r>
            <a:r>
              <a:rPr lang="en-US" dirty="0" err="1"/>
              <a:t>пикселей</a:t>
            </a:r>
            <a:r>
              <a:rPr lang="en-US" dirty="0"/>
              <a:t> и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SFML. </a:t>
            </a:r>
            <a:r>
              <a:rPr lang="en-US" dirty="0" err="1"/>
              <a:t>Задаём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, </a:t>
            </a:r>
            <a:r>
              <a:rPr lang="en-US" dirty="0" err="1"/>
              <a:t>положение</a:t>
            </a:r>
            <a:r>
              <a:rPr lang="en-US" dirty="0"/>
              <a:t> и </a:t>
            </a:r>
            <a:r>
              <a:rPr lang="en-US" dirty="0" err="1"/>
              <a:t>цвет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входит</a:t>
            </a:r>
            <a:r>
              <a:rPr lang="en-US" dirty="0"/>
              <a:t> в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первой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цикла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обрабатываем</a:t>
            </a:r>
            <a:r>
              <a:rPr lang="en-US" dirty="0"/>
              <a:t> </a:t>
            </a:r>
            <a:r>
              <a:rPr lang="en-US" dirty="0" err="1"/>
              <a:t>поступившие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закрытия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формируется</a:t>
            </a:r>
            <a:r>
              <a:rPr lang="en-US" dirty="0"/>
              <a:t> </a:t>
            </a:r>
            <a:r>
              <a:rPr lang="en-US" dirty="0" err="1"/>
              <a:t>очередной</a:t>
            </a:r>
            <a:r>
              <a:rPr lang="en-US" dirty="0"/>
              <a:t> </a:t>
            </a:r>
            <a:r>
              <a:rPr lang="en-US" dirty="0" err="1"/>
              <a:t>кадр</a:t>
            </a:r>
            <a:r>
              <a:rPr lang="en-US" dirty="0"/>
              <a:t>: </a:t>
            </a:r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en-US" dirty="0" err="1"/>
              <a:t>очищается</a:t>
            </a:r>
            <a:r>
              <a:rPr lang="en-US" dirty="0"/>
              <a:t>,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рисуется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сформированный</a:t>
            </a:r>
            <a:r>
              <a:rPr lang="en-US" dirty="0"/>
              <a:t> </a:t>
            </a:r>
            <a:r>
              <a:rPr lang="en-US" dirty="0" err="1"/>
              <a:t>кадр</a:t>
            </a:r>
            <a:r>
              <a:rPr lang="en-US" dirty="0"/>
              <a:t> </a:t>
            </a:r>
            <a:r>
              <a:rPr lang="en-US" dirty="0" err="1"/>
              <a:t>отображается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,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проста</a:t>
            </a:r>
            <a:r>
              <a:rPr lang="en-US" dirty="0"/>
              <a:t>, и </a:t>
            </a:r>
            <a:r>
              <a:rPr lang="en-US" dirty="0" err="1"/>
              <a:t>представленное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 SOLID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любое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с </a:t>
            </a:r>
            <a:r>
              <a:rPr lang="en-US" dirty="0" err="1"/>
              <a:t>первых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 </a:t>
            </a:r>
            <a:r>
              <a:rPr lang="en-US" dirty="0" err="1"/>
              <a:t>окружить</a:t>
            </a:r>
            <a:r>
              <a:rPr lang="en-US" dirty="0"/>
              <a:t> </a:t>
            </a:r>
            <a:r>
              <a:rPr lang="en-US" dirty="0" err="1"/>
              <a:t>архитектурой</a:t>
            </a:r>
            <a:r>
              <a:rPr lang="en-US" dirty="0"/>
              <a:t>. KISS и YAGNI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действуют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усложнять</a:t>
            </a:r>
            <a:r>
              <a:rPr lang="en-US" dirty="0"/>
              <a:t> </a:t>
            </a:r>
            <a:r>
              <a:rPr lang="en-US" dirty="0" err="1"/>
              <a:t>конструкцию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дадут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основания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39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существенная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никакого</a:t>
            </a:r>
            <a:r>
              <a:rPr lang="en-US" dirty="0"/>
              <a:t> </a:t>
            </a:r>
            <a:r>
              <a:rPr lang="en-US" dirty="0" err="1"/>
              <a:t>отношения</a:t>
            </a:r>
            <a:r>
              <a:rPr lang="en-US" dirty="0"/>
              <a:t> к </a:t>
            </a:r>
            <a:r>
              <a:rPr lang="en-US" dirty="0" err="1"/>
              <a:t>тому</a:t>
            </a:r>
            <a:r>
              <a:rPr lang="en-US" dirty="0"/>
              <a:t> </a:t>
            </a:r>
            <a:r>
              <a:rPr lang="en-US" dirty="0" err="1"/>
              <a:t>графическому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проектировали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. Это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SFML.</a:t>
            </a:r>
          </a:p>
          <a:p>
            <a:r>
              <a:rPr lang="en-US" dirty="0" err="1"/>
              <a:t>Однако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.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размеры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характеристики</a:t>
            </a:r>
            <a:r>
              <a:rPr lang="en-US" dirty="0"/>
              <a:t>.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похожих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геометрический</a:t>
            </a:r>
            <a:r>
              <a:rPr lang="en-US" dirty="0"/>
              <a:t> </a:t>
            </a:r>
            <a:r>
              <a:rPr lang="en-US" dirty="0" err="1"/>
              <a:t>примитив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SFML.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попытаться</a:t>
            </a:r>
            <a:r>
              <a:rPr lang="en-US" dirty="0"/>
              <a:t> </a:t>
            </a:r>
            <a:r>
              <a:rPr lang="en-US" dirty="0" err="1"/>
              <a:t>объединить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отказаться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dirty="0" err="1"/>
              <a:t>хранить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.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научить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SFML.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точнее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роль</a:t>
            </a:r>
            <a:r>
              <a:rPr lang="en-US" b="1" dirty="0"/>
              <a:t> </a:t>
            </a:r>
            <a:r>
              <a:rPr lang="en-US" b="1" dirty="0" err="1"/>
              <a:t>выполняет</a:t>
            </a:r>
            <a:r>
              <a:rPr lang="en-US" b="1" dirty="0"/>
              <a:t> </a:t>
            </a:r>
            <a:r>
              <a:rPr lang="en-US" b="1" dirty="0" err="1"/>
              <a:t>наш</a:t>
            </a:r>
            <a:r>
              <a:rPr lang="en-US" b="1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b="1" dirty="0"/>
              <a:t> в </a:t>
            </a:r>
            <a:r>
              <a:rPr lang="en-US" b="1" dirty="0" err="1"/>
              <a:t>приложении</a:t>
            </a:r>
            <a:r>
              <a:rPr lang="en-US" b="1" dirty="0"/>
              <a:t> и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роль</a:t>
            </a:r>
            <a:r>
              <a:rPr lang="en-US" b="1" dirty="0"/>
              <a:t> </a:t>
            </a:r>
            <a:r>
              <a:rPr lang="en-US" b="1" dirty="0" err="1"/>
              <a:t>выполняет</a:t>
            </a:r>
            <a:r>
              <a:rPr lang="en-US" b="1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— </a:t>
            </a:r>
            <a:r>
              <a:rPr lang="en-US" b="1" dirty="0" err="1"/>
              <a:t>модель</a:t>
            </a:r>
            <a:r>
              <a:rPr lang="en-US" b="1" dirty="0"/>
              <a:t> </a:t>
            </a:r>
            <a:r>
              <a:rPr lang="ru-RU" b="1" dirty="0"/>
              <a:t>предметной области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41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39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остановились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SFML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цвет</a:t>
            </a:r>
            <a:r>
              <a:rPr lang="en-US" dirty="0"/>
              <a:t> и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отображаться</a:t>
            </a:r>
            <a:r>
              <a:rPr lang="en-US" dirty="0"/>
              <a:t> в </a:t>
            </a:r>
            <a:r>
              <a:rPr lang="en-US" dirty="0" err="1"/>
              <a:t>окне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описывают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 и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Или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научить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SFML.</a:t>
            </a:r>
          </a:p>
          <a:p>
            <a:endParaRPr lang="ru-RU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осознанный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,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играет</a:t>
            </a:r>
            <a:r>
              <a:rPr lang="en-US" dirty="0"/>
              <a:t> в </a:t>
            </a:r>
            <a:r>
              <a:rPr lang="en-US" dirty="0" err="1"/>
              <a:t>приложении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53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описания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</a:t>
            </a:r>
            <a:r>
              <a:rPr lang="en-US" b="1" dirty="0" err="1"/>
              <a:t>модели</a:t>
            </a:r>
            <a:r>
              <a:rPr lang="en-US" b="1" dirty="0"/>
              <a:t> </a:t>
            </a:r>
            <a:r>
              <a:rPr lang="en-US" b="1" dirty="0" err="1"/>
              <a:t>предметной</a:t>
            </a:r>
            <a:r>
              <a:rPr lang="en-US" b="1" dirty="0"/>
              <a:t> </a:t>
            </a:r>
            <a:r>
              <a:rPr lang="en-US" b="1" dirty="0" err="1"/>
              <a:t>области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Domain Model</a:t>
            </a:r>
            <a:endParaRPr lang="ru-RU" dirty="0"/>
          </a:p>
          <a:p>
            <a:r>
              <a:rPr lang="en-US" dirty="0"/>
              <a:t>.</a:t>
            </a:r>
          </a:p>
          <a:p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реального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воображаемого</a:t>
            </a:r>
            <a:r>
              <a:rPr lang="en-US" dirty="0"/>
              <a:t> </a:t>
            </a:r>
            <a:r>
              <a:rPr lang="en-US" dirty="0" err="1"/>
              <a:t>мира</a:t>
            </a:r>
            <a:r>
              <a:rPr lang="en-US" dirty="0"/>
              <a:t>, с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интернет-магазина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товары</a:t>
            </a:r>
            <a:r>
              <a:rPr lang="en-US" dirty="0"/>
              <a:t>, </a:t>
            </a:r>
            <a:r>
              <a:rPr lang="en-US" dirty="0" err="1"/>
              <a:t>заказы</a:t>
            </a:r>
            <a:r>
              <a:rPr lang="en-US" dirty="0"/>
              <a:t> и </a:t>
            </a:r>
            <a:r>
              <a:rPr lang="en-US" dirty="0" err="1"/>
              <a:t>корзины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банковского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— </a:t>
            </a:r>
            <a:r>
              <a:rPr lang="en-US" dirty="0" err="1"/>
              <a:t>счета</a:t>
            </a:r>
            <a:r>
              <a:rPr lang="en-US" dirty="0"/>
              <a:t>, </a:t>
            </a:r>
            <a:r>
              <a:rPr lang="en-US" dirty="0" err="1"/>
              <a:t>переводы</a:t>
            </a:r>
            <a:r>
              <a:rPr lang="en-US" dirty="0"/>
              <a:t> и </a:t>
            </a:r>
            <a:r>
              <a:rPr lang="en-US" dirty="0" err="1"/>
              <a:t>платежи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и </a:t>
            </a:r>
            <a:r>
              <a:rPr lang="en-US" dirty="0" err="1"/>
              <a:t>составляющие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</a:t>
            </a:r>
            <a:r>
              <a:rPr lang="en-US" dirty="0" err="1"/>
              <a:t>программные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,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представляем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в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с </a:t>
            </a:r>
            <a:r>
              <a:rPr lang="en-US" dirty="0" err="1"/>
              <a:t>названием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r>
              <a:rPr lang="en-US" dirty="0"/>
              <a:t>.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даём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дальнейшем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я </a:t>
            </a:r>
            <a:r>
              <a:rPr lang="en-US" dirty="0" err="1"/>
              <a:t>буду</a:t>
            </a:r>
            <a:r>
              <a:rPr lang="en-US" dirty="0"/>
              <a:t> </a:t>
            </a:r>
            <a:r>
              <a:rPr lang="en-US" dirty="0" err="1"/>
              <a:t>говорить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«</a:t>
            </a:r>
            <a:r>
              <a:rPr lang="en-US" dirty="0" err="1"/>
              <a:t>модель</a:t>
            </a:r>
            <a:r>
              <a:rPr lang="en-US" dirty="0"/>
              <a:t>», я </a:t>
            </a:r>
            <a:r>
              <a:rPr lang="en-US" dirty="0" err="1"/>
              <a:t>буду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в </a:t>
            </a:r>
            <a:r>
              <a:rPr lang="en-US" dirty="0" err="1"/>
              <a:t>виду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b="1" dirty="0" err="1"/>
              <a:t>модель</a:t>
            </a:r>
            <a:r>
              <a:rPr lang="en-US" b="1" dirty="0"/>
              <a:t> </a:t>
            </a:r>
            <a:r>
              <a:rPr lang="en-US" b="1" dirty="0" err="1"/>
              <a:t>предметной</a:t>
            </a:r>
            <a:r>
              <a:rPr lang="en-US" b="1" dirty="0"/>
              <a:t> </a:t>
            </a:r>
            <a:r>
              <a:rPr lang="en-US" b="1" dirty="0" err="1"/>
              <a:t>области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любую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78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хранятся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набором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и </a:t>
            </a:r>
            <a:r>
              <a:rPr lang="en-US" dirty="0" err="1"/>
              <a:t>размеров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объектно-ориентированной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располагается</a:t>
            </a:r>
            <a:r>
              <a:rPr lang="en-US" dirty="0"/>
              <a:t> и </a:t>
            </a:r>
            <a:r>
              <a:rPr lang="en-US" dirty="0" err="1"/>
              <a:t>поведение</a:t>
            </a:r>
            <a:r>
              <a:rPr lang="en-US" dirty="0"/>
              <a:t>,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связанное</a:t>
            </a:r>
            <a:r>
              <a:rPr lang="en-US" dirty="0"/>
              <a:t> с </a:t>
            </a:r>
            <a:r>
              <a:rPr lang="en-US" dirty="0" err="1"/>
              <a:t>моделируемым</a:t>
            </a:r>
            <a:r>
              <a:rPr lang="en-US" dirty="0"/>
              <a:t> </a:t>
            </a:r>
            <a:r>
              <a:rPr lang="en-US" dirty="0" err="1"/>
              <a:t>понятием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</a:t>
            </a:r>
            <a:r>
              <a:rPr lang="en-US" dirty="0" err="1"/>
              <a:t>выражает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аргумент</a:t>
            </a:r>
            <a:r>
              <a:rPr lang="en-US" dirty="0"/>
              <a:t> — </a:t>
            </a:r>
            <a:r>
              <a:rPr lang="en-US" dirty="0" err="1"/>
              <a:t>вектор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.</a:t>
            </a:r>
          </a:p>
          <a:p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заданная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аргумент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, </a:t>
            </a:r>
            <a:r>
              <a:rPr lang="en-US" dirty="0" err="1"/>
              <a:t>мышь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SFML.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в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Domain Model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поведение</a:t>
            </a:r>
            <a:r>
              <a:rPr lang="en-US" dirty="0"/>
              <a:t> и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77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Слева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, </a:t>
            </a:r>
            <a:r>
              <a:rPr lang="en-US" dirty="0" err="1"/>
              <a:t>связанные</a:t>
            </a:r>
            <a:r>
              <a:rPr lang="en-US" dirty="0"/>
              <a:t> с </a:t>
            </a:r>
            <a:r>
              <a:rPr lang="en-US" dirty="0" err="1"/>
              <a:t>самим</a:t>
            </a:r>
            <a:r>
              <a:rPr lang="en-US" dirty="0"/>
              <a:t> </a:t>
            </a:r>
            <a:r>
              <a:rPr lang="en-US" dirty="0" err="1"/>
              <a:t>рисунком</a:t>
            </a:r>
            <a:r>
              <a:rPr lang="en-US" dirty="0"/>
              <a:t>: </a:t>
            </a:r>
            <a:r>
              <a:rPr lang="en-US" dirty="0" err="1"/>
              <a:t>рисунок</a:t>
            </a:r>
            <a:r>
              <a:rPr lang="en-US" dirty="0"/>
              <a:t>,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и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r>
              <a:rPr lang="en-US" dirty="0" err="1"/>
              <a:t>Справа</a:t>
            </a:r>
            <a:r>
              <a:rPr lang="en-US" dirty="0"/>
              <a:t> — </a:t>
            </a:r>
            <a:r>
              <a:rPr lang="en-US" dirty="0" err="1"/>
              <a:t>понятия</a:t>
            </a:r>
            <a:r>
              <a:rPr lang="en-US" dirty="0"/>
              <a:t>, </a:t>
            </a:r>
            <a:r>
              <a:rPr lang="en-US" dirty="0" err="1"/>
              <a:t>появившиеся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: </a:t>
            </a:r>
            <a:r>
              <a:rPr lang="en-US" dirty="0" err="1"/>
              <a:t>окно</a:t>
            </a:r>
            <a:r>
              <a:rPr lang="en-US" dirty="0"/>
              <a:t> SFML,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,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и </a:t>
            </a:r>
            <a:r>
              <a:rPr lang="en-US" dirty="0" err="1"/>
              <a:t>получение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изменится</a:t>
            </a:r>
            <a:r>
              <a:rPr lang="en-US" b="1" dirty="0"/>
              <a:t>, </a:t>
            </a:r>
            <a:r>
              <a:rPr lang="en-US" b="1" dirty="0" err="1"/>
              <a:t>если</a:t>
            </a:r>
            <a:r>
              <a:rPr lang="en-US" b="1" dirty="0"/>
              <a:t> </a:t>
            </a:r>
            <a:r>
              <a:rPr lang="en-US" b="1" dirty="0" err="1"/>
              <a:t>вместо</a:t>
            </a:r>
            <a:r>
              <a:rPr lang="en-US" b="1" dirty="0"/>
              <a:t> SFML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возьмём</a:t>
            </a:r>
            <a:r>
              <a:rPr lang="en-US" b="1" dirty="0"/>
              <a:t> </a:t>
            </a:r>
            <a:r>
              <a:rPr lang="en-US" b="1" dirty="0" err="1"/>
              <a:t>другую</a:t>
            </a:r>
            <a:r>
              <a:rPr lang="en-US" b="1" dirty="0"/>
              <a:t> </a:t>
            </a:r>
            <a:r>
              <a:rPr lang="en-US" b="1" dirty="0" err="1"/>
              <a:t>графическую</a:t>
            </a:r>
            <a:r>
              <a:rPr lang="en-US" b="1" dirty="0"/>
              <a:t> </a:t>
            </a:r>
            <a:r>
              <a:rPr lang="en-US" b="1" dirty="0" err="1"/>
              <a:t>библиотеку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,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получать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и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выводить</a:t>
            </a:r>
            <a:r>
              <a:rPr lang="en-US" dirty="0"/>
              <a:t> </a:t>
            </a:r>
            <a:r>
              <a:rPr lang="en-US" dirty="0" err="1"/>
              <a:t>геометрические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.</a:t>
            </a:r>
          </a:p>
          <a:p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останется</a:t>
            </a:r>
            <a:r>
              <a:rPr lang="en-US" dirty="0"/>
              <a:t> </a:t>
            </a:r>
            <a:r>
              <a:rPr lang="en-US" dirty="0" err="1"/>
              <a:t>перемещением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принадлежность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геометрической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ru-RU" dirty="0"/>
              <a:t>Принцип Единственной Ответственности</a:t>
            </a:r>
            <a:r>
              <a:rPr lang="en-US" dirty="0"/>
              <a:t>.</a:t>
            </a:r>
          </a:p>
          <a:p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, </a:t>
            </a:r>
            <a:r>
              <a:rPr lang="en-US" dirty="0" err="1"/>
              <a:t>связанным</a:t>
            </a:r>
            <a:r>
              <a:rPr lang="en-US" dirty="0"/>
              <a:t> с </a:t>
            </a:r>
            <a:r>
              <a:rPr lang="en-US" dirty="0" err="1"/>
              <a:t>требованиями</a:t>
            </a:r>
            <a:r>
              <a:rPr lang="en-US" dirty="0"/>
              <a:t> к </a:t>
            </a:r>
            <a:r>
              <a:rPr lang="en-US" dirty="0" err="1"/>
              <a:t>графическому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Код</a:t>
            </a:r>
            <a:r>
              <a:rPr lang="en-US" dirty="0"/>
              <a:t> SFML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, </a:t>
            </a:r>
            <a:r>
              <a:rPr lang="en-US" dirty="0" err="1"/>
              <a:t>связанным</a:t>
            </a:r>
            <a:r>
              <a:rPr lang="en-US" dirty="0"/>
              <a:t> с </a:t>
            </a:r>
            <a:r>
              <a:rPr lang="en-US" dirty="0" err="1"/>
              <a:t>технологией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и </a:t>
            </a:r>
            <a:r>
              <a:rPr lang="en-US" dirty="0" err="1"/>
              <a:t>ввода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помещать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о</a:t>
            </a:r>
            <a:r>
              <a:rPr lang="ru-RU" dirty="0"/>
              <a:t>б</a:t>
            </a:r>
            <a:r>
              <a:rPr lang="en-US" dirty="0"/>
              <a:t> SFML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нежелательно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SRP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 SFML.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524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b="1" dirty="0"/>
              <a:t>Domain Model</a:t>
            </a:r>
            <a:r>
              <a:rPr lang="en-US" dirty="0"/>
              <a:t> и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представлениями</a:t>
            </a:r>
            <a:r>
              <a:rPr lang="en-US" dirty="0"/>
              <a:t>,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развитую</a:t>
            </a:r>
            <a:r>
              <a:rPr lang="en-US" dirty="0"/>
              <a:t> </a:t>
            </a:r>
            <a:r>
              <a:rPr lang="en-US" dirty="0" err="1"/>
              <a:t>версию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—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анимации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обладают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положением</a:t>
            </a:r>
            <a:r>
              <a:rPr lang="en-US" dirty="0"/>
              <a:t>, </a:t>
            </a:r>
            <a:r>
              <a:rPr lang="en-US" dirty="0" err="1"/>
              <a:t>размером</a:t>
            </a:r>
            <a:r>
              <a:rPr lang="en-US" dirty="0"/>
              <a:t> и </a:t>
            </a:r>
            <a:r>
              <a:rPr lang="en-US" dirty="0" err="1"/>
              <a:t>цветом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дополнительными</a:t>
            </a:r>
            <a:r>
              <a:rPr lang="en-US" dirty="0"/>
              <a:t> </a:t>
            </a:r>
            <a:r>
              <a:rPr lang="en-US" dirty="0" err="1"/>
              <a:t>характеристиками</a:t>
            </a:r>
            <a:r>
              <a:rPr lang="en-US" dirty="0"/>
              <a:t>: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,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исчезновения</a:t>
            </a:r>
            <a:r>
              <a:rPr lang="en-US" dirty="0"/>
              <a:t> и </a:t>
            </a:r>
            <a:r>
              <a:rPr lang="en-US" dirty="0" err="1"/>
              <a:t>порядком</a:t>
            </a:r>
            <a:r>
              <a:rPr lang="en-US" dirty="0"/>
              <a:t> </a:t>
            </a:r>
            <a:r>
              <a:rPr lang="en-US" dirty="0" err="1"/>
              <a:t>наложения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b="1" dirty="0"/>
              <a:t>z-order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к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сохраним</a:t>
            </a:r>
            <a:r>
              <a:rPr lang="en-US" dirty="0"/>
              <a:t> </a:t>
            </a:r>
            <a:r>
              <a:rPr lang="en-US" dirty="0" err="1"/>
              <a:t>проект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откроем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ожидаем</a:t>
            </a:r>
            <a:r>
              <a:rPr lang="en-US" dirty="0"/>
              <a:t>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ru-RU" b="0" dirty="0"/>
              <a:t>модели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показаны</a:t>
            </a:r>
            <a:r>
              <a:rPr lang="en-US" dirty="0"/>
              <a:t> </a:t>
            </a:r>
            <a:r>
              <a:rPr lang="en-US" b="1" dirty="0" err="1"/>
              <a:t>два</a:t>
            </a:r>
            <a:r>
              <a:rPr lang="en-US" b="1" dirty="0"/>
              <a:t> </a:t>
            </a:r>
            <a:r>
              <a:rPr lang="en-US" b="1" dirty="0" err="1"/>
              <a:t>представления</a:t>
            </a:r>
            <a:r>
              <a:rPr lang="en-US" b="1" dirty="0"/>
              <a:t> </a:t>
            </a:r>
            <a:r>
              <a:rPr lang="en-US" b="1" dirty="0" err="1"/>
              <a:t>одной</a:t>
            </a:r>
            <a:r>
              <a:rPr lang="en-US" b="1" dirty="0"/>
              <a:t> и </a:t>
            </a:r>
            <a:r>
              <a:rPr lang="en-US" b="1" dirty="0" err="1"/>
              <a:t>той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</a:t>
            </a:r>
            <a:r>
              <a:rPr lang="en-US" b="1" dirty="0" err="1"/>
              <a:t>модели</a:t>
            </a:r>
            <a:r>
              <a:rPr lang="en-US" dirty="0"/>
              <a:t>.</a:t>
            </a:r>
          </a:p>
          <a:p>
            <a:r>
              <a:rPr lang="en-US" dirty="0" err="1"/>
              <a:t>Верхняя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b="1" dirty="0"/>
              <a:t>Canvas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В </a:t>
            </a:r>
            <a:r>
              <a:rPr lang="en-US" dirty="0" err="1"/>
              <a:t>рассматриваемый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холсте</a:t>
            </a:r>
            <a:r>
              <a:rPr lang="en-US" dirty="0"/>
              <a:t> </a:t>
            </a:r>
            <a:r>
              <a:rPr lang="en-US" dirty="0" err="1"/>
              <a:t>видны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: </a:t>
            </a:r>
            <a:r>
              <a:rPr lang="en-US" dirty="0" err="1"/>
              <a:t>красный</a:t>
            </a:r>
            <a:r>
              <a:rPr lang="en-US" dirty="0"/>
              <a:t> oval, </a:t>
            </a:r>
            <a:r>
              <a:rPr lang="en-US" dirty="0" err="1"/>
              <a:t>оранжевый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синий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отображаются</a:t>
            </a:r>
            <a:r>
              <a:rPr lang="en-US" dirty="0"/>
              <a:t> в </a:t>
            </a:r>
            <a:r>
              <a:rPr lang="en-US" dirty="0" err="1"/>
              <a:t>соответствии</a:t>
            </a:r>
            <a:r>
              <a:rPr lang="en-US" dirty="0"/>
              <a:t> с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порядком</a:t>
            </a:r>
            <a:r>
              <a:rPr lang="en-US" dirty="0"/>
              <a:t> </a:t>
            </a:r>
            <a:r>
              <a:rPr lang="en-US" dirty="0" err="1"/>
              <a:t>наложения</a:t>
            </a:r>
            <a:r>
              <a:rPr lang="en-US" dirty="0"/>
              <a:t>. </a:t>
            </a:r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b="1" dirty="0"/>
              <a:t>oval</a:t>
            </a:r>
            <a:r>
              <a:rPr lang="en-US" dirty="0"/>
              <a:t>, </a:t>
            </a:r>
            <a:r>
              <a:rPr lang="en-US" dirty="0" err="1"/>
              <a:t>поверх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расположен</a:t>
            </a:r>
            <a:r>
              <a:rPr lang="en-US" dirty="0"/>
              <a:t> </a:t>
            </a:r>
            <a:r>
              <a:rPr lang="en-US" b="1" dirty="0" err="1"/>
              <a:t>оранжевый</a:t>
            </a:r>
            <a:r>
              <a:rPr lang="en-US" b="1" dirty="0"/>
              <a:t> </a:t>
            </a:r>
            <a:r>
              <a:rPr lang="en-US" b="1" dirty="0" err="1"/>
              <a:t>прямоугольник</a:t>
            </a:r>
            <a:r>
              <a:rPr lang="en-US" dirty="0"/>
              <a:t>, а </a:t>
            </a:r>
            <a:r>
              <a:rPr lang="en-US" dirty="0" err="1"/>
              <a:t>ближе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к </a:t>
            </a:r>
            <a:r>
              <a:rPr lang="en-US" dirty="0" err="1"/>
              <a:t>зрителю</a:t>
            </a:r>
            <a:r>
              <a:rPr lang="en-US" dirty="0"/>
              <a:t> — </a:t>
            </a:r>
            <a:r>
              <a:rPr lang="en-US" b="1" dirty="0" err="1"/>
              <a:t>синий</a:t>
            </a:r>
            <a:r>
              <a:rPr lang="en-US" b="1" dirty="0"/>
              <a:t> </a:t>
            </a:r>
            <a:r>
              <a:rPr lang="en-US" b="1" dirty="0" err="1"/>
              <a:t>прямоугольник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Нижняя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b="1" dirty="0"/>
              <a:t>Timeline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пространственное</a:t>
            </a:r>
            <a:r>
              <a:rPr lang="en-US" dirty="0"/>
              <a:t> </a:t>
            </a:r>
            <a:r>
              <a:rPr lang="en-US" dirty="0" err="1"/>
              <a:t>расположение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а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когда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и </a:t>
            </a:r>
            <a:r>
              <a:rPr lang="en-US" b="1" dirty="0" err="1"/>
              <a:t>каково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положение</a:t>
            </a:r>
            <a:r>
              <a:rPr lang="en-US" b="1" dirty="0"/>
              <a:t>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глубине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дорожки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таймлайне</a:t>
            </a:r>
            <a:r>
              <a:rPr lang="en-US" dirty="0"/>
              <a:t> </a:t>
            </a:r>
            <a:r>
              <a:rPr lang="en-US" dirty="0" err="1"/>
              <a:t>расположены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b="1" dirty="0" err="1"/>
              <a:t>внизу</a:t>
            </a:r>
            <a:r>
              <a:rPr lang="en-US" b="1" dirty="0"/>
              <a:t> </a:t>
            </a:r>
            <a:r>
              <a:rPr lang="en-US" b="1" dirty="0" err="1"/>
              <a:t>находятся</a:t>
            </a:r>
            <a:r>
              <a:rPr lang="en-US" b="1" dirty="0"/>
              <a:t>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дальние</a:t>
            </a:r>
            <a:r>
              <a:rPr lang="en-US" b="1" dirty="0"/>
              <a:t> </a:t>
            </a:r>
            <a:r>
              <a:rPr lang="en-US" b="1" dirty="0" err="1"/>
              <a:t>фигуры</a:t>
            </a:r>
            <a:r>
              <a:rPr lang="en-US" b="1" dirty="0"/>
              <a:t>, а </a:t>
            </a:r>
            <a:r>
              <a:rPr lang="en-US" b="1" dirty="0" err="1"/>
              <a:t>сверху</a:t>
            </a:r>
            <a:r>
              <a:rPr lang="en-US" b="1" dirty="0"/>
              <a:t> —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близкие</a:t>
            </a:r>
            <a:r>
              <a:rPr lang="en-US" b="1" dirty="0"/>
              <a:t> к </a:t>
            </a:r>
            <a:r>
              <a:rPr lang="en-US" b="1" dirty="0" err="1"/>
              <a:t>зрителю</a:t>
            </a:r>
            <a:r>
              <a:rPr lang="en-US" dirty="0"/>
              <a:t>. 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визуально</a:t>
            </a:r>
            <a:r>
              <a:rPr lang="en-US" dirty="0"/>
              <a:t> </a:t>
            </a:r>
            <a:r>
              <a:rPr lang="en-US" dirty="0" err="1"/>
              <a:t>отразить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самый</a:t>
            </a:r>
            <a:r>
              <a:rPr lang="en-US" dirty="0"/>
              <a:t> z-order,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отрисовке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холсте</a:t>
            </a:r>
            <a:r>
              <a:rPr lang="en-US" dirty="0"/>
              <a:t>.</a:t>
            </a:r>
          </a:p>
          <a:p>
            <a:r>
              <a:rPr lang="en-US" dirty="0" err="1"/>
              <a:t>Вертикальная</a:t>
            </a:r>
            <a:r>
              <a:rPr lang="en-US" dirty="0"/>
              <a:t> </a:t>
            </a:r>
            <a:r>
              <a:rPr lang="en-US" dirty="0" err="1"/>
              <a:t>линия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таймлайне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b="1" dirty="0" err="1"/>
              <a:t>текущий</a:t>
            </a:r>
            <a:r>
              <a:rPr lang="en-US" b="1" dirty="0"/>
              <a:t> </a:t>
            </a:r>
            <a:r>
              <a:rPr lang="en-US" b="1" dirty="0" err="1"/>
              <a:t>момент</a:t>
            </a:r>
            <a:r>
              <a:rPr lang="en-US" b="1" dirty="0"/>
              <a:t> </a:t>
            </a:r>
            <a:r>
              <a:rPr lang="en-US" b="1" dirty="0" err="1"/>
              <a:t>времени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видны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зелёный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 </a:t>
            </a:r>
            <a:r>
              <a:rPr lang="en-US" dirty="0" err="1"/>
              <a:t>присутствует</a:t>
            </a:r>
            <a:r>
              <a:rPr lang="en-US" dirty="0"/>
              <a:t> в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виден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таймлайне</a:t>
            </a:r>
            <a:r>
              <a:rPr lang="en-US" dirty="0"/>
              <a:t>, </a:t>
            </a:r>
            <a:r>
              <a:rPr lang="en-US" dirty="0" err="1"/>
              <a:t>однако</a:t>
            </a:r>
            <a:r>
              <a:rPr lang="en-US" dirty="0"/>
              <a:t> в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отображаться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холсте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Canvas и Timeline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источниками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отображают</a:t>
            </a:r>
            <a:r>
              <a:rPr lang="en-US" dirty="0"/>
              <a:t> </a:t>
            </a:r>
            <a:r>
              <a:rPr lang="en-US" b="1" dirty="0" err="1"/>
              <a:t>одну</a:t>
            </a:r>
            <a:r>
              <a:rPr lang="en-US" b="1" dirty="0"/>
              <a:t> и </a:t>
            </a:r>
            <a:r>
              <a:rPr lang="en-US" b="1" dirty="0" err="1"/>
              <a:t>ту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Domain Model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делают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Canvas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пространственную</a:t>
            </a:r>
            <a:r>
              <a:rPr lang="en-US" dirty="0"/>
              <a:t> </a:t>
            </a:r>
            <a:r>
              <a:rPr lang="en-US" dirty="0" err="1"/>
              <a:t>картину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в </a:t>
            </a:r>
            <a:r>
              <a:rPr lang="en-US" dirty="0" err="1"/>
              <a:t>выбранный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r>
              <a:rPr lang="en-US" dirty="0"/>
              <a:t>Timeline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временную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и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наложения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самых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и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подчеркнуть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:</a:t>
            </a:r>
          </a:p>
          <a:p>
            <a:r>
              <a:rPr lang="en-US" b="1" dirty="0" err="1"/>
              <a:t>Одна</a:t>
            </a:r>
            <a:r>
              <a:rPr lang="en-US" b="1" dirty="0"/>
              <a:t> и </a:t>
            </a:r>
            <a:r>
              <a:rPr lang="en-US" b="1" dirty="0" err="1"/>
              <a:t>та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</a:t>
            </a:r>
            <a:r>
              <a:rPr lang="en-US" b="1" dirty="0" err="1"/>
              <a:t>модель</a:t>
            </a:r>
            <a:r>
              <a:rPr lang="en-US" b="1" dirty="0"/>
              <a:t> </a:t>
            </a:r>
            <a:r>
              <a:rPr lang="en-US" b="1" dirty="0" err="1"/>
              <a:t>предметной</a:t>
            </a:r>
            <a:r>
              <a:rPr lang="en-US" b="1" dirty="0"/>
              <a:t> </a:t>
            </a:r>
            <a:r>
              <a:rPr lang="en-US" b="1" dirty="0" err="1"/>
              <a:t>области</a:t>
            </a:r>
            <a:r>
              <a:rPr lang="en-US" b="1" dirty="0"/>
              <a:t> </a:t>
            </a:r>
            <a:r>
              <a:rPr lang="en-US" b="1" dirty="0" err="1"/>
              <a:t>может</a:t>
            </a:r>
            <a:r>
              <a:rPr lang="en-US" b="1" dirty="0"/>
              <a:t> </a:t>
            </a:r>
            <a:r>
              <a:rPr lang="en-US" b="1" dirty="0" err="1"/>
              <a:t>иметь</a:t>
            </a:r>
            <a:r>
              <a:rPr lang="en-US" b="1" dirty="0"/>
              <a:t> </a:t>
            </a:r>
            <a:r>
              <a:rPr lang="en-US" b="1" dirty="0" err="1"/>
              <a:t>несколько</a:t>
            </a:r>
            <a:r>
              <a:rPr lang="en-US" b="1" dirty="0"/>
              <a:t> </a:t>
            </a:r>
            <a:r>
              <a:rPr lang="en-US" b="1" dirty="0" err="1"/>
              <a:t>различных</a:t>
            </a:r>
            <a:r>
              <a:rPr lang="en-US" b="1" dirty="0"/>
              <a:t> </a:t>
            </a:r>
            <a:r>
              <a:rPr lang="en-US" b="1" dirty="0" err="1"/>
              <a:t>представлений</a:t>
            </a:r>
            <a:r>
              <a:rPr lang="en-US" b="1" dirty="0"/>
              <a:t>, </a:t>
            </a:r>
            <a:r>
              <a:rPr lang="en-US" b="1" dirty="0" err="1"/>
              <a:t>каждое</a:t>
            </a:r>
            <a:r>
              <a:rPr lang="en-US" b="1" dirty="0"/>
              <a:t> </a:t>
            </a:r>
            <a:r>
              <a:rPr lang="en-US" b="1" dirty="0" err="1"/>
              <a:t>из</a:t>
            </a:r>
            <a:r>
              <a:rPr lang="en-US" b="1" dirty="0"/>
              <a:t> </a:t>
            </a:r>
            <a:r>
              <a:rPr lang="en-US" b="1" dirty="0" err="1"/>
              <a:t>которых</a:t>
            </a:r>
            <a:r>
              <a:rPr lang="en-US" b="1" dirty="0"/>
              <a:t> </a:t>
            </a:r>
            <a:r>
              <a:rPr lang="en-US" b="1" dirty="0" err="1"/>
              <a:t>показывает</a:t>
            </a:r>
            <a:r>
              <a:rPr lang="en-US" b="1" dirty="0"/>
              <a:t> </a:t>
            </a:r>
            <a:r>
              <a:rPr lang="en-US" b="1" dirty="0" err="1"/>
              <a:t>пользователю</a:t>
            </a:r>
            <a:r>
              <a:rPr lang="en-US" b="1" dirty="0"/>
              <a:t> </a:t>
            </a:r>
            <a:r>
              <a:rPr lang="en-US" b="1" dirty="0" err="1"/>
              <a:t>только</a:t>
            </a:r>
            <a:r>
              <a:rPr lang="en-US" b="1" dirty="0"/>
              <a:t> </a:t>
            </a:r>
            <a:r>
              <a:rPr lang="en-US" b="1" dirty="0" err="1"/>
              <a:t>нужный</a:t>
            </a:r>
            <a:r>
              <a:rPr lang="en-US" b="1" dirty="0"/>
              <a:t> </a:t>
            </a:r>
            <a:r>
              <a:rPr lang="en-US" b="1" dirty="0" err="1"/>
              <a:t>аспект</a:t>
            </a:r>
            <a:r>
              <a:rPr lang="en-US" b="1" dirty="0"/>
              <a:t> </a:t>
            </a:r>
            <a:r>
              <a:rPr lang="en-US" b="1" dirty="0" err="1"/>
              <a:t>этой</a:t>
            </a:r>
            <a:r>
              <a:rPr lang="en-US" b="1" dirty="0"/>
              <a:t> </a:t>
            </a:r>
            <a:r>
              <a:rPr lang="en-US" b="1" dirty="0" err="1"/>
              <a:t>модели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Отсюда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построить</a:t>
            </a:r>
            <a:r>
              <a:rPr lang="en-US" b="1" dirty="0"/>
              <a:t> </a:t>
            </a:r>
            <a:r>
              <a:rPr lang="en-US" b="1" dirty="0" err="1"/>
              <a:t>графическое</a:t>
            </a:r>
            <a:r>
              <a:rPr lang="en-US" b="1" dirty="0"/>
              <a:t> </a:t>
            </a:r>
            <a:r>
              <a:rPr lang="en-US" b="1" dirty="0" err="1"/>
              <a:t>представление</a:t>
            </a:r>
            <a:r>
              <a:rPr lang="en-US" b="1" dirty="0"/>
              <a:t> </a:t>
            </a:r>
            <a:r>
              <a:rPr lang="en-US" b="1" dirty="0" err="1"/>
              <a:t>нашей</a:t>
            </a:r>
            <a:r>
              <a:rPr lang="en-US" b="1" dirty="0"/>
              <a:t> Domain Model </a:t>
            </a:r>
            <a:r>
              <a:rPr lang="en-US" b="1" dirty="0" err="1"/>
              <a:t>средствами</a:t>
            </a:r>
            <a:r>
              <a:rPr lang="en-US" b="1" dirty="0"/>
              <a:t> SFML,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смешивая</a:t>
            </a:r>
            <a:r>
              <a:rPr lang="en-US" b="1" dirty="0"/>
              <a:t> </a:t>
            </a:r>
            <a:r>
              <a:rPr lang="en-US" b="1" dirty="0" err="1"/>
              <a:t>саму</a:t>
            </a:r>
            <a:r>
              <a:rPr lang="en-US" b="1" dirty="0"/>
              <a:t> </a:t>
            </a:r>
            <a:r>
              <a:rPr lang="en-US" b="1" dirty="0" err="1"/>
              <a:t>модель</a:t>
            </a:r>
            <a:r>
              <a:rPr lang="en-US" b="1" dirty="0"/>
              <a:t> с </a:t>
            </a:r>
            <a:r>
              <a:rPr lang="en-US" b="1" dirty="0" err="1"/>
              <a:t>кодом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отображения</a:t>
            </a:r>
            <a:r>
              <a:rPr lang="en-US" b="1" dirty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33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47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договорились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разумное</a:t>
            </a:r>
            <a:r>
              <a:rPr lang="en-US" dirty="0"/>
              <a:t> </a:t>
            </a:r>
            <a:r>
              <a:rPr lang="en-US" dirty="0" err="1"/>
              <a:t>возражение</a:t>
            </a:r>
            <a:r>
              <a:rPr lang="en-US" dirty="0"/>
              <a:t>.</a:t>
            </a:r>
          </a:p>
          <a:p>
            <a:r>
              <a:rPr lang="en-US" dirty="0"/>
              <a:t>SFML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цвет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характеристики</a:t>
            </a:r>
            <a:r>
              <a:rPr lang="en-US" dirty="0"/>
              <a:t>.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window.draw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SFML и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самым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собственного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привлекательным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отвергать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решили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какие-то</a:t>
            </a:r>
            <a:r>
              <a:rPr lang="en-US" dirty="0"/>
              <a:t> </a:t>
            </a:r>
            <a:r>
              <a:rPr lang="en-US" dirty="0" err="1"/>
              <a:t>архитектурные</a:t>
            </a:r>
            <a:r>
              <a:rPr lang="en-US" dirty="0"/>
              <a:t> </a:t>
            </a:r>
            <a:r>
              <a:rPr lang="en-US" dirty="0" err="1"/>
              <a:t>слои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одинаковую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b="1" dirty="0" err="1"/>
              <a:t>роль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20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похожие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совпадение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совпадения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прямоугольные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участвует</a:t>
            </a:r>
            <a:r>
              <a:rPr lang="en-US" dirty="0"/>
              <a:t> в </a:t>
            </a:r>
            <a:r>
              <a:rPr lang="en-US" dirty="0" err="1"/>
              <a:t>операциях</a:t>
            </a:r>
            <a:r>
              <a:rPr lang="en-US" dirty="0"/>
              <a:t>, </a:t>
            </a:r>
            <a:r>
              <a:rPr lang="en-US" dirty="0" err="1"/>
              <a:t>имеющих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.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, </a:t>
            </a:r>
            <a:r>
              <a:rPr lang="en-US" dirty="0" err="1"/>
              <a:t>попадает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заданная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. </a:t>
            </a:r>
            <a:r>
              <a:rPr lang="en-US" dirty="0" err="1"/>
              <a:t>Позже</a:t>
            </a:r>
            <a:r>
              <a:rPr lang="en-US" dirty="0"/>
              <a:t> 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причине</a:t>
            </a:r>
            <a:r>
              <a:rPr lang="en-US" dirty="0"/>
              <a:t>. Это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примитив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SFML, </a:t>
            </a:r>
            <a:r>
              <a:rPr lang="en-US" dirty="0" err="1"/>
              <a:t>предназначенный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мысленный</a:t>
            </a:r>
            <a:r>
              <a:rPr lang="en-US" dirty="0"/>
              <a:t> </a:t>
            </a:r>
            <a:r>
              <a:rPr lang="en-US" dirty="0" err="1"/>
              <a:t>эксперимент</a:t>
            </a:r>
            <a:r>
              <a:rPr lang="en-US" dirty="0"/>
              <a:t>.</a:t>
            </a:r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написали</a:t>
            </a:r>
            <a:r>
              <a:rPr lang="en-US" dirty="0"/>
              <a:t> </a:t>
            </a:r>
            <a:r>
              <a:rPr lang="en-US" dirty="0" err="1"/>
              <a:t>утилиту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загружает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,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,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открывает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? </a:t>
            </a:r>
            <a:r>
              <a:rPr lang="en-US" dirty="0" err="1"/>
              <a:t>Да</a:t>
            </a:r>
            <a:r>
              <a:rPr lang="en-US" dirty="0"/>
              <a:t>.</a:t>
            </a:r>
          </a:p>
          <a:p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? </a:t>
            </a:r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описывать</a:t>
            </a:r>
            <a:r>
              <a:rPr lang="en-US" dirty="0"/>
              <a:t> </a:t>
            </a:r>
            <a:r>
              <a:rPr lang="en-US" dirty="0" err="1"/>
              <a:t>похожую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частям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84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Пока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привлекательным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ru-RU" dirty="0"/>
              <a:t>ещё помним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ru-RU" dirty="0"/>
              <a:t> из прошлых лекций</a:t>
            </a:r>
            <a:r>
              <a:rPr lang="en-US" dirty="0"/>
              <a:t>. В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естественных</a:t>
            </a:r>
            <a:r>
              <a:rPr lang="en-US" dirty="0"/>
              <a:t> </a:t>
            </a:r>
            <a:r>
              <a:rPr lang="en-US" dirty="0" err="1"/>
              <a:t>осей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буквально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ближайший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: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фигурами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SFML,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выяснить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в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и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полиморфно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Domain Model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определяться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систему</a:t>
            </a:r>
            <a:r>
              <a:rPr lang="en-US" b="1" dirty="0"/>
              <a:t> </a:t>
            </a:r>
            <a:r>
              <a:rPr lang="en-US" b="1" dirty="0" err="1"/>
              <a:t>типов</a:t>
            </a:r>
            <a:r>
              <a:rPr lang="en-US" b="1" dirty="0"/>
              <a:t> </a:t>
            </a:r>
            <a:r>
              <a:rPr lang="en-US" b="1" dirty="0" err="1"/>
              <a:t>выбрала</a:t>
            </a:r>
            <a:r>
              <a:rPr lang="en-US" b="1" dirty="0"/>
              <a:t> </a:t>
            </a:r>
            <a:r>
              <a:rPr lang="en-US" b="1" dirty="0" err="1"/>
              <a:t>графическая</a:t>
            </a:r>
            <a:r>
              <a:rPr lang="en-US" b="1" dirty="0"/>
              <a:t> </a:t>
            </a:r>
            <a:r>
              <a:rPr lang="en-US" b="1" dirty="0" err="1"/>
              <a:t>библиотека</a:t>
            </a:r>
            <a:r>
              <a:rPr lang="en-US" dirty="0"/>
              <a:t>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OCP: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видов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—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определялась</a:t>
            </a:r>
            <a:r>
              <a:rPr lang="en-US" dirty="0"/>
              <a:t> </a:t>
            </a:r>
            <a:r>
              <a:rPr lang="en-US" dirty="0" err="1"/>
              <a:t>устройством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добавлялись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локально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ухудшаем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характеристику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фундаментальная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r>
              <a:rPr lang="en-US" dirty="0" err="1"/>
              <a:t>Совсем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соответствовать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примитив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выноска</a:t>
            </a:r>
            <a:r>
              <a:rPr lang="en-US" dirty="0"/>
              <a:t> в </a:t>
            </a:r>
            <a:r>
              <a:rPr lang="en-US" dirty="0" err="1"/>
              <a:t>виде</a:t>
            </a:r>
            <a:r>
              <a:rPr lang="en-US" dirty="0"/>
              <a:t> </a:t>
            </a:r>
            <a:r>
              <a:rPr lang="en-US" dirty="0" err="1"/>
              <a:t>облачка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: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, </a:t>
            </a:r>
            <a:r>
              <a:rPr lang="en-US" dirty="0" err="1"/>
              <a:t>переместить</a:t>
            </a:r>
            <a:r>
              <a:rPr lang="en-US" dirty="0"/>
              <a:t>, </a:t>
            </a:r>
            <a:r>
              <a:rPr lang="en-US" dirty="0" err="1"/>
              <a:t>удалить</a:t>
            </a:r>
            <a:r>
              <a:rPr lang="en-US" dirty="0"/>
              <a:t>,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текст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собираться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графических</a:t>
            </a:r>
            <a:r>
              <a:rPr lang="en-US" dirty="0"/>
              <a:t> </a:t>
            </a:r>
            <a:r>
              <a:rPr lang="en-US" dirty="0" err="1"/>
              <a:t>примитивов</a:t>
            </a:r>
            <a:r>
              <a:rPr lang="en-US" dirty="0"/>
              <a:t>: </a:t>
            </a:r>
            <a:r>
              <a:rPr lang="en-US" dirty="0" err="1"/>
              <a:t>основного</a:t>
            </a:r>
            <a:r>
              <a:rPr lang="en-US" dirty="0"/>
              <a:t> </a:t>
            </a:r>
            <a:r>
              <a:rPr lang="en-US" dirty="0" err="1"/>
              <a:t>тела</a:t>
            </a:r>
            <a:r>
              <a:rPr lang="en-US" dirty="0"/>
              <a:t>, </a:t>
            </a:r>
            <a:r>
              <a:rPr lang="en-US" dirty="0" err="1"/>
              <a:t>хвоста</a:t>
            </a:r>
            <a:r>
              <a:rPr lang="en-US" dirty="0"/>
              <a:t>, </a:t>
            </a:r>
            <a:r>
              <a:rPr lang="en-US" dirty="0" err="1"/>
              <a:t>контура</a:t>
            </a:r>
            <a:r>
              <a:rPr lang="en-US" dirty="0"/>
              <a:t> и </a:t>
            </a:r>
            <a:r>
              <a:rPr lang="en-US" dirty="0" err="1"/>
              <a:t>текста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соответствие</a:t>
            </a:r>
            <a:r>
              <a:rPr lang="ru-RU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 ↔ 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,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частный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dirty="0" err="1"/>
              <a:t>Тип</a:t>
            </a:r>
            <a:r>
              <a:rPr lang="en-US" b="1" dirty="0"/>
              <a:t> </a:t>
            </a:r>
            <a:r>
              <a:rPr lang="en-US" b="1" dirty="0" err="1"/>
              <a:t>фигуры</a:t>
            </a:r>
            <a:r>
              <a:rPr lang="en-US" b="1" dirty="0"/>
              <a:t> </a:t>
            </a:r>
            <a:r>
              <a:rPr lang="en-US" b="1" dirty="0" err="1"/>
              <a:t>предметной</a:t>
            </a:r>
            <a:r>
              <a:rPr lang="en-US" b="1" dirty="0"/>
              <a:t> </a:t>
            </a:r>
            <a:r>
              <a:rPr lang="en-US" b="1" dirty="0" err="1"/>
              <a:t>области</a:t>
            </a:r>
            <a:r>
              <a:rPr lang="en-US" b="1" dirty="0"/>
              <a:t> и </a:t>
            </a:r>
            <a:r>
              <a:rPr lang="en-US" b="1" dirty="0" err="1"/>
              <a:t>тип</a:t>
            </a:r>
            <a:r>
              <a:rPr lang="en-US" b="1" dirty="0"/>
              <a:t> </a:t>
            </a:r>
            <a:r>
              <a:rPr lang="en-US" b="1" dirty="0" err="1"/>
              <a:t>графического</a:t>
            </a:r>
            <a:r>
              <a:rPr lang="en-US" b="1" dirty="0"/>
              <a:t> </a:t>
            </a:r>
            <a:r>
              <a:rPr lang="en-US" b="1" dirty="0" err="1"/>
              <a:t>примитива</a:t>
            </a:r>
            <a:r>
              <a:rPr lang="en-US" b="1" dirty="0"/>
              <a:t> </a:t>
            </a:r>
            <a:r>
              <a:rPr lang="en-US" b="1" dirty="0" err="1"/>
              <a:t>решают</a:t>
            </a:r>
            <a:r>
              <a:rPr lang="en-US" b="1" dirty="0"/>
              <a:t> </a:t>
            </a:r>
            <a:r>
              <a:rPr lang="en-US" b="1" dirty="0" err="1"/>
              <a:t>разные</a:t>
            </a:r>
            <a:r>
              <a:rPr lang="en-US" b="1" dirty="0"/>
              <a:t> </a:t>
            </a:r>
            <a:r>
              <a:rPr lang="en-US" b="1" dirty="0" err="1"/>
              <a:t>задачи</a:t>
            </a:r>
            <a:r>
              <a:rPr lang="en-US" b="1" dirty="0"/>
              <a:t> и </a:t>
            </a:r>
            <a:r>
              <a:rPr lang="en-US" b="1" dirty="0" err="1"/>
              <a:t>могут</a:t>
            </a:r>
            <a:r>
              <a:rPr lang="en-US" b="1" dirty="0"/>
              <a:t> </a:t>
            </a:r>
            <a:r>
              <a:rPr lang="en-US" b="1" dirty="0" err="1"/>
              <a:t>развиваться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.</a:t>
            </a:r>
            <a:endParaRPr lang="ru-RU" b="1" dirty="0"/>
          </a:p>
          <a:p>
            <a:endParaRPr lang="ru-RU" b="1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пытаемся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поддержать</a:t>
            </a:r>
            <a:r>
              <a:rPr lang="en-US" dirty="0"/>
              <a:t> </a:t>
            </a:r>
            <a:r>
              <a:rPr lang="en-US" dirty="0" err="1"/>
              <a:t>неизвестные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Эллипс</a:t>
            </a:r>
            <a:r>
              <a:rPr lang="en-US" dirty="0"/>
              <a:t> —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ближайшее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, а </a:t>
            </a:r>
            <a:r>
              <a:rPr lang="en-US" dirty="0" err="1"/>
              <a:t>расширяемость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видам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свойством</a:t>
            </a:r>
            <a:r>
              <a:rPr lang="en-US" dirty="0"/>
              <a:t>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проверяем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фантастическое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, а </a:t>
            </a:r>
            <a:r>
              <a:rPr lang="en-US" dirty="0" err="1"/>
              <a:t>известное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05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связать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 </a:t>
            </a:r>
            <a:r>
              <a:rPr lang="en-US" dirty="0" err="1"/>
              <a:t>технически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наследоваться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.</a:t>
            </a:r>
          </a:p>
          <a:p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поместить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поле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сравнительно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архитектурное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: </a:t>
            </a:r>
            <a:r>
              <a:rPr lang="en-US" b="1" dirty="0"/>
              <a:t>Domain Model </a:t>
            </a:r>
            <a:r>
              <a:rPr lang="en-US" b="1" dirty="0" err="1"/>
              <a:t>стала</a:t>
            </a:r>
            <a:r>
              <a:rPr lang="en-US" b="1" dirty="0"/>
              <a:t> </a:t>
            </a:r>
            <a:r>
              <a:rPr lang="en-US" b="1" dirty="0" err="1"/>
              <a:t>зависеть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SFML</a:t>
            </a:r>
            <a:r>
              <a:rPr lang="en-US" dirty="0"/>
              <a:t>.</a:t>
            </a:r>
          </a:p>
          <a:p>
            <a:r>
              <a:rPr lang="en-US" dirty="0" err="1"/>
              <a:t>Класс</a:t>
            </a:r>
            <a:r>
              <a:rPr lang="en-US" dirty="0"/>
              <a:t>, </a:t>
            </a:r>
            <a:r>
              <a:rPr lang="en-US" dirty="0" err="1"/>
              <a:t>представляющий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,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изменятся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к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,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 </a:t>
            </a:r>
            <a:r>
              <a:rPr lang="en-US" dirty="0" err="1"/>
              <a:t>используемая</a:t>
            </a:r>
            <a:r>
              <a:rPr lang="en-US" dirty="0"/>
              <a:t> </a:t>
            </a:r>
            <a:r>
              <a:rPr lang="en-US" dirty="0" err="1"/>
              <a:t>графическая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API,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знакомая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b="1" dirty="0"/>
              <a:t>SRP</a:t>
            </a:r>
            <a:r>
              <a:rPr lang="en-US" dirty="0"/>
              <a:t>: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компоненте</a:t>
            </a:r>
            <a:r>
              <a:rPr lang="en-US" dirty="0"/>
              <a:t> </a:t>
            </a:r>
            <a:r>
              <a:rPr lang="en-US" dirty="0" err="1"/>
              <a:t>оказываются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, </a:t>
            </a:r>
            <a:r>
              <a:rPr lang="en-US" dirty="0" err="1"/>
              <a:t>имеющие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дело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сторонней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запрещена</a:t>
            </a:r>
            <a:r>
              <a:rPr lang="en-US" dirty="0"/>
              <a:t>. </a:t>
            </a:r>
            <a:r>
              <a:rPr lang="en-US" dirty="0" err="1"/>
              <a:t>Вопрос</a:t>
            </a:r>
            <a:r>
              <a:rPr lang="en-US" dirty="0"/>
              <a:t> в </a:t>
            </a:r>
            <a:r>
              <a:rPr lang="en-US" dirty="0" err="1"/>
              <a:t>другом</a:t>
            </a:r>
            <a:r>
              <a:rPr lang="en-US" dirty="0"/>
              <a:t>: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заставляем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предметную</a:t>
            </a:r>
            <a:r>
              <a:rPr lang="en-US" b="1" dirty="0"/>
              <a:t> </a:t>
            </a:r>
            <a:r>
              <a:rPr lang="en-US" b="1" dirty="0" err="1"/>
              <a:t>часть</a:t>
            </a:r>
            <a:r>
              <a:rPr lang="en-US" b="1" dirty="0"/>
              <a:t> </a:t>
            </a:r>
            <a:r>
              <a:rPr lang="en-US" b="1" dirty="0" err="1"/>
              <a:t>системы</a:t>
            </a:r>
            <a:r>
              <a:rPr lang="en-US" b="1" dirty="0"/>
              <a:t> </a:t>
            </a:r>
            <a:r>
              <a:rPr lang="en-US" b="1" dirty="0" err="1"/>
              <a:t>зависеть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детали</a:t>
            </a:r>
            <a:r>
              <a:rPr lang="en-US" b="1" dirty="0"/>
              <a:t>, </a:t>
            </a:r>
            <a:r>
              <a:rPr lang="en-US" b="1" dirty="0" err="1"/>
              <a:t>которая</a:t>
            </a:r>
            <a:r>
              <a:rPr lang="en-US" b="1" dirty="0"/>
              <a:t> </a:t>
            </a:r>
            <a:r>
              <a:rPr lang="en-US" b="1" dirty="0" err="1"/>
              <a:t>ей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выполнения</a:t>
            </a:r>
            <a:r>
              <a:rPr lang="en-US" b="1" dirty="0"/>
              <a:t> </a:t>
            </a:r>
            <a:r>
              <a:rPr lang="en-US" b="1" dirty="0" err="1"/>
              <a:t>своих</a:t>
            </a:r>
            <a:r>
              <a:rPr lang="en-US" b="1" dirty="0"/>
              <a:t> </a:t>
            </a:r>
            <a:r>
              <a:rPr lang="en-US" b="1" dirty="0" err="1"/>
              <a:t>задач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нужна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вспомнить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мысли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b="1" dirty="0"/>
              <a:t>DIP</a:t>
            </a:r>
            <a:r>
              <a:rPr lang="en-US" dirty="0"/>
              <a:t>: </a:t>
            </a:r>
            <a:r>
              <a:rPr lang="en-US" dirty="0" err="1"/>
              <a:t>высокоуровневая</a:t>
            </a:r>
            <a:r>
              <a:rPr lang="en-US" dirty="0"/>
              <a:t> </a:t>
            </a:r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определяться</a:t>
            </a:r>
            <a:r>
              <a:rPr lang="en-US" dirty="0"/>
              <a:t> </a:t>
            </a:r>
            <a:r>
              <a:rPr lang="en-US" dirty="0" err="1"/>
              <a:t>низкоуровневыми</a:t>
            </a:r>
            <a:r>
              <a:rPr lang="en-US" dirty="0"/>
              <a:t> </a:t>
            </a:r>
            <a:r>
              <a:rPr lang="en-US" dirty="0" err="1"/>
              <a:t>техническими</a:t>
            </a:r>
            <a:r>
              <a:rPr lang="en-US" dirty="0"/>
              <a:t> </a:t>
            </a:r>
            <a:r>
              <a:rPr lang="en-US" dirty="0" err="1"/>
              <a:t>деталями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срочно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надо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необходима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12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помещать</a:t>
            </a:r>
            <a:r>
              <a:rPr lang="en-US" dirty="0"/>
              <a:t> SFML </a:t>
            </a:r>
            <a:r>
              <a:rPr lang="en-US" dirty="0" err="1"/>
              <a:t>внутрь</a:t>
            </a:r>
            <a:r>
              <a:rPr lang="en-US" dirty="0"/>
              <a:t> Domain Model.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решена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какой-то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 </a:t>
            </a:r>
            <a:r>
              <a:rPr lang="en-US" dirty="0" err="1"/>
              <a:t>наши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встретиться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содержащий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предметные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SFML,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понятные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 и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Кто-то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взять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SFML.</a:t>
            </a:r>
          </a:p>
          <a:p>
            <a:endParaRPr lang="ru-RU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неизбежно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b="1" dirty="0"/>
              <a:t>и о Domain Model, и </a:t>
            </a:r>
            <a:r>
              <a:rPr lang="en-US" b="1" dirty="0" err="1"/>
              <a:t>об</a:t>
            </a:r>
            <a:r>
              <a:rPr lang="en-US" b="1" dirty="0"/>
              <a:t> SFML</a:t>
            </a:r>
            <a:r>
              <a:rPr lang="en-US" dirty="0"/>
              <a:t>.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устранить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, а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разместить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: </a:t>
            </a:r>
            <a:r>
              <a:rPr lang="en-US" dirty="0" err="1"/>
              <a:t>сама</a:t>
            </a:r>
            <a:r>
              <a:rPr lang="en-US" dirty="0"/>
              <a:t> Domain Model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отображают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SFML.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проектной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:</a:t>
            </a:r>
          </a:p>
          <a:p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находиться</a:t>
            </a:r>
            <a:r>
              <a:rPr lang="en-US" b="1" dirty="0"/>
              <a:t> </a:t>
            </a:r>
            <a:r>
              <a:rPr lang="en-US" b="1" dirty="0" err="1"/>
              <a:t>логика</a:t>
            </a:r>
            <a:r>
              <a:rPr lang="en-US" b="1" dirty="0"/>
              <a:t>, </a:t>
            </a:r>
            <a:r>
              <a:rPr lang="en-US" b="1" dirty="0" err="1"/>
              <a:t>которая</a:t>
            </a:r>
            <a:r>
              <a:rPr lang="en-US" b="1" dirty="0"/>
              <a:t> </a:t>
            </a:r>
            <a:r>
              <a:rPr lang="en-US" b="1" dirty="0" err="1"/>
              <a:t>представляет</a:t>
            </a:r>
            <a:r>
              <a:rPr lang="en-US" b="1" dirty="0"/>
              <a:t> </a:t>
            </a:r>
            <a:r>
              <a:rPr lang="en-US" b="1" dirty="0" err="1"/>
              <a:t>состояние</a:t>
            </a:r>
            <a:r>
              <a:rPr lang="en-US" b="1" dirty="0"/>
              <a:t> </a:t>
            </a:r>
            <a:r>
              <a:rPr lang="en-US" b="1" dirty="0" err="1"/>
              <a:t>модели</a:t>
            </a:r>
            <a:r>
              <a:rPr lang="en-US" b="1" dirty="0"/>
              <a:t> </a:t>
            </a:r>
            <a:r>
              <a:rPr lang="en-US" b="1" dirty="0" err="1"/>
              <a:t>средствами</a:t>
            </a:r>
            <a:r>
              <a:rPr lang="en-US" b="1" dirty="0"/>
              <a:t> </a:t>
            </a:r>
            <a:r>
              <a:rPr lang="en-US" b="1" dirty="0" err="1"/>
              <a:t>конкретной</a:t>
            </a:r>
            <a:r>
              <a:rPr lang="en-US" b="1" dirty="0"/>
              <a:t> </a:t>
            </a:r>
            <a:r>
              <a:rPr lang="en-US" b="1" dirty="0" err="1"/>
              <a:t>графической</a:t>
            </a:r>
            <a:r>
              <a:rPr lang="en-US" b="1" dirty="0"/>
              <a:t> </a:t>
            </a:r>
            <a:r>
              <a:rPr lang="en-US" b="1" dirty="0" err="1"/>
              <a:t>библиотеки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03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5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, в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отрисовывать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случайно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хотели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b="1" dirty="0"/>
              <a:t>«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нужно</a:t>
            </a:r>
            <a:r>
              <a:rPr lang="en-US" b="1" dirty="0"/>
              <a:t> </a:t>
            </a:r>
            <a:r>
              <a:rPr lang="en-US" b="1" dirty="0" err="1"/>
              <a:t>нарисовать</a:t>
            </a:r>
            <a:r>
              <a:rPr lang="en-US" b="1" dirty="0"/>
              <a:t>?»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вопроса</a:t>
            </a:r>
            <a:r>
              <a:rPr lang="en-US" dirty="0"/>
              <a:t> </a:t>
            </a:r>
            <a:r>
              <a:rPr lang="en-US" b="1" dirty="0"/>
              <a:t>«</a:t>
            </a:r>
            <a:r>
              <a:rPr lang="en-US" b="1" dirty="0" err="1"/>
              <a:t>какой</a:t>
            </a:r>
            <a:r>
              <a:rPr lang="en-US" b="1" dirty="0"/>
              <a:t> </a:t>
            </a:r>
            <a:r>
              <a:rPr lang="en-US" b="1" dirty="0" err="1"/>
              <a:t>технологией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будет</a:t>
            </a:r>
            <a:r>
              <a:rPr lang="en-US" b="1" dirty="0"/>
              <a:t> </a:t>
            </a:r>
            <a:r>
              <a:rPr lang="en-US" b="1" dirty="0" err="1"/>
              <a:t>нарисовано</a:t>
            </a:r>
            <a:r>
              <a:rPr lang="en-US" b="1" dirty="0"/>
              <a:t>?»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о PDF,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SVG,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SFML.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</a:t>
            </a:r>
            <a:r>
              <a:rPr lang="en-US" dirty="0" err="1"/>
              <a:t>абстрактному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, а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Open/Closed Principle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SFML,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SfmlCanvas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меняя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и </a:t>
            </a:r>
            <a:r>
              <a:rPr lang="en-US" dirty="0" err="1"/>
              <a:t>идею</a:t>
            </a:r>
            <a:r>
              <a:rPr lang="en-US" dirty="0"/>
              <a:t> Dependency Inversion Principle: </a:t>
            </a:r>
            <a:r>
              <a:rPr lang="en-US" dirty="0" err="1"/>
              <a:t>высокоуровневый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первое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оконного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очевидно</a:t>
            </a:r>
            <a:r>
              <a:rPr lang="en-US" dirty="0"/>
              <a:t>: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поверх</a:t>
            </a:r>
            <a:r>
              <a:rPr lang="en-US" dirty="0"/>
              <a:t> SFML и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пользоваться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архитектурой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о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знали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55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линзу</a:t>
            </a:r>
            <a:r>
              <a:rPr lang="en-US" dirty="0"/>
              <a:t> SOLID — Single Responsibility Principle</a:t>
            </a:r>
            <a:endParaRPr lang="ru-RU" dirty="0"/>
          </a:p>
          <a:p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сущности</a:t>
            </a:r>
            <a:r>
              <a:rPr lang="en-US" dirty="0"/>
              <a:t>. </a:t>
            </a:r>
            <a:r>
              <a:rPr lang="en-US" dirty="0" err="1"/>
              <a:t>Прямоугольную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показываем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. Это </a:t>
            </a:r>
            <a:r>
              <a:rPr lang="en-US" dirty="0" err="1"/>
              <a:t>вопрос</a:t>
            </a:r>
            <a:r>
              <a:rPr lang="en-US" dirty="0"/>
              <a:t> о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: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заданная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причине</a:t>
            </a:r>
            <a:r>
              <a:rPr lang="en-US" dirty="0"/>
              <a:t>.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прямоугольником</a:t>
            </a:r>
            <a:r>
              <a:rPr lang="en-US" dirty="0"/>
              <a:t>, а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каким-то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заметить</a:t>
            </a:r>
            <a:r>
              <a:rPr lang="en-US" dirty="0"/>
              <a:t>: </a:t>
            </a:r>
            <a:r>
              <a:rPr lang="en-US" dirty="0" err="1"/>
              <a:t>введение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решило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библиотеке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устранило</a:t>
            </a:r>
            <a:r>
              <a:rPr lang="en-US" b="1" dirty="0"/>
              <a:t> </a:t>
            </a:r>
            <a:r>
              <a:rPr lang="en-US" b="1" dirty="0" err="1"/>
              <a:t>саму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представление</a:t>
            </a:r>
            <a:r>
              <a:rPr lang="en-US" dirty="0"/>
              <a:t>.</a:t>
            </a:r>
          </a:p>
          <a:p>
            <a:r>
              <a:rPr lang="en-US" dirty="0"/>
              <a:t>Domain Model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предполагается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SFML, а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фундаментальный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участвует</a:t>
            </a:r>
            <a:r>
              <a:rPr lang="en-US" dirty="0"/>
              <a:t> в </a:t>
            </a:r>
            <a:r>
              <a:rPr lang="en-US" dirty="0" err="1"/>
              <a:t>пользовательском</a:t>
            </a:r>
            <a:r>
              <a:rPr lang="en-US" dirty="0"/>
              <a:t> </a:t>
            </a:r>
            <a:r>
              <a:rPr lang="en-US" dirty="0" err="1"/>
              <a:t>представлении</a:t>
            </a:r>
            <a:r>
              <a:rPr lang="en-US" dirty="0"/>
              <a:t>?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ru-RU" dirty="0"/>
              <a:t>принцип единственной ответственности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основание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20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заметным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вспомнить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с </a:t>
            </a:r>
            <a:r>
              <a:rPr lang="en-US" dirty="0" err="1"/>
              <a:t>анимационным</a:t>
            </a:r>
            <a:r>
              <a:rPr lang="en-US" dirty="0"/>
              <a:t> </a:t>
            </a:r>
            <a:r>
              <a:rPr lang="en-US" dirty="0" err="1"/>
              <a:t>редактором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одной</a:t>
            </a:r>
            <a:r>
              <a:rPr lang="en-US" dirty="0"/>
              <a:t> Domain Model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Canvas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пространственное</a:t>
            </a:r>
            <a:r>
              <a:rPr lang="en-US" dirty="0"/>
              <a:t> </a:t>
            </a:r>
            <a:r>
              <a:rPr lang="en-US" dirty="0" err="1"/>
              <a:t>расположение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в </a:t>
            </a:r>
            <a:r>
              <a:rPr lang="en-US" dirty="0" err="1"/>
              <a:t>выбранный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Timeline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интервалы</a:t>
            </a:r>
            <a:r>
              <a:rPr lang="en-US" dirty="0"/>
              <a:t> </a:t>
            </a:r>
            <a:r>
              <a:rPr lang="en-US" dirty="0" err="1"/>
              <a:t>существования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наложения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Rectangle::Draw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«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Canvas»,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заложили</a:t>
            </a:r>
            <a:r>
              <a:rPr lang="en-US" dirty="0"/>
              <a:t> в Domain Model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определённого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, </a:t>
            </a:r>
            <a:r>
              <a:rPr lang="en-US" dirty="0" err="1"/>
              <a:t>куда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привести</a:t>
            </a:r>
            <a:r>
              <a:rPr lang="en-US" dirty="0"/>
              <a:t> </a:t>
            </a:r>
            <a:r>
              <a:rPr lang="en-US" dirty="0" err="1"/>
              <a:t>дальнейшее</a:t>
            </a:r>
            <a:r>
              <a:rPr lang="en-US" dirty="0"/>
              <a:t> </a:t>
            </a:r>
            <a:r>
              <a:rPr lang="en-US" dirty="0" err="1"/>
              <a:t>развитие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DrawOnCanvas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DrawOnTimeline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DrawInPreview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буквально</a:t>
            </a:r>
            <a:r>
              <a:rPr lang="en-US" dirty="0"/>
              <a:t> </a:t>
            </a:r>
            <a:r>
              <a:rPr lang="en-US" dirty="0" err="1"/>
              <a:t>писать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мысленный</a:t>
            </a:r>
            <a:r>
              <a:rPr lang="en-US" dirty="0"/>
              <a:t> </a:t>
            </a:r>
            <a:r>
              <a:rPr lang="en-US" dirty="0" err="1"/>
              <a:t>эксперимент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.</a:t>
            </a:r>
          </a:p>
          <a:p>
            <a:r>
              <a:rPr lang="en-US" dirty="0" err="1"/>
              <a:t>Появление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заставлять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соответствующее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в </a:t>
            </a:r>
            <a:r>
              <a:rPr lang="en-US" dirty="0" err="1"/>
              <a:t>каждую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прежнее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оптимизировано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делал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b="1" dirty="0" err="1"/>
              <a:t>технологии</a:t>
            </a:r>
            <a:r>
              <a:rPr lang="en-US" b="1" dirty="0"/>
              <a:t> </a:t>
            </a:r>
            <a:r>
              <a:rPr lang="en-US" b="1" dirty="0" err="1"/>
              <a:t>рисования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крупная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предметная</a:t>
            </a:r>
            <a:r>
              <a:rPr lang="en-US" b="1" dirty="0"/>
              <a:t> </a:t>
            </a:r>
            <a:r>
              <a:rPr lang="en-US" b="1" dirty="0" err="1"/>
              <a:t>модель</a:t>
            </a:r>
            <a:r>
              <a:rPr lang="en-US" b="1" dirty="0"/>
              <a:t> </a:t>
            </a:r>
            <a:r>
              <a:rPr lang="en-US" b="1" dirty="0" err="1"/>
              <a:t>отдельно</a:t>
            </a:r>
            <a:r>
              <a:rPr lang="en-US" b="1" dirty="0"/>
              <a:t>,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представления</a:t>
            </a:r>
            <a:r>
              <a:rPr lang="en-US" b="1" dirty="0"/>
              <a:t> </a:t>
            </a:r>
            <a:r>
              <a:rPr lang="en-US" b="1" dirty="0" err="1"/>
              <a:t>отдельно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перенести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Domain Model </a:t>
            </a:r>
            <a:r>
              <a:rPr lang="en-US" dirty="0" err="1"/>
              <a:t>наружу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714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Перенесём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наружу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SFML.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устроена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Domain Model,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отображает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и </a:t>
            </a:r>
            <a:r>
              <a:rPr lang="en-US" dirty="0" err="1"/>
              <a:t>об</a:t>
            </a:r>
            <a:r>
              <a:rPr lang="en-US" dirty="0"/>
              <a:t> SFML,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графическое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Domain Model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о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RectangleShape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о </a:t>
            </a:r>
            <a:r>
              <a:rPr lang="en-US" dirty="0" err="1"/>
              <a:t>существовании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мысль</a:t>
            </a:r>
            <a:r>
              <a:rPr lang="en-US" dirty="0"/>
              <a:t>.</a:t>
            </a:r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наличие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нормально</a:t>
            </a:r>
            <a:r>
              <a:rPr lang="en-US" dirty="0"/>
              <a:t>.</a:t>
            </a:r>
          </a:p>
          <a:p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и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</a:t>
            </a:r>
            <a:r>
              <a:rPr lang="en-US" dirty="0" err="1"/>
              <a:t>некоторой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SFML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помещать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формального</a:t>
            </a:r>
            <a:r>
              <a:rPr lang="en-US" dirty="0"/>
              <a:t> </a:t>
            </a:r>
            <a:r>
              <a:rPr lang="en-US" dirty="0" err="1"/>
              <a:t>соблюдения</a:t>
            </a:r>
            <a:r>
              <a:rPr lang="en-US" dirty="0"/>
              <a:t> DIP.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основным</a:t>
            </a:r>
            <a:r>
              <a:rPr lang="en-US" dirty="0"/>
              <a:t> </a:t>
            </a:r>
            <a:r>
              <a:rPr lang="en-US" dirty="0" err="1"/>
              <a:t>принципом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принять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, </a:t>
            </a:r>
            <a:r>
              <a:rPr lang="en-US" dirty="0" err="1"/>
              <a:t>является</a:t>
            </a:r>
            <a:r>
              <a:rPr lang="en-US" dirty="0"/>
              <a:t> SRP: </a:t>
            </a:r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и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80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</a:t>
            </a:r>
          </a:p>
          <a:p>
            <a:r>
              <a:rPr lang="en-US" dirty="0" err="1"/>
              <a:t>Пока</a:t>
            </a:r>
            <a:r>
              <a:rPr lang="en-US" dirty="0"/>
              <a:t> в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проста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примитив</a:t>
            </a:r>
            <a:r>
              <a:rPr lang="en-US" dirty="0"/>
              <a:t> SFML.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 </a:t>
            </a:r>
            <a:r>
              <a:rPr lang="en-US" dirty="0" err="1"/>
              <a:t>типом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стать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Renderer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каким-то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с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конкретным</a:t>
            </a:r>
            <a:r>
              <a:rPr lang="en-US" dirty="0"/>
              <a:t> </a:t>
            </a:r>
            <a:r>
              <a:rPr lang="en-US" dirty="0" err="1"/>
              <a:t>типом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очевидный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динамический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логику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</a:t>
            </a:r>
            <a:r>
              <a:rPr lang="en-US" dirty="0" err="1"/>
              <a:t>другую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приемлемо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обратим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в Domain Model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открывать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и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Через</a:t>
            </a:r>
            <a:r>
              <a:rPr lang="en-US" dirty="0"/>
              <a:t> OCP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 </a:t>
            </a:r>
            <a:r>
              <a:rPr lang="en-US" dirty="0" err="1"/>
              <a:t>противоположную</a:t>
            </a:r>
            <a:r>
              <a:rPr lang="en-US" dirty="0"/>
              <a:t> </a:t>
            </a:r>
            <a:r>
              <a:rPr lang="en-US" dirty="0" err="1"/>
              <a:t>сторону</a:t>
            </a:r>
            <a:r>
              <a:rPr lang="en-US" dirty="0"/>
              <a:t> </a:t>
            </a:r>
            <a:r>
              <a:rPr lang="en-US" dirty="0" err="1"/>
              <a:t>компромисса</a:t>
            </a:r>
            <a:r>
              <a:rPr lang="en-US" dirty="0"/>
              <a:t>.</a:t>
            </a:r>
          </a:p>
          <a:p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Shape::Draw(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&amp;)</a:t>
            </a:r>
            <a:r>
              <a:rPr lang="en-US" dirty="0"/>
              <a:t> </a:t>
            </a:r>
            <a:r>
              <a:rPr lang="en-US" dirty="0" err="1"/>
              <a:t>позволяло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: </a:t>
            </a:r>
            <a:r>
              <a:rPr lang="en-US" dirty="0" err="1"/>
              <a:t>полиморфная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 </a:t>
            </a:r>
            <a:r>
              <a:rPr lang="en-US" dirty="0" err="1"/>
              <a:t>находилась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переноса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наружу</a:t>
            </a:r>
            <a:r>
              <a:rPr lang="en-US" dirty="0"/>
              <a:t> Domain Model </a:t>
            </a:r>
            <a:r>
              <a:rPr lang="en-US" dirty="0" err="1"/>
              <a:t>стала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изолирована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 </a:t>
            </a:r>
            <a:r>
              <a:rPr lang="en-US" dirty="0" err="1"/>
              <a:t>добавления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переместилась</a:t>
            </a:r>
            <a:r>
              <a:rPr lang="en-US" dirty="0"/>
              <a:t> в </a:t>
            </a:r>
            <a:r>
              <a:rPr lang="en-US" dirty="0" err="1"/>
              <a:t>DrawingRenderer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архитектурные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оценивать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категориях</a:t>
            </a:r>
            <a:r>
              <a:rPr lang="en-US" dirty="0"/>
              <a:t> «</a:t>
            </a:r>
            <a:r>
              <a:rPr lang="en-US" dirty="0" err="1"/>
              <a:t>правильно</a:t>
            </a:r>
            <a:r>
              <a:rPr lang="en-US" dirty="0"/>
              <a:t>»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неправильно</a:t>
            </a:r>
            <a:r>
              <a:rPr lang="en-US" dirty="0"/>
              <a:t>», а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</a:p>
          <a:p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сделали</a:t>
            </a:r>
            <a:r>
              <a:rPr lang="en-US" b="1" dirty="0"/>
              <a:t> </a:t>
            </a:r>
            <a:r>
              <a:rPr lang="en-US" b="1" dirty="0" err="1"/>
              <a:t>дешевле</a:t>
            </a:r>
            <a:r>
              <a:rPr lang="en-US" b="1" dirty="0"/>
              <a:t>, а </a:t>
            </a:r>
            <a:r>
              <a:rPr lang="en-US" b="1" dirty="0" err="1"/>
              <a:t>какие</a:t>
            </a:r>
            <a:r>
              <a:rPr lang="en-US" b="1" dirty="0"/>
              <a:t> — </a:t>
            </a:r>
            <a:r>
              <a:rPr lang="en-US" b="1" dirty="0" err="1"/>
              <a:t>дороже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сознательно</a:t>
            </a:r>
            <a:r>
              <a:rPr lang="en-US" dirty="0"/>
              <a:t> </a:t>
            </a:r>
            <a:r>
              <a:rPr lang="en-US" dirty="0" err="1"/>
              <a:t>выбрали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чёткую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Domain Model и </a:t>
            </a:r>
            <a:r>
              <a:rPr lang="en-US" dirty="0" err="1"/>
              <a:t>представлением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превращался</a:t>
            </a:r>
            <a:r>
              <a:rPr lang="en-US" dirty="0"/>
              <a:t> в </a:t>
            </a:r>
            <a:r>
              <a:rPr lang="en-US" dirty="0" err="1"/>
              <a:t>бесконечную</a:t>
            </a:r>
            <a:r>
              <a:rPr lang="en-US" dirty="0"/>
              <a:t> </a:t>
            </a:r>
            <a:r>
              <a:rPr lang="en-US" dirty="0" err="1"/>
              <a:t>цепочку</a:t>
            </a:r>
            <a:r>
              <a:rPr lang="en-US" dirty="0"/>
              <a:t> </a:t>
            </a:r>
            <a:r>
              <a:rPr lang="en-US" dirty="0" err="1"/>
              <a:t>проверок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необязательно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Главное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: </a:t>
            </a:r>
            <a:r>
              <a:rPr lang="en-US" b="1" dirty="0" err="1"/>
              <a:t>архитектура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устраняет</a:t>
            </a:r>
            <a:r>
              <a:rPr lang="en-US" b="1" dirty="0"/>
              <a:t> </a:t>
            </a:r>
            <a:r>
              <a:rPr lang="en-US" b="1" dirty="0" err="1"/>
              <a:t>сложность</a:t>
            </a:r>
            <a:r>
              <a:rPr lang="en-US" b="1" dirty="0"/>
              <a:t> и </a:t>
            </a:r>
            <a:r>
              <a:rPr lang="en-US" b="1" dirty="0" err="1"/>
              <a:t>стоимость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b="1" dirty="0"/>
              <a:t> —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определяет</a:t>
            </a:r>
            <a:r>
              <a:rPr lang="en-US" b="1" dirty="0"/>
              <a:t>, </a:t>
            </a:r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эта</a:t>
            </a:r>
            <a:r>
              <a:rPr lang="en-US" b="1" dirty="0"/>
              <a:t> </a:t>
            </a:r>
            <a:r>
              <a:rPr lang="en-US" b="1" dirty="0" err="1"/>
              <a:t>стоимость</a:t>
            </a:r>
            <a:r>
              <a:rPr lang="en-US" b="1" dirty="0"/>
              <a:t> </a:t>
            </a:r>
            <a:r>
              <a:rPr lang="en-US" b="1" dirty="0" err="1"/>
              <a:t>будет</a:t>
            </a:r>
            <a:r>
              <a:rPr lang="en-US" b="1" dirty="0"/>
              <a:t> </a:t>
            </a:r>
            <a:r>
              <a:rPr lang="en-US" b="1" dirty="0" err="1"/>
              <a:t>находиться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689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544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наше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умело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никак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взаимодействовать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первое</a:t>
            </a:r>
            <a:r>
              <a:rPr lang="en-US" dirty="0"/>
              <a:t> </a:t>
            </a:r>
            <a:r>
              <a:rPr lang="en-US" dirty="0" err="1"/>
              <a:t>интерактивное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щелчке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становиться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.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видел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,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особым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с </a:t>
            </a:r>
            <a:r>
              <a:rPr lang="en-US" dirty="0" err="1"/>
              <a:t>рамкой</a:t>
            </a:r>
            <a:r>
              <a:rPr lang="en-US" dirty="0"/>
              <a:t> </a:t>
            </a:r>
            <a:r>
              <a:rPr lang="en-US" dirty="0" err="1"/>
              <a:t>выделения</a:t>
            </a:r>
            <a:r>
              <a:rPr lang="en-US" dirty="0"/>
              <a:t>.</a:t>
            </a:r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ограничимся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выбором</a:t>
            </a:r>
            <a:r>
              <a:rPr lang="en-US" dirty="0"/>
              <a:t>. </a:t>
            </a:r>
            <a:r>
              <a:rPr lang="en-US" dirty="0" err="1"/>
              <a:t>Перетаскивание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: </a:t>
            </a:r>
            <a:r>
              <a:rPr lang="en-US" dirty="0" err="1"/>
              <a:t>нажали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—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выбрана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связать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мира</a:t>
            </a:r>
            <a:r>
              <a:rPr lang="en-US" dirty="0"/>
              <a:t>.</a:t>
            </a:r>
          </a:p>
          <a:p>
            <a:r>
              <a:rPr lang="en-US" dirty="0"/>
              <a:t>SFML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о </a:t>
            </a:r>
            <a:r>
              <a:rPr lang="en-US" dirty="0" err="1"/>
              <a:t>действиях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А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щёлкает</a:t>
            </a:r>
            <a:r>
              <a:rPr lang="en-US" dirty="0"/>
              <a:t>,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Domain Model.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звучит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событие</a:t>
            </a:r>
            <a:r>
              <a:rPr lang="en-US" b="1" dirty="0"/>
              <a:t> </a:t>
            </a:r>
            <a:r>
              <a:rPr lang="en-US" b="1" dirty="0" err="1"/>
              <a:t>графической</a:t>
            </a:r>
            <a:r>
              <a:rPr lang="en-US" b="1" dirty="0"/>
              <a:t> </a:t>
            </a:r>
            <a:r>
              <a:rPr lang="en-US" b="1" dirty="0" err="1"/>
              <a:t>библиотеки</a:t>
            </a:r>
            <a:r>
              <a:rPr lang="en-US" b="1" dirty="0"/>
              <a:t> </a:t>
            </a:r>
            <a:r>
              <a:rPr lang="en-US" b="1" dirty="0" err="1"/>
              <a:t>превратить</a:t>
            </a:r>
            <a:r>
              <a:rPr lang="en-US" b="1" dirty="0"/>
              <a:t> в </a:t>
            </a:r>
            <a:r>
              <a:rPr lang="en-US" b="1" dirty="0" err="1"/>
              <a:t>осмысленное</a:t>
            </a:r>
            <a:r>
              <a:rPr lang="en-US" b="1" dirty="0"/>
              <a:t> </a:t>
            </a:r>
            <a:r>
              <a:rPr lang="en-US" b="1" dirty="0" err="1"/>
              <a:t>действие</a:t>
            </a:r>
            <a:r>
              <a:rPr lang="en-US" b="1" dirty="0"/>
              <a:t> </a:t>
            </a:r>
            <a:r>
              <a:rPr lang="en-US" b="1" dirty="0" err="1"/>
              <a:t>над</a:t>
            </a:r>
            <a:r>
              <a:rPr lang="en-US" b="1" dirty="0"/>
              <a:t> </a:t>
            </a:r>
            <a:r>
              <a:rPr lang="en-US" b="1" dirty="0" err="1"/>
              <a:t>моделью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727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SFML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нажал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и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курсора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 </a:t>
            </a:r>
            <a:r>
              <a:rPr lang="en-US" dirty="0" err="1"/>
              <a:t>заканчивается</a:t>
            </a:r>
            <a:r>
              <a:rPr lang="en-US" dirty="0"/>
              <a:t>.</a:t>
            </a:r>
          </a:p>
          <a:p>
            <a:r>
              <a:rPr lang="en-US" dirty="0"/>
              <a:t>SFML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о </a:t>
            </a:r>
            <a:r>
              <a:rPr lang="en-US" dirty="0" err="1"/>
              <a:t>понятии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SFML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в </a:t>
            </a:r>
            <a:r>
              <a:rPr lang="en-US" dirty="0" err="1"/>
              <a:t>некоторой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предметный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: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указал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первом</a:t>
            </a:r>
            <a:r>
              <a:rPr lang="en-US" dirty="0"/>
              <a:t> </a:t>
            </a:r>
            <a:r>
              <a:rPr lang="en-US" dirty="0" err="1"/>
              <a:t>этапе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координат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превратить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SFML в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ToPoint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(sf::Vector2i position)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return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static_cast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&lt;double&gt;(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position.x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static_cast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&lt;double&gt;(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position.y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и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</a:t>
            </a:r>
            <a:r>
              <a:rPr lang="en-US" dirty="0" err="1"/>
              <a:t>совпадают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развитом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масштабирование</a:t>
            </a:r>
            <a:r>
              <a:rPr lang="en-US" dirty="0"/>
              <a:t>, </a:t>
            </a:r>
            <a:r>
              <a:rPr lang="en-US" dirty="0" err="1"/>
              <a:t>прокрутка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камера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содержательнее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имея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, </a:t>
            </a:r>
            <a:r>
              <a:rPr lang="en-US" dirty="0" err="1"/>
              <a:t>находящийся</a:t>
            </a:r>
            <a:r>
              <a:rPr lang="en-US" dirty="0"/>
              <a:t> в </a:t>
            </a:r>
            <a:r>
              <a:rPr lang="en-US" dirty="0" err="1"/>
              <a:t>ней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621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360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—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цикле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храним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приходит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MouseButtonPressed</a:t>
            </a:r>
            <a:r>
              <a:rPr lang="en-US" dirty="0"/>
              <a:t>, </a:t>
            </a:r>
            <a:r>
              <a:rPr lang="en-US" dirty="0" err="1"/>
              <a:t>преобразуем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</a:t>
            </a:r>
            <a:r>
              <a:rPr lang="en-US" dirty="0"/>
              <a:t> и </a:t>
            </a:r>
            <a:r>
              <a:rPr lang="en-US" dirty="0" err="1"/>
              <a:t>просим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.</a:t>
            </a:r>
          </a:p>
          <a:p>
            <a:r>
              <a:rPr lang="en-US" dirty="0" err="1"/>
              <a:t>Полученный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сохраняем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отрисовке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выборе</a:t>
            </a:r>
            <a:r>
              <a:rPr lang="en-US" dirty="0"/>
              <a:t> </a:t>
            </a:r>
            <a:r>
              <a:rPr lang="en-US" dirty="0" err="1"/>
              <a:t>Renderer'у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дополнительную</a:t>
            </a:r>
            <a:r>
              <a:rPr lang="en-US" dirty="0"/>
              <a:t> </a:t>
            </a:r>
            <a:r>
              <a:rPr lang="en-US" dirty="0" err="1"/>
              <a:t>рамку</a:t>
            </a:r>
            <a:r>
              <a:rPr lang="en-US" dirty="0"/>
              <a:t> </a:t>
            </a:r>
            <a:r>
              <a:rPr lang="en-US" dirty="0" err="1"/>
              <a:t>вокруг</a:t>
            </a:r>
            <a:r>
              <a:rPr lang="en-US" dirty="0"/>
              <a:t> </a:t>
            </a:r>
            <a:r>
              <a:rPr lang="en-US" dirty="0" err="1"/>
              <a:t>выбранного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InputController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SelectionManager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.</a:t>
            </a:r>
          </a:p>
          <a:p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небольшим</a:t>
            </a:r>
            <a:r>
              <a:rPr lang="en-US" dirty="0"/>
              <a:t>,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назначение</a:t>
            </a:r>
            <a:r>
              <a:rPr lang="en-US" dirty="0"/>
              <a:t> </a:t>
            </a:r>
            <a:r>
              <a:rPr lang="en-US" dirty="0" err="1"/>
              <a:t>понятно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вспомнить</a:t>
            </a:r>
            <a:r>
              <a:rPr lang="en-US" dirty="0"/>
              <a:t> KISS и YAGNI.</a:t>
            </a:r>
          </a:p>
          <a:p>
            <a:endParaRPr lang="en-US" dirty="0"/>
          </a:p>
          <a:p>
            <a:r>
              <a:rPr lang="en-US" dirty="0"/>
              <a:t>SOLID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превращать</a:t>
            </a:r>
            <a:r>
              <a:rPr lang="en-US" dirty="0"/>
              <a:t> </a:t>
            </a:r>
            <a:r>
              <a:rPr lang="en-US" dirty="0" err="1"/>
              <a:t>каждую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разделения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возникло</a:t>
            </a:r>
            <a:r>
              <a:rPr lang="en-US" dirty="0"/>
              <a:t> </a:t>
            </a:r>
            <a:r>
              <a:rPr lang="en-US" dirty="0" err="1"/>
              <a:t>нечто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,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.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.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509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MouseButtonPressed</a:t>
            </a:r>
            <a:r>
              <a:rPr lang="en-US" dirty="0"/>
              <a:t> </a:t>
            </a:r>
            <a:r>
              <a:rPr lang="en-US" dirty="0" err="1"/>
              <a:t>живёт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недолго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, </a:t>
            </a:r>
            <a:r>
              <a:rPr lang="en-US" dirty="0" err="1"/>
              <a:t>обработали</a:t>
            </a:r>
            <a:r>
              <a:rPr lang="en-US" dirty="0"/>
              <a:t> и </a:t>
            </a:r>
            <a:r>
              <a:rPr lang="en-US" dirty="0" err="1"/>
              <a:t>перешли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щелчка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.</a:t>
            </a:r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у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b="1" dirty="0" err="1"/>
              <a:t>состояние</a:t>
            </a:r>
            <a:r>
              <a:rPr lang="en-US" b="1" dirty="0"/>
              <a:t> </a:t>
            </a:r>
            <a:r>
              <a:rPr lang="en-US" b="1" dirty="0" err="1"/>
              <a:t>работы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b="1" dirty="0"/>
              <a:t> с </a:t>
            </a:r>
            <a:r>
              <a:rPr lang="en-US" b="1" dirty="0" err="1"/>
              <a:t>этим</a:t>
            </a:r>
            <a:r>
              <a:rPr lang="en-US" b="1" dirty="0"/>
              <a:t> </a:t>
            </a:r>
            <a:r>
              <a:rPr lang="en-US" b="1" dirty="0" err="1"/>
              <a:t>рисунком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либо</a:t>
            </a:r>
            <a:r>
              <a:rPr lang="en-US" dirty="0"/>
              <a:t> </a:t>
            </a:r>
            <a:r>
              <a:rPr lang="en-US" dirty="0" err="1"/>
              <a:t>конкретному</a:t>
            </a:r>
            <a:r>
              <a:rPr lang="en-US" dirty="0"/>
              <a:t> Canvas.</a:t>
            </a:r>
          </a:p>
          <a:p>
            <a:endParaRPr lang="ru-RU" dirty="0"/>
          </a:p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развитый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анимации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Canvas и Timeline.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ожидаем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выбрал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Canvas,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выделена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Timeline. И </a:t>
            </a:r>
            <a:r>
              <a:rPr lang="en-US" dirty="0" err="1"/>
              <a:t>наоборот</a:t>
            </a:r>
            <a:r>
              <a:rPr lang="en-US" dirty="0"/>
              <a:t>.</a:t>
            </a:r>
          </a:p>
          <a:p>
            <a:r>
              <a:rPr lang="en-US" dirty="0" err="1"/>
              <a:t>Следовательно</a:t>
            </a:r>
            <a:r>
              <a:rPr lang="en-US" dirty="0"/>
              <a:t>, selection в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b="1" dirty="0" err="1"/>
              <a:t>разделяется</a:t>
            </a:r>
            <a:r>
              <a:rPr lang="en-US" b="1" dirty="0"/>
              <a:t> </a:t>
            </a:r>
            <a:r>
              <a:rPr lang="en-US" b="1" dirty="0" err="1"/>
              <a:t>несколькими</a:t>
            </a:r>
            <a:r>
              <a:rPr lang="en-US" b="1" dirty="0"/>
              <a:t> </a:t>
            </a:r>
            <a:r>
              <a:rPr lang="en-US" b="1" dirty="0" err="1"/>
              <a:t>представлениями</a:t>
            </a:r>
            <a:r>
              <a:rPr lang="en-US" b="1" dirty="0"/>
              <a:t> </a:t>
            </a:r>
            <a:r>
              <a:rPr lang="en-US" b="1" dirty="0" err="1"/>
              <a:t>одного</a:t>
            </a:r>
            <a:r>
              <a:rPr lang="en-US" b="1" dirty="0"/>
              <a:t> </a:t>
            </a:r>
            <a:r>
              <a:rPr lang="en-US" b="1" dirty="0" err="1"/>
              <a:t>сеанса</a:t>
            </a:r>
            <a:r>
              <a:rPr lang="en-US" b="1" dirty="0"/>
              <a:t> </a:t>
            </a:r>
            <a:r>
              <a:rPr lang="en-US" b="1" dirty="0" err="1"/>
              <a:t>редактирования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и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r>
              <a:rPr lang="en-US" dirty="0"/>
              <a:t>Canvas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 и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видимой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Timeline —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 </a:t>
            </a:r>
            <a:r>
              <a:rPr lang="en-US" dirty="0" err="1"/>
              <a:t>временной</a:t>
            </a:r>
            <a:r>
              <a:rPr lang="en-US" dirty="0"/>
              <a:t> </a:t>
            </a:r>
            <a:r>
              <a:rPr lang="en-US" dirty="0" err="1"/>
              <a:t>шкалы</a:t>
            </a:r>
            <a:r>
              <a:rPr lang="en-US" dirty="0"/>
              <a:t> и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прокрутки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открыт</a:t>
            </a:r>
            <a:r>
              <a:rPr lang="en-US" dirty="0"/>
              <a:t> в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окнах</a:t>
            </a:r>
            <a:r>
              <a:rPr lang="en-US" dirty="0"/>
              <a:t>.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, а в </a:t>
            </a:r>
            <a:r>
              <a:rPr lang="en-US" dirty="0" err="1"/>
              <a:t>другом</a:t>
            </a:r>
            <a:r>
              <a:rPr lang="en-US" dirty="0"/>
              <a:t> — с </a:t>
            </a:r>
            <a:r>
              <a:rPr lang="en-US" dirty="0" err="1"/>
              <a:t>другой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заставлять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selection.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областей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сеанса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,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связанных</a:t>
            </a:r>
            <a:r>
              <a:rPr lang="en-US" dirty="0"/>
              <a:t> </a:t>
            </a:r>
            <a:r>
              <a:rPr lang="en-US" dirty="0" err="1"/>
              <a:t>представлений</a:t>
            </a:r>
            <a:r>
              <a:rPr lang="en-US" dirty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Граница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названием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, а </a:t>
            </a:r>
            <a:r>
              <a:rPr lang="en-US" dirty="0" err="1"/>
              <a:t>вопросом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приложения</a:t>
            </a:r>
            <a:r>
              <a:rPr lang="en-US" b="1" dirty="0"/>
              <a:t> </a:t>
            </a:r>
            <a:r>
              <a:rPr lang="en-US" b="1" dirty="0" err="1"/>
              <a:t>должны</a:t>
            </a:r>
            <a:r>
              <a:rPr lang="en-US" b="1" dirty="0"/>
              <a:t> </a:t>
            </a:r>
            <a:r>
              <a:rPr lang="en-US" b="1" dirty="0" err="1"/>
              <a:t>видеть</a:t>
            </a:r>
            <a:r>
              <a:rPr lang="en-US" b="1" dirty="0"/>
              <a:t> </a:t>
            </a:r>
            <a:r>
              <a:rPr lang="en-US" b="1" dirty="0" err="1"/>
              <a:t>одно</a:t>
            </a:r>
            <a:r>
              <a:rPr lang="en-US" b="1" dirty="0"/>
              <a:t> и </a:t>
            </a:r>
            <a:r>
              <a:rPr lang="en-US" b="1" dirty="0" err="1"/>
              <a:t>то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</a:t>
            </a:r>
            <a:r>
              <a:rPr lang="en-US" b="1" dirty="0" err="1"/>
              <a:t>значение</a:t>
            </a:r>
            <a:r>
              <a:rPr lang="en-US" b="1" dirty="0"/>
              <a:t>, а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должны</a:t>
            </a:r>
            <a:r>
              <a:rPr lang="en-US" b="1" dirty="0"/>
              <a:t> </a:t>
            </a:r>
            <a:r>
              <a:rPr lang="en-US" b="1" dirty="0" err="1"/>
              <a:t>иметь</a:t>
            </a:r>
            <a:r>
              <a:rPr lang="en-US" b="1" dirty="0"/>
              <a:t> </a:t>
            </a:r>
            <a:r>
              <a:rPr lang="en-US" b="1" dirty="0" err="1"/>
              <a:t>возможность</a:t>
            </a:r>
            <a:r>
              <a:rPr lang="en-US" b="1" dirty="0"/>
              <a:t> </a:t>
            </a:r>
            <a:r>
              <a:rPr lang="en-US" b="1" dirty="0" err="1"/>
              <a:t>изменять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?</a:t>
            </a:r>
            <a:endParaRPr lang="en-US" dirty="0"/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похоже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знакомый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должно</a:t>
            </a:r>
            <a:r>
              <a:rPr lang="en-US" b="1" dirty="0"/>
              <a:t> </a:t>
            </a:r>
            <a:r>
              <a:rPr lang="en-US" b="1" dirty="0" err="1"/>
              <a:t>изменяться</a:t>
            </a:r>
            <a:r>
              <a:rPr lang="en-US" b="1" dirty="0"/>
              <a:t> </a:t>
            </a:r>
            <a:r>
              <a:rPr lang="en-US" b="1" dirty="0" err="1"/>
              <a:t>вместе</a:t>
            </a:r>
            <a:r>
              <a:rPr lang="en-US" b="1" dirty="0"/>
              <a:t>, а </a:t>
            </a:r>
            <a:r>
              <a:rPr lang="en-US" b="1" dirty="0" err="1"/>
              <a:t>что</a:t>
            </a:r>
            <a:r>
              <a:rPr lang="en-US" b="1" dirty="0"/>
              <a:t> — </a:t>
            </a:r>
            <a:r>
              <a:rPr lang="en-US" b="1" dirty="0" err="1"/>
              <a:t>независимо</a:t>
            </a:r>
            <a:r>
              <a:rPr lang="en-US" b="1" dirty="0"/>
              <a:t>?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универсальную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SelectionModel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ViewState</a:t>
            </a:r>
            <a:r>
              <a:rPr lang="en-US" dirty="0"/>
              <a:t> и </a:t>
            </a:r>
            <a:r>
              <a:rPr lang="en-US" dirty="0" err="1"/>
              <a:t>десяток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достаточным</a:t>
            </a:r>
            <a:r>
              <a:rPr lang="en-US" dirty="0"/>
              <a:t> </a:t>
            </a:r>
            <a:r>
              <a:rPr lang="en-US" dirty="0" err="1"/>
              <a:t>решением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рассуждения</a:t>
            </a:r>
            <a:r>
              <a:rPr lang="en-US" dirty="0"/>
              <a:t> </a:t>
            </a:r>
            <a:r>
              <a:rPr lang="en-US" dirty="0" err="1"/>
              <a:t>помогают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 </a:t>
            </a:r>
            <a:r>
              <a:rPr lang="en-US" b="1" dirty="0" err="1"/>
              <a:t>представляет</a:t>
            </a:r>
            <a:r>
              <a:rPr lang="en-US" b="1" dirty="0"/>
              <a:t> </a:t>
            </a:r>
            <a:r>
              <a:rPr lang="en-US" b="1" dirty="0" err="1"/>
              <a:t>эта</a:t>
            </a:r>
            <a:r>
              <a:rPr lang="en-US" b="1" dirty="0"/>
              <a:t> </a:t>
            </a:r>
            <a:r>
              <a:rPr lang="en-US" b="1" dirty="0" err="1"/>
              <a:t>переменная</a:t>
            </a:r>
            <a:r>
              <a:rPr lang="en-US" dirty="0"/>
              <a:t>. А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появятся</a:t>
            </a:r>
            <a:r>
              <a:rPr lang="en-US" dirty="0"/>
              <a:t> drag, active tool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сценарии</a:t>
            </a:r>
            <a:r>
              <a:rPr lang="en-US" dirty="0"/>
              <a:t> —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какому</a:t>
            </a:r>
            <a:r>
              <a:rPr lang="en-US" dirty="0"/>
              <a:t> </a:t>
            </a:r>
            <a:r>
              <a:rPr lang="en-US" dirty="0" err="1"/>
              <a:t>признаку</a:t>
            </a:r>
            <a:r>
              <a:rPr lang="en-US" dirty="0"/>
              <a:t> </a:t>
            </a:r>
            <a:r>
              <a:rPr lang="en-US" dirty="0" err="1"/>
              <a:t>искать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подходящее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dirty="0"/>
              <a:t>KISS/YAGNI </a:t>
            </a:r>
            <a:r>
              <a:rPr lang="en-US" b="1" dirty="0" err="1"/>
              <a:t>говорят</a:t>
            </a:r>
            <a:r>
              <a:rPr lang="en-US" b="1" dirty="0"/>
              <a:t> «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создавай</a:t>
            </a:r>
            <a:r>
              <a:rPr lang="en-US" b="1" dirty="0"/>
              <a:t> </a:t>
            </a:r>
            <a:r>
              <a:rPr lang="ru-RU" b="1" dirty="0"/>
              <a:t>сложных структур</a:t>
            </a:r>
            <a:r>
              <a:rPr lang="en-US" b="1" dirty="0"/>
              <a:t> </a:t>
            </a:r>
            <a:r>
              <a:rPr lang="en-US" b="1" dirty="0" err="1"/>
              <a:t>раньше</a:t>
            </a:r>
            <a:r>
              <a:rPr lang="en-US" b="1" dirty="0"/>
              <a:t> </a:t>
            </a:r>
            <a:r>
              <a:rPr lang="en-US" b="1" dirty="0" err="1"/>
              <a:t>времени</a:t>
            </a:r>
            <a:r>
              <a:rPr lang="en-US" b="1" dirty="0"/>
              <a:t>», </a:t>
            </a:r>
            <a:r>
              <a:rPr lang="en-US" b="1" dirty="0" err="1"/>
              <a:t>но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говорят</a:t>
            </a:r>
            <a:r>
              <a:rPr lang="en-US" b="1" dirty="0"/>
              <a:t> «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размышляй</a:t>
            </a:r>
            <a:r>
              <a:rPr lang="en-US" b="1" dirty="0"/>
              <a:t> о </a:t>
            </a:r>
            <a:r>
              <a:rPr lang="en-US" b="1" dirty="0" err="1"/>
              <a:t>границах</a:t>
            </a:r>
            <a:r>
              <a:rPr lang="en-US" b="1" dirty="0"/>
              <a:t> </a:t>
            </a:r>
            <a:r>
              <a:rPr lang="en-US" b="1" dirty="0" err="1"/>
              <a:t>ответственности</a:t>
            </a:r>
            <a:r>
              <a:rPr lang="en-US" b="1" dirty="0"/>
              <a:t>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55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21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существенное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находилось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dirty="0" err="1"/>
              <a:t>составляющих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фигурах</a:t>
            </a:r>
            <a:r>
              <a:rPr lang="en-US" dirty="0"/>
              <a:t>.</a:t>
            </a:r>
          </a:p>
          <a:p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цвет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переменная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некоторое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MousePressed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сохраняется</a:t>
            </a:r>
            <a:r>
              <a:rPr lang="en-US" dirty="0"/>
              <a:t> и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последующие</a:t>
            </a:r>
            <a:r>
              <a:rPr lang="en-US" dirty="0"/>
              <a:t> </a:t>
            </a:r>
            <a:r>
              <a:rPr lang="en-US" dirty="0" err="1"/>
              <a:t>кадры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анимацией</a:t>
            </a:r>
            <a:r>
              <a:rPr lang="en-US" dirty="0"/>
              <a:t>,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инструменты</a:t>
            </a:r>
            <a:r>
              <a:rPr lang="en-US" dirty="0"/>
              <a:t> —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 о </a:t>
            </a:r>
            <a:r>
              <a:rPr lang="en-US" dirty="0" err="1"/>
              <a:t>выбранном</a:t>
            </a:r>
            <a:r>
              <a:rPr lang="en-US" dirty="0"/>
              <a:t> </a:t>
            </a:r>
            <a:r>
              <a:rPr lang="en-US" dirty="0" err="1"/>
              <a:t>инструменте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перетаскивания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понадобиться</a:t>
            </a:r>
            <a:r>
              <a:rPr lang="en-US" dirty="0"/>
              <a:t> </a:t>
            </a:r>
            <a:r>
              <a:rPr lang="en-US" dirty="0" err="1"/>
              <a:t>признаки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ru-RU" dirty="0"/>
              <a:t>таскания</a:t>
            </a:r>
            <a:r>
              <a:rPr lang="en-US" dirty="0"/>
              <a:t> и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захвата</a:t>
            </a:r>
            <a:r>
              <a:rPr lang="ru-RU" dirty="0"/>
              <a:t> фигуры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складывать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</a:t>
            </a:r>
            <a:r>
              <a:rPr lang="en-US" dirty="0" err="1"/>
              <a:t>куда-нибудь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</a:t>
            </a:r>
            <a:r>
              <a:rPr lang="en-US" b="1" dirty="0" err="1"/>
              <a:t>они</a:t>
            </a:r>
            <a:r>
              <a:rPr lang="en-US" b="1" dirty="0"/>
              <a:t> </a:t>
            </a:r>
            <a:r>
              <a:rPr lang="en-US" b="1" dirty="0" err="1"/>
              <a:t>описывают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?</a:t>
            </a:r>
            <a:r>
              <a:rPr lang="ru-RU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рисунком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996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очевидное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—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признак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в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: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выбрана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вопросами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сохраняем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, </a:t>
            </a:r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выделена</a:t>
            </a:r>
            <a:r>
              <a:rPr lang="en-US" dirty="0"/>
              <a:t> </a:t>
            </a:r>
            <a:r>
              <a:rPr lang="en-US" dirty="0" err="1"/>
              <a:t>пользователем</a:t>
            </a:r>
            <a:r>
              <a:rPr lang="en-US" dirty="0"/>
              <a:t>?</a:t>
            </a:r>
          </a:p>
          <a:p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</a:t>
            </a:r>
            <a:r>
              <a:rPr lang="en-US" dirty="0" err="1"/>
              <a:t>нет</a:t>
            </a:r>
            <a:r>
              <a:rPr lang="en-US" dirty="0"/>
              <a:t>.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случайное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сохранения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открыт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в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окнах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прямоугольником</a:t>
            </a:r>
            <a:r>
              <a:rPr lang="en-US" dirty="0"/>
              <a:t>, а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втором</a:t>
            </a:r>
            <a:r>
              <a:rPr lang="en-US" dirty="0"/>
              <a:t> — с </a:t>
            </a:r>
            <a:r>
              <a:rPr lang="en-US" dirty="0" err="1"/>
              <a:t>эллипсом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selection </a:t>
            </a:r>
            <a:r>
              <a:rPr lang="en-US" dirty="0" err="1"/>
              <a:t>хранится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вынуждены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 </a:t>
            </a:r>
            <a:r>
              <a:rPr lang="en-US" dirty="0" err="1"/>
              <a:t>характеризует</a:t>
            </a:r>
            <a:r>
              <a:rPr lang="en-US" dirty="0"/>
              <a:t> </a:t>
            </a:r>
            <a:r>
              <a:rPr lang="en-US" b="1" dirty="0" err="1"/>
              <a:t>текущий</a:t>
            </a:r>
            <a:r>
              <a:rPr lang="en-US" b="1" dirty="0"/>
              <a:t> </a:t>
            </a:r>
            <a:r>
              <a:rPr lang="en-US" b="1" dirty="0" err="1"/>
              <a:t>процесс</a:t>
            </a:r>
            <a:r>
              <a:rPr lang="en-US" b="1" dirty="0"/>
              <a:t> </a:t>
            </a:r>
            <a:r>
              <a:rPr lang="en-US" b="1" dirty="0" err="1"/>
              <a:t>работы</a:t>
            </a:r>
            <a:r>
              <a:rPr lang="en-US" b="1" dirty="0"/>
              <a:t> с </a:t>
            </a:r>
            <a:r>
              <a:rPr lang="en-US" b="1" dirty="0" err="1"/>
              <a:t>рисунком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SRP.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Геометрия</a:t>
            </a:r>
            <a:r>
              <a:rPr lang="en-US" dirty="0"/>
              <a:t> и </a:t>
            </a:r>
            <a:r>
              <a:rPr lang="en-US" dirty="0" err="1"/>
              <a:t>содержимое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</a:t>
            </a:r>
            <a:r>
              <a:rPr lang="en-US" dirty="0" err="1"/>
              <a:t>изменяются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, </a:t>
            </a:r>
            <a:r>
              <a:rPr lang="en-US" dirty="0" err="1"/>
              <a:t>связанным</a:t>
            </a:r>
            <a:r>
              <a:rPr lang="en-US" dirty="0"/>
              <a:t> с </a:t>
            </a:r>
            <a:r>
              <a:rPr lang="en-US" dirty="0" err="1"/>
              <a:t>документом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Selection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в </a:t>
            </a:r>
            <a:r>
              <a:rPr lang="en-US" dirty="0" err="1"/>
              <a:t>конкретном</a:t>
            </a:r>
            <a:r>
              <a:rPr lang="en-US" dirty="0"/>
              <a:t> </a:t>
            </a:r>
            <a:r>
              <a:rPr lang="en-US" dirty="0" err="1"/>
              <a:t>контексте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Это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источники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177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примера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selection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dirty="0" err="1"/>
              <a:t>каждому</a:t>
            </a:r>
            <a:r>
              <a:rPr lang="en-US" dirty="0"/>
              <a:t>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элементу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гипотетическому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 </a:t>
            </a:r>
            <a:r>
              <a:rPr lang="en-US" dirty="0" err="1"/>
              <a:t>анимации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Canvas и Timeline.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Canvas,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ожидаем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выделен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Timeline.</a:t>
            </a:r>
          </a:p>
          <a:p>
            <a:r>
              <a:rPr lang="en-US" dirty="0"/>
              <a:t>И </a:t>
            </a:r>
            <a:r>
              <a:rPr lang="en-US" dirty="0" err="1"/>
              <a:t>наоборот</a:t>
            </a:r>
            <a:r>
              <a:rPr lang="en-US" dirty="0"/>
              <a:t>: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дорожки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Timeline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приводить</a:t>
            </a:r>
            <a:r>
              <a:rPr lang="en-US" dirty="0"/>
              <a:t> к </a:t>
            </a:r>
            <a:r>
              <a:rPr lang="en-US" dirty="0" err="1"/>
              <a:t>выделению</a:t>
            </a:r>
            <a:r>
              <a:rPr lang="en-US" dirty="0"/>
              <a:t> </a:t>
            </a:r>
            <a:r>
              <a:rPr lang="en-US" dirty="0" err="1"/>
              <a:t>соответствующей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Canvas.</a:t>
            </a:r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b="1" dirty="0" err="1"/>
              <a:t>общим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нескольких</a:t>
            </a:r>
            <a:r>
              <a:rPr lang="en-US" b="1" dirty="0"/>
              <a:t> </a:t>
            </a:r>
            <a:r>
              <a:rPr lang="en-US" b="1" dirty="0" err="1"/>
              <a:t>частей</a:t>
            </a:r>
            <a:r>
              <a:rPr lang="en-US" b="1" dirty="0"/>
              <a:t> </a:t>
            </a:r>
            <a:r>
              <a:rPr lang="en-US" b="1" dirty="0" err="1"/>
              <a:t>интерфейса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currentTime</a:t>
            </a:r>
            <a:r>
              <a:rPr lang="en-US" dirty="0"/>
              <a:t>.</a:t>
            </a:r>
          </a:p>
          <a:p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временного</a:t>
            </a:r>
            <a:r>
              <a:rPr lang="en-US" dirty="0"/>
              <a:t> </a:t>
            </a:r>
            <a:r>
              <a:rPr lang="en-US" dirty="0" err="1"/>
              <a:t>курсора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Timeline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анимации</a:t>
            </a:r>
            <a:r>
              <a:rPr lang="en-US" dirty="0"/>
              <a:t> </a:t>
            </a:r>
            <a:r>
              <a:rPr lang="en-US" dirty="0" err="1"/>
              <a:t>отображает</a:t>
            </a:r>
            <a:r>
              <a:rPr lang="en-US" dirty="0"/>
              <a:t> Canvas.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общим</a:t>
            </a:r>
            <a:r>
              <a:rPr lang="en-US" dirty="0"/>
              <a:t>.</a:t>
            </a:r>
          </a:p>
          <a:p>
            <a:r>
              <a:rPr lang="en-US" dirty="0"/>
              <a:t>Canvas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 и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видимую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.</a:t>
            </a:r>
          </a:p>
          <a:p>
            <a:r>
              <a:rPr lang="en-US" dirty="0"/>
              <a:t>Timeline —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 </a:t>
            </a:r>
            <a:r>
              <a:rPr lang="en-US" dirty="0" err="1"/>
              <a:t>временной</a:t>
            </a:r>
            <a:r>
              <a:rPr lang="en-US" dirty="0"/>
              <a:t> </a:t>
            </a:r>
            <a:r>
              <a:rPr lang="en-US" dirty="0" err="1"/>
              <a:t>шкалы</a:t>
            </a:r>
            <a:r>
              <a:rPr lang="en-US" dirty="0"/>
              <a:t> и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прокрутки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знакомый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проектный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должно</a:t>
            </a:r>
            <a:r>
              <a:rPr lang="en-US" b="1" dirty="0"/>
              <a:t> </a:t>
            </a:r>
            <a:r>
              <a:rPr lang="en-US" b="1" dirty="0" err="1"/>
              <a:t>изменяться</a:t>
            </a:r>
            <a:r>
              <a:rPr lang="en-US" b="1" dirty="0"/>
              <a:t> </a:t>
            </a:r>
            <a:r>
              <a:rPr lang="en-US" b="1" dirty="0" err="1"/>
              <a:t>вместе</a:t>
            </a:r>
            <a:r>
              <a:rPr lang="en-US" b="1" dirty="0"/>
              <a:t>, а </a:t>
            </a:r>
            <a:r>
              <a:rPr lang="en-US" b="1" dirty="0" err="1"/>
              <a:t>что</a:t>
            </a:r>
            <a:r>
              <a:rPr lang="en-US" b="1" dirty="0"/>
              <a:t> — </a:t>
            </a:r>
            <a:r>
              <a:rPr lang="en-US" b="1" dirty="0" err="1"/>
              <a:t>независимо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совместного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054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обобщить</a:t>
            </a:r>
            <a:r>
              <a:rPr lang="en-US" dirty="0"/>
              <a:t> </a:t>
            </a:r>
            <a:r>
              <a:rPr lang="en-US" dirty="0" err="1"/>
              <a:t>наши</a:t>
            </a:r>
            <a:r>
              <a:rPr lang="en-US" dirty="0"/>
              <a:t> </a:t>
            </a:r>
            <a:r>
              <a:rPr lang="en-US" dirty="0" err="1"/>
              <a:t>наблюдения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крайней</a:t>
            </a:r>
            <a:r>
              <a:rPr lang="en-US" dirty="0"/>
              <a:t> </a:t>
            </a:r>
            <a:r>
              <a:rPr lang="en-US" dirty="0" err="1"/>
              <a:t>мере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Первая</a:t>
            </a:r>
            <a:r>
              <a:rPr lang="en-US" dirty="0"/>
              <a:t> —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,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наложения</a:t>
            </a:r>
            <a:r>
              <a:rPr lang="en-US" dirty="0"/>
              <a:t>, а в </a:t>
            </a:r>
            <a:r>
              <a:rPr lang="en-US" dirty="0" err="1"/>
              <a:t>анимационном</a:t>
            </a:r>
            <a:r>
              <a:rPr lang="en-US" dirty="0"/>
              <a:t> </a:t>
            </a:r>
            <a:r>
              <a:rPr lang="en-US" dirty="0" err="1"/>
              <a:t>редакторе</a:t>
            </a:r>
            <a:r>
              <a:rPr lang="en-US" dirty="0"/>
              <a:t> — </a:t>
            </a:r>
            <a:r>
              <a:rPr lang="en-US" dirty="0" err="1"/>
              <a:t>интервалы</a:t>
            </a:r>
            <a:r>
              <a:rPr lang="en-US" dirty="0"/>
              <a:t> </a:t>
            </a:r>
            <a:r>
              <a:rPr lang="en-US" dirty="0" err="1"/>
              <a:t>существования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к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и </a:t>
            </a:r>
            <a:r>
              <a:rPr lang="en-US" dirty="0" err="1"/>
              <a:t>входят</a:t>
            </a:r>
            <a:r>
              <a:rPr lang="en-US" dirty="0"/>
              <a:t> в Domain Model.</a:t>
            </a:r>
          </a:p>
          <a:p>
            <a:endParaRPr lang="ru-RU" dirty="0"/>
          </a:p>
          <a:p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—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рисунком</a:t>
            </a:r>
            <a:r>
              <a:rPr lang="en-US" dirty="0"/>
              <a:t>.</a:t>
            </a:r>
          </a:p>
          <a:p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выбрана</a:t>
            </a:r>
            <a:r>
              <a:rPr lang="en-US" dirty="0"/>
              <a:t>?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рассматривается</a:t>
            </a:r>
            <a:r>
              <a:rPr lang="en-US" dirty="0"/>
              <a:t>?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активен</a:t>
            </a:r>
            <a:r>
              <a:rPr lang="en-US" dirty="0"/>
              <a:t>?</a:t>
            </a:r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описывают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общими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сеанса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локальное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масштаб</a:t>
            </a:r>
            <a:r>
              <a:rPr lang="en-US" dirty="0"/>
              <a:t> Canvas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совпадать</a:t>
            </a:r>
            <a:r>
              <a:rPr lang="en-US" dirty="0"/>
              <a:t> с </a:t>
            </a:r>
            <a:r>
              <a:rPr lang="en-US" dirty="0" err="1"/>
              <a:t>масштабом</a:t>
            </a:r>
            <a:r>
              <a:rPr lang="en-US" dirty="0"/>
              <a:t> </a:t>
            </a:r>
            <a:r>
              <a:rPr lang="en-US" dirty="0" err="1"/>
              <a:t>временной</a:t>
            </a:r>
            <a:r>
              <a:rPr lang="en-US" dirty="0"/>
              <a:t> </a:t>
            </a:r>
            <a:r>
              <a:rPr lang="en-US" dirty="0" err="1"/>
              <a:t>шкалы</a:t>
            </a:r>
            <a:r>
              <a:rPr lang="en-US" dirty="0"/>
              <a:t>.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прокрутки</a:t>
            </a:r>
            <a:r>
              <a:rPr lang="en-US" dirty="0"/>
              <a:t> Timeline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к Timeline.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вводим</a:t>
            </a:r>
            <a:r>
              <a:rPr lang="en-US" dirty="0"/>
              <a:t> </a:t>
            </a:r>
            <a:r>
              <a:rPr lang="en-US" dirty="0" err="1"/>
              <a:t>специальное</a:t>
            </a:r>
            <a:r>
              <a:rPr lang="en-US" dirty="0"/>
              <a:t> </a:t>
            </a:r>
            <a:r>
              <a:rPr lang="en-US" dirty="0" err="1"/>
              <a:t>архитектурное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второго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место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состояния</a:t>
            </a:r>
            <a:r>
              <a:rPr lang="en-US" b="1" dirty="0"/>
              <a:t> </a:t>
            </a:r>
            <a:r>
              <a:rPr lang="en-US" b="1" dirty="0" err="1"/>
              <a:t>определяется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типом</a:t>
            </a:r>
            <a:r>
              <a:rPr lang="en-US" b="1" dirty="0"/>
              <a:t> и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удобством</a:t>
            </a:r>
            <a:r>
              <a:rPr lang="en-US" b="1" dirty="0"/>
              <a:t> </a:t>
            </a:r>
            <a:r>
              <a:rPr lang="en-US" b="1" dirty="0" err="1"/>
              <a:t>хранения</a:t>
            </a:r>
            <a:r>
              <a:rPr lang="en-US" b="1" dirty="0"/>
              <a:t>, а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смыслом</a:t>
            </a:r>
            <a:r>
              <a:rPr lang="en-US" b="1" dirty="0"/>
              <a:t> и </a:t>
            </a:r>
            <a:r>
              <a:rPr lang="en-US" b="1" dirty="0" err="1"/>
              <a:t>тем</a:t>
            </a:r>
            <a:r>
              <a:rPr lang="en-US" b="1" dirty="0"/>
              <a:t>,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системы</a:t>
            </a:r>
            <a:r>
              <a:rPr lang="en-US" b="1" dirty="0"/>
              <a:t> </a:t>
            </a:r>
            <a:r>
              <a:rPr lang="en-US" b="1" dirty="0" err="1"/>
              <a:t>должны</a:t>
            </a:r>
            <a:r>
              <a:rPr lang="en-US" b="1" dirty="0"/>
              <a:t> </a:t>
            </a:r>
            <a:r>
              <a:rPr lang="en-US" b="1" dirty="0" err="1"/>
              <a:t>им</a:t>
            </a:r>
            <a:r>
              <a:rPr lang="en-US" b="1" dirty="0"/>
              <a:t> </a:t>
            </a:r>
            <a:r>
              <a:rPr lang="en-US" b="1" dirty="0" err="1"/>
              <a:t>совместно</a:t>
            </a:r>
            <a:r>
              <a:rPr lang="en-US" b="1" dirty="0"/>
              <a:t> </a:t>
            </a:r>
            <a:r>
              <a:rPr lang="en-US" b="1" dirty="0" err="1"/>
              <a:t>пользоваться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cohesion: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имеющие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и </a:t>
            </a:r>
            <a:r>
              <a:rPr lang="en-US" dirty="0" err="1"/>
              <a:t>связанные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группировать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510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рассуждений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захотеть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специальный</a:t>
            </a:r>
            <a:r>
              <a:rPr lang="en-US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,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EditingContext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будущем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полезен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активный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сеанса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документом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представлено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с </a:t>
            </a:r>
            <a:r>
              <a:rPr lang="en-US" dirty="0" err="1"/>
              <a:t>интерфейсами</a:t>
            </a:r>
            <a:r>
              <a:rPr lang="en-US" dirty="0"/>
              <a:t> и </a:t>
            </a:r>
            <a:r>
              <a:rPr lang="en-US" dirty="0" err="1"/>
              <a:t>несколькими</a:t>
            </a:r>
            <a:r>
              <a:rPr lang="en-US" dirty="0"/>
              <a:t> </a:t>
            </a:r>
            <a:r>
              <a:rPr lang="en-US" dirty="0" err="1"/>
              <a:t>уровнями</a:t>
            </a:r>
            <a:r>
              <a:rPr lang="en-US" dirty="0"/>
              <a:t> </a:t>
            </a:r>
            <a:r>
              <a:rPr lang="en-US" dirty="0" err="1"/>
              <a:t>косвенности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вряд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сделает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KISS и YAGNI.</a:t>
            </a:r>
            <a:r>
              <a:rPr lang="ru-RU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разделять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утверждения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Первое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понимаем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Domain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Второе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второе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Понимание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b="1" dirty="0" err="1"/>
              <a:t>увидеть</a:t>
            </a:r>
            <a:r>
              <a:rPr lang="en-US" b="1" dirty="0"/>
              <a:t> </a:t>
            </a:r>
            <a:r>
              <a:rPr lang="en-US" b="1" dirty="0" err="1"/>
              <a:t>естественную</a:t>
            </a:r>
            <a:r>
              <a:rPr lang="en-US" b="1" dirty="0"/>
              <a:t> </a:t>
            </a:r>
            <a:r>
              <a:rPr lang="en-US" b="1" dirty="0" err="1"/>
              <a:t>будущую</a:t>
            </a:r>
            <a:r>
              <a:rPr lang="en-US" b="1" dirty="0"/>
              <a:t> </a:t>
            </a:r>
            <a:r>
              <a:rPr lang="en-US" b="1" dirty="0" err="1"/>
              <a:t>границу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приносить</a:t>
            </a:r>
            <a:r>
              <a:rPr lang="en-US" dirty="0"/>
              <a:t> </a:t>
            </a:r>
            <a:r>
              <a:rPr lang="en-US" dirty="0" err="1"/>
              <a:t>пользу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предпосылки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перетаскивать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: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drag, </a:t>
            </a:r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перемещается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захватил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 и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MousePressed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сможем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появилась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в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b="1" dirty="0"/>
              <a:t> </a:t>
            </a:r>
            <a:r>
              <a:rPr lang="en-US" b="1" dirty="0" err="1"/>
              <a:t>новая</a:t>
            </a:r>
            <a:r>
              <a:rPr lang="en-US" b="1" dirty="0"/>
              <a:t> </a:t>
            </a:r>
            <a:r>
              <a:rPr lang="en-US" b="1" dirty="0" err="1"/>
              <a:t>самостоятельная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 — </a:t>
            </a:r>
            <a:r>
              <a:rPr lang="en-US" b="1" dirty="0" err="1"/>
              <a:t>интерпретация</a:t>
            </a:r>
            <a:r>
              <a:rPr lang="en-US" b="1" dirty="0"/>
              <a:t> </a:t>
            </a:r>
            <a:r>
              <a:rPr lang="en-US" b="1" dirty="0" err="1"/>
              <a:t>действий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003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67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нажал</a:t>
            </a:r>
            <a:r>
              <a:rPr lang="en-US" dirty="0"/>
              <a:t> </a:t>
            </a:r>
            <a:r>
              <a:rPr lang="en-US" dirty="0" err="1"/>
              <a:t>кнопку</a:t>
            </a:r>
            <a:r>
              <a:rPr lang="en-US" dirty="0"/>
              <a:t> —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определили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курсором</a:t>
            </a:r>
            <a:r>
              <a:rPr lang="en-US" dirty="0"/>
              <a:t> и </a:t>
            </a:r>
            <a:r>
              <a:rPr lang="en-US" dirty="0" err="1"/>
              <a:t>запомнили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усложним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: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перетащить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—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 в </a:t>
            </a:r>
            <a:r>
              <a:rPr lang="en-US" dirty="0" err="1"/>
              <a:t>другое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графическая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о </a:t>
            </a:r>
            <a:r>
              <a:rPr lang="en-US" dirty="0" err="1"/>
              <a:t>действии</a:t>
            </a:r>
            <a:r>
              <a:rPr lang="en-US" dirty="0"/>
              <a:t> «</a:t>
            </a:r>
            <a:r>
              <a:rPr lang="en-US" dirty="0" err="1"/>
              <a:t>перетащить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».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выдаёт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низкоуровневых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нажатие</a:t>
            </a:r>
            <a:r>
              <a:rPr lang="en-US" dirty="0"/>
              <a:t> </a:t>
            </a:r>
            <a:r>
              <a:rPr lang="en-US" dirty="0" err="1"/>
              <a:t>кнопки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поступает</a:t>
            </a:r>
            <a:r>
              <a:rPr lang="en-US" dirty="0"/>
              <a:t> </a:t>
            </a:r>
            <a:r>
              <a:rPr lang="en-US" dirty="0" err="1"/>
              <a:t>некоторое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перемещения</a:t>
            </a:r>
            <a:r>
              <a:rPr lang="en-US" dirty="0"/>
              <a:t>. </a:t>
            </a:r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отпускается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.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рисунком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в </a:t>
            </a:r>
            <a:r>
              <a:rPr lang="en-US" dirty="0" err="1"/>
              <a:t>контексте</a:t>
            </a:r>
            <a:r>
              <a:rPr lang="en-US" dirty="0"/>
              <a:t>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и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важному</a:t>
            </a:r>
            <a:r>
              <a:rPr lang="en-US" dirty="0"/>
              <a:t> </a:t>
            </a:r>
            <a:r>
              <a:rPr lang="en-US" dirty="0" err="1"/>
              <a:t>различию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событие</a:t>
            </a:r>
            <a:r>
              <a:rPr lang="en-US" b="1" dirty="0"/>
              <a:t> </a:t>
            </a:r>
            <a:r>
              <a:rPr lang="en-US" b="1" dirty="0" err="1"/>
              <a:t>устройства</a:t>
            </a:r>
            <a:r>
              <a:rPr lang="en-US" b="1" dirty="0"/>
              <a:t> </a:t>
            </a:r>
            <a:r>
              <a:rPr lang="en-US" b="1" dirty="0" err="1"/>
              <a:t>ввода</a:t>
            </a:r>
            <a:r>
              <a:rPr lang="en-US" b="1" dirty="0"/>
              <a:t> и </a:t>
            </a:r>
            <a:r>
              <a:rPr lang="en-US" b="1" dirty="0" err="1"/>
              <a:t>осмысленное</a:t>
            </a:r>
            <a:r>
              <a:rPr lang="en-US" b="1" dirty="0"/>
              <a:t> </a:t>
            </a:r>
            <a:r>
              <a:rPr lang="en-US" b="1" dirty="0" err="1"/>
              <a:t>действие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b="1" dirty="0"/>
              <a:t> —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одно</a:t>
            </a:r>
            <a:r>
              <a:rPr lang="en-US" b="1" dirty="0"/>
              <a:t> и </a:t>
            </a:r>
            <a:r>
              <a:rPr lang="en-US" b="1" dirty="0" err="1"/>
              <a:t>то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550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и </a:t>
            </a:r>
            <a:r>
              <a:rPr lang="en-US" dirty="0" err="1"/>
              <a:t>раньше</a:t>
            </a:r>
            <a:r>
              <a:rPr lang="en-US" dirty="0"/>
              <a:t>, </a:t>
            </a:r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простого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необходимое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 с </a:t>
            </a:r>
            <a:r>
              <a:rPr lang="en-US" dirty="0" err="1"/>
              <a:t>циклом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 </a:t>
            </a:r>
            <a:r>
              <a:rPr lang="en-US" dirty="0" err="1"/>
              <a:t>выбранную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перетаскивание</a:t>
            </a:r>
            <a:r>
              <a:rPr lang="en-US" dirty="0"/>
              <a:t> и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находилась</a:t>
            </a:r>
            <a:r>
              <a:rPr lang="en-US" dirty="0"/>
              <a:t> </a:t>
            </a:r>
            <a:r>
              <a:rPr lang="en-US" dirty="0" err="1"/>
              <a:t>мышь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шаге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нажатии</a:t>
            </a:r>
            <a:r>
              <a:rPr lang="en-US" dirty="0"/>
              <a:t> </a:t>
            </a:r>
            <a:r>
              <a:rPr lang="en-US" dirty="0" err="1"/>
              <a:t>кнопки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определяем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курсором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найдена</a:t>
            </a:r>
            <a:r>
              <a:rPr lang="en-US" dirty="0"/>
              <a:t>, </a:t>
            </a:r>
            <a:r>
              <a:rPr lang="en-US" dirty="0" err="1"/>
              <a:t>начинаем</a:t>
            </a:r>
            <a:r>
              <a:rPr lang="en-US" dirty="0"/>
              <a:t> </a:t>
            </a:r>
            <a:r>
              <a:rPr lang="en-US" dirty="0" err="1"/>
              <a:t>перетаскивание</a:t>
            </a:r>
            <a:r>
              <a:rPr lang="en-US" dirty="0"/>
              <a:t> и </a:t>
            </a:r>
            <a:r>
              <a:rPr lang="en-US" dirty="0" err="1"/>
              <a:t>запоминаем</a:t>
            </a:r>
            <a:r>
              <a:rPr lang="en-US" dirty="0"/>
              <a:t> </a:t>
            </a:r>
            <a:r>
              <a:rPr lang="en-US" dirty="0" err="1"/>
              <a:t>текущую</a:t>
            </a:r>
            <a:r>
              <a:rPr lang="en-US" dirty="0"/>
              <a:t> </a:t>
            </a:r>
            <a:r>
              <a:rPr lang="en-US" dirty="0" err="1"/>
              <a:t>позицию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отпускания</a:t>
            </a:r>
            <a:r>
              <a:rPr lang="en-US" dirty="0"/>
              <a:t> </a:t>
            </a:r>
            <a:r>
              <a:rPr lang="en-US" dirty="0" err="1"/>
              <a:t>кнопки</a:t>
            </a:r>
            <a:r>
              <a:rPr lang="en-US" dirty="0"/>
              <a:t> </a:t>
            </a:r>
            <a:r>
              <a:rPr lang="en-US" dirty="0" err="1"/>
              <a:t>перетаскивание</a:t>
            </a:r>
            <a:r>
              <a:rPr lang="en-US" dirty="0"/>
              <a:t> </a:t>
            </a:r>
            <a:r>
              <a:rPr lang="en-US" dirty="0" err="1"/>
              <a:t>заканчивается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очередном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вычисляем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 и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, и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задаче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выделять</a:t>
            </a:r>
            <a:r>
              <a:rPr lang="en-US" dirty="0"/>
              <a:t>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 </a:t>
            </a:r>
            <a:r>
              <a:rPr lang="en-US" dirty="0" err="1"/>
              <a:t>потенциально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стать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переменных</a:t>
            </a:r>
            <a:r>
              <a:rPr lang="en-US" dirty="0"/>
              <a:t> и </a:t>
            </a:r>
            <a:r>
              <a:rPr lang="en-US" dirty="0" err="1"/>
              <a:t>обработчиков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помещаются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применения</a:t>
            </a:r>
            <a:r>
              <a:rPr lang="en-US" dirty="0"/>
              <a:t> KISS и YAGNI: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следует</a:t>
            </a:r>
            <a:r>
              <a:rPr lang="en-US" b="1" dirty="0"/>
              <a:t> </a:t>
            </a:r>
            <a:r>
              <a:rPr lang="en-US" b="1" dirty="0" err="1"/>
              <a:t>вводить</a:t>
            </a:r>
            <a:r>
              <a:rPr lang="en-US" b="1" dirty="0"/>
              <a:t> </a:t>
            </a:r>
            <a:r>
              <a:rPr lang="en-US" b="1" dirty="0" err="1"/>
              <a:t>новую</a:t>
            </a:r>
            <a:r>
              <a:rPr lang="en-US" b="1" dirty="0"/>
              <a:t> </a:t>
            </a:r>
            <a:r>
              <a:rPr lang="en-US" b="1" dirty="0" err="1"/>
              <a:t>архитектурную</a:t>
            </a:r>
            <a:r>
              <a:rPr lang="en-US" b="1" dirty="0"/>
              <a:t> </a:t>
            </a:r>
            <a:r>
              <a:rPr lang="en-US" b="1" dirty="0" err="1"/>
              <a:t>сущность</a:t>
            </a:r>
            <a:r>
              <a:rPr lang="en-US" b="1" dirty="0"/>
              <a:t> </a:t>
            </a:r>
            <a:r>
              <a:rPr lang="en-US" b="1" dirty="0" err="1"/>
              <a:t>до</a:t>
            </a:r>
            <a:r>
              <a:rPr lang="en-US" b="1" dirty="0"/>
              <a:t> </a:t>
            </a:r>
            <a:r>
              <a:rPr lang="en-US" b="1" dirty="0" err="1"/>
              <a:t>того</a:t>
            </a:r>
            <a:r>
              <a:rPr lang="en-US" b="1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станет</a:t>
            </a:r>
            <a:r>
              <a:rPr lang="en-US" b="1" dirty="0"/>
              <a:t> </a:t>
            </a:r>
            <a:r>
              <a:rPr lang="en-US" b="1" dirty="0" err="1"/>
              <a:t>понятно</a:t>
            </a:r>
            <a:r>
              <a:rPr lang="en-US" b="1" dirty="0"/>
              <a:t>,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самостоятельную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выполнять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получившийся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Оказывается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нечто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содержательное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SFML </a:t>
            </a:r>
            <a:r>
              <a:rPr lang="en-US" dirty="0" err="1"/>
              <a:t>дальше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«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».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и 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наблюдение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 </a:t>
            </a:r>
            <a:r>
              <a:rPr lang="en-US" dirty="0" err="1"/>
              <a:t>шагом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рассуждения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306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получении</a:t>
            </a:r>
            <a:r>
              <a:rPr lang="en-US" dirty="0"/>
              <a:t>?</a:t>
            </a:r>
          </a:p>
          <a:p>
            <a:r>
              <a:rPr lang="en-US" dirty="0" err="1"/>
              <a:t>Однозначного</a:t>
            </a:r>
            <a:r>
              <a:rPr lang="en-US" dirty="0"/>
              <a:t> </a:t>
            </a:r>
            <a:r>
              <a:rPr lang="en-US" dirty="0" err="1"/>
              <a:t>ответа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перетаскивает</a:t>
            </a:r>
            <a:r>
              <a:rPr lang="en-US" dirty="0"/>
              <a:t>,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никакого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</a:t>
            </a:r>
            <a:r>
              <a:rPr lang="en-US" dirty="0" err="1"/>
              <a:t>происходить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нажата</a:t>
            </a:r>
            <a:r>
              <a:rPr lang="en-US" dirty="0"/>
              <a:t>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фигурой</a:t>
            </a:r>
            <a:r>
              <a:rPr lang="en-US" dirty="0"/>
              <a:t>, </a:t>
            </a:r>
            <a:r>
              <a:rPr lang="en-US" dirty="0" err="1"/>
              <a:t>движение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означать</a:t>
            </a:r>
            <a:r>
              <a:rPr lang="en-US" dirty="0"/>
              <a:t> </a:t>
            </a:r>
            <a:r>
              <a:rPr lang="en-US" dirty="0" err="1"/>
              <a:t>продолжение</a:t>
            </a:r>
            <a:r>
              <a:rPr lang="en-US" dirty="0"/>
              <a:t> drag.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будущем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маркеры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другом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означать</a:t>
            </a:r>
            <a:r>
              <a:rPr lang="en-US" dirty="0"/>
              <a:t> resize.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активном</a:t>
            </a:r>
            <a:r>
              <a:rPr lang="en-US" dirty="0"/>
              <a:t> </a:t>
            </a:r>
            <a:r>
              <a:rPr lang="en-US" dirty="0" err="1"/>
              <a:t>инструменте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 </a:t>
            </a:r>
            <a:r>
              <a:rPr lang="en-US" dirty="0" err="1"/>
              <a:t>движение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инструменте</a:t>
            </a:r>
            <a:r>
              <a:rPr lang="en-US" dirty="0"/>
              <a:t> </a:t>
            </a:r>
            <a:r>
              <a:rPr lang="en-US" dirty="0" err="1"/>
              <a:t>панорамирования</a:t>
            </a:r>
            <a:r>
              <a:rPr lang="en-US" dirty="0"/>
              <a:t> —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видимую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холста</a:t>
            </a:r>
            <a:r>
              <a:rPr lang="en-US" dirty="0"/>
              <a:t>,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изменяя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SFML </a:t>
            </a:r>
            <a:r>
              <a:rPr lang="en-US" dirty="0" err="1"/>
              <a:t>поставляет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b="1" dirty="0" err="1"/>
              <a:t>факты</a:t>
            </a:r>
            <a:r>
              <a:rPr lang="en-US" b="1" dirty="0"/>
              <a:t> о </a:t>
            </a:r>
            <a:r>
              <a:rPr lang="en-US" b="1" dirty="0" err="1"/>
              <a:t>вводе</a:t>
            </a:r>
            <a:r>
              <a:rPr lang="en-US" dirty="0"/>
              <a:t>:</a:t>
            </a:r>
          </a:p>
          <a:p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нажата</a:t>
            </a:r>
            <a:r>
              <a:rPr lang="en-US" dirty="0"/>
              <a:t>, </a:t>
            </a:r>
            <a:r>
              <a:rPr lang="en-US" dirty="0" err="1"/>
              <a:t>курсор</a:t>
            </a:r>
            <a:r>
              <a:rPr lang="en-US" dirty="0"/>
              <a:t> </a:t>
            </a:r>
            <a:r>
              <a:rPr lang="en-US" dirty="0" err="1"/>
              <a:t>переместился</a:t>
            </a:r>
            <a:r>
              <a:rPr lang="en-US" dirty="0"/>
              <a:t>,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отпущена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придать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фактам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самим</a:t>
            </a:r>
            <a:r>
              <a:rPr lang="en-US" dirty="0"/>
              <a:t> </a:t>
            </a:r>
            <a:r>
              <a:rPr lang="en-US" dirty="0" err="1"/>
              <a:t>событием</a:t>
            </a:r>
            <a:r>
              <a:rPr lang="en-US" dirty="0"/>
              <a:t>, а </a:t>
            </a:r>
            <a:r>
              <a:rPr lang="en-US" dirty="0" err="1"/>
              <a:t>контекстом</a:t>
            </a:r>
            <a:r>
              <a:rPr lang="en-US" dirty="0"/>
              <a:t>: </a:t>
            </a:r>
            <a:r>
              <a:rPr lang="en-US" dirty="0" err="1"/>
              <a:t>текущим</a:t>
            </a:r>
            <a:r>
              <a:rPr lang="en-US" dirty="0"/>
              <a:t> </a:t>
            </a:r>
            <a:r>
              <a:rPr lang="en-US" dirty="0" err="1"/>
              <a:t>инструментом</a:t>
            </a:r>
            <a:r>
              <a:rPr lang="en-US" dirty="0"/>
              <a:t>,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и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проявляться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: </a:t>
            </a:r>
            <a:r>
              <a:rPr lang="en-US" b="1" dirty="0" err="1"/>
              <a:t>интерпретировать</a:t>
            </a:r>
            <a:r>
              <a:rPr lang="en-US" b="1" dirty="0"/>
              <a:t> </a:t>
            </a:r>
            <a:r>
              <a:rPr lang="en-US" b="1" dirty="0" err="1"/>
              <a:t>низкоуровневый</a:t>
            </a:r>
            <a:r>
              <a:rPr lang="en-US" b="1" dirty="0"/>
              <a:t> </a:t>
            </a:r>
            <a:r>
              <a:rPr lang="en-US" b="1" dirty="0" err="1"/>
              <a:t>пользовательский</a:t>
            </a:r>
            <a:r>
              <a:rPr lang="en-US" b="1" dirty="0"/>
              <a:t> </a:t>
            </a:r>
            <a:r>
              <a:rPr lang="en-US" b="1" dirty="0" err="1"/>
              <a:t>ввод</a:t>
            </a:r>
            <a:r>
              <a:rPr lang="en-US" b="1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осмысленные</a:t>
            </a:r>
            <a:r>
              <a:rPr lang="en-US" b="1" dirty="0"/>
              <a:t> </a:t>
            </a:r>
            <a:r>
              <a:rPr lang="en-US" b="1" dirty="0" err="1"/>
              <a:t>действия</a:t>
            </a:r>
            <a:r>
              <a:rPr lang="en-US" b="1" dirty="0"/>
              <a:t> </a:t>
            </a:r>
            <a:r>
              <a:rPr lang="en-US" b="1" dirty="0" err="1"/>
              <a:t>редактора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647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длину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, 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,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и </a:t>
            </a:r>
            <a:r>
              <a:rPr lang="en-US" dirty="0" err="1"/>
              <a:t>сборку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конфигурация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event loop — </a:t>
            </a:r>
            <a:r>
              <a:rPr lang="en-US" dirty="0" err="1"/>
              <a:t>технический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получения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SFML.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накапливаются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и </a:t>
            </a:r>
            <a:r>
              <a:rPr lang="en-US" dirty="0" err="1"/>
              <a:t>заканчивается</a:t>
            </a:r>
            <a:r>
              <a:rPr lang="en-US" dirty="0"/>
              <a:t> drag.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движении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drag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смещение</a:t>
            </a:r>
            <a:r>
              <a:rPr lang="en-US" dirty="0"/>
              <a:t> и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инструменты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,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панорамирования</a:t>
            </a:r>
            <a:r>
              <a:rPr lang="en-US" dirty="0"/>
              <a:t>,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механизме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и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SFML.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b="1" dirty="0" err="1"/>
              <a:t>правил</a:t>
            </a:r>
            <a:r>
              <a:rPr lang="en-US" b="1" dirty="0"/>
              <a:t> </a:t>
            </a:r>
            <a:r>
              <a:rPr lang="en-US" b="1" dirty="0" err="1"/>
              <a:t>взаимодействия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b="1" dirty="0"/>
              <a:t> с </a:t>
            </a:r>
            <a:r>
              <a:rPr lang="en-US" b="1" dirty="0" err="1"/>
              <a:t>редактором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SRP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проявляются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и </a:t>
            </a:r>
            <a:r>
              <a:rPr lang="en-US" dirty="0" err="1"/>
              <a:t>высокую</a:t>
            </a:r>
            <a:r>
              <a:rPr lang="en-US" dirty="0"/>
              <a:t> cohesion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состояние</a:t>
            </a:r>
            <a:r>
              <a:rPr lang="en-US" dirty="0"/>
              <a:t> drag,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MousePressed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, </a:t>
            </a:r>
            <a:r>
              <a:rPr lang="en-US" dirty="0" err="1"/>
              <a:t>активный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и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основание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«</a:t>
            </a:r>
            <a:r>
              <a:rPr lang="en-US" dirty="0" err="1"/>
              <a:t>сократить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», а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b="1" dirty="0" err="1"/>
              <a:t>отдельную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522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Вынесем</a:t>
            </a:r>
            <a:r>
              <a:rPr lang="en-US" dirty="0"/>
              <a:t> </a:t>
            </a:r>
            <a:r>
              <a:rPr lang="en-US" dirty="0" err="1"/>
              <a:t>обнаруженную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.</a:t>
            </a:r>
          </a:p>
          <a:p>
            <a:r>
              <a:rPr lang="en-US" dirty="0" err="1"/>
              <a:t>Назовём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SFML, а </a:t>
            </a:r>
            <a:r>
              <a:rPr lang="en-US" dirty="0" err="1"/>
              <a:t>понятные</a:t>
            </a:r>
            <a:r>
              <a:rPr lang="en-US" dirty="0"/>
              <a:t> </a:t>
            </a:r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приложению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: </a:t>
            </a:r>
            <a:r>
              <a:rPr lang="en-US" dirty="0" err="1"/>
              <a:t>мышь</a:t>
            </a:r>
            <a:r>
              <a:rPr lang="en-US" dirty="0"/>
              <a:t> </a:t>
            </a:r>
            <a:r>
              <a:rPr lang="en-US" dirty="0" err="1"/>
              <a:t>нажата</a:t>
            </a:r>
            <a:r>
              <a:rPr lang="en-US" dirty="0"/>
              <a:t> в </a:t>
            </a:r>
            <a:r>
              <a:rPr lang="en-US" dirty="0" err="1"/>
              <a:t>некоторой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, </a:t>
            </a:r>
            <a:r>
              <a:rPr lang="en-US" dirty="0" err="1"/>
              <a:t>переместилась</a:t>
            </a:r>
            <a:r>
              <a:rPr lang="en-US" dirty="0"/>
              <a:t> в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точку</a:t>
            </a:r>
            <a:r>
              <a:rPr lang="en-US" dirty="0"/>
              <a:t>,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отпущена</a:t>
            </a:r>
            <a:r>
              <a:rPr lang="en-US" dirty="0"/>
              <a:t>.</a:t>
            </a:r>
          </a:p>
          <a:p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самым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технических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SFML в </a:t>
            </a:r>
            <a:r>
              <a:rPr lang="en-US" dirty="0" err="1"/>
              <a:t>наши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границе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Controller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необходимое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интерпретации</a:t>
            </a:r>
            <a:r>
              <a:rPr lang="en-US" dirty="0"/>
              <a:t> </a:t>
            </a:r>
            <a:r>
              <a:rPr lang="en-US" dirty="0" err="1"/>
              <a:t>последовательности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, и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drag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обращается</a:t>
            </a:r>
            <a:r>
              <a:rPr lang="en-US" dirty="0"/>
              <a:t> к Domain Model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предметные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36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рефакторинга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заметны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 </a:t>
            </a:r>
            <a:r>
              <a:rPr lang="en-US" dirty="0" err="1"/>
              <a:t>обязанностей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dirty="0" err="1"/>
              <a:t>находящиеся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описывают</a:t>
            </a:r>
            <a:r>
              <a:rPr lang="en-US" dirty="0"/>
              <a:t> </a:t>
            </a:r>
            <a:r>
              <a:rPr lang="en-US" dirty="0" err="1"/>
              <a:t>предметное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поведение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 </a:t>
            </a:r>
            <a:r>
              <a:rPr lang="en-US" dirty="0" err="1"/>
              <a:t>интерпретирует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и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начинали</a:t>
            </a:r>
            <a:r>
              <a:rPr lang="en-US" dirty="0"/>
              <a:t> с </a:t>
            </a:r>
            <a:r>
              <a:rPr lang="en-US" dirty="0" err="1"/>
              <a:t>решения</a:t>
            </a:r>
            <a:r>
              <a:rPr lang="en-US" dirty="0"/>
              <a:t> «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разделим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/>
              <a:t>несколько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ru-RU" dirty="0" err="1"/>
              <a:t>ов</a:t>
            </a:r>
            <a:r>
              <a:rPr lang="en-US" dirty="0"/>
              <a:t>».</a:t>
            </a:r>
            <a:r>
              <a:rPr lang="ru-RU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в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потребовалось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мышью</a:t>
            </a:r>
            <a:r>
              <a:rPr lang="en-US" dirty="0"/>
              <a:t> </a:t>
            </a:r>
            <a:r>
              <a:rPr lang="en-US" dirty="0" err="1"/>
              <a:t>породило</a:t>
            </a:r>
            <a:r>
              <a:rPr lang="en-US" dirty="0"/>
              <a:t> </a:t>
            </a:r>
            <a:r>
              <a:rPr lang="en-US" dirty="0" err="1"/>
              <a:t>собственное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добавления</a:t>
            </a:r>
            <a:r>
              <a:rPr lang="en-US" dirty="0"/>
              <a:t> drag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низкоуровневых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интерпретировать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осмысленные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Подобное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ролей</a:t>
            </a:r>
            <a:r>
              <a:rPr lang="en-US" dirty="0"/>
              <a:t> </a:t>
            </a:r>
            <a:r>
              <a:rPr lang="en-US" dirty="0" err="1"/>
              <a:t>многократно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интерактивных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лежит</a:t>
            </a:r>
            <a:r>
              <a:rPr lang="en-US" dirty="0"/>
              <a:t> в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известного</a:t>
            </a:r>
            <a:r>
              <a:rPr lang="en-US" dirty="0"/>
              <a:t> </a:t>
            </a:r>
            <a:r>
              <a:rPr lang="en-US" dirty="0" err="1"/>
              <a:t>архитектурного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b="1" dirty="0"/>
              <a:t>Model–View–Controller — MVC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разделе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рассмотреть</a:t>
            </a:r>
            <a:r>
              <a:rPr lang="en-US" dirty="0"/>
              <a:t> </a:t>
            </a:r>
            <a:r>
              <a:rPr lang="en-US" dirty="0" err="1"/>
              <a:t>получившуюся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с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и </a:t>
            </a:r>
            <a:r>
              <a:rPr lang="en-US" dirty="0" err="1"/>
              <a:t>выяснить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приложении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b="1" dirty="0"/>
              <a:t>Model</a:t>
            </a:r>
            <a:r>
              <a:rPr lang="en-US" dirty="0"/>
              <a:t>, </a:t>
            </a:r>
            <a:r>
              <a:rPr lang="en-US" b="1" dirty="0"/>
              <a:t>View</a:t>
            </a:r>
            <a:r>
              <a:rPr lang="en-US" dirty="0"/>
              <a:t> и </a:t>
            </a:r>
            <a:r>
              <a:rPr lang="en-US" b="1" dirty="0"/>
              <a:t>Controller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8213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5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, к </a:t>
            </a:r>
            <a:r>
              <a:rPr lang="en-US" dirty="0" err="1"/>
              <a:t>чему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последовательных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dirty="0" err="1"/>
              <a:t>находящиеся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понадобилось</a:t>
            </a:r>
            <a:r>
              <a:rPr lang="en-US" dirty="0"/>
              <a:t> </a:t>
            </a:r>
            <a:r>
              <a:rPr lang="en-US" dirty="0" err="1"/>
              <a:t>графическое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вынесли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Domain Model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отвечала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технологию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ввод</a:t>
            </a:r>
            <a:r>
              <a:rPr lang="en-US" dirty="0"/>
              <a:t>.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находилась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, drag и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— </a:t>
            </a:r>
            <a:r>
              <a:rPr lang="en-US" dirty="0" err="1"/>
              <a:t>интерпретировать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и </a:t>
            </a:r>
            <a:r>
              <a:rPr lang="en-US" dirty="0" err="1"/>
              <a:t>превращать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в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рисунком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начинали</a:t>
            </a:r>
            <a:r>
              <a:rPr lang="en-US" dirty="0"/>
              <a:t> </a:t>
            </a:r>
            <a:r>
              <a:rPr lang="en-US" dirty="0" err="1"/>
              <a:t>разработку</a:t>
            </a:r>
            <a:r>
              <a:rPr lang="en-US" dirty="0"/>
              <a:t> с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.</a:t>
            </a:r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обнаружили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причину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дадим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ролям</a:t>
            </a:r>
            <a:r>
              <a:rPr lang="en-US" dirty="0"/>
              <a:t> </a:t>
            </a:r>
            <a:r>
              <a:rPr lang="en-US" dirty="0" err="1"/>
              <a:t>имена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давно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интерактивных</a:t>
            </a:r>
            <a:r>
              <a:rPr lang="en-US" dirty="0"/>
              <a:t> </a:t>
            </a:r>
            <a:r>
              <a:rPr lang="en-US" dirty="0" err="1"/>
              <a:t>приложений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/>
              <a:t>Model, View и Controller.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лежит</a:t>
            </a:r>
            <a:r>
              <a:rPr lang="en-US" dirty="0"/>
              <a:t> в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архитектурного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b="1" dirty="0"/>
              <a:t>Model–View–Controller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MVC.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174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— </a:t>
            </a:r>
            <a:r>
              <a:rPr lang="en-US" b="1" dirty="0"/>
              <a:t>Model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приложении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основой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знакомая</a:t>
            </a:r>
            <a:r>
              <a:rPr lang="en-US" dirty="0"/>
              <a:t> Domain Model: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и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Model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мира</a:t>
            </a:r>
            <a:r>
              <a:rPr lang="en-US" dirty="0"/>
              <a:t>, с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и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имеющие</a:t>
            </a:r>
            <a:r>
              <a:rPr lang="en-US" dirty="0"/>
              <a:t> </a:t>
            </a:r>
            <a:r>
              <a:rPr lang="en-US" dirty="0" err="1"/>
              <a:t>предметный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.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принадлежность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верхнюю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находящуюся</a:t>
            </a:r>
            <a:r>
              <a:rPr lang="en-US" dirty="0"/>
              <a:t> в </a:t>
            </a:r>
            <a:r>
              <a:rPr lang="en-US" dirty="0" err="1"/>
              <a:t>некоторой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о SFML, </a:t>
            </a:r>
            <a:r>
              <a:rPr lang="en-US" dirty="0" err="1"/>
              <a:t>ни</a:t>
            </a:r>
            <a:r>
              <a:rPr lang="en-US" dirty="0"/>
              <a:t> о </a:t>
            </a:r>
            <a:r>
              <a:rPr lang="en-US" dirty="0" err="1"/>
              <a:t>мыши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о </a:t>
            </a:r>
            <a:r>
              <a:rPr lang="en-US" dirty="0" err="1"/>
              <a:t>конкретном</a:t>
            </a:r>
            <a:r>
              <a:rPr lang="en-US" dirty="0"/>
              <a:t> </a:t>
            </a:r>
            <a:r>
              <a:rPr lang="en-US" dirty="0" err="1"/>
              <a:t>способе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Model в MVC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b="1" dirty="0" err="1"/>
              <a:t>архитектурная</a:t>
            </a:r>
            <a:r>
              <a:rPr lang="en-US" b="1" dirty="0"/>
              <a:t> </a:t>
            </a:r>
            <a:r>
              <a:rPr lang="en-US" b="1" dirty="0" err="1"/>
              <a:t>роль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с </a:t>
            </a:r>
            <a:r>
              <a:rPr lang="en-US" dirty="0" err="1"/>
              <a:t>именем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существующих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сделанное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уточнение</a:t>
            </a:r>
            <a:r>
              <a:rPr lang="en-US" dirty="0"/>
              <a:t>: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Domain Model.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текущий</a:t>
            </a:r>
            <a:r>
              <a:rPr lang="en-US" dirty="0"/>
              <a:t> selection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активный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характеризуют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с </a:t>
            </a:r>
            <a:r>
              <a:rPr lang="en-US" dirty="0" err="1"/>
              <a:t>документом</a:t>
            </a:r>
            <a:r>
              <a:rPr lang="en-US" dirty="0"/>
              <a:t>.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 с </a:t>
            </a:r>
            <a:r>
              <a:rPr lang="en-US" dirty="0" err="1"/>
              <a:t>логикой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.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мере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важна</a:t>
            </a:r>
            <a:r>
              <a:rPr lang="en-US" dirty="0"/>
              <a:t> </a:t>
            </a:r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:</a:t>
            </a:r>
          </a:p>
          <a:p>
            <a:r>
              <a:rPr lang="en-US" b="1" dirty="0"/>
              <a:t>Model </a:t>
            </a:r>
            <a:r>
              <a:rPr lang="en-US" b="1" dirty="0" err="1"/>
              <a:t>описывает</a:t>
            </a:r>
            <a:r>
              <a:rPr lang="en-US" b="1" dirty="0"/>
              <a:t> </a:t>
            </a:r>
            <a:r>
              <a:rPr lang="en-US" b="1" dirty="0" err="1"/>
              <a:t>то</a:t>
            </a:r>
            <a:r>
              <a:rPr lang="en-US" b="1" dirty="0"/>
              <a:t>, с </a:t>
            </a:r>
            <a:r>
              <a:rPr lang="en-US" b="1" dirty="0" err="1"/>
              <a:t>чем</a:t>
            </a:r>
            <a:r>
              <a:rPr lang="en-US" b="1" dirty="0"/>
              <a:t> </a:t>
            </a:r>
            <a:r>
              <a:rPr lang="en-US" b="1" dirty="0" err="1"/>
              <a:t>работает</a:t>
            </a:r>
            <a:r>
              <a:rPr lang="en-US" b="1" dirty="0"/>
              <a:t> </a:t>
            </a:r>
            <a:r>
              <a:rPr lang="en-US" b="1" dirty="0" err="1"/>
              <a:t>приложение</a:t>
            </a:r>
            <a:r>
              <a:rPr lang="en-US" b="1" dirty="0"/>
              <a:t>, а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способ</a:t>
            </a:r>
            <a:r>
              <a:rPr lang="en-US" b="1" dirty="0"/>
              <a:t>, </a:t>
            </a:r>
            <a:r>
              <a:rPr lang="en-US" b="1" dirty="0" err="1"/>
              <a:t>которым</a:t>
            </a:r>
            <a:r>
              <a:rPr lang="en-US" b="1" dirty="0"/>
              <a:t> </a:t>
            </a:r>
            <a:r>
              <a:rPr lang="en-US" b="1" dirty="0" err="1"/>
              <a:t>пользователь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видит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049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MVC — </a:t>
            </a:r>
            <a:r>
              <a:rPr lang="en-US" b="1" dirty="0"/>
              <a:t>View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, и </a:t>
            </a:r>
            <a:r>
              <a:rPr lang="en-US" dirty="0" err="1"/>
              <a:t>формирует</a:t>
            </a:r>
            <a:r>
              <a:rPr lang="en-US" dirty="0"/>
              <a:t> </a:t>
            </a:r>
            <a:r>
              <a:rPr lang="en-US" dirty="0" err="1"/>
              <a:t>соответствующее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отображается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Domain Model.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: </a:t>
            </a:r>
            <a:r>
              <a:rPr lang="en-US" dirty="0" err="1"/>
              <a:t>вокруг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рамка</a:t>
            </a:r>
            <a:r>
              <a:rPr lang="en-US" dirty="0"/>
              <a:t>.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View в </a:t>
            </a:r>
            <a:r>
              <a:rPr lang="en-US" dirty="0" err="1"/>
              <a:t>общем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Domain Model, а </a:t>
            </a:r>
            <a:r>
              <a:rPr lang="en-US" b="1" dirty="0" err="1"/>
              <a:t>текущее</a:t>
            </a:r>
            <a:r>
              <a:rPr lang="en-US" b="1" dirty="0"/>
              <a:t> </a:t>
            </a:r>
            <a:r>
              <a:rPr lang="en-US" b="1" dirty="0" err="1"/>
              <a:t>состояние</a:t>
            </a:r>
            <a:r>
              <a:rPr lang="en-US" b="1" dirty="0"/>
              <a:t> </a:t>
            </a:r>
            <a:r>
              <a:rPr lang="en-US" b="1" dirty="0" err="1"/>
              <a:t>приложения</a:t>
            </a:r>
            <a:r>
              <a:rPr lang="en-US" b="1" dirty="0"/>
              <a:t>, </a:t>
            </a:r>
            <a:r>
              <a:rPr lang="en-US" b="1" dirty="0" err="1"/>
              <a:t>существенное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SFML. В </a:t>
            </a:r>
            <a:r>
              <a:rPr lang="en-US" dirty="0" err="1"/>
              <a:t>частности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en-US" dirty="0"/>
              <a:t>, </a:t>
            </a:r>
            <a:r>
              <a:rPr lang="en-US" dirty="0" err="1"/>
              <a:t>которым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приложении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RenderWindow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RenderWindow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 </a:t>
            </a:r>
            <a:r>
              <a:rPr lang="en-US" dirty="0" err="1"/>
              <a:t>отдельной</a:t>
            </a:r>
            <a:r>
              <a:rPr lang="en-US" dirty="0"/>
              <a:t> </a:t>
            </a:r>
            <a:r>
              <a:rPr lang="en-US" dirty="0" err="1"/>
              <a:t>архитектурной</a:t>
            </a:r>
            <a:r>
              <a:rPr lang="en-US" dirty="0"/>
              <a:t> </a:t>
            </a:r>
            <a:r>
              <a:rPr lang="en-US" dirty="0" err="1"/>
              <a:t>ролью</a:t>
            </a:r>
            <a:r>
              <a:rPr lang="en-US" dirty="0"/>
              <a:t>. Это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, </a:t>
            </a:r>
            <a:r>
              <a:rPr lang="en-US" dirty="0" err="1"/>
              <a:t>используемый</a:t>
            </a:r>
            <a:r>
              <a:rPr lang="en-US" dirty="0"/>
              <a:t> </a:t>
            </a:r>
            <a:r>
              <a:rPr lang="en-US" dirty="0" err="1"/>
              <a:t>реализацией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заменим</a:t>
            </a:r>
            <a:r>
              <a:rPr lang="en-US" dirty="0"/>
              <a:t> SFML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технологией</a:t>
            </a:r>
            <a:r>
              <a:rPr lang="en-US" dirty="0"/>
              <a:t>, </a:t>
            </a:r>
            <a:r>
              <a:rPr lang="en-US" dirty="0" err="1"/>
              <a:t>изменится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View,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dirty="0" err="1"/>
              <a:t>останется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: </a:t>
            </a:r>
            <a:r>
              <a:rPr lang="en-US" dirty="0" err="1"/>
              <a:t>показать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</a:t>
            </a:r>
            <a:r>
              <a:rPr lang="en-US" dirty="0" err="1"/>
              <a:t>актуальное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475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Третья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— </a:t>
            </a:r>
            <a:r>
              <a:rPr lang="en-US" b="1" dirty="0"/>
              <a:t>Controller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Графическая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о </a:t>
            </a:r>
            <a:r>
              <a:rPr lang="en-US" dirty="0" err="1"/>
              <a:t>низкоуровневых</a:t>
            </a:r>
            <a:r>
              <a:rPr lang="en-US" dirty="0"/>
              <a:t> </a:t>
            </a:r>
            <a:r>
              <a:rPr lang="en-US" dirty="0" err="1"/>
              <a:t>событиях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нажата</a:t>
            </a:r>
            <a:r>
              <a:rPr lang="en-US" dirty="0"/>
              <a:t>, </a:t>
            </a:r>
            <a:r>
              <a:rPr lang="en-US" dirty="0" err="1"/>
              <a:t>курсор</a:t>
            </a:r>
            <a:r>
              <a:rPr lang="en-US" dirty="0"/>
              <a:t> </a:t>
            </a:r>
            <a:r>
              <a:rPr lang="en-US" dirty="0" err="1"/>
              <a:t>переместился</a:t>
            </a:r>
            <a:r>
              <a:rPr lang="en-US" dirty="0"/>
              <a:t>, </a:t>
            </a:r>
            <a:r>
              <a:rPr lang="en-US" dirty="0" err="1"/>
              <a:t>кнопка</a:t>
            </a:r>
            <a:r>
              <a:rPr lang="en-US" dirty="0"/>
              <a:t> </a:t>
            </a:r>
            <a:r>
              <a:rPr lang="en-US" dirty="0" err="1"/>
              <a:t>отпущена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означать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вещи</a:t>
            </a:r>
            <a:r>
              <a:rPr lang="en-US" dirty="0"/>
              <a:t>: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курсора</a:t>
            </a:r>
            <a:r>
              <a:rPr lang="en-US" dirty="0"/>
              <a:t>, drag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, </a:t>
            </a: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панорамирование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кому-то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интерпретировать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в </a:t>
            </a:r>
            <a:r>
              <a:rPr lang="en-US" dirty="0" err="1"/>
              <a:t>контексте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Controller.</a:t>
            </a:r>
          </a:p>
          <a:p>
            <a:endParaRPr lang="en-US" dirty="0"/>
          </a:p>
          <a:p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 </a:t>
            </a:r>
            <a:r>
              <a:rPr lang="en-US" dirty="0" err="1"/>
              <a:t>понимает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MousePressed</a:t>
            </a:r>
            <a:r>
              <a:rPr lang="en-US" dirty="0"/>
              <a:t>,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MouseMoved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MouseReleased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перетаскивание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Model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обязанности</a:t>
            </a:r>
            <a:r>
              <a:rPr lang="en-US" dirty="0"/>
              <a:t> Controller и View.</a:t>
            </a:r>
          </a:p>
          <a:p>
            <a:r>
              <a:rPr lang="en-US" dirty="0"/>
              <a:t>View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сейчас</a:t>
            </a:r>
            <a:r>
              <a:rPr lang="en-US" b="1" dirty="0"/>
              <a:t> </a:t>
            </a:r>
            <a:r>
              <a:rPr lang="en-US" b="1" dirty="0" err="1"/>
              <a:t>нужно</a:t>
            </a:r>
            <a:r>
              <a:rPr lang="en-US" b="1" dirty="0"/>
              <a:t> </a:t>
            </a:r>
            <a:r>
              <a:rPr lang="en-US" b="1" dirty="0" err="1"/>
              <a:t>показать</a:t>
            </a:r>
            <a:r>
              <a:rPr lang="en-US" b="1" dirty="0"/>
              <a:t> </a:t>
            </a:r>
            <a:r>
              <a:rPr lang="en-US" b="1" dirty="0" err="1"/>
              <a:t>пользователю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Controller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означает</a:t>
            </a:r>
            <a:r>
              <a:rPr lang="en-US" b="1" dirty="0"/>
              <a:t> </a:t>
            </a:r>
            <a:r>
              <a:rPr lang="en-US" b="1" dirty="0" err="1"/>
              <a:t>действие</a:t>
            </a:r>
            <a:r>
              <a:rPr lang="en-US" b="1" dirty="0"/>
              <a:t> </a:t>
            </a:r>
            <a:r>
              <a:rPr lang="en-US" b="1" dirty="0" err="1"/>
              <a:t>пользователя</a:t>
            </a:r>
            <a:r>
              <a:rPr lang="en-US" b="1" dirty="0"/>
              <a:t> и </a:t>
            </a:r>
            <a:r>
              <a:rPr lang="en-US" b="1" dirty="0" err="1"/>
              <a:t>какое</a:t>
            </a:r>
            <a:r>
              <a:rPr lang="en-US" b="1" dirty="0"/>
              <a:t> </a:t>
            </a:r>
            <a:r>
              <a:rPr lang="en-US" b="1" dirty="0" err="1"/>
              <a:t>изменение</a:t>
            </a:r>
            <a:r>
              <a:rPr lang="en-US" b="1" dirty="0"/>
              <a:t> </a:t>
            </a:r>
            <a:r>
              <a:rPr lang="en-US" b="1" dirty="0" err="1"/>
              <a:t>приложения</a:t>
            </a:r>
            <a:r>
              <a:rPr lang="en-US" b="1" dirty="0"/>
              <a:t> </a:t>
            </a:r>
            <a:r>
              <a:rPr lang="en-US" b="1" dirty="0" err="1"/>
              <a:t>оно</a:t>
            </a:r>
            <a:r>
              <a:rPr lang="en-US" b="1" dirty="0"/>
              <a:t> </a:t>
            </a:r>
            <a:r>
              <a:rPr lang="en-US" b="1" dirty="0" err="1"/>
              <a:t>должно</a:t>
            </a:r>
            <a:r>
              <a:rPr lang="en-US" b="1" dirty="0"/>
              <a:t> </a:t>
            </a:r>
            <a:r>
              <a:rPr lang="en-US" b="1" dirty="0" err="1"/>
              <a:t>вызвать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обязанностей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важным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мере</a:t>
            </a:r>
            <a:r>
              <a:rPr lang="en-US" dirty="0"/>
              <a:t> </a:t>
            </a:r>
            <a:r>
              <a:rPr lang="en-US" dirty="0" err="1"/>
              <a:t>роста</a:t>
            </a:r>
            <a:r>
              <a:rPr lang="en-US" dirty="0"/>
              <a:t> </a:t>
            </a:r>
            <a:r>
              <a:rPr lang="en-US" dirty="0" err="1"/>
              <a:t>числа</a:t>
            </a:r>
            <a:r>
              <a:rPr lang="en-US" dirty="0"/>
              <a:t> </a:t>
            </a:r>
            <a:r>
              <a:rPr lang="en-US" dirty="0" err="1"/>
              <a:t>инструментов</a:t>
            </a:r>
            <a:r>
              <a:rPr lang="en-US" dirty="0"/>
              <a:t> и </a:t>
            </a:r>
            <a:r>
              <a:rPr lang="en-US" dirty="0" err="1"/>
              <a:t>сценариев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690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продвинулись</a:t>
            </a:r>
            <a:r>
              <a:rPr lang="en-US" dirty="0"/>
              <a:t> в </a:t>
            </a:r>
            <a:r>
              <a:rPr lang="en-US" dirty="0" err="1"/>
              <a:t>разделении</a:t>
            </a:r>
            <a:r>
              <a:rPr lang="en-US" dirty="0"/>
              <a:t> </a:t>
            </a:r>
            <a:r>
              <a:rPr lang="en-US" dirty="0" err="1"/>
              <a:t>ответственностей</a:t>
            </a:r>
            <a:r>
              <a:rPr lang="en-US" dirty="0"/>
              <a:t>.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образуют</a:t>
            </a:r>
            <a:r>
              <a:rPr lang="en-US" dirty="0"/>
              <a:t> </a:t>
            </a:r>
            <a:r>
              <a:rPr lang="en-US" dirty="0" err="1"/>
              <a:t>понятную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 </a:t>
            </a:r>
            <a:r>
              <a:rPr lang="en-US" dirty="0" err="1"/>
              <a:t>получил</a:t>
            </a:r>
            <a:r>
              <a:rPr lang="en-US" dirty="0"/>
              <a:t> </a:t>
            </a:r>
            <a:r>
              <a:rPr lang="en-US" dirty="0" err="1"/>
              <a:t>самостоятельную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: </a:t>
            </a:r>
            <a:r>
              <a:rPr lang="en-US" dirty="0" err="1"/>
              <a:t>интерпретировать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и </a:t>
            </a:r>
            <a:r>
              <a:rPr lang="en-US" dirty="0" err="1"/>
              <a:t>инициировать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рисунком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Model, View и Controller.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внимательнее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оставшийся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рефакторингов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стал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, </a:t>
            </a:r>
            <a:r>
              <a:rPr lang="en-US" dirty="0" err="1"/>
              <a:t>однако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содержательный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pollEvent</a:t>
            </a:r>
            <a:r>
              <a:rPr lang="en-US" dirty="0"/>
              <a:t>, </a:t>
            </a:r>
            <a:r>
              <a:rPr lang="en-US" dirty="0" err="1"/>
              <a:t>разбирает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SFML, </a:t>
            </a:r>
            <a:r>
              <a:rPr lang="en-US" dirty="0" err="1"/>
              <a:t>извлекает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</a:t>
            </a:r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в </a:t>
            </a:r>
            <a:r>
              <a:rPr lang="en-US" dirty="0" err="1"/>
              <a:t>наши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RenderWindow</a:t>
            </a:r>
            <a:r>
              <a:rPr lang="en-US" dirty="0"/>
              <a:t> и </a:t>
            </a:r>
            <a:r>
              <a:rPr lang="en-US" dirty="0" err="1"/>
              <a:t>организует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о </a:t>
            </a:r>
            <a:r>
              <a:rPr lang="en-US" dirty="0" err="1"/>
              <a:t>конкретной</a:t>
            </a:r>
            <a:r>
              <a:rPr lang="en-US" dirty="0"/>
              <a:t> GUI-</a:t>
            </a:r>
            <a:r>
              <a:rPr lang="en-US" dirty="0" err="1"/>
              <a:t>библиотеке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минимум</a:t>
            </a:r>
            <a:r>
              <a:rPr lang="en-US" dirty="0"/>
              <a:t> в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местах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SFML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отрисовки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SFML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получения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 и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окном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говорить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роль</a:t>
            </a:r>
            <a:r>
              <a:rPr lang="en-US" dirty="0"/>
              <a:t> View,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преждевременно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b="1" dirty="0" err="1"/>
              <a:t>часть</a:t>
            </a:r>
            <a:r>
              <a:rPr lang="en-US" b="1" dirty="0"/>
              <a:t> </a:t>
            </a:r>
            <a:r>
              <a:rPr lang="en-US" b="1" dirty="0" err="1"/>
              <a:t>ответственности</a:t>
            </a:r>
            <a:r>
              <a:rPr lang="en-US" b="1" dirty="0"/>
              <a:t> </a:t>
            </a:r>
            <a:r>
              <a:rPr lang="en-US" b="1" dirty="0" err="1"/>
              <a:t>представления</a:t>
            </a:r>
            <a:r>
              <a:rPr lang="en-US" dirty="0"/>
              <a:t>, а </a:t>
            </a:r>
            <a:r>
              <a:rPr lang="en-US" dirty="0" err="1"/>
              <a:t>остальная</a:t>
            </a:r>
            <a:r>
              <a:rPr lang="en-US" dirty="0"/>
              <a:t> GUI-</a:t>
            </a:r>
            <a:r>
              <a:rPr lang="en-US" dirty="0" err="1"/>
              <a:t>специфичная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промежуточный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понимаем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</a:t>
            </a:r>
            <a:r>
              <a:rPr lang="en-US" dirty="0" err="1"/>
              <a:t>формироваться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закончили</a:t>
            </a:r>
            <a:r>
              <a:rPr lang="en-US" dirty="0"/>
              <a:t> </a:t>
            </a:r>
            <a:r>
              <a:rPr lang="en-US" dirty="0" err="1"/>
              <a:t>проводить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разобраться</a:t>
            </a:r>
            <a:r>
              <a:rPr lang="en-US" dirty="0"/>
              <a:t> с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непосредственной</a:t>
            </a:r>
            <a:r>
              <a:rPr lang="en-US" dirty="0"/>
              <a:t> </a:t>
            </a:r>
            <a:r>
              <a:rPr lang="en-US" dirty="0" err="1"/>
              <a:t>проблемой</a:t>
            </a:r>
            <a:r>
              <a:rPr lang="en-US" dirty="0"/>
              <a:t>: </a:t>
            </a:r>
            <a:r>
              <a:rPr lang="en-US" b="1" dirty="0" err="1"/>
              <a:t>почему</a:t>
            </a:r>
            <a:r>
              <a:rPr lang="en-US" b="1" dirty="0"/>
              <a:t> </a:t>
            </a:r>
            <a:r>
              <a:rPr lang="en-US" b="1" dirty="0" err="1"/>
              <a:t>точка</a:t>
            </a:r>
            <a:r>
              <a:rPr lang="en-US" b="1" dirty="0"/>
              <a:t> </a:t>
            </a:r>
            <a:r>
              <a:rPr lang="en-US" b="1" dirty="0" err="1"/>
              <a:t>входа</a:t>
            </a:r>
            <a:r>
              <a:rPr lang="en-US" b="1" dirty="0"/>
              <a:t> </a:t>
            </a:r>
            <a:r>
              <a:rPr lang="en-US" b="1" dirty="0" err="1"/>
              <a:t>приложения</a:t>
            </a:r>
            <a:r>
              <a:rPr lang="en-US" b="1" dirty="0"/>
              <a:t> </a:t>
            </a:r>
            <a:r>
              <a:rPr lang="en-US" b="1" dirty="0" err="1"/>
              <a:t>всё</a:t>
            </a:r>
            <a:r>
              <a:rPr lang="en-US" b="1" dirty="0"/>
              <a:t> </a:t>
            </a:r>
            <a:r>
              <a:rPr lang="en-US" b="1" dirty="0" err="1"/>
              <a:t>ещё</a:t>
            </a:r>
            <a:r>
              <a:rPr lang="en-US" b="1" dirty="0"/>
              <a:t> </a:t>
            </a:r>
            <a:r>
              <a:rPr lang="en-US" b="1" dirty="0" err="1"/>
              <a:t>знает</a:t>
            </a:r>
            <a:r>
              <a:rPr lang="en-US" b="1" dirty="0"/>
              <a:t> </a:t>
            </a:r>
            <a:r>
              <a:rPr lang="en-US" b="1" dirty="0" err="1"/>
              <a:t>столько</a:t>
            </a:r>
            <a:r>
              <a:rPr lang="en-US" b="1" dirty="0"/>
              <a:t> </a:t>
            </a:r>
            <a:r>
              <a:rPr lang="en-US" b="1" dirty="0" err="1"/>
              <a:t>подробностей</a:t>
            </a:r>
            <a:r>
              <a:rPr lang="en-US" b="1" dirty="0"/>
              <a:t> о SFML и </a:t>
            </a:r>
            <a:r>
              <a:rPr lang="en-US" b="1" dirty="0" err="1"/>
              <a:t>куда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переехать</a:t>
            </a:r>
            <a:r>
              <a:rPr lang="en-US" b="1" dirty="0"/>
              <a:t> </a:t>
            </a:r>
            <a:r>
              <a:rPr lang="en-US" b="1" dirty="0" err="1"/>
              <a:t>эта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сможем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уверенно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получившуюся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MVC.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937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326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вынесли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,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выделили</a:t>
            </a:r>
            <a:r>
              <a:rPr lang="en-US" dirty="0"/>
              <a:t> </a:t>
            </a:r>
            <a:r>
              <a:rPr lang="en-US" dirty="0" err="1"/>
              <a:t>отрисовку</a:t>
            </a:r>
            <a:r>
              <a:rPr lang="en-US" dirty="0"/>
              <a:t> и </a:t>
            </a:r>
            <a:r>
              <a:rPr lang="en-US" dirty="0" err="1"/>
              <a:t>отдельно</a:t>
            </a:r>
            <a:r>
              <a:rPr lang="en-US" dirty="0"/>
              <a:t> — </a:t>
            </a:r>
            <a:r>
              <a:rPr lang="en-US" dirty="0" err="1"/>
              <a:t>интерпретацию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осталось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pollEvent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SFML.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Controller.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очищает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, </a:t>
            </a:r>
            <a:r>
              <a:rPr lang="en-US" dirty="0" err="1"/>
              <a:t>запускает</a:t>
            </a:r>
            <a:r>
              <a:rPr lang="en-US" dirty="0"/>
              <a:t> rendering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большой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проблемой</a:t>
            </a:r>
            <a:r>
              <a:rPr lang="en-US" dirty="0"/>
              <a:t>.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написать</a:t>
            </a:r>
            <a:r>
              <a:rPr lang="en-US" dirty="0"/>
              <a:t> </a:t>
            </a:r>
            <a:r>
              <a:rPr lang="en-US" dirty="0" err="1"/>
              <a:t>длинную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, у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понятная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: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 </a:t>
            </a:r>
            <a:r>
              <a:rPr lang="en-US" dirty="0" err="1"/>
              <a:t>оказались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, </a:t>
            </a:r>
            <a:r>
              <a:rPr lang="en-US" dirty="0" err="1"/>
              <a:t>изменяющиеся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и </a:t>
            </a:r>
            <a:r>
              <a:rPr lang="en-US" dirty="0" err="1"/>
              <a:t>компоновки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никак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связан</a:t>
            </a:r>
            <a:r>
              <a:rPr lang="en-US" dirty="0"/>
              <a:t> с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SFML </a:t>
            </a:r>
            <a:r>
              <a:rPr lang="en-US" dirty="0" err="1"/>
              <a:t>сообщает</a:t>
            </a:r>
            <a:r>
              <a:rPr lang="en-US" dirty="0"/>
              <a:t> о </a:t>
            </a:r>
            <a:r>
              <a:rPr lang="en-US" dirty="0" err="1"/>
              <a:t>движении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— </a:t>
            </a:r>
            <a:r>
              <a:rPr lang="en-US" dirty="0" err="1"/>
              <a:t>опять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придумать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, а </a:t>
            </a:r>
            <a:r>
              <a:rPr lang="en-US" dirty="0" err="1"/>
              <a:t>последовательно</a:t>
            </a:r>
            <a:r>
              <a:rPr lang="en-US" dirty="0"/>
              <a:t> </a:t>
            </a:r>
            <a:r>
              <a:rPr lang="en-US" dirty="0" err="1"/>
              <a:t>разобрать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обязанности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начнём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с SFML, а с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странности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48323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выбранная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хранилась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Controller.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первой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нормально</a:t>
            </a:r>
            <a:r>
              <a:rPr lang="en-US" dirty="0"/>
              <a:t>: </a:t>
            </a:r>
            <a:r>
              <a:rPr lang="en-US" dirty="0" err="1"/>
              <a:t>именно</a:t>
            </a:r>
            <a:r>
              <a:rPr lang="en-US" dirty="0"/>
              <a:t> Controller </a:t>
            </a:r>
            <a:r>
              <a:rPr lang="en-US" dirty="0" err="1"/>
              <a:t>выбирал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 с </a:t>
            </a:r>
            <a:r>
              <a:rPr lang="en-US" dirty="0" err="1"/>
              <a:t>кодом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ru-RU" dirty="0"/>
              <a:t> </a:t>
            </a:r>
            <a:r>
              <a:rPr lang="en-US" dirty="0"/>
              <a:t>main </a:t>
            </a:r>
            <a:r>
              <a:rPr lang="ru-RU" dirty="0"/>
              <a:t>спрашивает</a:t>
            </a:r>
            <a:r>
              <a:rPr lang="en-US" dirty="0"/>
              <a:t> </a:t>
            </a:r>
            <a:r>
              <a:rPr lang="en-US" dirty="0" err="1"/>
              <a:t>спрашивает</a:t>
            </a:r>
            <a:r>
              <a:rPr lang="en-US" dirty="0"/>
              <a:t> у Controller, </a:t>
            </a:r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выбрана</a:t>
            </a:r>
            <a:r>
              <a:rPr lang="ru-RU" dirty="0"/>
              <a:t>, чтобы передать её в </a:t>
            </a:r>
            <a:r>
              <a:rPr lang="en-US" dirty="0" err="1"/>
              <a:t>DrawingRenderer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повод</a:t>
            </a:r>
            <a:r>
              <a:rPr lang="en-US" dirty="0"/>
              <a:t> </a:t>
            </a:r>
            <a:r>
              <a:rPr lang="en-US" dirty="0" err="1"/>
              <a:t>задуматься</a:t>
            </a:r>
            <a:r>
              <a:rPr lang="en-US" dirty="0"/>
              <a:t>: selection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внутренней</a:t>
            </a:r>
            <a:r>
              <a:rPr lang="en-US" dirty="0"/>
              <a:t> </a:t>
            </a:r>
            <a:r>
              <a:rPr lang="en-US" dirty="0" err="1"/>
              <a:t>подробностью</a:t>
            </a:r>
            <a:r>
              <a:rPr lang="en-US" dirty="0"/>
              <a:t> Controller?</a:t>
            </a:r>
          </a:p>
          <a:p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Selection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с </a:t>
            </a:r>
            <a:r>
              <a:rPr lang="en-US" dirty="0" err="1"/>
              <a:t>документом</a:t>
            </a:r>
            <a:r>
              <a:rPr lang="en-US" dirty="0"/>
              <a:t>.</a:t>
            </a:r>
          </a:p>
          <a:p>
            <a:r>
              <a:rPr lang="en-US" dirty="0"/>
              <a:t>Controller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b="1" dirty="0" err="1"/>
              <a:t>изменяет</a:t>
            </a:r>
            <a:r>
              <a:rPr lang="en-US" dirty="0"/>
              <a:t>, а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b="1" dirty="0" err="1"/>
              <a:t>читает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рамку</a:t>
            </a:r>
            <a:r>
              <a:rPr lang="en-US" dirty="0"/>
              <a:t> </a:t>
            </a:r>
            <a:r>
              <a:rPr lang="en-US" dirty="0" err="1"/>
              <a:t>выделения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</a:t>
            </a:r>
            <a:r>
              <a:rPr lang="en-US" dirty="0" err="1"/>
              <a:t>оно</a:t>
            </a:r>
            <a:r>
              <a:rPr lang="en-US" dirty="0"/>
              <a:t>, </a:t>
            </a:r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показывать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.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храним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свалить</a:t>
            </a:r>
            <a:r>
              <a:rPr lang="en-US" dirty="0"/>
              <a:t> </a:t>
            </a:r>
            <a:r>
              <a:rPr lang="en-US" dirty="0" err="1"/>
              <a:t>туда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isDragging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lastMousePosition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Controller.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описывают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сеанс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, а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с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полезное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 —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рисунком</a:t>
            </a:r>
            <a:r>
              <a:rPr lang="en-US" dirty="0"/>
              <a:t>.</a:t>
            </a:r>
          </a:p>
          <a:p>
            <a:r>
              <a:rPr lang="en-US" dirty="0"/>
              <a:t>А Controller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жеста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Это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сознательно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вводили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переменной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у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потребитель</a:t>
            </a:r>
            <a:r>
              <a:rPr lang="en-US" dirty="0"/>
              <a:t>, и </a:t>
            </a:r>
            <a:r>
              <a:rPr lang="en-US" dirty="0" err="1"/>
              <a:t>выделение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оправданным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5935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Controller.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назвали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EditorController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единственный</a:t>
            </a:r>
            <a:r>
              <a:rPr lang="en-US" dirty="0"/>
              <a:t> Controller в </a:t>
            </a:r>
            <a:r>
              <a:rPr lang="en-US" dirty="0" err="1"/>
              <a:t>приложении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 </a:t>
            </a:r>
            <a:r>
              <a:rPr lang="en-US" dirty="0" err="1"/>
              <a:t>контролирует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реагирует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клик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 </a:t>
            </a:r>
            <a:r>
              <a:rPr lang="en-US" dirty="0" err="1"/>
              <a:t>Ищет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курсором</a:t>
            </a:r>
            <a:r>
              <a:rPr lang="en-US" dirty="0"/>
              <a:t>. </a:t>
            </a:r>
            <a:r>
              <a:rPr lang="en-US" dirty="0" err="1"/>
              <a:t>Начинает</a:t>
            </a:r>
            <a:r>
              <a:rPr lang="en-US" dirty="0"/>
              <a:t> drag.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движение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Controller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/>
              <a:t>Это Controller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интерактивного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— Canvas.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точное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кажется</a:t>
            </a:r>
            <a:r>
              <a:rPr lang="en-US" dirty="0"/>
              <a:t> </a:t>
            </a:r>
            <a:r>
              <a:rPr lang="en-US" dirty="0" err="1"/>
              <a:t>косметическим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хорошее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фиксирует</a:t>
            </a:r>
            <a:r>
              <a:rPr lang="en-US" dirty="0"/>
              <a:t> </a:t>
            </a:r>
            <a:r>
              <a:rPr lang="en-US" dirty="0" err="1"/>
              <a:t>архитектурную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позднее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меню</a:t>
            </a:r>
            <a:r>
              <a:rPr lang="en-US" dirty="0"/>
              <a:t>, </a:t>
            </a:r>
            <a:r>
              <a:rPr lang="en-US" dirty="0" err="1"/>
              <a:t>панель</a:t>
            </a:r>
            <a:r>
              <a:rPr lang="en-US" dirty="0"/>
              <a:t> </a:t>
            </a:r>
            <a:r>
              <a:rPr lang="en-US" dirty="0" err="1"/>
              <a:t>свойств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 </a:t>
            </a:r>
            <a:r>
              <a:rPr lang="en-US" dirty="0" err="1"/>
              <a:t>интерактивное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обязано</a:t>
            </a:r>
            <a:r>
              <a:rPr lang="en-US" dirty="0"/>
              <a:t> </a:t>
            </a:r>
            <a:r>
              <a:rPr lang="en-US" dirty="0" err="1"/>
              <a:t>попадать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SFML.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нашими</a:t>
            </a:r>
            <a:r>
              <a:rPr lang="en-US" dirty="0"/>
              <a:t> </a:t>
            </a:r>
            <a:r>
              <a:rPr lang="en-US" dirty="0" err="1"/>
              <a:t>понятиями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Point2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GUI-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о </a:t>
            </a:r>
            <a:r>
              <a:rPr lang="en-US" dirty="0" err="1"/>
              <a:t>физических</a:t>
            </a:r>
            <a:r>
              <a:rPr lang="en-US" dirty="0"/>
              <a:t> </a:t>
            </a:r>
            <a:r>
              <a:rPr lang="en-US" dirty="0" err="1"/>
              <a:t>событиях</a:t>
            </a:r>
            <a:r>
              <a:rPr lang="en-US" dirty="0"/>
              <a:t> </a:t>
            </a:r>
            <a:r>
              <a:rPr lang="en-US" dirty="0" err="1"/>
              <a:t>где-то</a:t>
            </a:r>
            <a:r>
              <a:rPr lang="en-US" dirty="0"/>
              <a:t> </a:t>
            </a:r>
            <a:r>
              <a:rPr lang="en-US" dirty="0" err="1"/>
              <a:t>снаружи</a:t>
            </a:r>
            <a:r>
              <a:rPr lang="en-US" dirty="0"/>
              <a:t>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языке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770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вернёмся</a:t>
            </a:r>
            <a:r>
              <a:rPr lang="en-US" dirty="0"/>
              <a:t> к </a:t>
            </a:r>
            <a:r>
              <a:rPr lang="en-US" dirty="0" err="1"/>
              <a:t>коду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.</a:t>
            </a:r>
          </a:p>
          <a:p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остались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к Canvas.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SFML и </a:t>
            </a:r>
            <a:r>
              <a:rPr lang="en-US" dirty="0" err="1"/>
              <a:t>переводим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в </a:t>
            </a:r>
            <a:r>
              <a:rPr lang="en-US" dirty="0" err="1"/>
              <a:t>вызовы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вызываем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и </a:t>
            </a:r>
            <a:r>
              <a:rPr lang="en-US" dirty="0" err="1"/>
              <a:t>выделение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r>
              <a:rPr lang="en-US" dirty="0"/>
              <a:t>Canvas </a:t>
            </a:r>
            <a:r>
              <a:rPr lang="en-US" dirty="0" err="1"/>
              <a:t>что-то</a:t>
            </a:r>
            <a:r>
              <a:rPr lang="en-US" dirty="0"/>
              <a:t> </a:t>
            </a:r>
            <a:r>
              <a:rPr lang="en-US" b="1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 и </a:t>
            </a:r>
            <a:r>
              <a:rPr lang="en-US" dirty="0" err="1"/>
              <a:t>что-то</a:t>
            </a:r>
            <a:r>
              <a:rPr lang="en-US" dirty="0"/>
              <a:t> </a:t>
            </a:r>
            <a:r>
              <a:rPr lang="en-US" b="1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оформим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самостоятельный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смешиваем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drag.</a:t>
            </a:r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GUI-</a:t>
            </a:r>
            <a:r>
              <a:rPr lang="en-US" dirty="0" err="1"/>
              <a:t>библиотеки</a:t>
            </a:r>
            <a:r>
              <a:rPr lang="en-US" dirty="0"/>
              <a:t> </a:t>
            </a:r>
            <a:r>
              <a:rPr lang="en-US" dirty="0" err="1"/>
              <a:t>превратить</a:t>
            </a:r>
            <a:r>
              <a:rPr lang="en-US" dirty="0"/>
              <a:t> в </a:t>
            </a:r>
            <a:r>
              <a:rPr lang="en-US" dirty="0" err="1"/>
              <a:t>входные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Controller.</a:t>
            </a:r>
          </a:p>
          <a:p>
            <a:r>
              <a:rPr lang="en-US" dirty="0" err="1"/>
              <a:t>Например</a:t>
            </a:r>
            <a:r>
              <a:rPr lang="en-US" dirty="0"/>
              <a:t>: </a:t>
            </a:r>
            <a:r>
              <a:rPr lang="ru-RU" dirty="0"/>
              <a:t>преобразовать событие </a:t>
            </a:r>
            <a:r>
              <a:rPr lang="en-US" dirty="0"/>
              <a:t>MouseMoved</a:t>
            </a:r>
            <a:r>
              <a:rPr lang="ru-RU" dirty="0"/>
              <a:t> в вызов </a:t>
            </a:r>
            <a:r>
              <a:rPr lang="en-US" dirty="0" err="1"/>
              <a:t>OnMouseMoved</a:t>
            </a:r>
            <a:r>
              <a:rPr lang="ru-RU" dirty="0"/>
              <a:t> контролера</a:t>
            </a:r>
            <a:endParaRPr lang="en-US" dirty="0"/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движение</a:t>
            </a:r>
            <a:r>
              <a:rPr lang="en-US" dirty="0"/>
              <a:t> —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отдельную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: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набором</a:t>
            </a:r>
            <a:r>
              <a:rPr lang="en-US" dirty="0"/>
              <a:t> </a:t>
            </a:r>
            <a:r>
              <a:rPr lang="en-US" dirty="0" err="1"/>
              <a:t>графических</a:t>
            </a:r>
            <a:r>
              <a:rPr lang="en-US" dirty="0"/>
              <a:t> </a:t>
            </a:r>
            <a:r>
              <a:rPr lang="en-US" dirty="0" err="1"/>
              <a:t>примитивов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  <a:endParaRPr lang="ru-RU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объединяет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в </a:t>
            </a:r>
            <a:r>
              <a:rPr lang="en-US" dirty="0" err="1"/>
              <a:t>один</a:t>
            </a:r>
            <a:r>
              <a:rPr lang="en-US" dirty="0"/>
              <a:t> UI-</a:t>
            </a:r>
            <a:r>
              <a:rPr lang="en-US" dirty="0" err="1"/>
              <a:t>компонент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dirty="0" err="1"/>
              <a:t>своим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Controller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Canvas, и </a:t>
            </a:r>
            <a:r>
              <a:rPr lang="en-US" dirty="0" err="1"/>
              <a:t>отдельного</a:t>
            </a:r>
            <a:r>
              <a:rPr lang="en-US" dirty="0"/>
              <a:t> </a:t>
            </a:r>
            <a:r>
              <a:rPr lang="en-US" dirty="0" err="1"/>
              <a:t>жизненного</a:t>
            </a:r>
            <a:r>
              <a:rPr lang="en-US" dirty="0"/>
              <a:t> </a:t>
            </a:r>
            <a:r>
              <a:rPr lang="en-US" dirty="0" err="1"/>
              <a:t>цикла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2076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связывает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выделенные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верхней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путь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SFML, </a:t>
            </a:r>
            <a:r>
              <a:rPr lang="en-US" dirty="0" err="1"/>
              <a:t>преобразует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предметный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OnMouseMoved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(point)</a:t>
            </a:r>
            <a:r>
              <a:rPr lang="en-US" dirty="0"/>
              <a:t>, а </a:t>
            </a:r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движение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нижней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— </a:t>
            </a:r>
            <a:r>
              <a:rPr lang="en-US" dirty="0" err="1"/>
              <a:t>обратное</a:t>
            </a:r>
            <a:r>
              <a:rPr lang="en-US" dirty="0"/>
              <a:t> </a:t>
            </a:r>
            <a:r>
              <a:rPr lang="en-US" dirty="0" err="1"/>
              <a:t>направление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отрисовке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и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точкой</a:t>
            </a:r>
            <a:r>
              <a:rPr lang="en-US" dirty="0"/>
              <a:t> </a:t>
            </a:r>
            <a:r>
              <a:rPr lang="en-US" dirty="0" err="1"/>
              <a:t>координации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: 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адаптирует</a:t>
            </a:r>
            <a:r>
              <a:rPr lang="en-US" dirty="0"/>
              <a:t> </a:t>
            </a:r>
            <a:r>
              <a:rPr lang="en-US" dirty="0" err="1"/>
              <a:t>ввод</a:t>
            </a:r>
            <a:r>
              <a:rPr lang="en-US" dirty="0"/>
              <a:t>, с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собирает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берет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логику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логику</a:t>
            </a:r>
            <a:r>
              <a:rPr lang="en-US" dirty="0"/>
              <a:t> drag,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6273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соблазн</a:t>
            </a:r>
            <a:r>
              <a:rPr lang="en-US" dirty="0"/>
              <a:t> </a:t>
            </a:r>
            <a:r>
              <a:rPr lang="en-US" dirty="0" err="1"/>
              <a:t>перенести</a:t>
            </a:r>
            <a:r>
              <a:rPr lang="en-US" dirty="0"/>
              <a:t> </a:t>
            </a:r>
            <a:r>
              <a:rPr lang="en-US" dirty="0" err="1"/>
              <a:t>туда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GUI-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включая</a:t>
            </a:r>
            <a:r>
              <a:rPr lang="en-US" dirty="0"/>
              <a:t> </a:t>
            </a: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и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pollEvent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сегодняшнего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работало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.</a:t>
            </a:r>
          </a:p>
          <a:p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pollEvent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к Canvas.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всему</a:t>
            </a:r>
            <a:r>
              <a:rPr lang="en-US" dirty="0"/>
              <a:t> </a:t>
            </a:r>
            <a:r>
              <a:rPr lang="en-US" dirty="0" err="1"/>
              <a:t>окну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различных</a:t>
            </a:r>
            <a:r>
              <a:rPr lang="en-US" dirty="0"/>
              <a:t> </a:t>
            </a:r>
            <a:r>
              <a:rPr lang="en-US" dirty="0" err="1"/>
              <a:t>представлений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сверху</a:t>
            </a:r>
            <a:r>
              <a:rPr lang="en-US" dirty="0"/>
              <a:t> Canvas, а </a:t>
            </a:r>
            <a:r>
              <a:rPr lang="en-US" dirty="0" err="1"/>
              <a:t>снизу</a:t>
            </a:r>
            <a:r>
              <a:rPr lang="en-US" dirty="0"/>
              <a:t> — </a:t>
            </a:r>
            <a:r>
              <a:rPr lang="en-US" dirty="0" err="1"/>
              <a:t>какая-нибудь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второе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pollEvent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, </a:t>
            </a:r>
            <a:r>
              <a:rPr lang="en-US" dirty="0" err="1"/>
              <a:t>значит</a:t>
            </a:r>
            <a:r>
              <a:rPr lang="en-US" dirty="0"/>
              <a:t> и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оконных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выделяем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EditorWindow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RenderWindow</a:t>
            </a:r>
            <a:r>
              <a:rPr lang="en-US" dirty="0"/>
              <a:t>,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жизненным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,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</a:t>
            </a:r>
            <a:r>
              <a:rPr lang="en-US" dirty="0" err="1"/>
              <a:t>закрывает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и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en-US" dirty="0"/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события</a:t>
            </a:r>
            <a:r>
              <a:rPr lang="en-US" dirty="0"/>
              <a:t>, </a:t>
            </a:r>
            <a:r>
              <a:rPr lang="en-US" dirty="0" err="1"/>
              <a:t>относящиеся</a:t>
            </a:r>
            <a:r>
              <a:rPr lang="en-US" dirty="0"/>
              <a:t> к </a:t>
            </a:r>
            <a:r>
              <a:rPr lang="en-US" dirty="0" err="1"/>
              <a:t>содержимому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,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View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m_canvasView.HandleEvent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(*event);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реально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областей</a:t>
            </a:r>
            <a:r>
              <a:rPr lang="en-US" dirty="0"/>
              <a:t>, </a:t>
            </a:r>
            <a:r>
              <a:rPr lang="en-US" dirty="0" err="1"/>
              <a:t>тогда</a:t>
            </a:r>
            <a:r>
              <a:rPr lang="en-US" dirty="0"/>
              <a:t> и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</a:t>
            </a:r>
            <a:r>
              <a:rPr lang="en-US" dirty="0" err="1"/>
              <a:t>маршрутизации</a:t>
            </a:r>
            <a:r>
              <a:rPr lang="en-US" dirty="0"/>
              <a:t>: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View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layout, focus, mouse capture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event dispatcher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YAGNI.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2788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понятнее</a:t>
            </a:r>
            <a:r>
              <a:rPr lang="en-US" dirty="0"/>
              <a:t>, </a:t>
            </a:r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en-US" dirty="0" err="1"/>
              <a:t>уничтожено</a:t>
            </a:r>
            <a:r>
              <a:rPr lang="en-US" dirty="0"/>
              <a:t>, </a:t>
            </a:r>
            <a:r>
              <a:rPr lang="en-US" dirty="0" err="1"/>
              <a:t>отдельный</a:t>
            </a:r>
            <a:r>
              <a:rPr lang="en-US" dirty="0"/>
              <a:t> Canvas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особого</a:t>
            </a:r>
            <a:r>
              <a:rPr lang="en-US" dirty="0"/>
              <a:t> </a:t>
            </a:r>
            <a:r>
              <a:rPr lang="en-US" dirty="0" err="1"/>
              <a:t>смысла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и </a:t>
            </a:r>
            <a:r>
              <a:rPr lang="en-US" dirty="0" err="1"/>
              <a:t>передавать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EditorWindow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ссылке</a:t>
            </a:r>
            <a:r>
              <a:rPr lang="en-US" dirty="0"/>
              <a:t> — </a:t>
            </a:r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владеть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и к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.</a:t>
            </a:r>
          </a:p>
          <a:p>
            <a:r>
              <a:rPr lang="en-US" dirty="0"/>
              <a:t>Selection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, а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в </a:t>
            </a:r>
            <a:r>
              <a:rPr lang="en-US" dirty="0" err="1"/>
              <a:t>конкретном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session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совпадает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, </a:t>
            </a:r>
            <a:r>
              <a:rPr lang="en-US" dirty="0" err="1"/>
              <a:t>открывающих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а в </a:t>
            </a:r>
            <a:r>
              <a:rPr lang="en-US" dirty="0" err="1"/>
              <a:t>другом</a:t>
            </a:r>
            <a:r>
              <a:rPr lang="en-US" dirty="0"/>
              <a:t> — </a:t>
            </a:r>
            <a:r>
              <a:rPr lang="en-US" dirty="0" err="1"/>
              <a:t>эллипс</a:t>
            </a:r>
            <a:r>
              <a:rPr lang="en-US" dirty="0"/>
              <a:t>.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общим</a:t>
            </a:r>
            <a:r>
              <a:rPr lang="en-US" dirty="0"/>
              <a:t>, а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разное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снаружи</a:t>
            </a:r>
            <a:r>
              <a:rPr lang="en-US" dirty="0"/>
              <a:t> и </a:t>
            </a:r>
            <a:r>
              <a:rPr lang="en-US" dirty="0" err="1"/>
              <a:t>передаётся</a:t>
            </a:r>
            <a:r>
              <a:rPr lang="en-US" dirty="0"/>
              <a:t> </a:t>
            </a:r>
            <a:r>
              <a:rPr lang="en-US" dirty="0" err="1"/>
              <a:t>окну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ссылке</a:t>
            </a:r>
            <a:r>
              <a:rPr lang="en-US" dirty="0"/>
              <a:t>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EditorWindow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ссылки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и </a:t>
            </a:r>
            <a:r>
              <a:rPr lang="en-US" dirty="0" err="1"/>
              <a:t>на</a:t>
            </a:r>
            <a:r>
              <a:rPr lang="en-US" dirty="0"/>
              <a:t> session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полезное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:</a:t>
            </a:r>
          </a:p>
          <a:p>
            <a:r>
              <a:rPr lang="en-US" b="1" dirty="0" err="1"/>
              <a:t>владение</a:t>
            </a:r>
            <a:r>
              <a:rPr lang="en-US" b="1" dirty="0"/>
              <a:t> </a:t>
            </a:r>
            <a:r>
              <a:rPr lang="en-US" b="1" dirty="0" err="1"/>
              <a:t>часто</a:t>
            </a:r>
            <a:r>
              <a:rPr lang="en-US" b="1" dirty="0"/>
              <a:t> </a:t>
            </a:r>
            <a:r>
              <a:rPr lang="en-US" b="1" dirty="0" err="1"/>
              <a:t>определяется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только</a:t>
            </a:r>
            <a:r>
              <a:rPr lang="en-US" b="1" dirty="0"/>
              <a:t> </a:t>
            </a:r>
            <a:r>
              <a:rPr lang="en-US" b="1" dirty="0" err="1"/>
              <a:t>зависимостями</a:t>
            </a:r>
            <a:r>
              <a:rPr lang="en-US" b="1" dirty="0"/>
              <a:t>, </a:t>
            </a:r>
            <a:r>
              <a:rPr lang="en-US" b="1" dirty="0" err="1"/>
              <a:t>но</a:t>
            </a:r>
            <a:r>
              <a:rPr lang="en-US" b="1" dirty="0"/>
              <a:t> и </a:t>
            </a:r>
            <a:r>
              <a:rPr lang="en-US" b="1" dirty="0" err="1"/>
              <a:t>временем</a:t>
            </a:r>
            <a:r>
              <a:rPr lang="en-US" b="1" dirty="0"/>
              <a:t> </a:t>
            </a:r>
            <a:r>
              <a:rPr lang="en-US" b="1" dirty="0" err="1"/>
              <a:t>жизни</a:t>
            </a:r>
            <a:r>
              <a:rPr lang="en-US" b="1" dirty="0"/>
              <a:t> </a:t>
            </a:r>
            <a:r>
              <a:rPr lang="en-US" b="1" dirty="0" err="1"/>
              <a:t>объекта</a:t>
            </a:r>
            <a:r>
              <a:rPr lang="en-US" b="1" dirty="0"/>
              <a:t> и </a:t>
            </a:r>
            <a:r>
              <a:rPr lang="en-US" b="1" dirty="0" err="1"/>
              <a:t>областью</a:t>
            </a:r>
            <a:r>
              <a:rPr lang="en-US" b="1" dirty="0"/>
              <a:t> </a:t>
            </a:r>
            <a:r>
              <a:rPr lang="en-US" b="1" dirty="0" err="1"/>
              <a:t>совместного</a:t>
            </a:r>
            <a:r>
              <a:rPr lang="en-US" b="1" dirty="0"/>
              <a:t> </a:t>
            </a:r>
            <a:r>
              <a:rPr lang="en-US" b="1" dirty="0" err="1"/>
              <a:t>использования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состояния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Run()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: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</a:t>
            </a:r>
            <a:r>
              <a:rPr lang="en-US" dirty="0" err="1"/>
              <a:t>закрывается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Closed</a:t>
            </a:r>
            <a:r>
              <a:rPr lang="en-US" dirty="0"/>
              <a:t>, </a:t>
            </a:r>
            <a:r>
              <a:rPr lang="en-US" dirty="0" err="1"/>
              <a:t>очищает</a:t>
            </a:r>
            <a:r>
              <a:rPr lang="en-US" dirty="0"/>
              <a:t> </a:t>
            </a:r>
            <a:r>
              <a:rPr lang="en-US" dirty="0" err="1"/>
              <a:t>поверхность</a:t>
            </a:r>
            <a:r>
              <a:rPr lang="en-US" dirty="0"/>
              <a:t>,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отрисовку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EditorWindow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оболочкой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RenderWindow</a:t>
            </a:r>
            <a:r>
              <a:rPr lang="en-US" dirty="0"/>
              <a:t>, а </a:t>
            </a:r>
            <a:r>
              <a:rPr lang="en-US" dirty="0" err="1"/>
              <a:t>контейнером</a:t>
            </a:r>
            <a:r>
              <a:rPr lang="en-US" dirty="0"/>
              <a:t> UI-</a:t>
            </a:r>
            <a:r>
              <a:rPr lang="en-US" dirty="0" err="1"/>
              <a:t>сеанса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367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осталось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ru-RU" dirty="0"/>
              <a:t>Функция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документ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наполняет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начальными</a:t>
            </a:r>
            <a:r>
              <a:rPr lang="en-US" dirty="0"/>
              <a:t> </a:t>
            </a:r>
            <a:r>
              <a:rPr lang="en-US" dirty="0" err="1"/>
              <a:t>фигурами</a:t>
            </a:r>
            <a:r>
              <a:rPr lang="en-US" dirty="0"/>
              <a:t>,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EditorWindow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документом</a:t>
            </a:r>
            <a:r>
              <a:rPr lang="en-US" dirty="0"/>
              <a:t> и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.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pollEvent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заставлять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вручную</a:t>
            </a:r>
            <a:r>
              <a:rPr lang="en-US" dirty="0"/>
              <a:t> </a:t>
            </a:r>
            <a:r>
              <a:rPr lang="en-US" dirty="0" err="1"/>
              <a:t>собирать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окну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EditorWindow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живёт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дольше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и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составной</a:t>
            </a:r>
            <a:r>
              <a:rPr lang="en-US" dirty="0"/>
              <a:t> </a:t>
            </a:r>
            <a:r>
              <a:rPr lang="en-US" dirty="0" err="1"/>
              <a:t>частью</a:t>
            </a:r>
            <a:r>
              <a:rPr lang="en-US" dirty="0"/>
              <a:t>. А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dirty="0" err="1"/>
              <a:t>своими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простая</a:t>
            </a:r>
            <a:r>
              <a:rPr lang="en-US" dirty="0"/>
              <a:t> </a:t>
            </a:r>
            <a:r>
              <a:rPr lang="en-US" dirty="0" err="1"/>
              <a:t>иерархия</a:t>
            </a:r>
            <a:r>
              <a:rPr lang="en-US" dirty="0"/>
              <a:t> </a:t>
            </a:r>
            <a:r>
              <a:rPr lang="en-US" dirty="0" err="1"/>
              <a:t>владения</a:t>
            </a:r>
            <a:r>
              <a:rPr lang="en-US" dirty="0"/>
              <a:t>: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внутренние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, </a:t>
            </a:r>
            <a:r>
              <a:rPr lang="en-US" dirty="0" err="1"/>
              <a:t>жизненным</a:t>
            </a:r>
            <a:r>
              <a:rPr lang="en-US" dirty="0"/>
              <a:t> </a:t>
            </a:r>
            <a:r>
              <a:rPr lang="en-US" dirty="0" err="1"/>
              <a:t>циклом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снаружи</a:t>
            </a:r>
            <a:r>
              <a:rPr lang="en-US" dirty="0"/>
              <a:t>. Это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,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обязано</a:t>
            </a:r>
            <a:r>
              <a:rPr lang="en-US" dirty="0"/>
              <a:t> </a:t>
            </a:r>
            <a:r>
              <a:rPr lang="en-US" dirty="0" err="1"/>
              <a:t>совпадать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в </a:t>
            </a:r>
            <a:r>
              <a:rPr lang="en-US" dirty="0" err="1"/>
              <a:t>принципе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открыть</a:t>
            </a:r>
            <a:r>
              <a:rPr lang="en-US" dirty="0"/>
              <a:t> и в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окнах</a:t>
            </a:r>
            <a:r>
              <a:rPr lang="en-US" dirty="0"/>
              <a:t>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точкой</a:t>
            </a:r>
            <a:r>
              <a:rPr lang="en-US" dirty="0"/>
              <a:t> </a:t>
            </a:r>
            <a:r>
              <a:rPr lang="en-US" b="1" dirty="0" err="1"/>
              <a:t>верхнеуровневой</a:t>
            </a:r>
            <a:r>
              <a:rPr lang="en-US" b="1" dirty="0"/>
              <a:t> </a:t>
            </a:r>
            <a:r>
              <a:rPr lang="en-US" b="1" dirty="0" err="1"/>
              <a:t>сборки</a:t>
            </a:r>
            <a:r>
              <a:rPr lang="en-US" b="1" dirty="0"/>
              <a:t> </a:t>
            </a:r>
            <a:r>
              <a:rPr lang="en-US" b="1" dirty="0" err="1"/>
              <a:t>приложения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составного</a:t>
            </a:r>
            <a:r>
              <a:rPr lang="en-US" dirty="0"/>
              <a:t> </a:t>
            </a:r>
            <a:r>
              <a:rPr lang="en-US" dirty="0" err="1"/>
              <a:t>компонента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универсальные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, View </a:t>
            </a:r>
            <a:r>
              <a:rPr lang="en-US" dirty="0" err="1"/>
              <a:t>или</a:t>
            </a:r>
            <a:r>
              <a:rPr lang="en-US" dirty="0"/>
              <a:t> Controller.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распределили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и </a:t>
            </a:r>
            <a:r>
              <a:rPr lang="en-US" dirty="0" err="1"/>
              <a:t>владение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5561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198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разделили</a:t>
            </a:r>
            <a:r>
              <a:rPr lang="en-US" dirty="0"/>
              <a:t> Model, View и Controller,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возникнуть</a:t>
            </a:r>
            <a:r>
              <a:rPr lang="en-US" dirty="0"/>
              <a:t> </a:t>
            </a:r>
            <a:r>
              <a:rPr lang="en-US" dirty="0" err="1"/>
              <a:t>желание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уведомлений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текущей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никакой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</a:t>
            </a:r>
            <a:r>
              <a:rPr lang="en-US" dirty="0" err="1"/>
              <a:t>перемещает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::Draw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в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позиции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Canvas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узнавать</a:t>
            </a:r>
            <a:r>
              <a:rPr lang="en-US" dirty="0"/>
              <a:t> о </a:t>
            </a:r>
            <a:r>
              <a:rPr lang="en-US" dirty="0" err="1"/>
              <a:t>событии</a:t>
            </a:r>
            <a:r>
              <a:rPr lang="en-US" dirty="0"/>
              <a:t> «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перемещена</a:t>
            </a:r>
            <a:r>
              <a:rPr lang="en-US" dirty="0"/>
              <a:t>».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кадре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актуальное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ru-RU" dirty="0"/>
              <a:t>паттерн </a:t>
            </a:r>
            <a:r>
              <a:rPr lang="en-US" dirty="0"/>
              <a:t>Observer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преждевременно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механизма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причина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7534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небольшую</a:t>
            </a:r>
            <a:r>
              <a:rPr lang="en-US" dirty="0"/>
              <a:t> </a:t>
            </a:r>
            <a:r>
              <a:rPr lang="en-US" dirty="0" err="1"/>
              <a:t>панель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списком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координатами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View.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перетаскивает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Canvas.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изменяются</a:t>
            </a:r>
            <a:r>
              <a:rPr lang="en-US" dirty="0"/>
              <a:t>.</a:t>
            </a:r>
          </a:p>
          <a:p>
            <a:r>
              <a:rPr lang="en-US" dirty="0"/>
              <a:t>Canvas </a:t>
            </a:r>
            <a:r>
              <a:rPr lang="en-US" dirty="0" err="1"/>
              <a:t>увидит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позицию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кадре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перечитывает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ShapeListView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устроен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никакой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заново</a:t>
            </a:r>
            <a:r>
              <a:rPr lang="en-US" dirty="0"/>
              <a:t> </a:t>
            </a:r>
            <a:r>
              <a:rPr lang="en-US" dirty="0" err="1"/>
              <a:t>перестраивать</a:t>
            </a:r>
            <a:r>
              <a:rPr lang="en-US" dirty="0"/>
              <a:t> </a:t>
            </a:r>
            <a:r>
              <a:rPr lang="en-US" dirty="0" err="1"/>
              <a:t>список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десятков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в </a:t>
            </a:r>
            <a:r>
              <a:rPr lang="en-US" dirty="0" err="1"/>
              <a:t>секунду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обновиться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интересующие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изменились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компонент</a:t>
            </a:r>
            <a:r>
              <a:rPr lang="en-US" b="1" dirty="0"/>
              <a:t> </a:t>
            </a:r>
            <a:r>
              <a:rPr lang="en-US" b="1" dirty="0" err="1"/>
              <a:t>узнаёт</a:t>
            </a:r>
            <a:r>
              <a:rPr lang="en-US" b="1" dirty="0"/>
              <a:t> </a:t>
            </a:r>
            <a:r>
              <a:rPr lang="en-US" b="1" dirty="0" err="1"/>
              <a:t>об</a:t>
            </a:r>
            <a:r>
              <a:rPr lang="en-US" b="1" dirty="0"/>
              <a:t> </a:t>
            </a:r>
            <a:r>
              <a:rPr lang="en-US" b="1" dirty="0" err="1"/>
              <a:t>изменении</a:t>
            </a:r>
            <a:r>
              <a:rPr lang="en-US" b="1" dirty="0"/>
              <a:t> </a:t>
            </a:r>
            <a:r>
              <a:rPr lang="en-US" b="1" dirty="0" err="1"/>
              <a:t>другого</a:t>
            </a:r>
            <a:r>
              <a:rPr lang="en-US" b="1" dirty="0"/>
              <a:t>,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опрашивая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постоянно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5624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самым</a:t>
            </a:r>
            <a:r>
              <a:rPr lang="en-US" dirty="0"/>
              <a:t> </a:t>
            </a:r>
            <a:r>
              <a:rPr lang="en-US" dirty="0" err="1"/>
              <a:t>прямым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Раз</a:t>
            </a:r>
            <a:r>
              <a:rPr lang="en-US" dirty="0"/>
              <a:t> Controller </a:t>
            </a:r>
            <a:r>
              <a:rPr lang="en-US" dirty="0" err="1"/>
              <a:t>изменил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, </a:t>
            </a:r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обновит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заинтересованные</a:t>
            </a:r>
            <a:r>
              <a:rPr lang="en-US" dirty="0"/>
              <a:t> View.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разумно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связь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 в </a:t>
            </a:r>
            <a:r>
              <a:rPr lang="en-US" dirty="0" err="1"/>
              <a:t>неправильном</a:t>
            </a:r>
            <a:r>
              <a:rPr lang="en-US" dirty="0"/>
              <a:t> </a:t>
            </a:r>
            <a:r>
              <a:rPr lang="en-US" dirty="0" err="1"/>
              <a:t>направлении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и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и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заинтересован</a:t>
            </a:r>
            <a:r>
              <a:rPr lang="en-US" dirty="0"/>
              <a:t> 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— </a:t>
            </a:r>
            <a:r>
              <a:rPr lang="en-US" dirty="0" err="1"/>
              <a:t>изменяем</a:t>
            </a:r>
            <a:r>
              <a:rPr lang="en-US" dirty="0"/>
              <a:t> Controller.</a:t>
            </a:r>
          </a:p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серьёзная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изменился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?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позднее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удаления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загрузка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Controller.</a:t>
            </a:r>
          </a:p>
          <a:p>
            <a:endParaRPr lang="en-US" dirty="0"/>
          </a:p>
          <a:p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, </a:t>
            </a:r>
            <a:r>
              <a:rPr lang="en-US" dirty="0" err="1"/>
              <a:t>кого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обновить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2982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развернуть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Не</a:t>
            </a:r>
            <a:r>
              <a:rPr lang="en-US" dirty="0"/>
              <a:t> Controller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, </a:t>
            </a:r>
            <a:r>
              <a:rPr lang="en-US" dirty="0" err="1"/>
              <a:t>кого</a:t>
            </a:r>
            <a:r>
              <a:rPr lang="en-US" dirty="0"/>
              <a:t> </a:t>
            </a:r>
            <a:r>
              <a:rPr lang="en-US" dirty="0" err="1"/>
              <a:t>затронуло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: «</a:t>
            </a:r>
            <a:r>
              <a:rPr lang="en-US" dirty="0" err="1"/>
              <a:t>моё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изменилось</a:t>
            </a:r>
            <a:r>
              <a:rPr lang="en-US" dirty="0"/>
              <a:t>».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о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ShapeListView</a:t>
            </a:r>
            <a:r>
              <a:rPr lang="en-US" dirty="0"/>
              <a:t>, Canvas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какой-либо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: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заинтересованный</a:t>
            </a:r>
            <a:r>
              <a:rPr lang="en-US" dirty="0"/>
              <a:t> в </a:t>
            </a:r>
            <a:r>
              <a:rPr lang="en-US" dirty="0" err="1"/>
              <a:t>изменениях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OnDrawingChanged</a:t>
            </a:r>
            <a:r>
              <a:rPr lang="en-US" dirty="0"/>
              <a:t>.</a:t>
            </a:r>
            <a:r>
              <a:rPr lang="ru-RU" dirty="0"/>
              <a:t> Этот контракт – интерфейс </a:t>
            </a:r>
            <a:r>
              <a:rPr lang="en-US" dirty="0" err="1"/>
              <a:t>IDrawingListener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Заинтересованный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подписывается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Model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сообщить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подписчикам</a:t>
            </a:r>
            <a:r>
              <a:rPr lang="en-US" dirty="0"/>
              <a:t>,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зная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типах</a:t>
            </a:r>
            <a:r>
              <a:rPr lang="en-US" dirty="0"/>
              <a:t> и о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понадобилось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отношение</a:t>
            </a:r>
            <a:r>
              <a:rPr lang="en-US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ко</a:t>
            </a:r>
            <a:r>
              <a:rPr lang="en-US" b="1" dirty="0"/>
              <a:t> </a:t>
            </a:r>
            <a:r>
              <a:rPr lang="en-US" b="1" dirty="0" err="1"/>
              <a:t>многим</a:t>
            </a:r>
            <a:r>
              <a:rPr lang="en-US" dirty="0"/>
              <a:t>, </a:t>
            </a:r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получателей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источника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2397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деталь</a:t>
            </a:r>
            <a:r>
              <a:rPr lang="en-US" dirty="0"/>
              <a:t>.</a:t>
            </a:r>
          </a:p>
          <a:p>
            <a:r>
              <a:rPr lang="en-US" dirty="0" err="1"/>
              <a:t>Сейчас</a:t>
            </a:r>
            <a:r>
              <a:rPr lang="en-US" dirty="0"/>
              <a:t> Controller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NotifyListeners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перекладываем</a:t>
            </a:r>
            <a:r>
              <a:rPr lang="en-US" dirty="0"/>
              <a:t> </a:t>
            </a:r>
            <a:r>
              <a:rPr lang="en-US" dirty="0" err="1"/>
              <a:t>дополнительную</a:t>
            </a:r>
            <a:r>
              <a:rPr lang="en-US" dirty="0"/>
              <a:t> </a:t>
            </a:r>
            <a:r>
              <a:rPr lang="en-US" dirty="0" err="1"/>
              <a:t>обязанность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написать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и </a:t>
            </a:r>
            <a:r>
              <a:rPr lang="en-US" dirty="0" err="1"/>
              <a:t>забыть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сообщение</a:t>
            </a:r>
            <a:r>
              <a:rPr lang="en-US" dirty="0"/>
              <a:t> о </a:t>
            </a:r>
            <a:r>
              <a:rPr lang="en-US" dirty="0" err="1"/>
              <a:t>своих</a:t>
            </a:r>
            <a:r>
              <a:rPr lang="en-US" dirty="0"/>
              <a:t> </a:t>
            </a:r>
            <a:r>
              <a:rPr lang="en-US" dirty="0" err="1"/>
              <a:t>изменениях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контролировать</a:t>
            </a:r>
            <a:r>
              <a:rPr lang="en-US" dirty="0"/>
              <a:t> и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наблюдаемые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MoveShape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связанные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: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и </a:t>
            </a:r>
            <a:r>
              <a:rPr lang="en-US" dirty="0" err="1"/>
              <a:t>сообщение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API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случайно</a:t>
            </a:r>
            <a:r>
              <a:rPr lang="en-US" dirty="0"/>
              <a:t>.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архитектурный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выявляет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прежняя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 </a:t>
            </a:r>
            <a:r>
              <a:rPr lang="en-US" dirty="0" err="1"/>
              <a:t>инкапсуляции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слабой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внешнему</a:t>
            </a:r>
            <a:r>
              <a:rPr lang="en-US" dirty="0"/>
              <a:t> </a:t>
            </a:r>
            <a:r>
              <a:rPr lang="en-US" dirty="0" err="1"/>
              <a:t>коду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разрешено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принадлежащие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свободы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49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View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подписаться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Model </a:t>
            </a:r>
            <a:r>
              <a:rPr lang="en-US" dirty="0" err="1"/>
              <a:t>изменилась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подписчиков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Model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конкретно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уведомления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View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обновить</a:t>
            </a:r>
            <a:r>
              <a:rPr lang="en-US" dirty="0"/>
              <a:t> </a:t>
            </a:r>
            <a:r>
              <a:rPr lang="en-US" dirty="0" err="1"/>
              <a:t>таблицу</a:t>
            </a:r>
            <a:r>
              <a:rPr lang="en-US" dirty="0"/>
              <a:t>.</a:t>
            </a:r>
          </a:p>
          <a:p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пометить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устаревшие</a:t>
            </a:r>
            <a:r>
              <a:rPr lang="en-US" dirty="0"/>
              <a:t>.</a:t>
            </a:r>
          </a:p>
          <a:p>
            <a:r>
              <a:rPr lang="en-US" dirty="0" err="1"/>
              <a:t>Третий</a:t>
            </a:r>
            <a:r>
              <a:rPr lang="en-US" dirty="0"/>
              <a:t> — </a:t>
            </a:r>
            <a:r>
              <a:rPr lang="en-US" dirty="0" err="1"/>
              <a:t>запросить</a:t>
            </a:r>
            <a:r>
              <a:rPr lang="en-US" dirty="0"/>
              <a:t> </a:t>
            </a:r>
            <a:r>
              <a:rPr lang="en-US" dirty="0" err="1"/>
              <a:t>перерисовку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пытаться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симметричной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красоты</a:t>
            </a:r>
            <a:r>
              <a:rPr lang="en-US" dirty="0"/>
              <a:t>.</a:t>
            </a:r>
          </a:p>
          <a:p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отрисовывается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кадр</a:t>
            </a:r>
            <a:r>
              <a:rPr lang="en-US" dirty="0"/>
              <a:t> и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текущее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— </a:t>
            </a:r>
            <a:r>
              <a:rPr lang="en-US" dirty="0" err="1"/>
              <a:t>подписывать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</a:t>
            </a:r>
          </a:p>
          <a:p>
            <a:r>
              <a:rPr lang="en-US" dirty="0" err="1"/>
              <a:t>Разные</a:t>
            </a:r>
            <a:r>
              <a:rPr lang="en-US" dirty="0"/>
              <a:t> View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стратегии</a:t>
            </a:r>
            <a:r>
              <a:rPr lang="en-US" dirty="0"/>
              <a:t> </a:t>
            </a:r>
            <a:r>
              <a:rPr lang="en-US" dirty="0" err="1"/>
              <a:t>обновления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32230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конструкции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b="1" dirty="0"/>
              <a:t>Observer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Наблюдатель</a:t>
            </a:r>
            <a:r>
              <a:rPr lang="en-US" dirty="0"/>
              <a:t>».</a:t>
            </a:r>
          </a:p>
          <a:p>
            <a:endParaRPr lang="en-US" dirty="0"/>
          </a:p>
          <a:p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интересно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,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Subject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Observable</a:t>
            </a:r>
            <a:r>
              <a:rPr lang="en-US" dirty="0"/>
              <a:t>.</a:t>
            </a:r>
          </a:p>
          <a:p>
            <a:r>
              <a:rPr lang="en-US" dirty="0" err="1"/>
              <a:t>Заинтересованные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Observers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выступает</a:t>
            </a:r>
            <a:r>
              <a:rPr lang="en-US" dirty="0"/>
              <a:t> </a:t>
            </a:r>
            <a:r>
              <a:rPr lang="en-US" dirty="0" err="1"/>
              <a:t>источником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, а View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подписываться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уведомления</a:t>
            </a:r>
            <a:r>
              <a:rPr lang="en-US" dirty="0"/>
              <a:t>.</a:t>
            </a:r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вызове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OnDrawingChanged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получателей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View, </a:t>
            </a:r>
            <a:r>
              <a:rPr lang="en-US" dirty="0" err="1"/>
              <a:t>логирование</a:t>
            </a:r>
            <a:r>
              <a:rPr lang="en-US" dirty="0"/>
              <a:t>, </a:t>
            </a:r>
            <a:r>
              <a:rPr lang="en-US" dirty="0" err="1"/>
              <a:t>автосохранение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добавляя</a:t>
            </a:r>
            <a:r>
              <a:rPr lang="en-US" dirty="0"/>
              <a:t> </a:t>
            </a:r>
            <a:r>
              <a:rPr lang="en-US" dirty="0" err="1"/>
              <a:t>соответствующую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CanvasController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Observer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b="1" dirty="0" err="1"/>
              <a:t>роль</a:t>
            </a:r>
            <a:r>
              <a:rPr lang="en-US" b="1" dirty="0"/>
              <a:t> и </a:t>
            </a:r>
            <a:r>
              <a:rPr lang="en-US" b="1" dirty="0" err="1"/>
              <a:t>способ</a:t>
            </a:r>
            <a:r>
              <a:rPr lang="en-US" b="1" dirty="0"/>
              <a:t> </a:t>
            </a:r>
            <a:r>
              <a:rPr lang="en-US" b="1" dirty="0" err="1"/>
              <a:t>организации</a:t>
            </a:r>
            <a:r>
              <a:rPr lang="en-US" b="1" dirty="0"/>
              <a:t> </a:t>
            </a:r>
            <a:r>
              <a:rPr lang="en-US" b="1" dirty="0" err="1"/>
              <a:t>зависимости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с </a:t>
            </a:r>
            <a:r>
              <a:rPr lang="en-US" dirty="0" err="1"/>
              <a:t>названием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Observer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реализована</a:t>
            </a:r>
            <a:r>
              <a:rPr lang="en-US" dirty="0"/>
              <a:t> callbacks, </a:t>
            </a:r>
            <a:r>
              <a:rPr lang="en-US" dirty="0" err="1"/>
              <a:t>событиями</a:t>
            </a:r>
            <a:r>
              <a:rPr lang="en-US" dirty="0"/>
              <a:t>, </a:t>
            </a:r>
            <a:r>
              <a:rPr lang="en-US" dirty="0" err="1"/>
              <a:t>сигналами</a:t>
            </a:r>
            <a:r>
              <a:rPr lang="en-US" dirty="0"/>
              <a:t> и </a:t>
            </a:r>
            <a:r>
              <a:rPr lang="en-US" dirty="0" err="1"/>
              <a:t>слотами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языка</a:t>
            </a:r>
            <a:r>
              <a:rPr lang="en-US" dirty="0"/>
              <a:t> и </a:t>
            </a:r>
            <a:r>
              <a:rPr lang="en-US" dirty="0" err="1"/>
              <a:t>библиотеки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552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Observer </a:t>
            </a:r>
            <a:r>
              <a:rPr lang="en-US" dirty="0" err="1"/>
              <a:t>специально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факт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изменился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небольшого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мере</a:t>
            </a:r>
            <a:r>
              <a:rPr lang="en-US" dirty="0"/>
              <a:t> </a:t>
            </a:r>
            <a:r>
              <a:rPr lang="en-US" dirty="0" err="1"/>
              <a:t>роста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у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подписчиков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интересы</a:t>
            </a:r>
            <a:r>
              <a:rPr lang="en-US" dirty="0"/>
              <a:t>.</a:t>
            </a:r>
          </a:p>
          <a:p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другого</a:t>
            </a:r>
            <a:r>
              <a:rPr lang="en-US" dirty="0"/>
              <a:t> — </a:t>
            </a:r>
            <a:r>
              <a:rPr lang="en-US" dirty="0" err="1"/>
              <a:t>геометрия</a:t>
            </a:r>
            <a:r>
              <a:rPr lang="en-US" dirty="0"/>
              <a:t>, </a:t>
            </a:r>
            <a:r>
              <a:rPr lang="en-US" dirty="0" err="1"/>
              <a:t>третьего</a:t>
            </a:r>
            <a:r>
              <a:rPr lang="en-US" dirty="0"/>
              <a:t> —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слоёв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посылать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универсальное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 и </a:t>
            </a:r>
            <a:r>
              <a:rPr lang="en-US" dirty="0" err="1"/>
              <a:t>заставлять</a:t>
            </a:r>
            <a:r>
              <a:rPr lang="en-US" dirty="0"/>
              <a:t> </a:t>
            </a:r>
            <a:r>
              <a:rPr lang="en-US" dirty="0" err="1"/>
              <a:t>подписчиков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перечитывать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специализированными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дизайнерский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универсально</a:t>
            </a:r>
            <a:r>
              <a:rPr lang="en-US" dirty="0"/>
              <a:t> </a:t>
            </a:r>
            <a:r>
              <a:rPr lang="en-US" dirty="0" err="1"/>
              <a:t>правильного</a:t>
            </a:r>
            <a:r>
              <a:rPr lang="en-US" dirty="0"/>
              <a:t> </a:t>
            </a:r>
            <a:r>
              <a:rPr lang="en-US" dirty="0" err="1"/>
              <a:t>ответа</a:t>
            </a:r>
            <a:r>
              <a:rPr lang="en-US" dirty="0"/>
              <a:t>: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точные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уменьшают</a:t>
            </a:r>
            <a:r>
              <a:rPr lang="en-US" dirty="0"/>
              <a:t> </a:t>
            </a:r>
            <a:r>
              <a:rPr lang="en-US" dirty="0" err="1"/>
              <a:t>лишнюю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подписчиков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делают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Observer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—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сообщить</a:t>
            </a:r>
            <a:r>
              <a:rPr lang="en-US" b="1" dirty="0"/>
              <a:t> </a:t>
            </a:r>
            <a:r>
              <a:rPr lang="en-US" b="1" dirty="0" err="1"/>
              <a:t>неизвестным</a:t>
            </a:r>
            <a:r>
              <a:rPr lang="en-US" b="1" dirty="0"/>
              <a:t> </a:t>
            </a:r>
            <a:r>
              <a:rPr lang="en-US" b="1" dirty="0" err="1"/>
              <a:t>заранее</a:t>
            </a:r>
            <a:r>
              <a:rPr lang="en-US" b="1" dirty="0"/>
              <a:t> </a:t>
            </a:r>
            <a:r>
              <a:rPr lang="en-US" b="1" dirty="0" err="1"/>
              <a:t>подписчикам</a:t>
            </a:r>
            <a:r>
              <a:rPr lang="en-US" b="1" dirty="0"/>
              <a:t> </a:t>
            </a:r>
            <a:r>
              <a:rPr lang="en-US" b="1" dirty="0" err="1"/>
              <a:t>об</a:t>
            </a:r>
            <a:r>
              <a:rPr lang="en-US" b="1" dirty="0"/>
              <a:t> </a:t>
            </a:r>
            <a:r>
              <a:rPr lang="en-US" b="1" dirty="0" err="1"/>
              <a:t>изменении</a:t>
            </a:r>
            <a:r>
              <a:rPr lang="en-US" dirty="0"/>
              <a:t>, —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открывает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</a:t>
            </a:r>
            <a:r>
              <a:rPr lang="en-US" b="1" dirty="0" err="1"/>
              <a:t>им</a:t>
            </a:r>
            <a:r>
              <a:rPr lang="en-US" b="1" dirty="0"/>
              <a:t> </a:t>
            </a:r>
            <a:r>
              <a:rPr lang="en-US" b="1" dirty="0" err="1"/>
              <a:t>сообщать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5613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410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Observer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главную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сообщить</a:t>
            </a:r>
            <a:r>
              <a:rPr lang="en-US" dirty="0"/>
              <a:t> </a:t>
            </a:r>
            <a:r>
              <a:rPr lang="en-US" dirty="0" err="1"/>
              <a:t>подписчикам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изменилось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небольшого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подписчик</a:t>
            </a:r>
            <a:r>
              <a:rPr lang="en-US" dirty="0"/>
              <a:t>.</a:t>
            </a:r>
          </a:p>
          <a:p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—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OnDrawingChanged</a:t>
            </a:r>
            <a:r>
              <a:rPr lang="en-US" dirty="0"/>
              <a:t>.</a:t>
            </a:r>
          </a:p>
          <a:p>
            <a:r>
              <a:rPr lang="en-US" dirty="0" err="1"/>
              <a:t>Удалили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—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OnDrawingChanged</a:t>
            </a:r>
            <a:r>
              <a:rPr lang="en-US" dirty="0"/>
              <a:t>.</a:t>
            </a:r>
          </a:p>
          <a:p>
            <a:r>
              <a:rPr lang="en-US" dirty="0" err="1"/>
              <a:t>Передвинули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—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Подписчик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факт</a:t>
            </a:r>
            <a:r>
              <a:rPr lang="en-US" dirty="0"/>
              <a:t>: </a:t>
            </a:r>
            <a:r>
              <a:rPr lang="en-US" dirty="0" err="1"/>
              <a:t>что-то</a:t>
            </a:r>
            <a:r>
              <a:rPr lang="en-US" dirty="0"/>
              <a:t> </a:t>
            </a:r>
            <a:r>
              <a:rPr lang="en-US" dirty="0" err="1"/>
              <a:t>изменилось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заново</a:t>
            </a:r>
            <a:r>
              <a:rPr lang="en-US" dirty="0"/>
              <a:t> </a:t>
            </a:r>
            <a:r>
              <a:rPr lang="en-US" dirty="0" err="1"/>
              <a:t>прочитать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выяснить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. </a:t>
            </a:r>
            <a:r>
              <a:rPr lang="en-US" dirty="0" err="1"/>
              <a:t>Универсальное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реагируют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,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можем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сообщать</a:t>
            </a:r>
            <a:r>
              <a:rPr lang="en-US" b="1" dirty="0"/>
              <a:t> </a:t>
            </a:r>
            <a:r>
              <a:rPr lang="en-US" b="1" dirty="0" err="1"/>
              <a:t>подписчику</a:t>
            </a:r>
            <a:r>
              <a:rPr lang="en-US" b="1" dirty="0"/>
              <a:t> </a:t>
            </a:r>
            <a:r>
              <a:rPr lang="en-US" b="1" dirty="0" err="1"/>
              <a:t>немного</a:t>
            </a:r>
            <a:r>
              <a:rPr lang="en-US" b="1" dirty="0"/>
              <a:t> </a:t>
            </a:r>
            <a:r>
              <a:rPr lang="en-US" b="1" dirty="0" err="1"/>
              <a:t>больше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0035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прямое</a:t>
            </a:r>
            <a:r>
              <a:rPr lang="en-US" dirty="0"/>
              <a:t> </a:t>
            </a:r>
            <a:r>
              <a:rPr lang="en-US" dirty="0" err="1"/>
              <a:t>развитие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—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уведомлением</a:t>
            </a:r>
            <a:r>
              <a:rPr lang="en-US" dirty="0"/>
              <a:t> </a:t>
            </a:r>
            <a:r>
              <a:rPr lang="en-US" dirty="0" err="1"/>
              <a:t>описание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о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факте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о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разновидности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ShapeListView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перемещении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обновить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соответствующую</a:t>
            </a:r>
            <a:r>
              <a:rPr lang="en-US" dirty="0"/>
              <a:t> </a:t>
            </a:r>
            <a:r>
              <a:rPr lang="en-US" dirty="0" err="1"/>
              <a:t>строку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перестраивать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список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 </a:t>
            </a:r>
            <a:r>
              <a:rPr lang="en-US" dirty="0" err="1"/>
              <a:t>полезнее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</a:t>
            </a:r>
            <a:r>
              <a:rPr lang="en-US" dirty="0" err="1"/>
              <a:t>формировать</a:t>
            </a:r>
            <a:r>
              <a:rPr lang="en-US" dirty="0"/>
              <a:t> </a:t>
            </a:r>
            <a:r>
              <a:rPr lang="en-US" b="1" dirty="0" err="1"/>
              <a:t>протокол</a:t>
            </a:r>
            <a:r>
              <a:rPr lang="en-US" b="1" dirty="0"/>
              <a:t> </a:t>
            </a:r>
            <a:r>
              <a:rPr lang="en-US" b="1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Model и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подписчиками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возможностей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у </a:t>
            </a:r>
            <a:r>
              <a:rPr lang="en-US" dirty="0" err="1"/>
              <a:t>редактора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Сегодня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разновидности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порядка</a:t>
            </a:r>
            <a:r>
              <a:rPr lang="en-US" dirty="0"/>
              <a:t> </a:t>
            </a:r>
            <a:r>
              <a:rPr lang="en-US" dirty="0" err="1"/>
              <a:t>слоёв</a:t>
            </a:r>
            <a:r>
              <a:rPr lang="en-US" dirty="0"/>
              <a:t>,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стиля</a:t>
            </a:r>
            <a:r>
              <a:rPr lang="en-US" dirty="0"/>
              <a:t>, </a:t>
            </a:r>
            <a:r>
              <a:rPr lang="en-US" dirty="0" err="1"/>
              <a:t>группировка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</a:p>
          <a:p>
            <a:r>
              <a:rPr lang="en-US" dirty="0" err="1"/>
              <a:t>Посмотрим</a:t>
            </a:r>
            <a:r>
              <a:rPr lang="en-US" dirty="0"/>
              <a:t>, к </a:t>
            </a:r>
            <a:r>
              <a:rPr lang="en-US" dirty="0" err="1"/>
              <a:t>чему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7299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универсального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OnDrawingChanged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проявляться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подписчик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интересны</a:t>
            </a:r>
            <a:r>
              <a:rPr lang="en-US" dirty="0"/>
              <a:t>.</a:t>
            </a:r>
          </a:p>
          <a:p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цепочке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View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а </a:t>
            </a:r>
            <a:r>
              <a:rPr lang="en-US" dirty="0" err="1"/>
              <a:t>другому</a:t>
            </a:r>
            <a:r>
              <a:rPr lang="en-US" dirty="0"/>
              <a:t> —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контракт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стал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широким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вспоминается</a:t>
            </a:r>
            <a:r>
              <a:rPr lang="en-US" dirty="0"/>
              <a:t> ISP: </a:t>
            </a:r>
            <a:r>
              <a:rPr lang="en-US" dirty="0" err="1"/>
              <a:t>клиенту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навязывать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пользуется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вовсе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 </a:t>
            </a:r>
            <a:r>
              <a:rPr lang="en-US" dirty="0" err="1"/>
              <a:t>вроде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IShapeAddedObserver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IShapeRemovedObserver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IShapeChangedObserver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пойти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—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подписываться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8192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.</a:t>
            </a:r>
          </a:p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подписчиком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реализующий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ShapeListView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в </a:t>
            </a:r>
            <a:r>
              <a:rPr lang="en-US" dirty="0" err="1"/>
              <a:t>сущности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специальная</a:t>
            </a:r>
            <a:r>
              <a:rPr lang="en-US" dirty="0"/>
              <a:t> </a:t>
            </a:r>
            <a:r>
              <a:rPr lang="en-US" dirty="0" err="1"/>
              <a:t>разновидность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b="1" dirty="0" err="1"/>
              <a:t>функция</a:t>
            </a:r>
            <a:r>
              <a:rPr lang="en-US" b="1" dirty="0"/>
              <a:t>, </a:t>
            </a:r>
            <a:r>
              <a:rPr lang="en-US" b="1" dirty="0" err="1"/>
              <a:t>которую</a:t>
            </a:r>
            <a:r>
              <a:rPr lang="en-US" b="1" dirty="0"/>
              <a:t> </a:t>
            </a:r>
            <a:r>
              <a:rPr lang="en-US" b="1" dirty="0" err="1"/>
              <a:t>следует</a:t>
            </a:r>
            <a:r>
              <a:rPr lang="en-US" b="1" dirty="0"/>
              <a:t> </a:t>
            </a:r>
            <a:r>
              <a:rPr lang="en-US" b="1" dirty="0" err="1"/>
              <a:t>вызвать</a:t>
            </a:r>
            <a:r>
              <a:rPr lang="en-US" b="1" dirty="0"/>
              <a:t> </a:t>
            </a:r>
            <a:r>
              <a:rPr lang="en-US" b="1" dirty="0" err="1"/>
              <a:t>при</a:t>
            </a:r>
            <a:r>
              <a:rPr lang="en-US" b="1" dirty="0"/>
              <a:t> </a:t>
            </a:r>
            <a:r>
              <a:rPr lang="en-US" b="1" dirty="0" err="1"/>
              <a:t>наступлении</a:t>
            </a:r>
            <a:r>
              <a:rPr lang="en-US" b="1" dirty="0"/>
              <a:t> </a:t>
            </a:r>
            <a:r>
              <a:rPr lang="en-US" b="1" dirty="0" err="1"/>
              <a:t>этого</a:t>
            </a:r>
            <a:r>
              <a:rPr lang="en-US" b="1" dirty="0"/>
              <a:t> </a:t>
            </a:r>
            <a:r>
              <a:rPr lang="en-US" b="1" dirty="0" err="1"/>
              <a:t>события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AddListener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подписки</a:t>
            </a:r>
            <a:r>
              <a:rPr lang="en-US" dirty="0"/>
              <a:t>.</a:t>
            </a:r>
          </a:p>
          <a:p>
            <a:r>
              <a:rPr lang="en-US" dirty="0" err="1"/>
              <a:t>Подписчик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ShapeChanged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подписать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callback.</a:t>
            </a:r>
          </a:p>
          <a:p>
            <a:r>
              <a:rPr lang="en-US" dirty="0"/>
              <a:t>Это </a:t>
            </a:r>
            <a:r>
              <a:rPr lang="en-US" dirty="0" err="1"/>
              <a:t>уменьшает</a:t>
            </a:r>
            <a:r>
              <a:rPr lang="en-US" dirty="0"/>
              <a:t> </a:t>
            </a:r>
            <a:r>
              <a:rPr lang="en-US" dirty="0" err="1"/>
              <a:t>связанность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сильнее</a:t>
            </a:r>
            <a:r>
              <a:rPr lang="en-US" dirty="0"/>
              <a:t>: </a:t>
            </a:r>
            <a:r>
              <a:rPr lang="en-US" dirty="0" err="1"/>
              <a:t>источнику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какой-то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Observer.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определённой</a:t>
            </a:r>
            <a:r>
              <a:rPr lang="en-US" dirty="0"/>
              <a:t> </a:t>
            </a:r>
            <a:r>
              <a:rPr lang="en-US" dirty="0" err="1"/>
              <a:t>сигнатуры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 </a:t>
            </a:r>
            <a:r>
              <a:rPr lang="en-US" dirty="0" err="1"/>
              <a:t>Событию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аргументов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иным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объектного</a:t>
            </a:r>
            <a:r>
              <a:rPr lang="en-US" dirty="0"/>
              <a:t> Observer к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общему</a:t>
            </a:r>
            <a:r>
              <a:rPr lang="en-US" dirty="0"/>
              <a:t> </a:t>
            </a:r>
            <a:r>
              <a:rPr lang="en-US" dirty="0" err="1"/>
              <a:t>механизму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7883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,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бессмысленно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 </a:t>
            </a:r>
            <a:r>
              <a:rPr lang="en-US" dirty="0" err="1"/>
              <a:t>писать</a:t>
            </a:r>
            <a:r>
              <a:rPr lang="en-US" dirty="0"/>
              <a:t> </a:t>
            </a:r>
            <a:r>
              <a:rPr lang="en-US" dirty="0" err="1"/>
              <a:t>вектор</a:t>
            </a:r>
            <a:r>
              <a:rPr lang="en-US" dirty="0"/>
              <a:t> </a:t>
            </a:r>
            <a:r>
              <a:rPr lang="en-US" dirty="0" err="1"/>
              <a:t>подписчиков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AddListener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RemoveListener</a:t>
            </a:r>
            <a:r>
              <a:rPr lang="en-US" dirty="0"/>
              <a:t> и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уведомления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повторяющийся</a:t>
            </a:r>
            <a:r>
              <a:rPr lang="en-US" dirty="0"/>
              <a:t> </a:t>
            </a:r>
            <a:r>
              <a:rPr lang="en-US" dirty="0" err="1"/>
              <a:t>технический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обобщить</a:t>
            </a:r>
            <a:r>
              <a:rPr lang="en-US" dirty="0"/>
              <a:t> в </a:t>
            </a:r>
            <a:r>
              <a:rPr lang="en-US" dirty="0" err="1"/>
              <a:t>сущность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</a:t>
            </a:r>
            <a:r>
              <a:rPr lang="en-US" dirty="0"/>
              <a:t>.</a:t>
            </a:r>
          </a:p>
          <a:p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сигнатуру</a:t>
            </a:r>
            <a:r>
              <a:rPr lang="en-US" dirty="0"/>
              <a:t>. К </a:t>
            </a:r>
            <a:r>
              <a:rPr lang="en-US" dirty="0" err="1"/>
              <a:t>нему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подключить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 —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называют</a:t>
            </a:r>
            <a:r>
              <a:rPr lang="en-US" dirty="0"/>
              <a:t> slots.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 </a:t>
            </a:r>
            <a:r>
              <a:rPr lang="en-US" dirty="0" err="1"/>
              <a:t>испускается</a:t>
            </a:r>
            <a:r>
              <a:rPr lang="en-US" dirty="0"/>
              <a:t>, </a:t>
            </a:r>
            <a:r>
              <a:rPr lang="en-US" dirty="0" err="1"/>
              <a:t>вызываются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подключённые</a:t>
            </a:r>
            <a:r>
              <a:rPr lang="en-US" dirty="0"/>
              <a:t> </a:t>
            </a:r>
            <a:r>
              <a:rPr lang="en-US" dirty="0" err="1"/>
              <a:t>обработчики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C++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библиотеки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boost::signals2</a:t>
            </a:r>
            <a:r>
              <a:rPr lang="en-US" dirty="0"/>
              <a:t>. В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языках</a:t>
            </a:r>
            <a:r>
              <a:rPr lang="en-US" dirty="0"/>
              <a:t> </a:t>
            </a:r>
            <a:r>
              <a:rPr lang="en-US" dirty="0" err="1"/>
              <a:t>аналогичная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называться</a:t>
            </a:r>
            <a:r>
              <a:rPr lang="en-US" dirty="0"/>
              <a:t> events, delegates, signals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callbacks.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b="1" dirty="0" err="1"/>
              <a:t>паттерн</a:t>
            </a:r>
            <a:r>
              <a:rPr lang="en-US" b="1" dirty="0"/>
              <a:t> и </a:t>
            </a:r>
            <a:r>
              <a:rPr lang="en-US" b="1" dirty="0" err="1"/>
              <a:t>конкретный</a:t>
            </a:r>
            <a:r>
              <a:rPr lang="en-US" b="1" dirty="0"/>
              <a:t> </a:t>
            </a:r>
            <a:r>
              <a:rPr lang="en-US" b="1" dirty="0" err="1"/>
              <a:t>инструмент</a:t>
            </a:r>
            <a:r>
              <a:rPr lang="en-US" dirty="0"/>
              <a:t>.</a:t>
            </a:r>
          </a:p>
          <a:p>
            <a:r>
              <a:rPr lang="en-US" dirty="0"/>
              <a:t>Observer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отношение</a:t>
            </a:r>
            <a:r>
              <a:rPr lang="en-US" dirty="0"/>
              <a:t>: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неизвестному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набору</a:t>
            </a:r>
            <a:r>
              <a:rPr lang="en-US" dirty="0"/>
              <a:t> </a:t>
            </a:r>
            <a:r>
              <a:rPr lang="en-US" dirty="0" err="1"/>
              <a:t>заинтересованных</a:t>
            </a:r>
            <a:r>
              <a:rPr lang="en-US" dirty="0"/>
              <a:t> </a:t>
            </a:r>
            <a:r>
              <a:rPr lang="en-US" dirty="0" err="1"/>
              <a:t>получателей</a:t>
            </a:r>
            <a:r>
              <a:rPr lang="en-US" dirty="0"/>
              <a:t>.</a:t>
            </a:r>
          </a:p>
          <a:p>
            <a:r>
              <a:rPr lang="en-US" dirty="0" err="1"/>
              <a:t>Сигналы</a:t>
            </a:r>
            <a:r>
              <a:rPr lang="en-US" dirty="0"/>
              <a:t> и </a:t>
            </a:r>
            <a:r>
              <a:rPr lang="en-US" dirty="0" err="1"/>
              <a:t>слоты</a:t>
            </a:r>
            <a:r>
              <a:rPr lang="en-US" dirty="0"/>
              <a:t> — </a:t>
            </a:r>
            <a:r>
              <a:rPr lang="en-US" dirty="0" err="1"/>
              <a:t>удобный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,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отношение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готовая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неприятные</a:t>
            </a:r>
            <a:r>
              <a:rPr lang="en-US" dirty="0"/>
              <a:t> </a:t>
            </a:r>
            <a:r>
              <a:rPr lang="en-US" dirty="0" err="1"/>
              <a:t>технические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подпиской</a:t>
            </a:r>
            <a:r>
              <a:rPr lang="en-US" dirty="0"/>
              <a:t> и </a:t>
            </a:r>
            <a:r>
              <a:rPr lang="en-US" dirty="0" err="1"/>
              <a:t>отключением</a:t>
            </a:r>
            <a:r>
              <a:rPr lang="en-US" dirty="0"/>
              <a:t> </a:t>
            </a:r>
            <a:r>
              <a:rPr lang="en-US" dirty="0" err="1"/>
              <a:t>обработчиков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532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6993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наконец-то</a:t>
            </a:r>
            <a:r>
              <a:rPr lang="en-US" dirty="0"/>
              <a:t> </a:t>
            </a:r>
            <a:r>
              <a:rPr lang="en-US" dirty="0" err="1"/>
              <a:t>готова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интерактивного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окончательной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нашли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b="1" dirty="0" err="1"/>
              <a:t>сегодняшним</a:t>
            </a:r>
            <a:r>
              <a:rPr lang="en-US" b="1" dirty="0"/>
              <a:t> </a:t>
            </a:r>
            <a:r>
              <a:rPr lang="en-US" b="1" dirty="0" err="1"/>
              <a:t>требованиям</a:t>
            </a:r>
            <a:r>
              <a:rPr lang="en-US" dirty="0"/>
              <a:t>.</a:t>
            </a:r>
          </a:p>
          <a:p>
            <a:r>
              <a:rPr lang="en-US" dirty="0" err="1"/>
              <a:t>Следующие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какая-то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удобнее</a:t>
            </a:r>
            <a:r>
              <a:rPr lang="en-US" dirty="0"/>
              <a:t> </a:t>
            </a:r>
            <a:r>
              <a:rPr lang="en-US" dirty="0" err="1"/>
              <a:t>жить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 я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буду</a:t>
            </a:r>
            <a:r>
              <a:rPr lang="en-US" dirty="0"/>
              <a:t> </a:t>
            </a:r>
            <a:r>
              <a:rPr lang="en-US" dirty="0" err="1"/>
              <a:t>давать</a:t>
            </a:r>
            <a:r>
              <a:rPr lang="en-US" dirty="0"/>
              <a:t> </a:t>
            </a:r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, с </a:t>
            </a:r>
            <a:r>
              <a:rPr lang="en-US" dirty="0" err="1"/>
              <a:t>которыми</a:t>
            </a:r>
            <a:r>
              <a:rPr lang="en-US" dirty="0"/>
              <a:t> </a:t>
            </a:r>
            <a:r>
              <a:rPr lang="en-US" dirty="0" err="1"/>
              <a:t>вам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встретиться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, и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8156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отобразить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простых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отдельной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рамка</a:t>
            </a:r>
            <a:r>
              <a:rPr lang="en-US" dirty="0"/>
              <a:t> </a:t>
            </a:r>
            <a:r>
              <a:rPr lang="en-US" dirty="0" err="1"/>
              <a:t>трансформации</a:t>
            </a:r>
            <a:r>
              <a:rPr lang="en-US" dirty="0"/>
              <a:t>,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, hover-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собственные</a:t>
            </a:r>
            <a:r>
              <a:rPr lang="en-US" dirty="0"/>
              <a:t> </a:t>
            </a:r>
            <a:r>
              <a:rPr lang="en-US" dirty="0" err="1"/>
              <a:t>интерактивные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возникнуть</a:t>
            </a:r>
            <a:r>
              <a:rPr lang="en-US" dirty="0"/>
              <a:t> </a:t>
            </a:r>
            <a:r>
              <a:rPr lang="en-US" dirty="0" err="1"/>
              <a:t>желание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каждую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отдельным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 View.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отображается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RectangleView</a:t>
            </a:r>
            <a:r>
              <a:rPr lang="en-US" dirty="0"/>
              <a:t>, а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EllipseView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локализовать</a:t>
            </a:r>
            <a:r>
              <a:rPr lang="en-US" dirty="0"/>
              <a:t> </a:t>
            </a:r>
            <a:r>
              <a:rPr lang="en-US" dirty="0" err="1"/>
              <a:t>логику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тут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.</a:t>
            </a:r>
          </a:p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нужный</a:t>
            </a:r>
            <a:r>
              <a:rPr lang="en-US" dirty="0"/>
              <a:t> View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появлении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Shape?</a:t>
            </a:r>
          </a:p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уничтожает</a:t>
            </a:r>
            <a:r>
              <a:rPr lang="en-US" dirty="0"/>
              <a:t>?</a:t>
            </a:r>
          </a:p>
          <a:p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CanvasView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параллельную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View?</a:t>
            </a:r>
          </a:p>
          <a:p>
            <a:endParaRPr lang="en-US" dirty="0"/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добавлении</a:t>
            </a:r>
            <a:r>
              <a:rPr lang="en-US" dirty="0"/>
              <a:t> и </a:t>
            </a:r>
            <a:r>
              <a:rPr lang="en-US" dirty="0" err="1"/>
              <a:t>удалении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главное</a:t>
            </a:r>
            <a:r>
              <a:rPr lang="en-US" dirty="0"/>
              <a:t>: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дополнительная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окупается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DrawingRenderer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?</a:t>
            </a:r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ответа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0610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столкнулись</a:t>
            </a:r>
            <a:r>
              <a:rPr lang="en-US" dirty="0"/>
              <a:t> с </a:t>
            </a:r>
            <a:r>
              <a:rPr lang="en-US" dirty="0" err="1"/>
              <a:t>тем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DrawingChanged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грубым</a:t>
            </a:r>
            <a:r>
              <a:rPr lang="en-US" dirty="0"/>
              <a:t> </a:t>
            </a:r>
            <a:r>
              <a:rPr lang="en-US" dirty="0" err="1"/>
              <a:t>событием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 —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наблюдаемыми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сообщить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изменился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кажется</a:t>
            </a:r>
            <a:r>
              <a:rPr lang="en-US" dirty="0"/>
              <a:t> </a:t>
            </a:r>
            <a:r>
              <a:rPr lang="en-US" dirty="0" err="1"/>
              <a:t>удобным</a:t>
            </a:r>
            <a:r>
              <a:rPr lang="en-US" dirty="0"/>
              <a:t>,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у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ShapeView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меняем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.</a:t>
            </a:r>
          </a:p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подписываться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?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добавлении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отписку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удалении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правильнее</a:t>
            </a:r>
            <a:r>
              <a:rPr lang="en-US" dirty="0"/>
              <a:t> </a:t>
            </a:r>
            <a:r>
              <a:rPr lang="en-US" dirty="0" err="1"/>
              <a:t>запретить</a:t>
            </a:r>
            <a:r>
              <a:rPr lang="en-US" dirty="0"/>
              <a:t> </a:t>
            </a:r>
            <a:r>
              <a:rPr lang="en-US" dirty="0" err="1"/>
              <a:t>внешнему</a:t>
            </a:r>
            <a:r>
              <a:rPr lang="en-US" dirty="0"/>
              <a:t> </a:t>
            </a:r>
            <a:r>
              <a:rPr lang="en-US" dirty="0" err="1"/>
              <a:t>коду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проводить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наблюдаемые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подписываться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транслировать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наружу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локализовать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8167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показательный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— </a:t>
            </a:r>
            <a:r>
              <a:rPr lang="en-US" dirty="0" err="1"/>
              <a:t>множественный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selectedShape</a:t>
            </a:r>
            <a:r>
              <a:rPr lang="en-US" dirty="0"/>
              <a:t>.</a:t>
            </a:r>
          </a:p>
          <a:p>
            <a:r>
              <a:rPr lang="en-US" dirty="0"/>
              <a:t>Кажется,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контейнером</a:t>
            </a:r>
            <a:r>
              <a:rPr lang="en-US" dirty="0"/>
              <a:t> </a:t>
            </a:r>
            <a:r>
              <a:rPr lang="en-US" dirty="0" err="1"/>
              <a:t>указателей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начало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click?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click с </a:t>
            </a:r>
            <a:r>
              <a:rPr lang="en-US" dirty="0" err="1"/>
              <a:t>модификатором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drag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выбранных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, </a:t>
            </a:r>
            <a:r>
              <a:rPr lang="en-US" dirty="0" err="1"/>
              <a:t>перемещается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?</a:t>
            </a:r>
          </a:p>
          <a:p>
            <a:r>
              <a:rPr lang="en-US" dirty="0" err="1"/>
              <a:t>Как</a:t>
            </a:r>
            <a:r>
              <a:rPr lang="en-US" dirty="0"/>
              <a:t> View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выбранных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?</a:t>
            </a:r>
          </a:p>
          <a:p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bounding box?</a:t>
            </a:r>
          </a:p>
          <a:p>
            <a:endParaRPr lang="en-US" dirty="0"/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выбранная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удалена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?</a:t>
            </a:r>
          </a:p>
          <a:p>
            <a:r>
              <a:rPr lang="en-US" dirty="0"/>
              <a:t>А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переместить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—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Controller </a:t>
            </a:r>
            <a:r>
              <a:rPr lang="en-US" dirty="0" err="1"/>
              <a:t>вызывать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MoveBy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у Model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группой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EditorSession</a:t>
            </a:r>
            <a:r>
              <a:rPr lang="en-US" dirty="0"/>
              <a:t>, Controller, View и, </a:t>
            </a:r>
            <a:r>
              <a:rPr lang="en-US" dirty="0" err="1"/>
              <a:t>возможно</a:t>
            </a:r>
            <a:r>
              <a:rPr lang="en-US" dirty="0"/>
              <a:t>, Domain Model.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 и </a:t>
            </a:r>
            <a:r>
              <a:rPr lang="en-US" dirty="0" err="1"/>
              <a:t>требуют</a:t>
            </a:r>
            <a:r>
              <a:rPr lang="en-US" dirty="0"/>
              <a:t> </a:t>
            </a:r>
            <a:r>
              <a:rPr lang="en-US" dirty="0" err="1"/>
              <a:t>архитектурного</a:t>
            </a:r>
            <a:r>
              <a:rPr lang="en-US" dirty="0"/>
              <a:t> </a:t>
            </a:r>
            <a:r>
              <a:rPr lang="en-US" dirty="0" err="1"/>
              <a:t>мышления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</a:t>
            </a:r>
            <a:r>
              <a:rPr lang="en-US" dirty="0" err="1"/>
              <a:t>названия</a:t>
            </a:r>
            <a:r>
              <a:rPr lang="en-US" dirty="0"/>
              <a:t> </a:t>
            </a:r>
            <a:r>
              <a:rPr lang="en-US" dirty="0" err="1"/>
              <a:t>подходящего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4568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я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сформулировал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начинайте</a:t>
            </a:r>
            <a:r>
              <a:rPr lang="en-US" dirty="0"/>
              <a:t> </a:t>
            </a:r>
            <a:r>
              <a:rPr lang="en-US" dirty="0" err="1"/>
              <a:t>проектирование</a:t>
            </a:r>
            <a:r>
              <a:rPr lang="en-US" dirty="0"/>
              <a:t> с </a:t>
            </a:r>
            <a:r>
              <a:rPr lang="en-US" dirty="0" err="1"/>
              <a:t>вопроса</a:t>
            </a:r>
            <a:r>
              <a:rPr lang="en-US" dirty="0"/>
              <a:t>: «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?»</a:t>
            </a:r>
          </a:p>
          <a:p>
            <a:endParaRPr lang="en-US" dirty="0"/>
          </a:p>
          <a:p>
            <a:r>
              <a:rPr lang="en-US" dirty="0" err="1"/>
              <a:t>Начинайте</a:t>
            </a:r>
            <a:r>
              <a:rPr lang="en-US" dirty="0"/>
              <a:t> с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.</a:t>
            </a:r>
          </a:p>
          <a:p>
            <a:r>
              <a:rPr lang="en-US" dirty="0" err="1"/>
              <a:t>Посмотрите</a:t>
            </a:r>
            <a:r>
              <a:rPr lang="en-US" dirty="0"/>
              <a:t>, </a:t>
            </a:r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принесло</a:t>
            </a:r>
            <a:r>
              <a:rPr lang="en-US" dirty="0"/>
              <a:t> и </a:t>
            </a:r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: </a:t>
            </a:r>
            <a:r>
              <a:rPr lang="en-US" dirty="0" err="1"/>
              <a:t>документ</a:t>
            </a:r>
            <a:r>
              <a:rPr lang="en-US" dirty="0"/>
              <a:t>, </a:t>
            </a:r>
            <a:r>
              <a:rPr lang="en-US" dirty="0" err="1"/>
              <a:t>окно</a:t>
            </a:r>
            <a:r>
              <a:rPr lang="en-US" dirty="0"/>
              <a:t>, View и </a:t>
            </a:r>
            <a:r>
              <a:rPr lang="en-US" dirty="0" err="1"/>
              <a:t>один</a:t>
            </a:r>
            <a:r>
              <a:rPr lang="en-US" dirty="0"/>
              <a:t> drag </a:t>
            </a:r>
            <a:r>
              <a:rPr lang="en-US" dirty="0" err="1"/>
              <a:t>живут</a:t>
            </a:r>
            <a:r>
              <a:rPr lang="en-US" dirty="0"/>
              <a:t> </a:t>
            </a:r>
            <a:r>
              <a:rPr lang="en-US" dirty="0" err="1"/>
              <a:t>разное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Посмотрите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и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отвечать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источников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—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варианта</a:t>
            </a:r>
            <a:r>
              <a:rPr lang="en-US" dirty="0"/>
              <a:t> </a:t>
            </a:r>
            <a:r>
              <a:rPr lang="en-US" dirty="0" err="1"/>
              <a:t>заставляет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старых</a:t>
            </a:r>
            <a:r>
              <a:rPr lang="en-US" dirty="0"/>
              <a:t> </a:t>
            </a:r>
            <a:r>
              <a:rPr lang="en-US" dirty="0" err="1"/>
              <a:t>компонентов</a:t>
            </a:r>
            <a:r>
              <a:rPr lang="en-US" dirty="0"/>
              <a:t> —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обнаружилась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задайте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архитектурно</a:t>
            </a:r>
            <a:r>
              <a:rPr lang="en-US" dirty="0"/>
              <a:t>?</a:t>
            </a:r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строк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.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OnDrawingChanged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десяти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к Model, View, Controller и Observer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решили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паттерны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вам</a:t>
            </a:r>
            <a:r>
              <a:rPr lang="en-US" dirty="0"/>
              <a:t> </a:t>
            </a:r>
            <a:r>
              <a:rPr lang="en-US" dirty="0" err="1"/>
              <a:t>предстоит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09261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качестве</a:t>
            </a:r>
            <a:r>
              <a:rPr lang="en-US" dirty="0"/>
              <a:t> </a:t>
            </a:r>
            <a:r>
              <a:rPr lang="en-US" dirty="0" err="1"/>
              <a:t>самостоятельной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я </a:t>
            </a:r>
            <a:r>
              <a:rPr lang="en-US" dirty="0" err="1"/>
              <a:t>рекомендую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моей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прошлых</a:t>
            </a:r>
            <a:r>
              <a:rPr lang="en-US" dirty="0"/>
              <a:t> </a:t>
            </a:r>
            <a:r>
              <a:rPr lang="en-US" dirty="0" err="1"/>
              <a:t>лет</a:t>
            </a:r>
            <a:r>
              <a:rPr lang="en-US" dirty="0"/>
              <a:t>, </a:t>
            </a:r>
            <a:r>
              <a:rPr lang="en-US" dirty="0" err="1"/>
              <a:t>посвящённую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 GUI-</a:t>
            </a:r>
            <a:r>
              <a:rPr lang="en-US" dirty="0" err="1"/>
              <a:t>приложений</a:t>
            </a:r>
            <a:r>
              <a:rPr lang="en-US" dirty="0"/>
              <a:t>.</a:t>
            </a:r>
          </a:p>
          <a:p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обзорно</a:t>
            </a:r>
            <a:r>
              <a:rPr lang="en-US" dirty="0"/>
              <a:t> </a:t>
            </a:r>
            <a:r>
              <a:rPr lang="en-US" dirty="0" err="1"/>
              <a:t>рассматриваются</a:t>
            </a:r>
            <a:r>
              <a:rPr lang="en-US" dirty="0"/>
              <a:t> Document–View, MVC, MVP и MVVM.</a:t>
            </a:r>
          </a:p>
          <a:p>
            <a:endParaRPr lang="en-US" dirty="0"/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материал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воспринимать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похожих</a:t>
            </a:r>
            <a:r>
              <a:rPr lang="en-US" dirty="0"/>
              <a:t> </a:t>
            </a:r>
            <a:r>
              <a:rPr lang="en-US" dirty="0" err="1"/>
              <a:t>диаграмм</a:t>
            </a:r>
            <a:r>
              <a:rPr lang="en-US" dirty="0"/>
              <a:t>: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стрелка</a:t>
            </a:r>
            <a:r>
              <a:rPr lang="en-US" dirty="0"/>
              <a:t>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View к Model,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Presenter, </a:t>
            </a:r>
            <a:r>
              <a:rPr lang="en-US" dirty="0" err="1"/>
              <a:t>здесь</a:t>
            </a:r>
            <a:r>
              <a:rPr lang="en-US" dirty="0"/>
              <a:t> — </a:t>
            </a:r>
            <a:r>
              <a:rPr lang="en-US" dirty="0" err="1"/>
              <a:t>ViewModel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сегодняшней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я </a:t>
            </a:r>
            <a:r>
              <a:rPr lang="en-US" dirty="0" err="1"/>
              <a:t>предлагаю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столкнулись</a:t>
            </a:r>
            <a:r>
              <a:rPr lang="en-US" dirty="0"/>
              <a:t> с </a:t>
            </a:r>
            <a:r>
              <a:rPr lang="en-US" dirty="0" err="1"/>
              <a:t>теми</a:t>
            </a:r>
            <a:r>
              <a:rPr lang="en-US" dirty="0"/>
              <a:t> </a:t>
            </a:r>
            <a:r>
              <a:rPr lang="en-US" dirty="0" err="1"/>
              <a:t>проблемами</a:t>
            </a:r>
            <a:r>
              <a:rPr lang="en-US" dirty="0"/>
              <a:t>,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подобные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вырастают</a:t>
            </a:r>
            <a:r>
              <a:rPr lang="en-US" dirty="0"/>
              <a:t>: </a:t>
            </a:r>
            <a:r>
              <a:rPr lang="en-US" dirty="0" err="1"/>
              <a:t>отделяли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документа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сеанса</a:t>
            </a:r>
            <a:r>
              <a:rPr lang="en-US" dirty="0"/>
              <a:t>, </a:t>
            </a:r>
            <a:r>
              <a:rPr lang="en-US" dirty="0" err="1"/>
              <a:t>представление</a:t>
            </a:r>
            <a:r>
              <a:rPr lang="en-US" dirty="0"/>
              <a:t> —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, </a:t>
            </a:r>
            <a:r>
              <a:rPr lang="en-US" dirty="0" err="1"/>
              <a:t>интерпретацию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 —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решали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распространения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компонентами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просмотре</a:t>
            </a:r>
            <a:r>
              <a:rPr lang="en-US" dirty="0"/>
              <a:t> </a:t>
            </a:r>
            <a:r>
              <a:rPr lang="en-US" dirty="0" err="1"/>
              <a:t>видео</a:t>
            </a:r>
            <a:r>
              <a:rPr lang="en-US" dirty="0"/>
              <a:t> </a:t>
            </a:r>
            <a:r>
              <a:rPr lang="en-US" dirty="0" err="1"/>
              <a:t>обращайте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названия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ответственность</a:t>
            </a:r>
            <a:r>
              <a:rPr lang="en-US" b="1" dirty="0"/>
              <a:t> </a:t>
            </a:r>
            <a:r>
              <a:rPr lang="en-US" b="1" dirty="0" err="1"/>
              <a:t>получил</a:t>
            </a:r>
            <a:r>
              <a:rPr lang="en-US" b="1" dirty="0"/>
              <a:t> </a:t>
            </a:r>
            <a:r>
              <a:rPr lang="en-US" b="1" dirty="0" err="1"/>
              <a:t>каждый</a:t>
            </a:r>
            <a:r>
              <a:rPr lang="en-US" b="1" dirty="0"/>
              <a:t> </a:t>
            </a:r>
            <a:r>
              <a:rPr lang="en-US" b="1" dirty="0" err="1"/>
              <a:t>участник</a:t>
            </a:r>
            <a:r>
              <a:rPr lang="en-US" b="1" dirty="0"/>
              <a:t> и </a:t>
            </a:r>
            <a:r>
              <a:rPr lang="en-US" b="1" dirty="0" err="1"/>
              <a:t>какую</a:t>
            </a:r>
            <a:r>
              <a:rPr lang="en-US" b="1" dirty="0"/>
              <a:t> </a:t>
            </a:r>
            <a:r>
              <a:rPr lang="en-US" b="1" dirty="0" err="1"/>
              <a:t>проблему</a:t>
            </a:r>
            <a:r>
              <a:rPr lang="en-US" b="1" dirty="0"/>
              <a:t> в </a:t>
            </a:r>
            <a:r>
              <a:rPr lang="en-US" b="1" dirty="0" err="1"/>
              <a:t>зависимостях</a:t>
            </a:r>
            <a:r>
              <a:rPr lang="en-US" b="1" dirty="0"/>
              <a:t> </a:t>
            </a:r>
            <a:r>
              <a:rPr lang="en-US" b="1" dirty="0" err="1"/>
              <a:t>этим</a:t>
            </a:r>
            <a:r>
              <a:rPr lang="en-US" b="1" dirty="0"/>
              <a:t> </a:t>
            </a:r>
            <a:r>
              <a:rPr lang="en-US" b="1" dirty="0" err="1"/>
              <a:t>пытались</a:t>
            </a:r>
            <a:r>
              <a:rPr lang="en-US" b="1" dirty="0"/>
              <a:t> </a:t>
            </a:r>
            <a:r>
              <a:rPr lang="en-US" b="1" dirty="0" err="1"/>
              <a:t>решить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 Document–View, MVC, MVP и MVVM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восприниматься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конкурирующие</a:t>
            </a:r>
            <a:r>
              <a:rPr lang="en-US" dirty="0"/>
              <a:t> «</a:t>
            </a:r>
            <a:r>
              <a:rPr lang="en-US" dirty="0" err="1"/>
              <a:t>правильные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», а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в </a:t>
            </a:r>
            <a:r>
              <a:rPr lang="en-US" dirty="0" err="1"/>
              <a:t>интерактивном</a:t>
            </a:r>
            <a:r>
              <a:rPr lang="en-US" dirty="0"/>
              <a:t> </a:t>
            </a:r>
            <a:r>
              <a:rPr lang="en-US" dirty="0" err="1"/>
              <a:t>приложении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901C-EDDF-4AD6-9B13-78E9B524B285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2737B-6FCD-418D-1761-22863629B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A963A-E7DB-9625-82C5-7CD1DAA18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CE21E-525E-654B-278A-246BDB8C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DFCAA-DA86-9941-0913-1D321C58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5F63A-0E14-BDAB-2828-F0623CF7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2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3159-315A-0EB6-D145-855EBD9C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F5FD8-F3FD-F319-AC4F-C2625AA6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F9159-5D59-6AA5-4FBF-4F44EFF2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A8170-E960-AAC0-EE25-78631C67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502E0-A0C4-CD2B-48FD-79B99D61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47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C743-D9A0-6EFC-4C64-8B7E551E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F8F31-7930-27A3-016F-46654EF6E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73EB1-A5A1-3B17-DC38-91EED61C3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DC957-35E8-16A0-68E1-965AD8CD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83B4E-7873-CBF9-E47B-45D7255A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1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5BFF-CA3A-9DF3-ECD0-5A7BB2C3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CC7D1-F998-954A-5021-2D3EA9CDF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F9FC0-E9BE-1D6B-FEED-8AC8B7CA6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9BACD-74D7-61AC-7A46-0123A11E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CC1BC-76E4-E3C0-EAF7-C9865904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5A9CB-10D8-1825-65E4-98DB07E9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78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5BFF-CA3A-9DF3-ECD0-5A7BB2C3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CC7D1-F998-954A-5021-2D3EA9CDF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97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F9FC0-E9BE-1D6B-FEED-8AC8B7CA6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97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9BACD-74D7-61AC-7A46-0123A11E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CC1BC-76E4-E3C0-EAF7-C9865904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5A9CB-10D8-1825-65E4-98DB07E9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AC61D6-124D-2ABB-9897-4E25CADC09B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4864963"/>
            <a:ext cx="10515600" cy="1356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2302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D1F3-FBDD-A872-58A9-5C10396C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F2C67-F89B-2A7A-4038-D56F9853A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4B695-E5E7-3162-E4C3-7DB142BFF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0C9BC-E49B-0E80-9E24-8F90F11C3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45DAB-6D1C-CDED-920A-2A111123A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83951D-8A5A-DEF3-E2EC-448EF7C4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9B61B-8B47-80DA-C019-36DBF69D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58BC-238C-4A0A-47E5-759704AA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69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D1F3-FBDD-A872-58A9-5C10396C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F2C67-F89B-2A7A-4038-D56F9853A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4B695-E5E7-3162-E4C3-7DB142BFF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519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0C9BC-E49B-0E80-9E24-8F90F11C3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445DAB-6D1C-CDED-920A-2A111123A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519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83951D-8A5A-DEF3-E2EC-448EF7C4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9B61B-8B47-80DA-C019-36DBF69D6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F58BC-238C-4A0A-47E5-759704AA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AFD56B3-6172-9F8A-05FC-357E159D772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9788" y="5086905"/>
            <a:ext cx="10512424" cy="1100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4638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0DACF-9264-2045-2DD5-1FC9AFC4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15892-DCC7-BB32-DEE7-9699BC2E6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013C1-780B-4268-D17A-7DE56713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012A3-A7A3-CE02-7D65-777F0B02D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41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CE587F-93D5-F0A1-AC05-E2D47AC1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7975E-3700-314F-C505-B7AECA33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D4FD7-5776-2A24-5E42-93D6AA54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9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A2F3-29DF-DAEA-FB6E-FEA99E6AE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D7639-1A33-EF5E-6AEE-6589F9656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F02A3-CAA5-F82F-6F41-644904ABF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C53D1-1030-FC3C-D3CB-5D9186EA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C0C5F-FABB-E956-BBE0-06F4865D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04A34-C0CD-AAAC-CA45-0F7C47CA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74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55A1-9869-CCBA-4611-D1667F6D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2E313D-3322-E969-3AF1-5CF2E976D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80C8D-74A3-06CD-C630-B415C7693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B0B77-AA32-BF25-1D82-F465AC9B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D04E4-6AB2-5457-57CD-E09EF4BE9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3C0CA-5196-A3A8-6D72-59FA1CAD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68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E7FE5-12B1-71AF-8B7E-FC4BF363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7C806-9EEC-6E62-98CE-28F699614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D163C-CC5F-0555-F297-81BAC4668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99831-6929-E2CE-756E-44DF2EDCC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97ED0-4302-5164-DB7C-DE5D03DCC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42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014648-59C1-0904-0F22-43AAADC57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36D28-B222-FD5A-D413-8ED6F9B61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463FE-4D8E-8A59-5064-789FB332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DE6FD-D8E2-ECD1-386E-B7F2F57A4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610CC-37EC-8564-5077-82EB0FD90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6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0360DB-F456-03F9-EE73-6D135E5D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D119D-B8F4-EB7B-FF77-6BD0A6399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D852D-3E8B-51D9-A6B4-4ADE640AB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40B88-4078-442D-B709-28839D5E1D6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172AA-74D0-471F-C149-12F7A32DF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F0B45-1B42-C70A-48B9-CC0350BA3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05D6A-3670-4E86-811B-CBCEB2E51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1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1" r:id="rId5"/>
    <p:sldLayoutId id="2147483653" r:id="rId6"/>
    <p:sldLayoutId id="2147483660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hyperlink" Target="https://youtu.be/jPcP1owBZCY" TargetMode="Externa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hyperlink" Target="https://youtu.be/KfbXI2Bf3r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D86F-FEE1-1C5E-468E-BD867988A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5337"/>
          </a:xfrm>
        </p:spPr>
        <p:txBody>
          <a:bodyPr>
            <a:normAutofit fontScale="90000"/>
          </a:bodyPr>
          <a:lstStyle/>
          <a:p>
            <a:r>
              <a:rPr lang="ru-RU" dirty="0"/>
              <a:t>От модели к интерфейсу:</a:t>
            </a:r>
            <a:br>
              <a:rPr lang="ru-RU" dirty="0"/>
            </a:br>
            <a:r>
              <a:rPr lang="ru-RU" dirty="0"/>
              <a:t>Проектируем интерактивное приложение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167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FB0B-5FE1-3084-5FE8-6CCB7E455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консольного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к </a:t>
            </a:r>
            <a:r>
              <a:rPr lang="en-US" dirty="0" err="1"/>
              <a:t>графическому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73D90-99F3-CB2B-1F0F-6AE1990B2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40318" cy="4351338"/>
          </a:xfrm>
        </p:spPr>
        <p:txBody>
          <a:bodyPr>
            <a:normAutofit/>
          </a:bodyPr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работали</a:t>
            </a:r>
            <a:r>
              <a:rPr lang="en-US" dirty="0"/>
              <a:t> с </a:t>
            </a:r>
            <a:r>
              <a:rPr lang="en-US" dirty="0" err="1"/>
              <a:t>рисунком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консоль</a:t>
            </a:r>
            <a:r>
              <a:rPr lang="en-US" dirty="0"/>
              <a:t>.</a:t>
            </a:r>
          </a:p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</a:t>
            </a:r>
            <a:r>
              <a:rPr lang="en-US" dirty="0" err="1"/>
              <a:t>окне</a:t>
            </a:r>
            <a:r>
              <a:rPr lang="en-US" dirty="0"/>
              <a:t> и </a:t>
            </a:r>
            <a:r>
              <a:rPr lang="ru-RU" dirty="0"/>
              <a:t>управлять</a:t>
            </a:r>
            <a:r>
              <a:rPr lang="en-US" dirty="0"/>
              <a:t> </a:t>
            </a:r>
            <a:r>
              <a:rPr lang="en-US" dirty="0" err="1"/>
              <a:t>фигурами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r>
              <a:rPr lang="en-US" dirty="0" err="1"/>
              <a:t>Минимальная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перемещение</a:t>
            </a:r>
            <a:r>
              <a:rPr lang="en-US" dirty="0"/>
              <a:t> </a:t>
            </a:r>
            <a:r>
              <a:rPr lang="en-US" dirty="0" err="1"/>
              <a:t>выбранной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4C8845-1EBA-BB9B-F043-F1324F12ED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18" y="1825625"/>
            <a:ext cx="5913482" cy="245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8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594F2-6390-A5BA-91A0-683FAF22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SFML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инструментарий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B82E-9A3A-0450-CDCF-25EC1DB34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776356" cy="4351338"/>
          </a:xfrm>
        </p:spPr>
        <p:txBody>
          <a:bodyPr/>
          <a:lstStyle/>
          <a:p>
            <a:r>
              <a:rPr lang="en-US" dirty="0" err="1"/>
              <a:t>Используем</a:t>
            </a:r>
            <a:r>
              <a:rPr lang="en-US" dirty="0"/>
              <a:t> SFML 3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sf::</a:t>
            </a:r>
            <a:r>
              <a:rPr lang="en-US" dirty="0" err="1">
                <a:latin typeface="Consolas" panose="020B0609020204030204" pitchFamily="49" charset="0"/>
              </a:rPr>
              <a:t>RenderWindow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sf::</a:t>
            </a:r>
            <a:r>
              <a:rPr lang="en-US" dirty="0" err="1">
                <a:latin typeface="Consolas" panose="020B0609020204030204" pitchFamily="49" charset="0"/>
              </a:rPr>
              <a:t>RectangleShape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sf::</a:t>
            </a:r>
            <a:r>
              <a:rPr lang="en-US" dirty="0" err="1">
                <a:latin typeface="Consolas" panose="020B0609020204030204" pitchFamily="49" charset="0"/>
              </a:rPr>
              <a:t>CircleShape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sf::Event</a:t>
            </a:r>
          </a:p>
          <a:p>
            <a:r>
              <a:rPr lang="en-US" dirty="0"/>
              <a:t>SFML —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предмет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61A549-757C-B27E-4A6E-E4CBA9D496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75812" y="2068812"/>
            <a:ext cx="4477987" cy="334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99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7D8E1-A6C8-A115-267F-AAC3C6902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Минимальное</a:t>
            </a:r>
            <a:r>
              <a:rPr lang="en-US" dirty="0"/>
              <a:t> </a:t>
            </a:r>
            <a:r>
              <a:rPr lang="en-US" dirty="0" err="1"/>
              <a:t>графическое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9376D91-58BD-3FFB-9264-46CADC23E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07125" y="1973427"/>
            <a:ext cx="5146675" cy="40557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EB1048-B6E0-24F4-F34B-2F88BDBDCE83}"/>
              </a:ext>
            </a:extLst>
          </p:cNvPr>
          <p:cNvSpPr txBox="1"/>
          <p:nvPr/>
        </p:nvSpPr>
        <p:spPr>
          <a:xfrm>
            <a:off x="317664" y="1818142"/>
            <a:ext cx="566750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sf::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RenderWindow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sf::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VideoMode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}),</a:t>
            </a:r>
            <a:endParaRPr lang="ru-RU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 SFML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pPr>
              <a:buNone/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sf::</a:t>
            </a:r>
            <a:r>
              <a:rPr lang="en-US" sz="15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RectangleShape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200.f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100.f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setPosition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300.f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250.f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setFillColor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(sf::Color::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isOpen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pollEvent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-&gt;is&lt;sf::Event::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Closed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159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CD0F-6D6A-1AB3-860A-6780FC92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CE711-741A-5707-4C61-E9B2211D6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Наш редактор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5F9FB5-C312-F58B-FD0C-6772A3F1C6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Rectangle</a:t>
            </a:r>
          </a:p>
          <a:p>
            <a:pPr lvl="1"/>
            <a:r>
              <a:rPr lang="ru-RU" dirty="0"/>
              <a:t>положение</a:t>
            </a:r>
            <a:endParaRPr lang="en-US" dirty="0"/>
          </a:p>
          <a:p>
            <a:pPr lvl="1"/>
            <a:r>
              <a:rPr lang="ru-RU" dirty="0"/>
              <a:t>размер</a:t>
            </a:r>
          </a:p>
          <a:p>
            <a:pPr lvl="1"/>
            <a:r>
              <a:rPr lang="ru-RU" dirty="0"/>
              <a:t>цвет</a:t>
            </a:r>
            <a:endParaRPr lang="en-US" dirty="0"/>
          </a:p>
          <a:p>
            <a:pPr lvl="1"/>
            <a:r>
              <a:rPr lang="en-US" dirty="0" err="1"/>
              <a:t>HitTest</a:t>
            </a:r>
            <a:endParaRPr lang="ru-RU" dirty="0"/>
          </a:p>
          <a:p>
            <a:pPr lvl="1"/>
            <a:r>
              <a:rPr lang="en-US" dirty="0" err="1"/>
              <a:t>MoveBy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FB269D-B466-2BC3-CBAE-12A618C32F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SFML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BEA6F7-008B-55C3-2BC4-8B577B011D4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sf:RectangleShape</a:t>
            </a:r>
            <a:endParaRPr lang="ru-RU" dirty="0"/>
          </a:p>
          <a:p>
            <a:pPr lvl="1"/>
            <a:r>
              <a:rPr lang="en-US" dirty="0"/>
              <a:t>position</a:t>
            </a:r>
            <a:endParaRPr lang="ru-RU" dirty="0"/>
          </a:p>
          <a:p>
            <a:pPr lvl="1"/>
            <a:r>
              <a:rPr lang="en-US" dirty="0"/>
              <a:t>size</a:t>
            </a:r>
            <a:endParaRPr lang="ru-RU" dirty="0"/>
          </a:p>
          <a:p>
            <a:pPr lvl="1"/>
            <a:r>
              <a:rPr lang="en-US" dirty="0" err="1"/>
              <a:t>fillColor</a:t>
            </a:r>
            <a:endParaRPr lang="en-US" dirty="0"/>
          </a:p>
          <a:p>
            <a:pPr lvl="1"/>
            <a:r>
              <a:rPr lang="en-US" dirty="0"/>
              <a:t>draw(…)</a:t>
            </a:r>
          </a:p>
          <a:p>
            <a:pPr lvl="1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00141F-C1F7-8A09-445D-0226FA85C35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ru-RU" dirty="0"/>
              <a:t>А нужен ли нам вообще объект </a:t>
            </a:r>
            <a:r>
              <a:rPr lang="en-US" dirty="0"/>
              <a:t>Rectangle?</a:t>
            </a:r>
          </a:p>
          <a:p>
            <a:r>
              <a:rPr lang="ru-RU" dirty="0"/>
              <a:t>Почему бы не использовать </a:t>
            </a:r>
            <a:r>
              <a:rPr lang="en-US" dirty="0"/>
              <a:t>sf::</a:t>
            </a:r>
            <a:r>
              <a:rPr lang="en-US" dirty="0" err="1"/>
              <a:t>RectangleShape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72383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68747-3536-E499-2556-E455D180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</a:t>
            </a:r>
            <a:r>
              <a:rPr lang="en-US" dirty="0" err="1"/>
              <a:t>одель</a:t>
            </a:r>
            <a:r>
              <a:rPr lang="en-US" dirty="0"/>
              <a:t> </a:t>
            </a:r>
            <a:r>
              <a:rPr lang="ru-RU" dirty="0"/>
              <a:t>предметной области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0F463-2236-1CA4-FC8A-20BF69F2A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4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CA2D5F-F8C6-EEC6-DBE8-C16E775B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C09319-0037-C501-E07A-A9A323E77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541428"/>
            <a:ext cx="10515600" cy="291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20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2316-545D-343F-90B0-AC075313F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(Domain Model*)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0722F-AA08-1582-C803-6793B640B1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Domain Model</a:t>
            </a:r>
            <a:r>
              <a:rPr lang="en-US" dirty="0"/>
              <a:t> — </a:t>
            </a:r>
            <a:r>
              <a:rPr lang="en-US" dirty="0" err="1"/>
              <a:t>программное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понятий</a:t>
            </a:r>
            <a:r>
              <a:rPr lang="en-US" dirty="0"/>
              <a:t> </a:t>
            </a:r>
            <a:r>
              <a:rPr lang="en-US" dirty="0" err="1"/>
              <a:t>предметной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,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, </a:t>
            </a:r>
            <a:r>
              <a:rPr lang="en-US" dirty="0" err="1"/>
              <a:t>поведения</a:t>
            </a:r>
            <a:r>
              <a:rPr lang="en-US" dirty="0"/>
              <a:t> и </a:t>
            </a:r>
            <a:r>
              <a:rPr lang="en-US" dirty="0" err="1"/>
              <a:t>правил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.</a:t>
            </a:r>
          </a:p>
          <a:p>
            <a:r>
              <a:rPr lang="en-US" b="1" dirty="0" err="1"/>
              <a:t>Предметная</a:t>
            </a:r>
            <a:r>
              <a:rPr lang="en-US" b="1" dirty="0"/>
              <a:t> </a:t>
            </a:r>
            <a:r>
              <a:rPr lang="en-US" b="1" dirty="0" err="1"/>
              <a:t>область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и </a:t>
            </a:r>
            <a:r>
              <a:rPr lang="en-US" dirty="0" err="1"/>
              <a:t>составляющие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355AA77-96BB-27DC-E0EB-B67397AFAF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33627598"/>
              </p:ext>
            </p:extLst>
          </p:nvPr>
        </p:nvGraphicFramePr>
        <p:xfrm>
          <a:off x="6172200" y="1825625"/>
          <a:ext cx="5181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6164">
                  <a:extLst>
                    <a:ext uri="{9D8B030D-6E8A-4147-A177-3AD203B41FA5}">
                      <a16:colId xmlns:a16="http://schemas.microsoft.com/office/drawing/2014/main" val="1175453939"/>
                    </a:ext>
                  </a:extLst>
                </a:gridCol>
                <a:gridCol w="2625436">
                  <a:extLst>
                    <a:ext uri="{9D8B030D-6E8A-4147-A177-3AD203B41FA5}">
                      <a16:colId xmlns:a16="http://schemas.microsoft.com/office/drawing/2014/main" val="270682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Понятие предметной области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Класс из </a:t>
                      </a:r>
                      <a:r>
                        <a:rPr lang="en-US" dirty="0"/>
                        <a:t>Domain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9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Рисунок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Drawing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135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Фигура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35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Прямоугольник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Rectangle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13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Эллипс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Ellipse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3144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0C6B74-CB60-5BC5-2B7A-25F94D26CD34}"/>
              </a:ext>
            </a:extLst>
          </p:cNvPr>
          <p:cNvSpPr txBox="1"/>
          <p:nvPr/>
        </p:nvSpPr>
        <p:spPr>
          <a:xfrm>
            <a:off x="838200" y="6176963"/>
            <a:ext cx="483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</a:t>
            </a:r>
            <a:r>
              <a:rPr lang="ru-RU" dirty="0"/>
              <a:t>В дальнейшем – модель (</a:t>
            </a:r>
            <a:r>
              <a:rPr lang="en-US" dirty="0"/>
              <a:t>model)</a:t>
            </a:r>
          </a:p>
        </p:txBody>
      </p:sp>
    </p:spTree>
    <p:extLst>
      <p:ext uri="{BB962C8B-B14F-4D97-AF65-F5344CB8AC3E}">
        <p14:creationId xmlns:p14="http://schemas.microsoft.com/office/powerpoint/2010/main" val="6474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216E-5622-F2C7-BDB4-07C59AFB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Модель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2C912E-3985-74AD-EDBE-89875B934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6964" cy="4351338"/>
          </a:xfrm>
        </p:spPr>
        <p:txBody>
          <a:bodyPr/>
          <a:lstStyle/>
          <a:p>
            <a:r>
              <a:rPr lang="ru-RU" dirty="0"/>
              <a:t>Модель хранит не только данные, но и обладает поведением</a:t>
            </a:r>
          </a:p>
          <a:p>
            <a:pPr lvl="1"/>
            <a:r>
              <a:rPr lang="en-US" dirty="0" err="1"/>
              <a:t>MoveBy</a:t>
            </a:r>
            <a:r>
              <a:rPr lang="en-US" dirty="0"/>
              <a:t> – </a:t>
            </a:r>
            <a:r>
              <a:rPr lang="ru-RU" dirty="0"/>
              <a:t>операция перемещения</a:t>
            </a:r>
          </a:p>
          <a:p>
            <a:pPr lvl="1"/>
            <a:r>
              <a:rPr lang="en-US" dirty="0" err="1"/>
              <a:t>HitTest</a:t>
            </a:r>
            <a:r>
              <a:rPr lang="en-US" dirty="0"/>
              <a:t> – </a:t>
            </a:r>
            <a:r>
              <a:rPr lang="ru-RU" dirty="0"/>
              <a:t>проверка попадания точки внутрь объекта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0E904-4809-96E7-0C55-900B77E25664}"/>
              </a:ext>
            </a:extLst>
          </p:cNvPr>
          <p:cNvSpPr txBox="1"/>
          <p:nvPr/>
        </p:nvSpPr>
        <p:spPr>
          <a:xfrm>
            <a:off x="6308766" y="1825625"/>
            <a:ext cx="57921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HitTest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... 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Данные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специфичные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класса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Rectangle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5541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EEBAC-498D-F388-676B-2A819D3B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проходит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F9C8B-40C3-72AE-E62E-31CB6A249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5B08E2-5E05-C06F-E829-65215060BF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Drawing</a:t>
            </a:r>
          </a:p>
          <a:p>
            <a:r>
              <a:rPr lang="en-US" dirty="0"/>
              <a:t>Rectangle</a:t>
            </a:r>
          </a:p>
          <a:p>
            <a:r>
              <a:rPr lang="en-US" dirty="0"/>
              <a:t>Ellipse</a:t>
            </a:r>
          </a:p>
          <a:p>
            <a:r>
              <a:rPr lang="en-US" dirty="0" err="1"/>
              <a:t>MoveBy</a:t>
            </a:r>
            <a:r>
              <a:rPr lang="en-US" dirty="0"/>
              <a:t>(…)</a:t>
            </a:r>
          </a:p>
          <a:p>
            <a:r>
              <a:rPr lang="en-US" dirty="0" err="1"/>
              <a:t>HitTest</a:t>
            </a:r>
            <a:r>
              <a:rPr lang="en-US" dirty="0"/>
              <a:t>(…)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0C48FF-06B6-82A0-1D84-1E8576EDF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Детали графического интерфейса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0670E8-6D4B-21FE-569F-C4A2A5AD601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sf::</a:t>
            </a:r>
            <a:r>
              <a:rPr lang="en-US" dirty="0" err="1"/>
              <a:t>RenderWindow</a:t>
            </a:r>
            <a:endParaRPr lang="en-US" dirty="0"/>
          </a:p>
          <a:p>
            <a:r>
              <a:rPr lang="en-US" dirty="0"/>
              <a:t>sf::</a:t>
            </a:r>
            <a:r>
              <a:rPr lang="en-US" dirty="0" err="1"/>
              <a:t>RectangleShape</a:t>
            </a:r>
            <a:endParaRPr lang="en-US" dirty="0"/>
          </a:p>
          <a:p>
            <a:r>
              <a:rPr lang="en-US" dirty="0"/>
              <a:t>sf::</a:t>
            </a:r>
            <a:r>
              <a:rPr lang="en-US" dirty="0" err="1"/>
              <a:t>CircleShape</a:t>
            </a:r>
            <a:endParaRPr lang="en-US" dirty="0"/>
          </a:p>
          <a:p>
            <a:r>
              <a:rPr lang="en-US" dirty="0"/>
              <a:t>draw(…)</a:t>
            </a:r>
          </a:p>
          <a:p>
            <a:r>
              <a:rPr lang="en-US" dirty="0" err="1"/>
              <a:t>pollEvent</a:t>
            </a:r>
            <a:r>
              <a:rPr lang="en-US" dirty="0"/>
              <a:t>(…)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6C99E6-0AF0-475A-5EBC-47965C0A55B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останется</a:t>
            </a:r>
            <a:r>
              <a:rPr lang="en-US" dirty="0"/>
              <a:t> </a:t>
            </a:r>
            <a:r>
              <a:rPr lang="en-US" dirty="0" err="1"/>
              <a:t>прежним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SFML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библиотекой</a:t>
            </a:r>
            <a:r>
              <a:rPr lang="en-US" dirty="0"/>
              <a:t>?</a:t>
            </a:r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предметная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и </a:t>
            </a:r>
            <a:r>
              <a:rPr lang="en-US" dirty="0" err="1"/>
              <a:t>технология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7359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236B-8528-2B85-0878-BADB0E014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—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представлений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A693F79-B67F-6DB1-4F3E-C247418D5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9578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Фигуры имеют</a:t>
            </a:r>
          </a:p>
          <a:p>
            <a:pPr lvl="1"/>
            <a:r>
              <a:rPr lang="ru-RU" dirty="0"/>
              <a:t>Время показа</a:t>
            </a:r>
          </a:p>
          <a:p>
            <a:pPr lvl="1"/>
            <a:r>
              <a:rPr lang="ru-RU" dirty="0"/>
              <a:t>Время исчезновения</a:t>
            </a:r>
          </a:p>
          <a:p>
            <a:pPr lvl="1"/>
            <a:r>
              <a:rPr lang="en-US" dirty="0"/>
              <a:t>Z</a:t>
            </a:r>
            <a:r>
              <a:rPr lang="ru-RU" dirty="0"/>
              <a:t>-</a:t>
            </a:r>
            <a:r>
              <a:rPr lang="en-US" dirty="0"/>
              <a:t>order</a:t>
            </a:r>
          </a:p>
          <a:p>
            <a:r>
              <a:rPr lang="en-US" b="1" dirty="0"/>
              <a:t>Canvas</a:t>
            </a:r>
            <a:r>
              <a:rPr lang="ru-RU" dirty="0"/>
              <a:t> показывает рисунок в текущий момент времени</a:t>
            </a:r>
          </a:p>
          <a:p>
            <a:pPr lvl="1"/>
            <a:r>
              <a:rPr lang="ru-RU" dirty="0"/>
              <a:t>Учитывает видимость фигур</a:t>
            </a:r>
          </a:p>
          <a:p>
            <a:pPr lvl="1"/>
            <a:r>
              <a:rPr lang="ru-RU" dirty="0"/>
              <a:t>Отображает с учётом </a:t>
            </a:r>
            <a:r>
              <a:rPr lang="en-US" dirty="0"/>
              <a:t>z-order</a:t>
            </a:r>
          </a:p>
          <a:p>
            <a:r>
              <a:rPr lang="en-US" b="1" dirty="0"/>
              <a:t>Timeline</a:t>
            </a:r>
            <a:r>
              <a:rPr lang="ru-RU" dirty="0"/>
              <a:t> показывает интервалы существования фигур</a:t>
            </a:r>
          </a:p>
          <a:p>
            <a:pPr lvl="1"/>
            <a:r>
              <a:rPr lang="ru-RU" dirty="0"/>
              <a:t>Вертикальная линия – текущий момент времени</a:t>
            </a:r>
          </a:p>
          <a:p>
            <a:pPr lvl="1"/>
            <a:r>
              <a:rPr lang="ru-RU" dirty="0"/>
              <a:t>Порядок дорожек – </a:t>
            </a:r>
            <a:r>
              <a:rPr lang="en-US" dirty="0"/>
              <a:t>z-order</a:t>
            </a:r>
          </a:p>
          <a:p>
            <a:pPr lvl="1"/>
            <a:endParaRPr lang="en-US" dirty="0"/>
          </a:p>
        </p:txBody>
      </p:sp>
      <p:pic>
        <p:nvPicPr>
          <p:cNvPr id="14" name="Content Placeholder 9">
            <a:extLst>
              <a:ext uri="{FF2B5EF4-FFF2-40B4-BE49-F238E27FC236}">
                <a16:creationId xmlns:a16="http://schemas.microsoft.com/office/drawing/2014/main" id="{60FA4E90-4172-18E9-9709-886084BBCD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55807"/>
            <a:ext cx="5181600" cy="2916199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5421447-9D44-EA84-72A3-AF5FEAEC650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0" y="4864963"/>
            <a:ext cx="5181600" cy="13564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Canvas и Timeline — </a:t>
            </a:r>
            <a:r>
              <a:rPr lang="en-US" b="1" dirty="0" err="1"/>
              <a:t>разные</a:t>
            </a:r>
            <a:r>
              <a:rPr lang="en-US" b="1" dirty="0"/>
              <a:t> </a:t>
            </a:r>
            <a:r>
              <a:rPr lang="en-US" b="1" dirty="0" err="1"/>
              <a:t>представления</a:t>
            </a:r>
            <a:r>
              <a:rPr lang="en-US" dirty="0"/>
              <a:t> </a:t>
            </a:r>
            <a:r>
              <a:rPr lang="en-US" b="1" dirty="0" err="1"/>
              <a:t>одной</a:t>
            </a:r>
            <a:r>
              <a:rPr lang="en-US" dirty="0"/>
              <a:t> и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ru-RU" b="1" dirty="0"/>
              <a:t>модели</a:t>
            </a:r>
          </a:p>
          <a:p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определённый</a:t>
            </a:r>
            <a:r>
              <a:rPr lang="en-US" dirty="0"/>
              <a:t> </a:t>
            </a:r>
            <a:r>
              <a:rPr lang="en-US" dirty="0" err="1"/>
              <a:t>аспект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моделью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91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9DBC-A964-F2D3-9603-8889D699F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и </a:t>
            </a:r>
            <a:r>
              <a:rPr lang="en-US" dirty="0" err="1"/>
              <a:t>объекты</a:t>
            </a:r>
            <a:r>
              <a:rPr lang="en-US" dirty="0"/>
              <a:t> SFML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AF6F1-0C4D-B5AF-AA21-614905BEC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9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D69261-E77D-BA0D-1AEA-1B8CE2E00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нужен ли </a:t>
            </a:r>
            <a:r>
              <a:rPr lang="en-US" dirty="0" err="1"/>
              <a:t>собственный</a:t>
            </a:r>
            <a:r>
              <a:rPr lang="en-US" dirty="0"/>
              <a:t> Rectangle?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4B0E1B-B9D2-A047-7946-061E525F9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SFML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ru-RU" dirty="0"/>
              <a:t> класс </a:t>
            </a:r>
            <a:r>
              <a:rPr lang="en-US" dirty="0" err="1"/>
              <a:t>RectangleShape</a:t>
            </a:r>
            <a:endParaRPr lang="en-US" dirty="0"/>
          </a:p>
          <a:p>
            <a:r>
              <a:rPr lang="ru-RU" dirty="0"/>
              <a:t>У него есть:</a:t>
            </a:r>
          </a:p>
          <a:p>
            <a:pPr lvl="1"/>
            <a:r>
              <a:rPr lang="ru-RU" dirty="0"/>
              <a:t>положение</a:t>
            </a:r>
          </a:p>
          <a:p>
            <a:pPr lvl="1"/>
            <a:r>
              <a:rPr lang="ru-RU" dirty="0"/>
              <a:t>размер</a:t>
            </a:r>
          </a:p>
          <a:p>
            <a:pPr lvl="1"/>
            <a:r>
              <a:rPr lang="ru-RU" dirty="0"/>
              <a:t>цвет заливки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ru-RU" dirty="0"/>
              <a:t> в</a:t>
            </a:r>
            <a:r>
              <a:rPr lang="en-US" dirty="0"/>
              <a:t> Drawing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sf::</a:t>
            </a:r>
            <a:r>
              <a:rPr lang="en-US" dirty="0" err="1"/>
              <a:t>RectangleShape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89000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9252-E1C8-DAC6-512B-07D47670F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Похожие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—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роли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19CB06-48D3-0BBD-7395-DA3C65550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2977194"/>
          </a:xfrm>
        </p:spPr>
        <p:txBody>
          <a:bodyPr/>
          <a:lstStyle/>
          <a:p>
            <a:r>
              <a:rPr lang="en-US" dirty="0" err="1"/>
              <a:t>Похожие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означают</a:t>
            </a:r>
            <a:r>
              <a:rPr lang="en-US" dirty="0"/>
              <a:t> </a:t>
            </a:r>
            <a:r>
              <a:rPr lang="en-US" dirty="0" err="1"/>
              <a:t>одинаковую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62B383A-3635-2AC0-0744-5AB16170D81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2163760"/>
              </p:ext>
            </p:extLst>
          </p:nvPr>
        </p:nvGraphicFramePr>
        <p:xfrm>
          <a:off x="838196" y="2864372"/>
          <a:ext cx="10515602" cy="1938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1">
                  <a:extLst>
                    <a:ext uri="{9D8B030D-6E8A-4147-A177-3AD203B41FA5}">
                      <a16:colId xmlns:a16="http://schemas.microsoft.com/office/drawing/2014/main" val="1921128066"/>
                    </a:ext>
                  </a:extLst>
                </a:gridCol>
                <a:gridCol w="5257801">
                  <a:extLst>
                    <a:ext uri="{9D8B030D-6E8A-4147-A177-3AD203B41FA5}">
                      <a16:colId xmlns:a16="http://schemas.microsoft.com/office/drawing/2014/main" val="696188369"/>
                    </a:ext>
                  </a:extLst>
                </a:gridCol>
              </a:tblGrid>
              <a:tr h="233084">
                <a:tc>
                  <a:txBody>
                    <a:bodyPr/>
                    <a:lstStyle/>
                    <a:p>
                      <a:r>
                        <a:rPr lang="en-US"/>
                        <a:t>Rectangle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sf::RectangleShape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478771"/>
                  </a:ext>
                </a:extLst>
              </a:tr>
              <a:tr h="402309">
                <a:tc>
                  <a:txBody>
                    <a:bodyPr/>
                    <a:lstStyle/>
                    <a:p>
                      <a:r>
                        <a:rPr lang="en-US"/>
                        <a:t>Фигура нашего рисунка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Графический примитив SFML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210914"/>
                  </a:ext>
                </a:extLst>
              </a:tr>
              <a:tr h="233084">
                <a:tc>
                  <a:txBody>
                    <a:bodyPr/>
                    <a:lstStyle/>
                    <a:p>
                      <a:r>
                        <a:rPr lang="en-US"/>
                        <a:t>MoveBy()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setPosition()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533255"/>
                  </a:ext>
                </a:extLst>
              </a:tr>
              <a:tr h="402309">
                <a:tc>
                  <a:txBody>
                    <a:bodyPr/>
                    <a:lstStyle/>
                    <a:p>
                      <a:r>
                        <a:rPr lang="en-US"/>
                        <a:t>HitTest()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Подготовлен к отрисовке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520173"/>
                  </a:ext>
                </a:extLst>
              </a:tr>
              <a:tr h="402309">
                <a:tc>
                  <a:txBody>
                    <a:bodyPr/>
                    <a:lstStyle/>
                    <a:p>
                      <a:r>
                        <a:rPr lang="en-US" dirty="0" err="1"/>
                        <a:t>Часть</a:t>
                      </a:r>
                      <a:r>
                        <a:rPr lang="en-US" dirty="0"/>
                        <a:t> Domain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Часть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графической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библиотеки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667853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0C1C53-0AEA-C268-7372-9A87FF134A1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082639"/>
            <a:ext cx="10515600" cy="1138774"/>
          </a:xfrm>
        </p:spPr>
        <p:txBody>
          <a:bodyPr/>
          <a:lstStyle/>
          <a:p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sf::</a:t>
            </a:r>
            <a:r>
              <a:rPr lang="en-US" dirty="0" err="1"/>
              <a:t>RectangleShape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рисует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23315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B05D3-1F43-A413-C41C-D085CF86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добавить новую фигуру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B07E1-099D-D258-BBBC-19C871FBB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Нужно добавить эллипсы</a:t>
            </a:r>
          </a:p>
          <a:p>
            <a:pPr lvl="1"/>
            <a:r>
              <a:rPr lang="ru-RU" dirty="0"/>
              <a:t>Есть ли в </a:t>
            </a:r>
            <a:r>
              <a:rPr lang="en-US" dirty="0"/>
              <a:t>SFML </a:t>
            </a:r>
            <a:r>
              <a:rPr lang="ru-RU" dirty="0"/>
              <a:t>класс </a:t>
            </a:r>
            <a:r>
              <a:rPr lang="en-US" dirty="0"/>
              <a:t>sf::</a:t>
            </a:r>
            <a:r>
              <a:rPr lang="en-US" dirty="0" err="1"/>
              <a:t>EllipseShape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Можем ли мы работать с </a:t>
            </a:r>
            <a:r>
              <a:rPr lang="en-US" dirty="0"/>
              <a:t>sf::</a:t>
            </a:r>
            <a:r>
              <a:rPr lang="en-US" dirty="0" err="1"/>
              <a:t>RectangleShape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sf::</a:t>
            </a:r>
            <a:r>
              <a:rPr lang="en-US" dirty="0" err="1"/>
              <a:t>EllipseShape</a:t>
            </a:r>
            <a:r>
              <a:rPr lang="ru-RU" dirty="0"/>
              <a:t> через общий интерфейс</a:t>
            </a:r>
            <a:r>
              <a:rPr lang="en-US" dirty="0"/>
              <a:t>?</a:t>
            </a:r>
          </a:p>
          <a:p>
            <a:r>
              <a:rPr lang="en-US" dirty="0"/>
              <a:t>OCP</a:t>
            </a:r>
          </a:p>
          <a:p>
            <a:pPr lvl="1"/>
            <a:r>
              <a:rPr lang="ru-RU" dirty="0"/>
              <a:t>Не хотелось бы, чтобы важная ось изменений определялась устройством графической библиотеки</a:t>
            </a:r>
          </a:p>
          <a:p>
            <a:r>
              <a:rPr lang="ru-RU" dirty="0"/>
              <a:t>Не обязательно, что каждой фигуре предметной области будет соответствовать ровно один примитив </a:t>
            </a:r>
            <a:r>
              <a:rPr lang="en-US" dirty="0"/>
              <a:t>SFML</a:t>
            </a:r>
          </a:p>
          <a:p>
            <a:pPr lvl="1"/>
            <a:r>
              <a:rPr lang="ru-RU" dirty="0"/>
              <a:t>Пример: выноска = облачко + хвост</a:t>
            </a:r>
          </a:p>
          <a:p>
            <a:r>
              <a:rPr lang="ru-RU" dirty="0"/>
              <a:t>Не нарушаем ли </a:t>
            </a:r>
            <a:r>
              <a:rPr lang="en-US" dirty="0"/>
              <a:t>KISS </a:t>
            </a:r>
            <a:r>
              <a:rPr lang="ru-RU" dirty="0"/>
              <a:t>и </a:t>
            </a:r>
            <a:r>
              <a:rPr lang="en-US" dirty="0"/>
              <a:t>YAGNI?</a:t>
            </a:r>
          </a:p>
          <a:p>
            <a:pPr lvl="1"/>
            <a:r>
              <a:rPr lang="ru-RU" dirty="0"/>
              <a:t>Эллипс – ожидаемое требование</a:t>
            </a:r>
          </a:p>
          <a:p>
            <a:pPr lvl="1"/>
            <a:r>
              <a:rPr lang="ru-RU" dirty="0"/>
              <a:t>Расширяемость по видам фигур была свойством консольного приложения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12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3CFD-5772-EED6-EC7D-12EFE26A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связать</a:t>
            </a:r>
            <a:r>
              <a:rPr lang="en-US" dirty="0"/>
              <a:t> Domain Model с SFML?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1E32BC-AD8F-7FEE-510F-37125F79BE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Есть и другие технические способы</a:t>
            </a:r>
          </a:p>
          <a:p>
            <a:pPr lvl="1"/>
            <a:r>
              <a:rPr lang="ru-RU" dirty="0"/>
              <a:t>Унаследовать </a:t>
            </a:r>
            <a:r>
              <a:rPr lang="en-US" dirty="0"/>
              <a:t>Rectangle </a:t>
            </a:r>
            <a:r>
              <a:rPr lang="ru-RU" dirty="0"/>
              <a:t>от </a:t>
            </a:r>
            <a:r>
              <a:rPr lang="en-US" dirty="0"/>
              <a:t>sf::</a:t>
            </a:r>
            <a:r>
              <a:rPr lang="en-US" dirty="0" err="1"/>
              <a:t>RectangleShape</a:t>
            </a:r>
            <a:endParaRPr lang="en-US" dirty="0"/>
          </a:p>
          <a:p>
            <a:pPr lvl="1"/>
            <a:r>
              <a:rPr lang="ru-RU" dirty="0"/>
              <a:t>Композиция: поместить </a:t>
            </a:r>
            <a:r>
              <a:rPr lang="en-US" dirty="0"/>
              <a:t>sf::Rectangle </a:t>
            </a:r>
            <a:r>
              <a:rPr lang="ru-RU" dirty="0"/>
              <a:t>внутрь </a:t>
            </a:r>
            <a:r>
              <a:rPr lang="en-US" dirty="0"/>
              <a:t>Rectangle</a:t>
            </a:r>
          </a:p>
          <a:p>
            <a:r>
              <a:rPr lang="ru-RU" dirty="0"/>
              <a:t>Проблема: модель зависит от библиотеки</a:t>
            </a:r>
          </a:p>
          <a:p>
            <a:pPr lvl="1"/>
            <a:r>
              <a:rPr lang="ru-RU" dirty="0"/>
              <a:t>Обновление или смена графической библиотеки могут потребовать изменить модель</a:t>
            </a:r>
          </a:p>
          <a:p>
            <a:r>
              <a:rPr lang="ru-RU" dirty="0"/>
              <a:t>Нарушение </a:t>
            </a:r>
            <a:r>
              <a:rPr lang="en-US" dirty="0"/>
              <a:t>SRP:</a:t>
            </a:r>
            <a:endParaRPr lang="ru-RU" dirty="0"/>
          </a:p>
          <a:p>
            <a:pPr lvl="1"/>
            <a:r>
              <a:rPr lang="ru-RU" dirty="0"/>
              <a:t>В одном компоненте разные источники изменения</a:t>
            </a:r>
            <a:r>
              <a:rPr lang="en-US" dirty="0"/>
              <a:t> </a:t>
            </a:r>
            <a:endParaRPr lang="ru-RU" dirty="0"/>
          </a:p>
          <a:p>
            <a:r>
              <a:rPr lang="ru-RU" dirty="0"/>
              <a:t>Возможное нарушение </a:t>
            </a:r>
            <a:r>
              <a:rPr lang="en-US" dirty="0"/>
              <a:t>DIP:</a:t>
            </a:r>
          </a:p>
          <a:p>
            <a:pPr lvl="1"/>
            <a:r>
              <a:rPr lang="ru-RU" dirty="0"/>
              <a:t>Высокоуровневая зависит от технических деталей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B79C2F-FBCE-A0C6-F8AC-AB19A1E951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237895"/>
            <a:ext cx="5181600" cy="352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02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E285-0571-D345-E1DA-3BA0D1D1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встретиться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354E-9252-1086-52E4-F75A02B68E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Drawing; </a:t>
            </a:r>
          </a:p>
          <a:p>
            <a:pPr lvl="1"/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средствами</a:t>
            </a:r>
            <a:r>
              <a:rPr lang="en-US" dirty="0"/>
              <a:t> SFML; 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заставляет</a:t>
            </a:r>
            <a:r>
              <a:rPr lang="en-US" dirty="0"/>
              <a:t> Domain Model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SFML. </a:t>
            </a:r>
          </a:p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95C008-7AFB-C53E-C8EF-308DDBD435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09380" y="2553195"/>
            <a:ext cx="6151770" cy="25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23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824B-F923-1B13-8852-A8B1EC2E7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жить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9832F-9027-8A6B-2878-E475C1F00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34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F2E66A-6257-9F38-1CF3-6EC1DB2B0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Знакомое </a:t>
            </a:r>
            <a:r>
              <a:rPr lang="en-US" dirty="0" err="1"/>
              <a:t>решение</a:t>
            </a:r>
            <a:r>
              <a:rPr lang="en-US" dirty="0"/>
              <a:t>: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рисует</a:t>
            </a:r>
            <a:r>
              <a:rPr lang="en-US" dirty="0"/>
              <a:t> </a:t>
            </a:r>
            <a:r>
              <a:rPr lang="en-US" dirty="0" err="1"/>
              <a:t>себя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2A6B4-6691-0246-33B0-85F680028539}"/>
              </a:ext>
            </a:extLst>
          </p:cNvPr>
          <p:cNvSpPr txBox="1"/>
          <p:nvPr/>
        </p:nvSpPr>
        <p:spPr>
          <a:xfrm>
            <a:off x="838200" y="1825625"/>
            <a:ext cx="499060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DrawRect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3FE45F9-AEB4-C0F0-A8E2-7467BEF8B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485140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OCP</a:t>
            </a:r>
            <a:r>
              <a:rPr lang="en-US" dirty="0"/>
              <a:t>: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→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ICanvas</a:t>
            </a:r>
            <a:endParaRPr lang="ru-RU" dirty="0"/>
          </a:p>
          <a:p>
            <a:r>
              <a:rPr lang="en-US" b="1" dirty="0"/>
              <a:t>DIP</a:t>
            </a:r>
            <a:r>
              <a:rPr lang="en-US" dirty="0"/>
              <a:t>: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графической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endParaRPr lang="en-US" dirty="0"/>
          </a:p>
          <a:p>
            <a:endParaRPr lang="en-US" dirty="0"/>
          </a:p>
        </p:txBody>
      </p:sp>
      <p:pic>
        <p:nvPicPr>
          <p:cNvPr id="14" name="Content Placeholder 9">
            <a:extLst>
              <a:ext uri="{FF2B5EF4-FFF2-40B4-BE49-F238E27FC236}">
                <a16:creationId xmlns:a16="http://schemas.microsoft.com/office/drawing/2014/main" id="{8C3D37BF-EB96-0651-BBA3-9EF6E93C18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25625"/>
            <a:ext cx="5181600" cy="213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83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D676-D886-2DEE-C03D-7325EA93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</a:t>
            </a:r>
            <a:r>
              <a:rPr lang="en-US" dirty="0" err="1"/>
              <a:t>лжна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ru-RU" dirty="0"/>
              <a:t>модель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FDE6D-4EE4-B9EE-78BF-EBD318311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037609"/>
            <a:ext cx="10515600" cy="2139353"/>
          </a:xfrm>
        </p:spPr>
        <p:txBody>
          <a:bodyPr>
            <a:normAutofit/>
          </a:bodyPr>
          <a:lstStyle/>
          <a:p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скрыла</a:t>
            </a:r>
            <a:r>
              <a:rPr lang="en-US" dirty="0"/>
              <a:t> </a:t>
            </a:r>
            <a:r>
              <a:rPr lang="en-US" dirty="0" err="1"/>
              <a:t>технологию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endParaRPr lang="ru-RU" dirty="0"/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и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.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BB4F899-C6E6-C061-BA8B-247EBE7D8CC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3578467"/>
              </p:ext>
            </p:extLst>
          </p:nvPr>
        </p:nvGraphicFramePr>
        <p:xfrm>
          <a:off x="6172200" y="1825625"/>
          <a:ext cx="51816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008">
                  <a:extLst>
                    <a:ext uri="{9D8B030D-6E8A-4147-A177-3AD203B41FA5}">
                      <a16:colId xmlns:a16="http://schemas.microsoft.com/office/drawing/2014/main" val="3822006242"/>
                    </a:ext>
                  </a:extLst>
                </a:gridCol>
                <a:gridCol w="3753592">
                  <a:extLst>
                    <a:ext uri="{9D8B030D-6E8A-4147-A177-3AD203B41FA5}">
                      <a16:colId xmlns:a16="http://schemas.microsoft.com/office/drawing/2014/main" val="1093616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Операция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Почему она существует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886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MoveBy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Фигуру можно перемещать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83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HitTest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 фигуры есть геометрическая область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638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Draw()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Фигуру нужно показать пользователю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8674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8B9F5FF-7F47-01E1-21D7-34A4EE9AC126}"/>
              </a:ext>
            </a:extLst>
          </p:cNvPr>
          <p:cNvSpPr txBox="1"/>
          <p:nvPr/>
        </p:nvSpPr>
        <p:spPr>
          <a:xfrm>
            <a:off x="838200" y="1825625"/>
            <a:ext cx="5181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offset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HitTest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22652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586C9-FCB0-9231-C5BF-A1D512B6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представлять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526B7-C074-5D2C-2E09-4B0EF1B52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560126" cy="43513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ru-RU" dirty="0"/>
              <a:t>, то это приведёт к появлению методов</a:t>
            </a:r>
            <a:endParaRPr lang="en-US" dirty="0"/>
          </a:p>
          <a:p>
            <a:pPr lvl="1"/>
            <a:r>
              <a:rPr lang="en-US" dirty="0" err="1"/>
              <a:t>DrawOnCanvas</a:t>
            </a:r>
            <a:r>
              <a:rPr lang="en-US" dirty="0"/>
              <a:t>(...);</a:t>
            </a:r>
          </a:p>
          <a:p>
            <a:pPr lvl="1"/>
            <a:r>
              <a:rPr lang="en-US" dirty="0" err="1"/>
              <a:t>DrawOnTimeline</a:t>
            </a:r>
            <a:r>
              <a:rPr lang="en-US" dirty="0"/>
              <a:t>(...);</a:t>
            </a:r>
          </a:p>
          <a:p>
            <a:pPr lvl="1"/>
            <a:r>
              <a:rPr lang="en-US" dirty="0" err="1"/>
              <a:t>DrawInPreview</a:t>
            </a:r>
            <a:r>
              <a:rPr lang="en-US" dirty="0"/>
              <a:t>(...);</a:t>
            </a:r>
          </a:p>
          <a:p>
            <a:r>
              <a:rPr lang="ru-RU" dirty="0"/>
              <a:t>Модель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организована</a:t>
            </a:r>
            <a:r>
              <a:rPr lang="en-US" dirty="0"/>
              <a:t> </a:t>
            </a:r>
            <a:r>
              <a:rPr lang="en-US" dirty="0" err="1"/>
              <a:t>вокруг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ru-RU" dirty="0"/>
              <a:t>Модель – отдельно</a:t>
            </a:r>
          </a:p>
          <a:p>
            <a:pPr lvl="1"/>
            <a:r>
              <a:rPr lang="ru-RU" dirty="0"/>
              <a:t>Её представления - отдельно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680405-1630-856B-037A-3C1A955EF4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326" y="1825625"/>
            <a:ext cx="3955475" cy="222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86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680A-7269-5576-58E9-0767890B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Отображение</a:t>
            </a:r>
            <a:r>
              <a:rPr lang="en-US" dirty="0"/>
              <a:t> —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ECEBE-05E1-F343-4D43-7C3400D46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167310"/>
            <a:ext cx="10515600" cy="100965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Renderer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модели</a:t>
            </a:r>
            <a:r>
              <a:rPr lang="en-US" dirty="0"/>
              <a:t> и о </a:t>
            </a:r>
            <a:r>
              <a:rPr lang="ru-RU" dirty="0"/>
              <a:t>конкретной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endParaRPr lang="en-US" dirty="0"/>
          </a:p>
          <a:p>
            <a:r>
              <a:rPr lang="en-US" dirty="0"/>
              <a:t>Domain Model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предметную</a:t>
            </a:r>
            <a:r>
              <a:rPr lang="en-US" dirty="0"/>
              <a:t> </a:t>
            </a:r>
            <a:r>
              <a:rPr lang="en-US" dirty="0" err="1"/>
              <a:t>область</a:t>
            </a:r>
            <a:r>
              <a:rPr lang="en-US" b="1" dirty="0"/>
              <a:t>.</a:t>
            </a:r>
            <a:endParaRPr lang="en-US" dirty="0"/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отдельную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37B902-10B5-3AB4-4C84-99EBEAEC74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1807885"/>
            <a:ext cx="5181600" cy="32422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90752D-D55C-0D9D-C95C-F8BD37629246}"/>
              </a:ext>
            </a:extLst>
          </p:cNvPr>
          <p:cNvSpPr txBox="1"/>
          <p:nvPr/>
        </p:nvSpPr>
        <p:spPr>
          <a:xfrm>
            <a:off x="838200" y="1807885"/>
            <a:ext cx="5181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DrawingRenderer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sf::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0132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C0A5E95-CF55-E7F1-0D2C-E6FCCF841326}"/>
              </a:ext>
            </a:extLst>
          </p:cNvPr>
          <p:cNvSpPr txBox="1"/>
          <p:nvPr/>
        </p:nvSpPr>
        <p:spPr>
          <a:xfrm>
            <a:off x="838200" y="1816924"/>
            <a:ext cx="808016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DrawingRenderer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sf::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++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Рисуем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прямоугольник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Рисуем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эллипс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dynamic_cast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Рисуем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треугольник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D0318-303D-3947-8AFC-D77F71F0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А </a:t>
            </a:r>
            <a:r>
              <a:rPr lang="en-US" dirty="0" err="1"/>
              <a:t>как</a:t>
            </a:r>
            <a:r>
              <a:rPr lang="en-US" dirty="0"/>
              <a:t> Renderer </a:t>
            </a:r>
            <a:r>
              <a:rPr lang="en-US" dirty="0" err="1"/>
              <a:t>узнает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2C26E48-A821-C2F5-64F8-2C5AE8398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445" y="4851400"/>
            <a:ext cx="8824356" cy="1557462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убрали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Domain Model,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переместилась</a:t>
            </a:r>
            <a:r>
              <a:rPr lang="en-US" dirty="0"/>
              <a:t> в Renderer.</a:t>
            </a:r>
          </a:p>
          <a:p>
            <a:r>
              <a:rPr lang="en-US" b="1" dirty="0"/>
              <a:t>OCP: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добавлять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?</a:t>
            </a:r>
          </a:p>
          <a:p>
            <a:r>
              <a:rPr lang="en-US" b="1" dirty="0" err="1"/>
              <a:t>Архитектура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уничтожает</a:t>
            </a:r>
            <a:r>
              <a:rPr lang="en-US" b="1" dirty="0"/>
              <a:t> </a:t>
            </a:r>
            <a:r>
              <a:rPr lang="en-US" b="1" dirty="0" err="1"/>
              <a:t>стоимость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b="1" dirty="0"/>
              <a:t> —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перераспределяет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60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572E-49DF-B513-CE44-234077A6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ru-RU"/>
              <a:t>управление</a:t>
            </a:r>
            <a:r>
              <a:rPr lang="en-US"/>
              <a:t> </a:t>
            </a:r>
            <a:r>
              <a:rPr lang="en-US" dirty="0" err="1"/>
              <a:t>мышью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633C6-F279-5525-EB13-34F33F15F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93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6EFA86-135D-FA2D-2949-A351FE10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мышью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7C2B298-7D4F-B31B-822C-CAEA2292A7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щелчка</a:t>
            </a:r>
            <a:r>
              <a:rPr lang="en-US" dirty="0"/>
              <a:t> </a:t>
            </a:r>
            <a:r>
              <a:rPr lang="en-US" dirty="0" err="1"/>
              <a:t>выбранная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визуально</a:t>
            </a:r>
            <a:r>
              <a:rPr lang="en-US" dirty="0"/>
              <a:t> </a:t>
            </a:r>
            <a:r>
              <a:rPr lang="en-US" dirty="0" err="1"/>
              <a:t>выделен</a:t>
            </a:r>
            <a:r>
              <a:rPr lang="ru-RU" dirty="0"/>
              <a:t>а</a:t>
            </a:r>
          </a:p>
          <a:p>
            <a:pPr lvl="1"/>
            <a:r>
              <a:rPr lang="ru-RU" dirty="0"/>
              <a:t>Пока </a:t>
            </a:r>
            <a:r>
              <a:rPr lang="en-US" dirty="0"/>
              <a:t>drag and drop</a:t>
            </a:r>
            <a:endParaRPr lang="ru-RU" dirty="0"/>
          </a:p>
          <a:p>
            <a:r>
              <a:rPr lang="en-US" dirty="0"/>
              <a:t>SFML</a:t>
            </a:r>
            <a:r>
              <a:rPr lang="ru-RU" dirty="0"/>
              <a:t> сообщает о действиях мыши</a:t>
            </a:r>
          </a:p>
          <a:p>
            <a:r>
              <a:rPr lang="ru-RU" dirty="0"/>
              <a:t>Фигуры, по которым щёлкает пользователь, находятся в доменной модели</a:t>
            </a:r>
            <a:endParaRPr lang="en-US" dirty="0"/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связать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мыши</a:t>
            </a:r>
            <a:r>
              <a:rPr lang="en-US" dirty="0"/>
              <a:t> с </a:t>
            </a:r>
            <a:r>
              <a:rPr lang="en-US" dirty="0" err="1"/>
              <a:t>объектом</a:t>
            </a:r>
            <a:r>
              <a:rPr lang="en-US" dirty="0"/>
              <a:t> Domain Model?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91252EB-FFDA-2C1E-5922-161973E8EE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994382"/>
            <a:ext cx="5181600" cy="201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1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BFEF-31B9-CAF1-B9D2-A724934D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SFML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ru-RU" dirty="0"/>
              <a:t>мыши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наши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BE080-9E98-BC41-94C0-CD02C3E6F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926543"/>
          </a:xfrm>
        </p:spPr>
        <p:txBody>
          <a:bodyPr/>
          <a:lstStyle/>
          <a:p>
            <a:r>
              <a:rPr lang="en-US" dirty="0"/>
              <a:t>SFML </a:t>
            </a:r>
            <a:r>
              <a:rPr lang="ru-RU" dirty="0"/>
              <a:t>сообщает о событии нажатия кнопки мыши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745BB-6032-04F5-B276-C4C3E9CC6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999512"/>
            <a:ext cx="10515600" cy="1177451"/>
          </a:xfrm>
        </p:spPr>
        <p:txBody>
          <a:bodyPr/>
          <a:lstStyle/>
          <a:p>
            <a:r>
              <a:rPr lang="ru-RU" dirty="0"/>
              <a:t>Как определить объект рисунка, находящийся в заданной точке</a:t>
            </a:r>
            <a:r>
              <a:rPr lang="en-US" dirty="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22CEEB-40CF-04FD-15D7-1676FCC02284}"/>
              </a:ext>
            </a:extLst>
          </p:cNvPr>
          <p:cNvSpPr txBox="1"/>
          <p:nvPr/>
        </p:nvSpPr>
        <p:spPr>
          <a:xfrm>
            <a:off x="838200" y="2752168"/>
            <a:ext cx="846017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&lt;sf::Event::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mousePosition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sf::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Vector2f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Найти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фигуру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на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которую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нажали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C3AA30-DC2E-E83C-3A4E-C84E9A09B4BC}"/>
              </a:ext>
            </a:extLst>
          </p:cNvPr>
          <p:cNvSpPr txBox="1"/>
          <p:nvPr/>
        </p:nvSpPr>
        <p:spPr>
          <a:xfrm>
            <a:off x="7386453" y="3458321"/>
            <a:ext cx="4393870" cy="1541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Point2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ToPoint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(sf::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Vector2i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position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.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position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.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position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24067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309A-184C-E47E-0165-91A3354A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в </a:t>
            </a:r>
            <a:r>
              <a:rPr lang="en-US" dirty="0" err="1"/>
              <a:t>точке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98AE7-D776-0DF9-054B-A4EFCF05F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r>
              <a:rPr lang="ru-RU" dirty="0"/>
              <a:t>У фигуры есть метод </a:t>
            </a:r>
            <a:r>
              <a:rPr lang="en-US" dirty="0" err="1"/>
              <a:t>HitTest</a:t>
            </a:r>
            <a:endParaRPr lang="en-US" dirty="0"/>
          </a:p>
          <a:p>
            <a:r>
              <a:rPr lang="ru-RU" dirty="0"/>
              <a:t>Рисунок содержит несколько фигур</a:t>
            </a:r>
            <a:endParaRPr lang="en-US" dirty="0"/>
          </a:p>
          <a:p>
            <a:pPr lvl="1"/>
            <a:r>
              <a:rPr lang="ru-RU" dirty="0"/>
              <a:t>Если точка принадлежит нескольким фигурам, выбираем ближайшую к зрителю</a:t>
            </a:r>
            <a:endParaRPr lang="en-US" dirty="0"/>
          </a:p>
          <a:p>
            <a:r>
              <a:rPr lang="en-US" dirty="0"/>
              <a:t>Drawing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искать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с </a:t>
            </a:r>
            <a:r>
              <a:rPr lang="en-US" dirty="0" err="1"/>
              <a:t>учётом</a:t>
            </a:r>
            <a:r>
              <a:rPr lang="en-US" dirty="0"/>
              <a:t> z-order.</a:t>
            </a:r>
            <a:endParaRPr lang="ru-RU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65B7C4-40D5-B82C-F7E2-4D2997124F9A}"/>
              </a:ext>
            </a:extLst>
          </p:cNvPr>
          <p:cNvSpPr txBox="1"/>
          <p:nvPr/>
        </p:nvSpPr>
        <p:spPr>
          <a:xfrm>
            <a:off x="6096000" y="1804677"/>
            <a:ext cx="6096000" cy="3248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IShape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~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IShape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HitTest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Point2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point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2B91A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Drawing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FindShapeAt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| std::views::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reverse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HitTest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098691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BF7D-1218-8B60-F1A3-3179C0E2A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Обработаем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прямо</a:t>
            </a:r>
            <a:r>
              <a:rPr lang="en-US" dirty="0"/>
              <a:t> в 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58B11-0DBB-C261-ECAD-558DE3F17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9992"/>
            <a:ext cx="10515600" cy="67697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KISS/YAGNI: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выделяем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компонент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 </a:t>
            </a:r>
            <a:r>
              <a:rPr lang="en-US" dirty="0" err="1"/>
              <a:t>необходимость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F2DF8-87DA-BF58-B4B7-93DC71569B21}"/>
              </a:ext>
            </a:extLst>
          </p:cNvPr>
          <p:cNvSpPr txBox="1"/>
          <p:nvPr/>
        </p:nvSpPr>
        <p:spPr>
          <a:xfrm>
            <a:off x="838200" y="1825625"/>
            <a:ext cx="10515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isOpen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pollEvent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-&gt;is&lt;sf::Event::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Closed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1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getIf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&lt;sf::Event::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 {</a:t>
            </a: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ToPoint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-&gt;position);</a:t>
            </a: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1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FindShapeAt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renderer.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1" dirty="0" err="1">
                <a:solidFill>
                  <a:srgbClr val="1F377F"/>
                </a:solidFill>
                <a:latin typeface="Consolas" panose="020B0609020204030204" pitchFamily="49" charset="0"/>
              </a:rPr>
              <a:t>selectedShape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window.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8053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4474-6E21-27B7-E03C-CE791B6E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закончилось</a:t>
            </a:r>
            <a:r>
              <a:rPr lang="en-US" dirty="0"/>
              <a:t>, а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остался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57AD62-BA7C-F4EA-E932-F453B1F9C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9883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Domain Model</a:t>
            </a:r>
            <a:endParaRPr lang="ru-RU" dirty="0"/>
          </a:p>
          <a:p>
            <a:pPr lvl="1"/>
            <a:r>
              <a:rPr lang="ru-RU" dirty="0"/>
              <a:t>Кроме рисунка появляется </a:t>
            </a:r>
            <a:r>
              <a:rPr lang="ru-RU" b="1" dirty="0"/>
              <a:t>состояние редактирования</a:t>
            </a:r>
            <a:endParaRPr lang="ru-RU" dirty="0"/>
          </a:p>
          <a:p>
            <a:pPr lvl="2"/>
            <a:r>
              <a:rPr lang="ru-RU" dirty="0"/>
              <a:t>Выделенная фигура, текущее время, активный инструмент редактирования</a:t>
            </a:r>
          </a:p>
          <a:p>
            <a:pPr lvl="1"/>
            <a:r>
              <a:rPr lang="ru-RU" dirty="0"/>
              <a:t>Часть состояния принадлежит отдельному представлению</a:t>
            </a:r>
          </a:p>
          <a:p>
            <a:pPr lvl="2"/>
            <a:r>
              <a:rPr lang="ru-RU" dirty="0"/>
              <a:t>Масштаб холста и порт просмотра</a:t>
            </a:r>
          </a:p>
          <a:p>
            <a:pPr lvl="2"/>
            <a:r>
              <a:rPr lang="ru-RU" dirty="0"/>
              <a:t>Позиция полосы прокрутки, масштаб временной шкалы</a:t>
            </a:r>
          </a:p>
          <a:p>
            <a:r>
              <a:rPr lang="en-US" dirty="0" err="1"/>
              <a:t>Место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смыслом</a:t>
            </a:r>
            <a:r>
              <a:rPr lang="en-US" dirty="0"/>
              <a:t> и </a:t>
            </a:r>
            <a:r>
              <a:rPr lang="en-US" dirty="0" err="1"/>
              <a:t>областью</a:t>
            </a:r>
            <a:r>
              <a:rPr lang="en-US" dirty="0"/>
              <a:t> </a:t>
            </a:r>
            <a:r>
              <a:rPr lang="en-US" dirty="0" err="1"/>
              <a:t>совместного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KISS/YAGNI</a:t>
            </a:r>
            <a:r>
              <a:rPr lang="ru-RU" dirty="0"/>
              <a:t> не запрещают размышлять о границах ответственности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3DA65DE-8791-1EFC-7DE1-3FB490C752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068" y="1825625"/>
            <a:ext cx="23717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19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EE5E-C11B-740C-FEAB-CC3D85667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E99D9-138B-A3F2-5CE0-BD8DE4B5D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15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6C2BA2-8459-71EA-1C35-7A47704C2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562FAE-D523-159D-3643-A8948DBB5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Раньше состояние приложения находилось в </a:t>
            </a:r>
            <a:r>
              <a:rPr lang="en-US" dirty="0"/>
              <a:t>Drawing</a:t>
            </a:r>
            <a:r>
              <a:rPr lang="ru-RU" dirty="0"/>
              <a:t> и фигурах</a:t>
            </a:r>
          </a:p>
          <a:p>
            <a:r>
              <a:rPr lang="ru-RU" dirty="0"/>
              <a:t>Как только мы добавили выбор фигуры, в программе появилась новая переменная</a:t>
            </a:r>
            <a:endParaRPr lang="en-US" dirty="0"/>
          </a:p>
          <a:p>
            <a:pPr lvl="1"/>
            <a:r>
              <a:rPr lang="en-US" dirty="0"/>
              <a:t>const </a:t>
            </a:r>
            <a:r>
              <a:rPr lang="en-US" dirty="0" err="1"/>
              <a:t>IShape</a:t>
            </a:r>
            <a:r>
              <a:rPr lang="en-US" dirty="0"/>
              <a:t>* </a:t>
            </a:r>
            <a:r>
              <a:rPr lang="en-US" dirty="0" err="1"/>
              <a:t>selectedShape</a:t>
            </a:r>
            <a:endParaRPr lang="en-US" dirty="0"/>
          </a:p>
          <a:p>
            <a:r>
              <a:rPr lang="en-US" dirty="0" err="1"/>
              <a:t>Скоро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При перетаскивании</a:t>
            </a:r>
            <a:r>
              <a:rPr lang="en-US" dirty="0"/>
              <a:t>: </a:t>
            </a:r>
            <a:r>
              <a:rPr lang="en-US" dirty="0" err="1"/>
              <a:t>isDragging</a:t>
            </a:r>
            <a:r>
              <a:rPr lang="en-US" dirty="0"/>
              <a:t>, </a:t>
            </a:r>
            <a:r>
              <a:rPr lang="en-US" dirty="0" err="1"/>
              <a:t>grabOffset</a:t>
            </a:r>
            <a:endParaRPr lang="en-US" dirty="0"/>
          </a:p>
          <a:p>
            <a:pPr lvl="1"/>
            <a:r>
              <a:rPr lang="ru-RU" dirty="0"/>
              <a:t>Для создания мышью: </a:t>
            </a:r>
            <a:r>
              <a:rPr lang="en-US" dirty="0" err="1"/>
              <a:t>activeTool</a:t>
            </a:r>
            <a:endParaRPr lang="ru-RU" dirty="0"/>
          </a:p>
          <a:p>
            <a:pPr lvl="1"/>
            <a:r>
              <a:rPr lang="ru-RU" dirty="0"/>
              <a:t>При поддержке анимаций: </a:t>
            </a:r>
            <a:r>
              <a:rPr lang="en-US" dirty="0" err="1"/>
              <a:t>currentTime</a:t>
            </a:r>
            <a:endParaRPr lang="en-US" dirty="0"/>
          </a:p>
          <a:p>
            <a:r>
              <a:rPr lang="ru-RU" dirty="0"/>
              <a:t>К какой части программы относится это состояние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Рисунок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Состояние работы пользователя с рисунком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91860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2458-CD43-68BC-6154-6184C0C53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ru-RU" dirty="0"/>
              <a:t>бы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поместить</a:t>
            </a:r>
            <a:r>
              <a:rPr lang="en-US" dirty="0"/>
              <a:t> </a:t>
            </a:r>
            <a:r>
              <a:rPr lang="ru-RU" dirty="0"/>
              <a:t>информацию</a:t>
            </a:r>
            <a:r>
              <a:rPr lang="en-US" dirty="0"/>
              <a:t> </a:t>
            </a:r>
            <a:r>
              <a:rPr lang="ru-RU" dirty="0"/>
              <a:t>о выделении </a:t>
            </a:r>
            <a:r>
              <a:rPr lang="en-US" dirty="0"/>
              <a:t>в Domain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E04EC-A132-349C-1A31-DAD0C4902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088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, </a:t>
            </a:r>
            <a:r>
              <a:rPr lang="en-US" b="1" dirty="0"/>
              <a:t>selected</a:t>
            </a:r>
            <a:r>
              <a:rPr lang="en-US" dirty="0"/>
              <a:t> —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  <a:endParaRPr lang="ru-RU" dirty="0"/>
          </a:p>
          <a:p>
            <a:r>
              <a:rPr lang="ru-RU" dirty="0"/>
              <a:t>Проверяем гипотезу</a:t>
            </a:r>
            <a:endParaRPr lang="en-US" dirty="0"/>
          </a:p>
          <a:p>
            <a:pPr lvl="1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selected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рисунком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ru-RU" dirty="0"/>
              <a:t>, где редактируется</a:t>
            </a:r>
            <a:r>
              <a:rPr lang="en-US" dirty="0"/>
              <a:t> Drawing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одинаковое</a:t>
            </a:r>
            <a:r>
              <a:rPr lang="en-US" dirty="0"/>
              <a:t> </a:t>
            </a:r>
            <a:r>
              <a:rPr lang="en-US" dirty="0" err="1"/>
              <a:t>выделение</a:t>
            </a:r>
            <a:r>
              <a:rPr lang="en-US" dirty="0"/>
              <a:t>?</a:t>
            </a:r>
            <a:endParaRPr lang="ru-RU" dirty="0"/>
          </a:p>
          <a:p>
            <a:r>
              <a:rPr lang="en-US" b="1" dirty="0" err="1"/>
              <a:t>selectedShape</a:t>
            </a:r>
            <a:r>
              <a:rPr lang="ru-RU" dirty="0"/>
              <a:t> характеризует текущий контекст работы с рисунком</a:t>
            </a:r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и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редактирования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0EB74D-664B-30B5-5BA2-BFE80462CDE8}"/>
              </a:ext>
            </a:extLst>
          </p:cNvPr>
          <p:cNvSpPr txBox="1"/>
          <p:nvPr/>
        </p:nvSpPr>
        <p:spPr>
          <a:xfrm>
            <a:off x="7199086" y="1825625"/>
            <a:ext cx="489131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IsSelected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SetSelected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selected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9282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2368-3356-DA12-EF15-0A628B30A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общей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78AA3-7A77-F3F9-E4B8-9EEDD192B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942944" cy="4351338"/>
          </a:xfrm>
        </p:spPr>
        <p:txBody>
          <a:bodyPr>
            <a:normAutofit/>
          </a:bodyPr>
          <a:lstStyle/>
          <a:p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окне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Общее для нескольких представление:</a:t>
            </a:r>
          </a:p>
          <a:p>
            <a:pPr lvl="2"/>
            <a:r>
              <a:rPr lang="ru-RU" dirty="0"/>
              <a:t>Выделение</a:t>
            </a:r>
          </a:p>
          <a:p>
            <a:pPr lvl="2"/>
            <a:r>
              <a:rPr lang="ru-RU" dirty="0"/>
              <a:t>Текущее время</a:t>
            </a:r>
          </a:p>
          <a:p>
            <a:pPr lvl="1"/>
            <a:r>
              <a:rPr lang="ru-RU" dirty="0"/>
              <a:t>Локальное для каждого</a:t>
            </a:r>
          </a:p>
          <a:p>
            <a:pPr lvl="2"/>
            <a:r>
              <a:rPr lang="ru-RU" dirty="0"/>
              <a:t>Масштаб и видимая область холста</a:t>
            </a:r>
          </a:p>
          <a:p>
            <a:pPr lvl="2"/>
            <a:r>
              <a:rPr lang="ru-RU" dirty="0"/>
              <a:t>Масштаб временной шкалы и положение</a:t>
            </a:r>
          </a:p>
          <a:p>
            <a:r>
              <a:rPr lang="ru-RU" dirty="0"/>
              <a:t>Что должно изменяться вместе, а что – независимо</a:t>
            </a:r>
            <a:r>
              <a:rPr lang="en-US" dirty="0"/>
              <a:t>?</a:t>
            </a:r>
          </a:p>
        </p:txBody>
      </p:sp>
      <p:pic>
        <p:nvPicPr>
          <p:cNvPr id="6" name="Content Placeholder 13">
            <a:extLst>
              <a:ext uri="{FF2B5EF4-FFF2-40B4-BE49-F238E27FC236}">
                <a16:creationId xmlns:a16="http://schemas.microsoft.com/office/drawing/2014/main" id="{05B928F4-D850-6E03-B1D4-4F7B96BB48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068" y="1825625"/>
            <a:ext cx="23717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7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59B3B-B298-7B1B-05DB-32B598AE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жизни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AF532-E01B-F783-23D8-1DC709953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Состояние рисунка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фигуры, геометрия, </a:t>
            </a:r>
            <a:r>
              <a:rPr lang="en-US" dirty="0"/>
              <a:t>z-order, </a:t>
            </a:r>
            <a:r>
              <a:rPr lang="ru-RU" dirty="0"/>
              <a:t>время появления и исчезновения</a:t>
            </a:r>
          </a:p>
          <a:p>
            <a:r>
              <a:rPr lang="ru-RU" dirty="0"/>
              <a:t>Состояние редактирования</a:t>
            </a:r>
          </a:p>
          <a:p>
            <a:pPr lvl="1"/>
            <a:r>
              <a:rPr lang="ru-RU" dirty="0"/>
              <a:t>Выбранная фигура, текущее время, активный инструмент</a:t>
            </a:r>
          </a:p>
          <a:p>
            <a:r>
              <a:rPr lang="ru-RU" dirty="0"/>
              <a:t>Локальное состояние интерфейса</a:t>
            </a:r>
          </a:p>
          <a:p>
            <a:pPr lvl="1"/>
            <a:r>
              <a:rPr lang="ru-RU" dirty="0"/>
              <a:t>Холст: масштаб</a:t>
            </a:r>
            <a:r>
              <a:rPr lang="en-US" dirty="0"/>
              <a:t>, </a:t>
            </a:r>
            <a:r>
              <a:rPr lang="ru-RU" dirty="0"/>
              <a:t>видимая область</a:t>
            </a:r>
            <a:endParaRPr lang="en-US" dirty="0"/>
          </a:p>
          <a:p>
            <a:pPr lvl="1"/>
            <a:r>
              <a:rPr lang="ru-RU" dirty="0"/>
              <a:t>Таймлайн: масштаб отображения времени, позиция прокрутки</a:t>
            </a:r>
          </a:p>
          <a:p>
            <a:r>
              <a:rPr lang="en-US" dirty="0" err="1"/>
              <a:t>Место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определяется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смыслом</a:t>
            </a:r>
            <a:r>
              <a:rPr lang="en-US" dirty="0"/>
              <a:t> и </a:t>
            </a:r>
            <a:r>
              <a:rPr lang="en-US" dirty="0" err="1"/>
              <a:t>областью</a:t>
            </a:r>
            <a:r>
              <a:rPr lang="en-US" dirty="0"/>
              <a:t> </a:t>
            </a:r>
            <a:r>
              <a:rPr lang="en-US" dirty="0" err="1"/>
              <a:t>совместного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endParaRPr lang="ru-RU" dirty="0"/>
          </a:p>
          <a:p>
            <a:r>
              <a:rPr lang="en-US" b="1" dirty="0"/>
              <a:t>Cohesion: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и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связанным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.</a:t>
            </a:r>
            <a:endParaRPr lang="ru-RU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56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4955-2706-8667-DF91-8E9EE7293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значит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класс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E5051-0BA0-9C71-36D6-C70F1D819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38371" cy="4351338"/>
          </a:xfrm>
        </p:spPr>
        <p:txBody>
          <a:bodyPr>
            <a:normAutofit/>
          </a:bodyPr>
          <a:lstStyle/>
          <a:p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EditorSession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Хранит выбранную фигуру, текущий момент времени, инструмент и прочее.</a:t>
            </a:r>
          </a:p>
          <a:p>
            <a:r>
              <a:rPr lang="en-US" b="1" dirty="0"/>
              <a:t>KISS/YAGNI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≠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перерастёт</a:t>
            </a:r>
            <a:r>
              <a:rPr lang="en-US" dirty="0"/>
              <a:t> </a:t>
            </a:r>
            <a:r>
              <a:rPr lang="ru-RU" dirty="0"/>
              <a:t>функцию </a:t>
            </a:r>
            <a:r>
              <a:rPr lang="en-US" dirty="0"/>
              <a:t>main?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FD9A6-9F39-9E55-F2EA-878D465D0FBC}"/>
              </a:ext>
            </a:extLst>
          </p:cNvPr>
          <p:cNvSpPr txBox="1"/>
          <p:nvPr/>
        </p:nvSpPr>
        <p:spPr>
          <a:xfrm>
            <a:off x="6865256" y="1825625"/>
            <a:ext cx="44885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EditorSession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GetCurrentTime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...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m_currentTime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5045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867A-5EC9-6159-F983-50FDF4D3C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интерпретирует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ввод</a:t>
            </a:r>
            <a:r>
              <a:rPr lang="en-US" dirty="0"/>
              <a:t>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F500F-490D-CC89-C849-F83BA92E5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703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16320-4093-7A43-6CA6-D12A2683E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 —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3A790-4701-1508-3B2C-A211FFBC5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959572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перетаскивать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действие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п</a:t>
            </a:r>
            <a:r>
              <a:rPr lang="en-US" dirty="0" err="1"/>
              <a:t>еретащить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A в </a:t>
            </a:r>
            <a:r>
              <a:rPr lang="en-US" dirty="0" err="1"/>
              <a:t>точку</a:t>
            </a:r>
            <a:r>
              <a:rPr lang="en-US" dirty="0"/>
              <a:t> B</a:t>
            </a:r>
          </a:p>
          <a:p>
            <a:r>
              <a:rPr lang="en-US" dirty="0"/>
              <a:t>SFML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 err="1"/>
              <a:t>MouseButtonPressed</a:t>
            </a:r>
            <a:r>
              <a:rPr lang="en-US" dirty="0"/>
              <a:t>, MouseMoved, MouseMoved, …, </a:t>
            </a:r>
            <a:r>
              <a:rPr lang="en-US" dirty="0" err="1"/>
              <a:t>MouseButtonReleased</a:t>
            </a:r>
            <a:endParaRPr lang="ru-RU" dirty="0"/>
          </a:p>
          <a:p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 ≠ </a:t>
            </a:r>
            <a:r>
              <a:rPr lang="en-US" dirty="0" err="1"/>
              <a:t>действие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endParaRPr lang="en-US" dirty="0"/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0A7AA0F-B668-6438-58D8-265274D19D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3920134"/>
            <a:ext cx="5181600" cy="270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0518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8372C-651F-027B-B1D1-A88FCFAE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реализуем</a:t>
            </a:r>
            <a:r>
              <a:rPr lang="en-US" dirty="0"/>
              <a:t> drag </a:t>
            </a:r>
            <a:r>
              <a:rPr lang="en-US" dirty="0" err="1"/>
              <a:t>прямо</a:t>
            </a:r>
            <a:r>
              <a:rPr lang="en-US" dirty="0"/>
              <a:t> в main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03AF3-49E8-B546-3A65-2D91A21B5C43}"/>
              </a:ext>
            </a:extLst>
          </p:cNvPr>
          <p:cNvSpPr txBox="1"/>
          <p:nvPr/>
        </p:nvSpPr>
        <p:spPr>
          <a:xfrm>
            <a:off x="682170" y="1690687"/>
            <a:ext cx="11509829" cy="4310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IShape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selectedShape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isDragging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lastMousePosition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&lt;sf::Event::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mouseButtonPressed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-&gt;position);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FindShapeAt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isDragging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lastMousePosition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mouseButtonReleased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&lt;sf::Event::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MouseButtonReleased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isDragging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mouseMoved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&lt;sf::Event::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MouseMoved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mouseMoved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isDragging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ToPoint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mouseMoved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-&gt;position);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MoveBy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lastMousePosition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lastMousePosition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8538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1E266-BAC6-7DFE-F7E3-4240C3DA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интерпретировать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8A2FD-3368-B090-6961-A5BF295DDE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MouseMoved </a:t>
            </a:r>
            <a:r>
              <a:rPr lang="ru-RU" dirty="0"/>
              <a:t>может означать</a:t>
            </a:r>
          </a:p>
          <a:p>
            <a:pPr lvl="1"/>
            <a:r>
              <a:rPr lang="ru-RU" dirty="0"/>
              <a:t>Просто перемещение курсора</a:t>
            </a:r>
          </a:p>
          <a:p>
            <a:pPr lvl="1"/>
            <a:r>
              <a:rPr lang="ru-RU" dirty="0"/>
              <a:t>Продолжение </a:t>
            </a:r>
            <a:r>
              <a:rPr lang="en-US" dirty="0"/>
              <a:t>drag</a:t>
            </a:r>
            <a:endParaRPr lang="ru-RU" dirty="0"/>
          </a:p>
          <a:p>
            <a:pPr lvl="1"/>
            <a:r>
              <a:rPr lang="ru-RU" dirty="0"/>
              <a:t>Продолжение </a:t>
            </a:r>
            <a:r>
              <a:rPr lang="en-US" dirty="0"/>
              <a:t>resize</a:t>
            </a:r>
          </a:p>
          <a:p>
            <a:pPr lvl="1"/>
            <a:r>
              <a:rPr lang="ru-RU" dirty="0"/>
              <a:t>Рисование новой фигуры</a:t>
            </a:r>
          </a:p>
          <a:p>
            <a:pPr lvl="1"/>
            <a:r>
              <a:rPr lang="ru-RU" dirty="0"/>
              <a:t>Панорамирование видимой области холста без смены рисунка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91F4D-E688-EBFC-260E-4B9D671324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Состояние взаимодействия</a:t>
            </a:r>
          </a:p>
          <a:p>
            <a:pPr lvl="1"/>
            <a:r>
              <a:rPr lang="ru-RU" dirty="0"/>
              <a:t>Активного инструмента</a:t>
            </a:r>
          </a:p>
          <a:p>
            <a:pPr lvl="1"/>
            <a:r>
              <a:rPr lang="ru-RU" dirty="0"/>
              <a:t>Состояния доменной модели</a:t>
            </a:r>
          </a:p>
          <a:p>
            <a:r>
              <a:rPr lang="ru-RU" dirty="0"/>
              <a:t>Новая ответственность:</a:t>
            </a:r>
          </a:p>
          <a:p>
            <a:pPr lvl="1"/>
            <a:r>
              <a:rPr lang="en-US" dirty="0" err="1"/>
              <a:t>Низкоуровневые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превратить</a:t>
            </a:r>
            <a:r>
              <a:rPr lang="en-US" dirty="0"/>
              <a:t> в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6305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0BAAB-54D2-9D62-1840-9CFDF303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У main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0E244-4345-DA09-EB0E-62FA3D029B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main?</a:t>
            </a:r>
            <a:endParaRPr lang="ru-RU" dirty="0"/>
          </a:p>
          <a:p>
            <a:pPr lvl="1"/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окно</a:t>
            </a:r>
            <a:r>
              <a:rPr lang="en-US" dirty="0"/>
              <a:t> и </a:t>
            </a:r>
            <a:r>
              <a:rPr lang="en-US" dirty="0" err="1"/>
              <a:t>компоненты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endParaRPr lang="ru-RU" dirty="0"/>
          </a:p>
          <a:p>
            <a:pPr lvl="1"/>
            <a:r>
              <a:rPr lang="en-US" dirty="0" err="1"/>
              <a:t>выполняет</a:t>
            </a:r>
            <a:r>
              <a:rPr lang="en-US" dirty="0"/>
              <a:t> event loop</a:t>
            </a:r>
            <a:endParaRPr lang="ru-RU" dirty="0"/>
          </a:p>
          <a:p>
            <a:pPr lvl="1"/>
            <a:r>
              <a:rPr lang="en-US" dirty="0" err="1"/>
              <a:t>закрывает</a:t>
            </a:r>
            <a:r>
              <a:rPr lang="en-US" dirty="0"/>
              <a:t> </a:t>
            </a:r>
            <a:r>
              <a:rPr lang="en-US" dirty="0" err="1"/>
              <a:t>окно</a:t>
            </a:r>
            <a:endParaRPr lang="ru-RU" dirty="0"/>
          </a:p>
          <a:p>
            <a:pPr lvl="1"/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endParaRPr lang="ru-RU" dirty="0"/>
          </a:p>
          <a:p>
            <a:pPr lvl="1"/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drag</a:t>
            </a:r>
            <a:endParaRPr lang="ru-RU" dirty="0"/>
          </a:p>
          <a:p>
            <a:pPr lvl="1"/>
            <a:r>
              <a:rPr lang="en-US" dirty="0" err="1"/>
              <a:t>интерпретирует</a:t>
            </a:r>
            <a:r>
              <a:rPr lang="en-US" dirty="0"/>
              <a:t> MouseMoved</a:t>
            </a:r>
            <a:endParaRPr lang="ru-RU" dirty="0"/>
          </a:p>
          <a:p>
            <a:pPr lvl="1"/>
            <a:r>
              <a:rPr lang="en-US" dirty="0" err="1"/>
              <a:t>вычисляет</a:t>
            </a:r>
            <a:r>
              <a:rPr lang="en-US" dirty="0"/>
              <a:t> </a:t>
            </a:r>
            <a:r>
              <a:rPr lang="en-US" dirty="0" err="1"/>
              <a:t>перемещение</a:t>
            </a:r>
            <a:endParaRPr lang="ru-RU" dirty="0"/>
          </a:p>
          <a:p>
            <a:pPr lvl="1"/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0AE48-C963-AECF-DA61-8FC362A1C6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SRP:</a:t>
            </a:r>
            <a:endParaRPr lang="ru-RU" b="1" dirty="0"/>
          </a:p>
          <a:p>
            <a:pPr lvl="1"/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и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Cohesion:</a:t>
            </a:r>
          </a:p>
          <a:p>
            <a:pPr lvl="1"/>
            <a:r>
              <a:rPr lang="en-US" dirty="0" err="1"/>
              <a:t>Обработчики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 и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2334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A992-D325-5E97-9D55-AC53BFB0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Выделяем </a:t>
            </a:r>
            <a:r>
              <a:rPr lang="en-US" dirty="0" err="1"/>
              <a:t>интерпретацию</a:t>
            </a:r>
            <a:r>
              <a:rPr lang="en-US" dirty="0"/>
              <a:t> </a:t>
            </a:r>
            <a:r>
              <a:rPr lang="en-US" dirty="0" err="1"/>
              <a:t>ввода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4A3189-C389-37C5-F4B1-393767A79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4026" cy="4351338"/>
          </a:xfrm>
        </p:spPr>
        <p:txBody>
          <a:bodyPr/>
          <a:lstStyle/>
          <a:p>
            <a:r>
              <a:rPr lang="ru-RU" dirty="0"/>
              <a:t>Вынесем ответственность в отдельный компонент</a:t>
            </a:r>
            <a:r>
              <a:rPr lang="en-US" dirty="0"/>
              <a:t> </a:t>
            </a:r>
            <a:r>
              <a:rPr lang="en-US" dirty="0" err="1"/>
              <a:t>EditorController</a:t>
            </a:r>
            <a:endParaRPr lang="ru-RU" dirty="0"/>
          </a:p>
          <a:p>
            <a:pPr lvl="1"/>
            <a:r>
              <a:rPr lang="ru-RU" dirty="0"/>
              <a:t>Хранит состояние для интерпретации событий</a:t>
            </a:r>
          </a:p>
          <a:p>
            <a:pPr lvl="1"/>
            <a:r>
              <a:rPr lang="ru-RU" dirty="0"/>
              <a:t>Инициирует операции на </a:t>
            </a:r>
            <a:r>
              <a:rPr lang="en-US" dirty="0"/>
              <a:t>Drawing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79305-C30C-8621-56F2-C87E1EDF28EA}"/>
              </a:ext>
            </a:extLst>
          </p:cNvPr>
          <p:cNvSpPr txBox="1"/>
          <p:nvPr/>
        </p:nvSpPr>
        <p:spPr>
          <a:xfrm>
            <a:off x="6239776" y="1825625"/>
            <a:ext cx="511402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EditorController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EditorController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OnMousePressed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OnMouseMoved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OnMouseReleased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GetSelectedShape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m_selectedShape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m_isDragging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m_lastMousePosition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27806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5B9FC-A05F-8900-253B-1CB3EBA4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Выделим 3 группы обязанностей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D9FA9-9B64-1195-9B8E-E3FB311E4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Drawing</a:t>
            </a:r>
            <a:r>
              <a:rPr lang="en-US" dirty="0"/>
              <a:t> </a:t>
            </a:r>
            <a:r>
              <a:rPr lang="ru-RU" dirty="0"/>
              <a:t>и фигуры описывают </a:t>
            </a:r>
            <a:r>
              <a:rPr lang="ru-RU" b="1" dirty="0"/>
              <a:t>состояние</a:t>
            </a:r>
            <a:r>
              <a:rPr lang="ru-RU" dirty="0"/>
              <a:t> предметной области и её </a:t>
            </a:r>
            <a:r>
              <a:rPr lang="ru-RU" b="1" dirty="0"/>
              <a:t>поведение</a:t>
            </a:r>
          </a:p>
          <a:p>
            <a:r>
              <a:rPr lang="en-US" b="1" dirty="0" err="1"/>
              <a:t>DrawingRenderer</a:t>
            </a:r>
            <a:r>
              <a:rPr lang="en-US" dirty="0"/>
              <a:t> </a:t>
            </a:r>
            <a:r>
              <a:rPr lang="ru-RU" b="1" dirty="0"/>
              <a:t>представляет</a:t>
            </a:r>
            <a:r>
              <a:rPr lang="ru-RU" dirty="0"/>
              <a:t> состояние пользователю</a:t>
            </a:r>
          </a:p>
          <a:p>
            <a:r>
              <a:rPr lang="en-US" b="1" dirty="0" err="1"/>
              <a:t>EditorController</a:t>
            </a:r>
            <a:r>
              <a:rPr lang="ru-RU" dirty="0"/>
              <a:t> </a:t>
            </a:r>
            <a:r>
              <a:rPr lang="ru-RU" b="1" dirty="0"/>
              <a:t>интерпретирует действия</a:t>
            </a:r>
            <a:r>
              <a:rPr lang="ru-RU" dirty="0"/>
              <a:t> пользователя и </a:t>
            </a:r>
            <a:r>
              <a:rPr lang="ru-RU" b="1" dirty="0"/>
              <a:t>инициирует</a:t>
            </a:r>
            <a:r>
              <a:rPr lang="ru-RU" dirty="0"/>
              <a:t> изменения модели</a:t>
            </a:r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отделены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запуска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и </a:t>
            </a:r>
            <a:r>
              <a:rPr lang="en-US" dirty="0" err="1"/>
              <a:t>отображения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3110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2637-573B-EAEC-8C37-0D2FCA62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Обнаруживаем</a:t>
            </a:r>
            <a:r>
              <a:rPr lang="en-US" dirty="0"/>
              <a:t> </a:t>
            </a:r>
            <a:r>
              <a:rPr lang="en-US" dirty="0" err="1"/>
              <a:t>роли</a:t>
            </a:r>
            <a:r>
              <a:rPr lang="en-US" dirty="0"/>
              <a:t> Model, View и Controller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70DFB-BF0B-E47B-9A66-5F8215F5C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811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2D4123-01BF-92F4-1594-2A402D98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EE33AC-7441-768D-6AB8-42B7C9641E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84914" y="1360628"/>
            <a:ext cx="3222172" cy="549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14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9E73-A286-A88A-2F43-D03C7F54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– </a:t>
            </a:r>
            <a:r>
              <a:rPr lang="ru-RU" dirty="0"/>
              <a:t>состояние и поведение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DB5B18-3982-F0F0-7193-00E6A28EF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3419235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 нашем редакторе </a:t>
            </a:r>
            <a:r>
              <a:rPr lang="en-US" dirty="0"/>
              <a:t>Model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Состояние рисунка</a:t>
            </a:r>
          </a:p>
          <a:p>
            <a:pPr lvl="1"/>
            <a:r>
              <a:rPr lang="ru-RU" dirty="0"/>
              <a:t>Правила предметной области</a:t>
            </a:r>
          </a:p>
          <a:p>
            <a:pPr lvl="1"/>
            <a:r>
              <a:rPr lang="ru-RU" dirty="0"/>
              <a:t>Операции над фигурами</a:t>
            </a:r>
            <a:endParaRPr lang="en-US" dirty="0"/>
          </a:p>
          <a:p>
            <a:pPr lvl="2"/>
            <a:r>
              <a:rPr lang="en-US" dirty="0" err="1"/>
              <a:t>IShape</a:t>
            </a:r>
            <a:r>
              <a:rPr lang="en-US" dirty="0"/>
              <a:t>::</a:t>
            </a:r>
            <a:r>
              <a:rPr lang="en-US" dirty="0" err="1"/>
              <a:t>MovBy</a:t>
            </a:r>
            <a:r>
              <a:rPr lang="en-US" dirty="0"/>
              <a:t>(…)</a:t>
            </a:r>
          </a:p>
          <a:p>
            <a:pPr lvl="2"/>
            <a:r>
              <a:rPr lang="en-US" dirty="0" err="1"/>
              <a:t>IShape</a:t>
            </a:r>
            <a:r>
              <a:rPr lang="en-US" dirty="0"/>
              <a:t>::</a:t>
            </a:r>
            <a:r>
              <a:rPr lang="en-US" dirty="0" err="1"/>
              <a:t>HitTest</a:t>
            </a:r>
            <a:r>
              <a:rPr lang="en-US" dirty="0"/>
              <a:t>(…)</a:t>
            </a:r>
          </a:p>
          <a:p>
            <a:pPr lvl="2"/>
            <a:r>
              <a:rPr lang="en-US" dirty="0"/>
              <a:t>Drawing::</a:t>
            </a:r>
            <a:r>
              <a:rPr lang="en-US" dirty="0" err="1"/>
              <a:t>FindShapeAt</a:t>
            </a:r>
            <a:r>
              <a:rPr lang="en-US" dirty="0"/>
              <a:t>(…)</a:t>
            </a:r>
            <a:endParaRPr lang="ru-RU" dirty="0"/>
          </a:p>
          <a:p>
            <a:r>
              <a:rPr lang="en-US" dirty="0"/>
              <a:t>Model — </a:t>
            </a:r>
            <a:r>
              <a:rPr lang="en-US" dirty="0" err="1"/>
              <a:t>роль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с </a:t>
            </a:r>
            <a:r>
              <a:rPr lang="en-US" dirty="0" err="1"/>
              <a:t>именем</a:t>
            </a:r>
            <a:r>
              <a:rPr lang="en-US" dirty="0"/>
              <a:t> Model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3BA3EF-977C-E0BA-ED23-5306B1B4C0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469147"/>
            <a:ext cx="10515600" cy="7522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Model </a:t>
            </a:r>
            <a:r>
              <a:rPr lang="en-US" dirty="0" err="1"/>
              <a:t>описывает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с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,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.</a:t>
            </a:r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036AAD85-8DD2-681D-2763-3B6E7A9D2F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30306"/>
            <a:ext cx="5181600" cy="341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5547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219D-7E67-2E27-E289-6C0265CA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—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51DF6-4059-3B7C-F6BE-D11664E60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3281213"/>
          </a:xfrm>
        </p:spPr>
        <p:txBody>
          <a:bodyPr/>
          <a:lstStyle/>
          <a:p>
            <a:r>
              <a:rPr lang="ru-RU" dirty="0"/>
              <a:t>В нашем редакторе роль </a:t>
            </a:r>
            <a:r>
              <a:rPr lang="en-US" dirty="0"/>
              <a:t>View </a:t>
            </a:r>
            <a:r>
              <a:rPr lang="ru-RU" dirty="0"/>
              <a:t>сейчас выполняет </a:t>
            </a:r>
            <a:r>
              <a:rPr lang="en-US" dirty="0" err="1"/>
              <a:t>DrawingRenderer</a:t>
            </a:r>
            <a:endParaRPr lang="ru-RU" dirty="0"/>
          </a:p>
          <a:p>
            <a:r>
              <a:rPr lang="ru-RU" dirty="0"/>
              <a:t>Он отображает </a:t>
            </a:r>
            <a:r>
              <a:rPr lang="en-US" dirty="0"/>
              <a:t>Drawing</a:t>
            </a:r>
            <a:r>
              <a:rPr lang="ru-RU" dirty="0"/>
              <a:t> и состояние редактирования при помощи </a:t>
            </a:r>
            <a:r>
              <a:rPr lang="en-US" dirty="0"/>
              <a:t>SFML</a:t>
            </a:r>
            <a:endParaRPr lang="ru-RU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ACBAD5-2B23-2AFF-8878-8F8E788DE67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5018015"/>
            <a:ext cx="10515600" cy="1203397"/>
          </a:xfrm>
        </p:spPr>
        <p:txBody>
          <a:bodyPr>
            <a:normAutofit fontScale="92500" lnSpcReduction="10000"/>
          </a:bodyPr>
          <a:lstStyle/>
          <a:p>
            <a:r>
              <a:rPr lang="ru-RU"/>
              <a:t>View показывает </a:t>
            </a:r>
            <a:r>
              <a:rPr lang="ru-RU" dirty="0"/>
              <a:t>пользователю текущее состояние приложения.</a:t>
            </a:r>
            <a:endParaRPr lang="en-US" dirty="0"/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требовать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Domain Model.</a:t>
            </a: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9FA6F405-F65F-8EF1-567F-6DCAD7E482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914597"/>
            <a:ext cx="5181600" cy="310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529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483B-3FDC-E1CD-5FC8-7692A7970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— </a:t>
            </a:r>
            <a:r>
              <a:rPr lang="en-US" dirty="0" err="1"/>
              <a:t>интерпретация</a:t>
            </a:r>
            <a:r>
              <a:rPr lang="en-US" dirty="0"/>
              <a:t> </a:t>
            </a:r>
            <a:r>
              <a:rPr lang="en-US" dirty="0" err="1"/>
              <a:t>действий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8B0BC-0A5F-0229-D9E8-313B0157F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EditorController</a:t>
            </a:r>
            <a:r>
              <a:rPr lang="en-US" dirty="0"/>
              <a:t> </a:t>
            </a:r>
            <a:r>
              <a:rPr lang="ru-RU" dirty="0"/>
              <a:t>превращает события ввода</a:t>
            </a:r>
          </a:p>
          <a:p>
            <a:pPr lvl="1"/>
            <a:r>
              <a:rPr lang="en-US" dirty="0" err="1"/>
              <a:t>MousePressed</a:t>
            </a:r>
            <a:r>
              <a:rPr lang="en-US" dirty="0"/>
              <a:t>, MouseMoved, </a:t>
            </a:r>
            <a:r>
              <a:rPr lang="en-US" dirty="0" err="1"/>
              <a:t>MouseReleased</a:t>
            </a:r>
            <a:endParaRPr lang="ru-RU" dirty="0"/>
          </a:p>
          <a:p>
            <a:r>
              <a:rPr lang="ru-RU" dirty="0"/>
              <a:t>в действия приложения</a:t>
            </a:r>
            <a:endParaRPr lang="en-US" dirty="0"/>
          </a:p>
          <a:p>
            <a:pPr lvl="1"/>
            <a:r>
              <a:rPr lang="en-US" dirty="0"/>
              <a:t>Select</a:t>
            </a:r>
          </a:p>
          <a:p>
            <a:pPr lvl="1"/>
            <a:r>
              <a:rPr lang="en-US" dirty="0"/>
              <a:t>Move</a:t>
            </a:r>
          </a:p>
          <a:p>
            <a:pPr lvl="1"/>
            <a:r>
              <a:rPr lang="en-US" dirty="0" err="1"/>
              <a:t>FinishDrag</a:t>
            </a:r>
            <a:endParaRPr lang="ru-RU" dirty="0"/>
          </a:p>
          <a:p>
            <a:r>
              <a:rPr lang="ru-RU" dirty="0"/>
              <a:t>Контроллер отвечает на вопрос</a:t>
            </a:r>
          </a:p>
          <a:p>
            <a:pPr lvl="1"/>
            <a:r>
              <a:rPr lang="ru-RU" dirty="0"/>
              <a:t>Что означает действие пользователя и какое изменение приложения оно должно вызвать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40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819C-C0EA-BDF1-0723-DC920718A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Почти</a:t>
            </a:r>
            <a:r>
              <a:rPr lang="en-US" dirty="0"/>
              <a:t> MVC —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 GUI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оформлена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8F31D-2922-C701-AF7E-4198E8C0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разделили ответственность между </a:t>
            </a:r>
            <a:r>
              <a:rPr lang="en-US" dirty="0"/>
              <a:t>Drawing, </a:t>
            </a:r>
            <a:r>
              <a:rPr lang="en-US" dirty="0" err="1"/>
              <a:t>DrawingRenderer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EditorController</a:t>
            </a:r>
            <a:endParaRPr lang="ru-RU" dirty="0"/>
          </a:p>
          <a:p>
            <a:r>
              <a:rPr lang="ru-RU" dirty="0"/>
              <a:t>Однако </a:t>
            </a:r>
            <a:r>
              <a:rPr lang="en-US" dirty="0"/>
              <a:t>main </a:t>
            </a:r>
            <a:r>
              <a:rPr lang="ru-RU" dirty="0"/>
              <a:t>всё еще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Управляет </a:t>
            </a:r>
            <a:r>
              <a:rPr lang="en-US" dirty="0" err="1"/>
              <a:t>RenderWindow</a:t>
            </a:r>
            <a:endParaRPr lang="en-US" dirty="0"/>
          </a:p>
          <a:p>
            <a:pPr lvl="1"/>
            <a:r>
              <a:rPr lang="ru-RU" dirty="0"/>
              <a:t>Преобразует координаты</a:t>
            </a:r>
          </a:p>
          <a:p>
            <a:pPr lvl="1"/>
            <a:r>
              <a:rPr lang="ru-RU" dirty="0"/>
              <a:t>Обрабатывает события </a:t>
            </a:r>
            <a:r>
              <a:rPr lang="en-US" dirty="0"/>
              <a:t>SFML</a:t>
            </a:r>
          </a:p>
          <a:p>
            <a:pPr lvl="1"/>
            <a:r>
              <a:rPr lang="ru-RU" dirty="0"/>
              <a:t>Передаёт события в </a:t>
            </a:r>
            <a:r>
              <a:rPr lang="en-US" dirty="0" err="1"/>
              <a:t>EditorController</a:t>
            </a:r>
            <a:endParaRPr lang="ru-RU" dirty="0"/>
          </a:p>
          <a:p>
            <a:r>
              <a:rPr lang="ru-RU" dirty="0"/>
              <a:t>Граница между приложением и </a:t>
            </a:r>
            <a:r>
              <a:rPr lang="en-US" dirty="0"/>
              <a:t>GUI </a:t>
            </a:r>
            <a:r>
              <a:rPr lang="ru-RU" dirty="0"/>
              <a:t>библиотекой размазана между </a:t>
            </a:r>
            <a:r>
              <a:rPr lang="en-US" dirty="0" err="1"/>
              <a:t>DrawingRenderer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main</a:t>
            </a:r>
          </a:p>
          <a:p>
            <a:pPr lvl="1"/>
            <a:endParaRPr lang="ru-RU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9451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9621AF-5361-2F0B-1217-FB7B689F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Оформляем границу пользовательского интерфейса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221159-0B3A-704D-11C9-02BBC0127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551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56A22C-40FA-BD0A-55D0-5821009C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много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85DD36-E784-2597-7C86-E7A18C454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 err="1"/>
              <a:t>Сейчас</a:t>
            </a:r>
            <a:r>
              <a:rPr lang="en-US" dirty="0"/>
              <a:t> main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 err="1"/>
              <a:t>сборку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endParaRPr lang="en-US" dirty="0"/>
          </a:p>
          <a:p>
            <a:pPr lvl="1"/>
            <a:r>
              <a:rPr lang="en-US" dirty="0" err="1"/>
              <a:t>окно</a:t>
            </a:r>
            <a:r>
              <a:rPr lang="en-US" dirty="0"/>
              <a:t> и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жизненный</a:t>
            </a:r>
            <a:r>
              <a:rPr lang="en-US" dirty="0"/>
              <a:t> </a:t>
            </a:r>
            <a:r>
              <a:rPr lang="en-US" dirty="0" err="1"/>
              <a:t>цикл</a:t>
            </a:r>
            <a:endParaRPr lang="en-US" dirty="0"/>
          </a:p>
          <a:p>
            <a:pPr lvl="1"/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SFML</a:t>
            </a:r>
          </a:p>
          <a:p>
            <a:pPr lvl="1"/>
            <a:r>
              <a:rPr lang="en-US" dirty="0" err="1"/>
              <a:t>передачу</a:t>
            </a:r>
            <a:r>
              <a:rPr lang="en-US" dirty="0"/>
              <a:t> </a:t>
            </a:r>
            <a:r>
              <a:rPr lang="en-US" dirty="0" err="1"/>
              <a:t>ввода</a:t>
            </a:r>
            <a:r>
              <a:rPr lang="en-US" dirty="0"/>
              <a:t> Controller</a:t>
            </a:r>
          </a:p>
          <a:p>
            <a:pPr lvl="1"/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отрисовки</a:t>
            </a:r>
            <a:endParaRPr lang="ru-RU" dirty="0"/>
          </a:p>
          <a:p>
            <a:r>
              <a:rPr lang="en-US" b="1" dirty="0"/>
              <a:t>SRP:</a:t>
            </a:r>
            <a:r>
              <a:rPr lang="en-US" dirty="0"/>
              <a:t> </a:t>
            </a:r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и </a:t>
            </a:r>
            <a:r>
              <a:rPr lang="en-US" dirty="0" err="1"/>
              <a:t>устройство</a:t>
            </a:r>
            <a:r>
              <a:rPr lang="en-US" dirty="0"/>
              <a:t> GUI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27D043-6A01-D3A1-0BDA-EB8B60AFD99B}"/>
              </a:ext>
            </a:extLst>
          </p:cNvPr>
          <p:cNvSpPr txBox="1"/>
          <p:nvPr/>
        </p:nvSpPr>
        <p:spPr>
          <a:xfrm>
            <a:off x="6254750" y="1825625"/>
            <a:ext cx="509905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sf::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RenderWindow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isOpen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pollEvent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Closed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MouseButtonPressed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MouseButtonReleased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MouseMoved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renderer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56598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DEF22-05A9-B521-23ED-4AEF68788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внутреннее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ED607-C5E6-27BE-F459-994D759C6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54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selectedShape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renderer.Draw</a:t>
            </a:r>
            <a:r>
              <a:rPr lang="en-US" dirty="0"/>
              <a:t>(drawing,</a:t>
            </a:r>
            <a:r>
              <a:rPr lang="ru-RU" dirty="0"/>
              <a:t> </a:t>
            </a:r>
            <a:r>
              <a:rPr lang="en-US" dirty="0" err="1"/>
              <a:t>controller.GetSelectedShape</a:t>
            </a:r>
            <a:r>
              <a:rPr lang="en-US" dirty="0"/>
              <a:t>(),</a:t>
            </a:r>
            <a:r>
              <a:rPr lang="ru-RU" dirty="0"/>
              <a:t> </a:t>
            </a:r>
            <a:r>
              <a:rPr lang="en-US" dirty="0"/>
              <a:t>window);</a:t>
            </a:r>
          </a:p>
          <a:p>
            <a:r>
              <a:rPr lang="ru-RU" dirty="0"/>
              <a:t>Выделим </a:t>
            </a:r>
            <a:r>
              <a:rPr lang="en-US" dirty="0" err="1"/>
              <a:t>EditorSession</a:t>
            </a:r>
            <a:endParaRPr lang="en-US" dirty="0"/>
          </a:p>
          <a:p>
            <a:r>
              <a:rPr lang="en-US" dirty="0"/>
              <a:t>Drawing – </a:t>
            </a:r>
            <a:r>
              <a:rPr lang="ru-RU" dirty="0"/>
              <a:t>состояние документа</a:t>
            </a:r>
          </a:p>
          <a:p>
            <a:r>
              <a:rPr lang="en-US" dirty="0" err="1"/>
              <a:t>EditorSession</a:t>
            </a:r>
            <a:r>
              <a:rPr lang="en-US" dirty="0"/>
              <a:t> – </a:t>
            </a:r>
            <a:r>
              <a:rPr lang="ru-RU" dirty="0"/>
              <a:t>состояние работы с документом</a:t>
            </a:r>
          </a:p>
          <a:p>
            <a:r>
              <a:rPr lang="en-US" dirty="0"/>
              <a:t>Controller – </a:t>
            </a:r>
            <a:r>
              <a:rPr lang="ru-RU" dirty="0"/>
              <a:t>состояние текущего взаимодействия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A9E35C-0F3F-926D-E4C1-E584E3BAB146}"/>
              </a:ext>
            </a:extLst>
          </p:cNvPr>
          <p:cNvSpPr txBox="1"/>
          <p:nvPr/>
        </p:nvSpPr>
        <p:spPr>
          <a:xfrm>
            <a:off x="6248402" y="1886783"/>
            <a:ext cx="510539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EditorSession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m_selectedShape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4826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9DC0-C6CF-827A-6AB1-2C0A60E7A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Уточняем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B1A74-DBA9-5E1E-07EA-131CA4AFF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79412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Что делает </a:t>
            </a:r>
            <a:r>
              <a:rPr lang="en-US" dirty="0" err="1"/>
              <a:t>EditorController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Нажатие на </a:t>
            </a:r>
            <a:r>
              <a:rPr lang="en-US" dirty="0"/>
              <a:t>Canvas -&gt; </a:t>
            </a:r>
            <a:r>
              <a:rPr lang="ru-RU" dirty="0"/>
              <a:t>выбор фигуры</a:t>
            </a:r>
          </a:p>
          <a:p>
            <a:pPr lvl="1"/>
            <a:r>
              <a:rPr lang="en-US" dirty="0"/>
              <a:t>Drag </a:t>
            </a:r>
            <a:r>
              <a:rPr lang="ru-RU" dirty="0"/>
              <a:t>по </a:t>
            </a:r>
            <a:r>
              <a:rPr lang="en-US" dirty="0"/>
              <a:t>Canvas -&gt;</a:t>
            </a:r>
            <a:r>
              <a:rPr lang="ru-RU" dirty="0"/>
              <a:t> перемещение фигуры</a:t>
            </a:r>
          </a:p>
          <a:p>
            <a:r>
              <a:rPr lang="ru-RU" dirty="0"/>
              <a:t>Он не управляет окном, меню, панелью свойств и другими областями интерфейса</a:t>
            </a:r>
          </a:p>
          <a:p>
            <a:r>
              <a:rPr lang="ru-RU" dirty="0"/>
              <a:t>Сузим его ответственность и назовём </a:t>
            </a:r>
            <a:r>
              <a:rPr lang="en-US" dirty="0" err="1"/>
              <a:t>CanvasController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C14BD4-35DB-8819-87CD-3DFA502C0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5619749"/>
            <a:ext cx="10515600" cy="55721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Имя</a:t>
            </a:r>
            <a:r>
              <a:rPr lang="en-US" b="1" dirty="0"/>
              <a:t> </a:t>
            </a:r>
            <a:r>
              <a:rPr lang="en-US" b="1" dirty="0" err="1"/>
              <a:t>отражает</a:t>
            </a:r>
            <a:r>
              <a:rPr lang="en-US" b="1" dirty="0"/>
              <a:t> </a:t>
            </a:r>
            <a:r>
              <a:rPr lang="en-US" b="1" dirty="0" err="1"/>
              <a:t>границу</a:t>
            </a:r>
            <a:r>
              <a:rPr lang="en-US" b="1" dirty="0"/>
              <a:t> </a:t>
            </a:r>
            <a:r>
              <a:rPr lang="en-US" b="1" dirty="0" err="1"/>
              <a:t>ответственности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D4CB2-714E-2175-D3B8-C8EBBD25F333}"/>
              </a:ext>
            </a:extLst>
          </p:cNvPr>
          <p:cNvSpPr txBox="1"/>
          <p:nvPr/>
        </p:nvSpPr>
        <p:spPr>
          <a:xfrm>
            <a:off x="6457950" y="1825625"/>
            <a:ext cx="48958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CanvasController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CanvasController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EditorSession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OnMousePressed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OnMouseMoved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OnMouseReleased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88594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9495-F88C-867F-4AFA-99D558626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У Canvas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и </a:t>
            </a:r>
            <a:r>
              <a:rPr lang="en-US" dirty="0" err="1"/>
              <a:t>ввод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40AF3-16A3-9B77-52CF-8043CE323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ru-RU" dirty="0"/>
              <a:t>Сейчас </a:t>
            </a:r>
            <a:r>
              <a:rPr lang="en-US" dirty="0"/>
              <a:t>main</a:t>
            </a:r>
            <a:r>
              <a:rPr lang="ru-RU" dirty="0"/>
              <a:t> отвечает за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преобразование событий </a:t>
            </a:r>
            <a:r>
              <a:rPr lang="en-US" dirty="0"/>
              <a:t>SFML</a:t>
            </a:r>
            <a:r>
              <a:rPr lang="ru-RU" dirty="0"/>
              <a:t> в вызовы </a:t>
            </a:r>
            <a:r>
              <a:rPr lang="en-US" dirty="0" err="1"/>
              <a:t>CanvasController</a:t>
            </a:r>
            <a:endParaRPr lang="en-US" dirty="0"/>
          </a:p>
          <a:p>
            <a:pPr lvl="1"/>
            <a:r>
              <a:rPr lang="ru-RU" dirty="0"/>
              <a:t>Вызовы </a:t>
            </a:r>
            <a:r>
              <a:rPr lang="en-US" dirty="0" err="1"/>
              <a:t>DrawingRenderer</a:t>
            </a:r>
            <a:r>
              <a:rPr lang="ru-RU" dirty="0"/>
              <a:t>, чтобы показать состояние рисунка</a:t>
            </a:r>
          </a:p>
          <a:p>
            <a:r>
              <a:rPr lang="ru-RU" dirty="0"/>
              <a:t>Выделим эту ответственность в </a:t>
            </a:r>
            <a:r>
              <a:rPr lang="en-US" dirty="0" err="1"/>
              <a:t>CanvasView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8B85C-3516-2774-A8D2-AAA35F2D3507}"/>
              </a:ext>
            </a:extLst>
          </p:cNvPr>
          <p:cNvSpPr txBox="1"/>
          <p:nvPr/>
        </p:nvSpPr>
        <p:spPr>
          <a:xfrm>
            <a:off x="6095999" y="1825625"/>
            <a:ext cx="59000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CanvasView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CanvasView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EditorSession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HandleEvent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sf::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(sf::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CanvasController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m_controller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DrawingRenderer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m_renderer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812133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11E4F7A-7DE4-F661-E28B-B76D30491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</a:t>
            </a:r>
            <a:r>
              <a:rPr lang="en-US" dirty="0" err="1"/>
              <a:t>CanvasView</a:t>
            </a:r>
            <a:r>
              <a:rPr lang="ru-RU" dirty="0"/>
              <a:t> взаимодействует с другими классами</a:t>
            </a: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D30906A-9373-5BD4-3B4E-9ECE110D1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66421" y="1825625"/>
            <a:ext cx="54591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040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EBAC-B738-D73D-E4B1-A3183BE4C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Кому принадлежит </a:t>
            </a:r>
            <a:r>
              <a:rPr lang="en-US" dirty="0"/>
              <a:t>event loop?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ABC60-9640-6714-24EE-A269619E5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6077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А </a:t>
            </a:r>
            <a:r>
              <a:rPr lang="en-US" dirty="0" err="1"/>
              <a:t>куда</a:t>
            </a:r>
            <a:r>
              <a:rPr lang="en-US" dirty="0"/>
              <a:t> </a:t>
            </a:r>
            <a:r>
              <a:rPr lang="en-US" dirty="0" err="1"/>
              <a:t>поместить</a:t>
            </a:r>
            <a:r>
              <a:rPr lang="en-US" dirty="0"/>
              <a:t> </a:t>
            </a:r>
            <a:r>
              <a:rPr lang="en-US" dirty="0" err="1"/>
              <a:t>pollEvent</a:t>
            </a:r>
            <a:r>
              <a:rPr lang="en-US" dirty="0"/>
              <a:t>()?</a:t>
            </a:r>
          </a:p>
          <a:p>
            <a:r>
              <a:rPr lang="ru-RU" dirty="0"/>
              <a:t>Тоже в </a:t>
            </a:r>
            <a:r>
              <a:rPr lang="en-US" dirty="0" err="1"/>
              <a:t>CanvasView</a:t>
            </a:r>
            <a:r>
              <a:rPr lang="en-US" dirty="0"/>
              <a:t>?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CanvasView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Run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window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isOpen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window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pollEvent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...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В одном окне может содержаться несколько представлений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FD9B5C-1DA2-CAA8-5EBD-0D2268031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486399"/>
            <a:ext cx="10515600" cy="690563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окну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конкретному</a:t>
            </a:r>
            <a:r>
              <a:rPr lang="en-US" dirty="0"/>
              <a:t> View.</a:t>
            </a:r>
          </a:p>
        </p:txBody>
      </p:sp>
    </p:spTree>
    <p:extLst>
      <p:ext uri="{BB962C8B-B14F-4D97-AF65-F5344CB8AC3E}">
        <p14:creationId xmlns:p14="http://schemas.microsoft.com/office/powerpoint/2010/main" val="14172211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4304F-343F-3B7E-2E8A-531A1C6F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Окно</a:t>
            </a:r>
            <a:r>
              <a:rPr lang="en-US" dirty="0"/>
              <a:t> — </a:t>
            </a:r>
            <a:r>
              <a:rPr lang="en-US" dirty="0" err="1"/>
              <a:t>владелец</a:t>
            </a:r>
            <a:r>
              <a:rPr lang="en-US" dirty="0"/>
              <a:t> UI-</a:t>
            </a:r>
            <a:r>
              <a:rPr lang="en-US" dirty="0" err="1"/>
              <a:t>сеанса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92081CC-70A1-14E7-2579-6C06E38FBD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16" y="1825625"/>
            <a:ext cx="5125368" cy="35512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93656-52CE-866E-14B2-552637071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511799"/>
            <a:ext cx="10515600" cy="785483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представлений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окна</a:t>
            </a:r>
            <a:r>
              <a:rPr lang="en-US" dirty="0"/>
              <a:t>,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окну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0C0EE-5235-6452-E48C-04C060B616F6}"/>
              </a:ext>
            </a:extLst>
          </p:cNvPr>
          <p:cNvSpPr txBox="1"/>
          <p:nvPr/>
        </p:nvSpPr>
        <p:spPr>
          <a:xfrm>
            <a:off x="6172200" y="1825625"/>
            <a:ext cx="5181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EditorWindow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EditorWindow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m_window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(sf::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VideoMode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}),</a:t>
            </a:r>
          </a:p>
          <a:p>
            <a:pPr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 SFML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m_canvasView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sf::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RenderWindow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m_window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EditorSession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CanvasView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m_canvasView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938413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2F31-9B32-7361-4883-E31D6AE1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запуск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5FD3EC-116C-FEF0-DAFD-54AC5FEE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Теперь</a:t>
            </a:r>
            <a:r>
              <a:rPr lang="en-US" dirty="0"/>
              <a:t> main:</a:t>
            </a:r>
          </a:p>
          <a:p>
            <a:pPr lvl="1"/>
            <a:r>
              <a:rPr lang="ru-RU" dirty="0"/>
              <a:t>Создаёт документ</a:t>
            </a:r>
          </a:p>
          <a:p>
            <a:pPr lvl="1"/>
            <a:r>
              <a:rPr lang="ru-RU" dirty="0"/>
              <a:t>Создаёт окно редактора</a:t>
            </a:r>
          </a:p>
          <a:p>
            <a:pPr lvl="1"/>
            <a:r>
              <a:rPr lang="ru-RU" dirty="0"/>
              <a:t>Запускает приложение</a:t>
            </a:r>
          </a:p>
          <a:p>
            <a:r>
              <a:rPr lang="en-US" dirty="0" err="1"/>
              <a:t>EditorView</a:t>
            </a:r>
            <a:endParaRPr lang="en-US" dirty="0"/>
          </a:p>
          <a:p>
            <a:pPr lvl="1"/>
            <a:r>
              <a:rPr lang="en-US" dirty="0"/>
              <a:t>sf::</a:t>
            </a:r>
            <a:r>
              <a:rPr lang="en-US" dirty="0" err="1"/>
              <a:t>RenderWindow</a:t>
            </a:r>
            <a:endParaRPr lang="en-US" dirty="0"/>
          </a:p>
          <a:p>
            <a:pPr lvl="1"/>
            <a:r>
              <a:rPr lang="en-US" dirty="0" err="1"/>
              <a:t>EditorSessoin</a:t>
            </a:r>
            <a:endParaRPr lang="en-US" dirty="0"/>
          </a:p>
          <a:p>
            <a:pPr lvl="1"/>
            <a:r>
              <a:rPr lang="en-US" dirty="0" err="1"/>
              <a:t>CanvasView</a:t>
            </a:r>
            <a:endParaRPr lang="en-US" dirty="0"/>
          </a:p>
          <a:p>
            <a:pPr lvl="2"/>
            <a:r>
              <a:rPr lang="en-US" dirty="0" err="1"/>
              <a:t>CanvasController</a:t>
            </a:r>
            <a:endParaRPr lang="en-US" dirty="0"/>
          </a:p>
          <a:p>
            <a:pPr lvl="2"/>
            <a:r>
              <a:rPr lang="en-US" dirty="0" err="1"/>
              <a:t>DrawingRenderer</a:t>
            </a:r>
            <a:endParaRPr lang="ru-RU" dirty="0"/>
          </a:p>
          <a:p>
            <a:r>
              <a:rPr lang="en-US" dirty="0" err="1"/>
              <a:t>Корневые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 </a:t>
            </a:r>
            <a:r>
              <a:rPr lang="en-US" dirty="0" err="1"/>
              <a:t>создаются</a:t>
            </a:r>
            <a:r>
              <a:rPr lang="en-US" dirty="0"/>
              <a:t> </a:t>
            </a:r>
            <a:r>
              <a:rPr lang="en-US" dirty="0" err="1"/>
              <a:t>снаружи</a:t>
            </a:r>
            <a:r>
              <a:rPr lang="en-US" dirty="0"/>
              <a:t>, </a:t>
            </a:r>
            <a:r>
              <a:rPr lang="en-US" dirty="0" err="1"/>
              <a:t>внутренние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— </a:t>
            </a:r>
            <a:r>
              <a:rPr lang="en-US" dirty="0" err="1"/>
              <a:t>своим</a:t>
            </a:r>
            <a:r>
              <a:rPr lang="en-US" dirty="0"/>
              <a:t> </a:t>
            </a:r>
            <a:r>
              <a:rPr lang="en-US" dirty="0" err="1"/>
              <a:t>владельцем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B1A8BD-722C-F09C-8B38-D69324B4DE1C}"/>
              </a:ext>
            </a:extLst>
          </p:cNvPr>
          <p:cNvSpPr txBox="1"/>
          <p:nvPr/>
        </p:nvSpPr>
        <p:spPr>
          <a:xfrm>
            <a:off x="6095999" y="1825625"/>
            <a:ext cx="589471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100.f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100.f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200.f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100.f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400.f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300.f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150.f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100.f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}));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EditorWindow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51664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D83B-F592-E0D9-D3B4-74DE81EC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Как</a:t>
            </a:r>
            <a:r>
              <a:rPr lang="en-US" dirty="0"/>
              <a:t> View </a:t>
            </a:r>
            <a:r>
              <a:rPr lang="en-US" dirty="0" err="1"/>
              <a:t>узнают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изменениях</a:t>
            </a:r>
            <a:r>
              <a:rPr lang="en-US" dirty="0"/>
              <a:t> Model?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C7EB5-63D6-ECE6-5B44-DEA0563E8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6529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619A0A-8233-1951-DACE-89A8DE0B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DFE71A-33E0-0861-B801-192470F98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Controller </a:t>
            </a:r>
            <a:r>
              <a:rPr lang="en-US" dirty="0" err="1"/>
              <a:t>изменяет</a:t>
            </a:r>
            <a:r>
              <a:rPr lang="en-US" dirty="0"/>
              <a:t> Model:</a:t>
            </a:r>
            <a:endParaRPr lang="ru-RU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selectedShape</a:t>
            </a:r>
            <a:r>
              <a:rPr lang="en-US" dirty="0">
                <a:latin typeface="Consolas" panose="020B0609020204030204" pitchFamily="49" charset="0"/>
              </a:rPr>
              <a:t>-&gt;</a:t>
            </a:r>
            <a:r>
              <a:rPr lang="en-US" dirty="0" err="1">
                <a:latin typeface="Consolas" panose="020B0609020204030204" pitchFamily="49" charset="0"/>
              </a:rPr>
              <a:t>MoveBy</a:t>
            </a:r>
            <a:r>
              <a:rPr lang="en-US" dirty="0">
                <a:latin typeface="Consolas" panose="020B0609020204030204" pitchFamily="49" charset="0"/>
              </a:rPr>
              <a:t>(offset);</a:t>
            </a:r>
          </a:p>
          <a:p>
            <a:r>
              <a:rPr lang="en-US" dirty="0"/>
              <a:t>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кадре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m_window.clear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m_canvasView.Draw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m_window</a:t>
            </a:r>
            <a:r>
              <a:rPr lang="en-US" dirty="0">
                <a:latin typeface="Consolas" panose="020B0609020204030204" pitchFamily="49" charset="0"/>
              </a:rPr>
              <a:t>);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m_window.display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en-US" dirty="0" err="1"/>
              <a:t>CanvasView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актуальное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Drawing.</a:t>
            </a:r>
          </a:p>
          <a:p>
            <a:r>
              <a:rPr lang="ru-RU" dirty="0"/>
              <a:t>Для </a:t>
            </a:r>
            <a:r>
              <a:rPr lang="ru-RU" dirty="0" err="1"/>
              <a:t>Canvas</a:t>
            </a:r>
            <a:r>
              <a:rPr lang="ru-RU" dirty="0"/>
              <a:t> отдельный механизм уведомлений пока не нужен.</a:t>
            </a:r>
            <a:endParaRPr lang="en-US" dirty="0"/>
          </a:p>
          <a:p>
            <a:r>
              <a:rPr lang="en-US" b="1" dirty="0"/>
              <a:t>KISS / YAGNI: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подходящий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View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перечитывают</a:t>
            </a:r>
            <a:r>
              <a:rPr lang="en-US" dirty="0"/>
              <a:t> Model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кадр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7941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23C4F-E832-57BE-3B36-729356A54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CCB06-7690-3723-F772-F1148BF2E1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Одну</a:t>
            </a:r>
            <a:r>
              <a:rPr lang="en-US" dirty="0"/>
              <a:t> Model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View</a:t>
            </a:r>
            <a:endParaRPr lang="ru-RU" dirty="0"/>
          </a:p>
          <a:p>
            <a:pPr lvl="1"/>
            <a:r>
              <a:rPr lang="en-US" dirty="0" err="1"/>
              <a:t>CanvasView</a:t>
            </a:r>
            <a:endParaRPr lang="en-US" dirty="0"/>
          </a:p>
          <a:p>
            <a:pPr lvl="1"/>
            <a:r>
              <a:rPr lang="en-US" dirty="0" err="1"/>
              <a:t>ShapeListView</a:t>
            </a:r>
            <a:endParaRPr lang="en-US" dirty="0"/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переместил</a:t>
            </a:r>
            <a:r>
              <a:rPr lang="en-US" dirty="0"/>
              <a:t> Rectangle </a:t>
            </a:r>
            <a:r>
              <a:rPr lang="ru-RU" dirty="0"/>
              <a:t>мышью</a:t>
            </a:r>
            <a:endParaRPr lang="en-US" dirty="0"/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ShapeListView</a:t>
            </a:r>
            <a:r>
              <a:rPr lang="en-US" dirty="0"/>
              <a:t> </a:t>
            </a:r>
            <a:r>
              <a:rPr lang="en-US" dirty="0" err="1"/>
              <a:t>узнает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Drawing </a:t>
            </a:r>
            <a:r>
              <a:rPr lang="en-US" dirty="0" err="1"/>
              <a:t>изменился</a:t>
            </a:r>
            <a:r>
              <a:rPr lang="en-US" dirty="0"/>
              <a:t>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B6CD93-2BDA-96C1-6A53-E1D123C23A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57026"/>
            <a:ext cx="5181600" cy="268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035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C01E0-43C1-9AB8-0B66-EC675423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Пусть</a:t>
            </a:r>
            <a:r>
              <a:rPr lang="en-US" dirty="0"/>
              <a:t> Controller </a:t>
            </a:r>
            <a:r>
              <a:rPr lang="en-US" dirty="0" err="1"/>
              <a:t>обновит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55502-ACE1-9DB3-58CB-D283BD912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прямое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CanvasController</a:t>
            </a:r>
            <a:r>
              <a:rPr lang="en-US" dirty="0">
                <a:latin typeface="Consolas" panose="020B0609020204030204" pitchFamily="49" charset="0"/>
              </a:rPr>
              <a:t>::</a:t>
            </a:r>
            <a:r>
              <a:rPr lang="en-US" dirty="0" err="1">
                <a:latin typeface="Consolas" panose="020B0609020204030204" pitchFamily="49" charset="0"/>
              </a:rPr>
              <a:t>OnMouseMoved</a:t>
            </a:r>
            <a:r>
              <a:rPr lang="en-US" dirty="0">
                <a:latin typeface="Consolas" panose="020B0609020204030204" pitchFamily="49" charset="0"/>
              </a:rPr>
              <a:t>(Point2 point)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// </a:t>
            </a:r>
            <a:r>
              <a:rPr lang="en-US" dirty="0" err="1">
                <a:latin typeface="Consolas" panose="020B0609020204030204" pitchFamily="49" charset="0"/>
              </a:rPr>
              <a:t>перемещаем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фигуру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m_canvasView.Update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m_shapeListView.Update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При добавлении новых </a:t>
            </a:r>
            <a:r>
              <a:rPr lang="en-US" dirty="0"/>
              <a:t>View</a:t>
            </a:r>
            <a:r>
              <a:rPr lang="ru-RU" dirty="0"/>
              <a:t>, контроллер начинает знать про всех потребителей модели</a:t>
            </a:r>
          </a:p>
          <a:p>
            <a:r>
              <a:rPr lang="en-US" b="1" dirty="0"/>
              <a:t>SRP:</a:t>
            </a:r>
            <a:r>
              <a:rPr lang="en-US" dirty="0"/>
              <a:t> Controller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интерпретировать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.</a:t>
            </a:r>
          </a:p>
          <a:p>
            <a:r>
              <a:rPr lang="en-US" b="1" dirty="0"/>
              <a:t>OCP: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View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заставлять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, </a:t>
            </a:r>
            <a:r>
              <a:rPr lang="en-US" dirty="0" err="1"/>
              <a:t>изменяющие</a:t>
            </a:r>
            <a:r>
              <a:rPr lang="en-US" dirty="0"/>
              <a:t>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251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37F3-F316-F96C-866D-5782F9DF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C02C7-12B2-2AA2-9D6C-F9ACE53E8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ru-RU" dirty="0"/>
              <a:t>Не </a:t>
            </a:r>
            <a:r>
              <a:rPr lang="en-US" dirty="0"/>
              <a:t>Controller</a:t>
            </a:r>
            <a:r>
              <a:rPr lang="ru-RU" dirty="0"/>
              <a:t> должен знать всех, кого затронуло изменение</a:t>
            </a:r>
          </a:p>
          <a:p>
            <a:r>
              <a:rPr lang="en-US" dirty="0"/>
              <a:t>Drawing </a:t>
            </a:r>
            <a:r>
              <a:rPr lang="ru-RU" dirty="0"/>
              <a:t>не должен знать про </a:t>
            </a:r>
            <a:r>
              <a:rPr lang="en-US" dirty="0" err="1"/>
              <a:t>ShapeListView</a:t>
            </a:r>
            <a:r>
              <a:rPr lang="en-US" dirty="0"/>
              <a:t>, </a:t>
            </a:r>
            <a:r>
              <a:rPr lang="en-US" dirty="0" err="1"/>
              <a:t>CanvasView</a:t>
            </a:r>
            <a:r>
              <a:rPr lang="ru-RU" dirty="0"/>
              <a:t> или другие конкретные классы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747261-A8AB-30F9-5E06-8A893B0D3683}"/>
              </a:ext>
            </a:extLst>
          </p:cNvPr>
          <p:cNvSpPr txBox="1"/>
          <p:nvPr/>
        </p:nvSpPr>
        <p:spPr>
          <a:xfrm>
            <a:off x="6095999" y="1825625"/>
            <a:ext cx="6446809" cy="3190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IDrawingListener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IDrawingListener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OnDrawingChanged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IDrawingListener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RemoveListener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IDrawingListener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75958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93C4B-F3F3-801E-2C89-067B9EF78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отправлять</a:t>
            </a:r>
            <a:r>
              <a:rPr lang="en-US" dirty="0"/>
              <a:t> </a:t>
            </a:r>
            <a:r>
              <a:rPr lang="en-US" dirty="0" err="1"/>
              <a:t>уведомление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B3115-5101-67A1-C8B8-7BDA8C1CC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Изменили</a:t>
            </a:r>
            <a:r>
              <a:rPr lang="en-US" dirty="0"/>
              <a:t> Model —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сообщит</a:t>
            </a:r>
            <a:r>
              <a:rPr lang="en-US" dirty="0"/>
              <a:t> </a:t>
            </a:r>
            <a:r>
              <a:rPr lang="en-US" dirty="0" err="1"/>
              <a:t>подписчикам</a:t>
            </a:r>
            <a:r>
              <a:rPr lang="en-US" dirty="0"/>
              <a:t>?</a:t>
            </a:r>
          </a:p>
          <a:p>
            <a:r>
              <a:rPr lang="ru-RU" dirty="0"/>
              <a:t>Плохой вариант: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selectedShape</a:t>
            </a:r>
            <a:r>
              <a:rPr lang="en-US" dirty="0">
                <a:latin typeface="Consolas" panose="020B0609020204030204" pitchFamily="49" charset="0"/>
              </a:rPr>
              <a:t>-&gt;</a:t>
            </a:r>
            <a:r>
              <a:rPr lang="en-US" dirty="0" err="1">
                <a:latin typeface="Consolas" panose="020B0609020204030204" pitchFamily="49" charset="0"/>
              </a:rPr>
              <a:t>MoveBy</a:t>
            </a:r>
            <a:r>
              <a:rPr lang="en-US" dirty="0">
                <a:latin typeface="Consolas" panose="020B0609020204030204" pitchFamily="49" charset="0"/>
              </a:rPr>
              <a:t>(offset);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drawing.NotifyObservers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ru-RU" dirty="0"/>
              <a:t>Каждый, кто изменяет модель, должен помнить про </a:t>
            </a:r>
            <a:r>
              <a:rPr lang="en-US" dirty="0"/>
              <a:t>Notify().</a:t>
            </a:r>
          </a:p>
          <a:p>
            <a:r>
              <a:rPr lang="ru-RU" dirty="0"/>
              <a:t>Лучше: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class Drawing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public: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void </a:t>
            </a:r>
            <a:r>
              <a:rPr lang="en-US" dirty="0" err="1">
                <a:latin typeface="Consolas" panose="020B0609020204030204" pitchFamily="49" charset="0"/>
              </a:rPr>
              <a:t>MoveShape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IShape</a:t>
            </a:r>
            <a:r>
              <a:rPr lang="en-US" dirty="0">
                <a:latin typeface="Consolas" panose="020B0609020204030204" pitchFamily="49" charset="0"/>
              </a:rPr>
              <a:t>&amp; shape, Vector2 offset)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shape.MoveBy</a:t>
            </a:r>
            <a:r>
              <a:rPr lang="en-US" dirty="0">
                <a:latin typeface="Consolas" panose="020B0609020204030204" pitchFamily="49" charset="0"/>
              </a:rPr>
              <a:t>(offset);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NotifyListeners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}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};</a:t>
            </a:r>
          </a:p>
          <a:p>
            <a:r>
              <a:rPr lang="ru-RU" dirty="0"/>
              <a:t>Контроллер:</a:t>
            </a:r>
          </a:p>
          <a:p>
            <a:pPr lvl="1"/>
            <a:r>
              <a:rPr lang="en-US" dirty="0" err="1"/>
              <a:t>m_drawing.MoveShape</a:t>
            </a:r>
            <a:r>
              <a:rPr lang="en-US" dirty="0"/>
              <a:t>(*</a:t>
            </a:r>
            <a:r>
              <a:rPr lang="en-US" dirty="0" err="1"/>
              <a:t>selectedShape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point - </a:t>
            </a:r>
            <a:r>
              <a:rPr lang="en-US" dirty="0" err="1"/>
              <a:t>m_lastMousePosition</a:t>
            </a:r>
            <a:r>
              <a:rPr lang="en-US" dirty="0"/>
              <a:t>);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747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2910-D728-2787-8E61-D98BC546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Подписчики</a:t>
            </a:r>
            <a:r>
              <a:rPr lang="en-US" dirty="0"/>
              <a:t> </a:t>
            </a:r>
            <a:r>
              <a:rPr lang="en-US" dirty="0" err="1"/>
              <a:t>реагируют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CDAFC-058F-5F41-A80C-A8690BA8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4026" cy="4351338"/>
          </a:xfrm>
        </p:spPr>
        <p:txBody>
          <a:bodyPr/>
          <a:lstStyle/>
          <a:p>
            <a:r>
              <a:rPr lang="en-US" dirty="0"/>
              <a:t>View </a:t>
            </a:r>
            <a:r>
              <a:rPr lang="ru-RU" dirty="0"/>
              <a:t>подписывается на изменения</a:t>
            </a:r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CanvasView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</a:t>
            </a:r>
            <a:r>
              <a:rPr lang="en-US" dirty="0"/>
              <a:t> </a:t>
            </a:r>
            <a:r>
              <a:rPr lang="en-US" dirty="0" err="1"/>
              <a:t>подписываться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38276-D565-28A9-5AAE-30D0B8D936BB}"/>
              </a:ext>
            </a:extLst>
          </p:cNvPr>
          <p:cNvSpPr txBox="1"/>
          <p:nvPr/>
        </p:nvSpPr>
        <p:spPr>
          <a:xfrm>
            <a:off x="6239776" y="1911235"/>
            <a:ext cx="59522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ShapeListView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IDrawingListener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OnDrawingChanged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896643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0E1-4333-0E5E-B277-C5809443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Observer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8C4D5-C734-8636-A47E-71AF10344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19982" cy="2125273"/>
          </a:xfrm>
        </p:spPr>
        <p:txBody>
          <a:bodyPr/>
          <a:lstStyle/>
          <a:p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построили</a:t>
            </a:r>
            <a:r>
              <a:rPr lang="en-US" dirty="0"/>
              <a:t>, — </a:t>
            </a:r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b="1" dirty="0"/>
              <a:t>Observer</a:t>
            </a:r>
          </a:p>
          <a:p>
            <a:pPr lvl="1"/>
            <a:r>
              <a:rPr lang="en-US" dirty="0"/>
              <a:t>Subject → Drawing</a:t>
            </a:r>
          </a:p>
          <a:p>
            <a:pPr lvl="1"/>
            <a:r>
              <a:rPr lang="en-US" dirty="0"/>
              <a:t>Observer → </a:t>
            </a:r>
            <a:r>
              <a:rPr lang="en-US" dirty="0" err="1"/>
              <a:t>IDrawingListener</a:t>
            </a:r>
            <a:endParaRPr lang="en-US" dirty="0"/>
          </a:p>
          <a:p>
            <a:pPr lvl="1"/>
            <a:r>
              <a:rPr lang="en-US" dirty="0" err="1"/>
              <a:t>ConcreteObserver</a:t>
            </a:r>
            <a:r>
              <a:rPr lang="en-US" dirty="0"/>
              <a:t> → </a:t>
            </a:r>
            <a:r>
              <a:rPr lang="en-US" dirty="0" err="1"/>
              <a:t>ShapeListView</a:t>
            </a:r>
            <a:r>
              <a:rPr lang="en-US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70017D-A3BE-F8BF-BADE-D14625E6B9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58182" y="1825625"/>
            <a:ext cx="4295618" cy="182238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0D37A5-51F3-F988-FC29-2512824AC2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4096140"/>
            <a:ext cx="10515600" cy="212527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Observer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источнику</a:t>
            </a:r>
            <a:r>
              <a:rPr lang="en-US" dirty="0"/>
              <a:t> </a:t>
            </a:r>
            <a:r>
              <a:rPr lang="en-US" dirty="0" err="1"/>
              <a:t>сообщать</a:t>
            </a:r>
            <a:r>
              <a:rPr lang="en-US" dirty="0"/>
              <a:t> </a:t>
            </a:r>
            <a:r>
              <a:rPr lang="en-US" dirty="0" err="1"/>
              <a:t>произвольному</a:t>
            </a:r>
            <a:r>
              <a:rPr lang="en-US" dirty="0"/>
              <a:t> </a:t>
            </a:r>
            <a:r>
              <a:rPr lang="en-US" dirty="0" err="1"/>
              <a:t>числу</a:t>
            </a:r>
            <a:r>
              <a:rPr lang="en-US" dirty="0"/>
              <a:t> </a:t>
            </a:r>
            <a:r>
              <a:rPr lang="en-US" dirty="0" err="1"/>
              <a:t>подписчиков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изменениях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зная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.</a:t>
            </a:r>
          </a:p>
          <a:p>
            <a:r>
              <a:rPr lang="en-US" b="1" dirty="0"/>
              <a:t>OCP: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подписчик</a:t>
            </a:r>
            <a:r>
              <a:rPr lang="en-US" dirty="0"/>
              <a:t> </a:t>
            </a:r>
            <a:r>
              <a:rPr lang="en-US" dirty="0" err="1"/>
              <a:t>подключается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Drawing и Controller.</a:t>
            </a:r>
          </a:p>
          <a:p>
            <a:r>
              <a:rPr lang="en-US" b="1" dirty="0"/>
              <a:t>Coupling:</a:t>
            </a:r>
            <a:r>
              <a:rPr lang="en-US" dirty="0"/>
              <a:t> Model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View.</a:t>
            </a:r>
          </a:p>
          <a:p>
            <a:r>
              <a:rPr lang="en-US" dirty="0"/>
              <a:t>KISS/YAGNI: Observer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ru-RU" dirty="0"/>
              <a:t>стало недостаточно перечитывать состояние </a:t>
            </a:r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View.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355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30A5-0BED-D5DA-7F22-DDE73F3F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OnDrawingChanged</a:t>
            </a:r>
            <a:r>
              <a:rPr lang="en-US" dirty="0"/>
              <a:t>()?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203AC3-8F9D-B61C-C8C5-BE82EF8EF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подписчик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ru-RU" dirty="0"/>
              <a:t>только уведомление, что </a:t>
            </a:r>
            <a:r>
              <a:rPr lang="en-US" dirty="0"/>
              <a:t>Drawing</a:t>
            </a:r>
            <a:r>
              <a:rPr lang="ru-RU" dirty="0"/>
              <a:t> изменился.</a:t>
            </a:r>
            <a:endParaRPr lang="en-US" dirty="0"/>
          </a:p>
          <a:p>
            <a:r>
              <a:rPr lang="ru-RU" dirty="0"/>
              <a:t>Изменения бывают разными:</a:t>
            </a:r>
          </a:p>
          <a:p>
            <a:pPr lvl="1"/>
            <a:r>
              <a:rPr lang="ru-RU" dirty="0"/>
              <a:t>Фигура добавилась</a:t>
            </a:r>
          </a:p>
          <a:p>
            <a:pPr lvl="1"/>
            <a:r>
              <a:rPr lang="ru-RU" dirty="0"/>
              <a:t>Фигура удалена</a:t>
            </a:r>
          </a:p>
          <a:p>
            <a:pPr lvl="1"/>
            <a:r>
              <a:rPr lang="ru-RU" dirty="0"/>
              <a:t>Фигура перемещена</a:t>
            </a:r>
          </a:p>
          <a:p>
            <a:pPr lvl="1"/>
            <a:r>
              <a:rPr lang="en-US" dirty="0" err="1"/>
              <a:t>ZOrder</a:t>
            </a:r>
            <a:r>
              <a:rPr lang="en-US" dirty="0"/>
              <a:t> </a:t>
            </a:r>
            <a:r>
              <a:rPr lang="ru-RU" dirty="0"/>
              <a:t>изменился</a:t>
            </a:r>
            <a:endParaRPr lang="en-US" dirty="0"/>
          </a:p>
          <a:p>
            <a:r>
              <a:rPr lang="ru-RU" dirty="0"/>
              <a:t>Возможно, лучше добавить несколько специализированных событий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444318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B7C9E9-24BB-11A9-12A2-DE8CAC10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именно произошло? От </a:t>
            </a:r>
            <a:r>
              <a:rPr lang="ru-RU" dirty="0" err="1"/>
              <a:t>Changed</a:t>
            </a:r>
            <a:r>
              <a:rPr lang="ru-RU" dirty="0"/>
              <a:t> к событиям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053430-859C-1CEA-BC1E-80E23EC2B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98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F67890-D00B-177D-C656-D4D19E11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OnDrawingChanged</a:t>
            </a:r>
            <a:r>
              <a:rPr lang="en-US" dirty="0"/>
              <a:t>()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мало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6FDF9A-6FA0-E277-D11E-E7D9B4694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изменилось</a:t>
            </a:r>
            <a:r>
              <a:rPr lang="en-US" dirty="0"/>
              <a:t>?</a:t>
            </a:r>
          </a:p>
          <a:p>
            <a:r>
              <a:rPr lang="ru-RU" dirty="0"/>
              <a:t>За одним вызовом </a:t>
            </a:r>
            <a:r>
              <a:rPr lang="en-US" dirty="0" err="1"/>
              <a:t>OnDrawingChanged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скрываться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.</a:t>
            </a:r>
          </a:p>
          <a:p>
            <a:r>
              <a:rPr lang="ru-RU" dirty="0"/>
              <a:t>Д</a:t>
            </a:r>
            <a:r>
              <a:rPr lang="en-US" dirty="0" err="1"/>
              <a:t>олжен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View </a:t>
            </a:r>
            <a:r>
              <a:rPr lang="en-US" dirty="0" err="1"/>
              <a:t>заново</a:t>
            </a:r>
            <a:r>
              <a:rPr lang="en-US" dirty="0"/>
              <a:t> </a:t>
            </a:r>
            <a:r>
              <a:rPr lang="en-US" dirty="0" err="1"/>
              <a:t>выяснять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454902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7DC2-A468-F8E0-E04E-6A08A820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Передадим</a:t>
            </a:r>
            <a:r>
              <a:rPr lang="en-US" dirty="0"/>
              <a:t> </a:t>
            </a:r>
            <a:r>
              <a:rPr lang="en-US" dirty="0" err="1"/>
              <a:t>описание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F6B49-CC14-A058-0F40-BA587EB59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6336" cy="4351338"/>
          </a:xfrm>
        </p:spPr>
        <p:txBody>
          <a:bodyPr/>
          <a:lstStyle/>
          <a:p>
            <a:r>
              <a:rPr lang="ru-RU" dirty="0"/>
              <a:t>Сделаем событие информативнее</a:t>
            </a:r>
            <a:endParaRPr lang="en-US" dirty="0"/>
          </a:p>
          <a:p>
            <a:pPr lvl="1"/>
            <a:r>
              <a:rPr lang="ru-RU" dirty="0"/>
              <a:t>Передадим описание события</a:t>
            </a:r>
          </a:p>
          <a:p>
            <a:r>
              <a:rPr lang="ru-RU" dirty="0"/>
              <a:t>Мы начали формировать протокол событий</a:t>
            </a:r>
          </a:p>
          <a:p>
            <a:pPr lvl="1"/>
            <a:r>
              <a:rPr lang="ru-RU" dirty="0"/>
              <a:t>Чем больше возможностей в редакторе, чем сложнее становится протокол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CC61E-C813-D44E-754E-0F3C901FD3D5}"/>
              </a:ext>
            </a:extLst>
          </p:cNvPr>
          <p:cNvSpPr txBox="1"/>
          <p:nvPr/>
        </p:nvSpPr>
        <p:spPr>
          <a:xfrm>
            <a:off x="6314536" y="1825625"/>
            <a:ext cx="50392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DrawingEventType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ShapeAdded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ShapeRemoved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ShapeChanged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DrawingEvent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DrawingEventType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type;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shape;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IDrawingListener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IDrawingListener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OnDrawingChanged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7171179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186F-01FA-F02A-A584-46FE9EC18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подписчика</a:t>
            </a:r>
            <a:r>
              <a:rPr lang="en-US" dirty="0"/>
              <a:t> </a:t>
            </a:r>
            <a:r>
              <a:rPr lang="en-US" dirty="0" err="1"/>
              <a:t>интересуют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B2905-F36F-8689-F73F-D315131BF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49513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Подписчик решает, какие из событий ему интересны</a:t>
            </a:r>
          </a:p>
          <a:p>
            <a:pPr lvl="1"/>
            <a:r>
              <a:rPr lang="ru-RU" dirty="0"/>
              <a:t>Появляется цепочка </a:t>
            </a:r>
            <a:r>
              <a:rPr lang="en-US" dirty="0"/>
              <a:t>if </a:t>
            </a:r>
            <a:r>
              <a:rPr lang="ru-RU" dirty="0"/>
              <a:t>или </a:t>
            </a:r>
            <a:r>
              <a:rPr lang="en-US" dirty="0"/>
              <a:t>switch</a:t>
            </a:r>
          </a:p>
          <a:p>
            <a:r>
              <a:rPr lang="ru-RU" dirty="0"/>
              <a:t>Некоторые события могут быть не нужны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подписчик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реализовывать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протокол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интересуют</a:t>
            </a:r>
            <a:r>
              <a:rPr lang="en-US" dirty="0"/>
              <a:t>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B63A89-1223-5DB1-6F4F-55138956F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320764"/>
            <a:ext cx="10515600" cy="85619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ISP:</a:t>
            </a:r>
            <a:r>
              <a:rPr lang="en-US" dirty="0"/>
              <a:t> </a:t>
            </a:r>
            <a:r>
              <a:rPr lang="en-US" dirty="0" err="1"/>
              <a:t>клиенту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31C75-80A7-E920-D423-F72EAF3D786A}"/>
              </a:ext>
            </a:extLst>
          </p:cNvPr>
          <p:cNvSpPr txBox="1"/>
          <p:nvPr/>
        </p:nvSpPr>
        <p:spPr>
          <a:xfrm>
            <a:off x="6280029" y="1781334"/>
            <a:ext cx="507377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SomeView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OnDrawingChanged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DrawingEventType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ShapeAdded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DrawingEventType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ShapeRemoved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DrawingEventType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ShapeChanged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25392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3BC4F-9014-402E-B703-B69FE6EE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Подписываемся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15F04-4582-48D0-EAD8-12A500E0F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Подписчик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endParaRPr lang="en-US" dirty="0"/>
          </a:p>
          <a:p>
            <a:r>
              <a:rPr lang="ru-RU" dirty="0"/>
              <a:t>Для обработки события нам нужна функция, которую нужно вызвать при наступлении события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F533F8-220D-15F9-ACEF-F3D69BD87929}"/>
              </a:ext>
            </a:extLst>
          </p:cNvPr>
          <p:cNvSpPr txBox="1"/>
          <p:nvPr/>
        </p:nvSpPr>
        <p:spPr>
          <a:xfrm>
            <a:off x="6258464" y="1825625"/>
            <a:ext cx="60988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ShapeAddedCallback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=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&amp;)&gt;;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SubscribeShapeAdded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ShapeAddedCallback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UnsubscribeShapeAdded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drawing.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SubscribeShapeAdded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Обработка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события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добавления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фигуры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9597919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999B-4B3C-DD67-4D0D-3E107C7DF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Сигналы</a:t>
            </a:r>
            <a:r>
              <a:rPr lang="en-US" dirty="0"/>
              <a:t> и </a:t>
            </a:r>
            <a:r>
              <a:rPr lang="en-US" dirty="0" err="1"/>
              <a:t>слоты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525A4-4B8D-BC60-C725-518241194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89771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Обобщим механизм подписки</a:t>
            </a:r>
          </a:p>
          <a:p>
            <a:pPr lvl="1"/>
            <a:r>
              <a:rPr lang="en-US" dirty="0"/>
              <a:t>Signal&lt;</a:t>
            </a:r>
            <a:r>
              <a:rPr lang="en-US" dirty="0" err="1"/>
              <a:t>IShape</a:t>
            </a:r>
            <a:r>
              <a:rPr lang="en-US" dirty="0"/>
              <a:t>&amp;&gt;</a:t>
            </a:r>
          </a:p>
          <a:p>
            <a:pPr lvl="2"/>
            <a:r>
              <a:rPr lang="ru-RU" dirty="0"/>
              <a:t>Хранит список функций-обработчиков (слоты)</a:t>
            </a:r>
          </a:p>
          <a:p>
            <a:pPr lvl="1"/>
            <a:r>
              <a:rPr lang="ru-RU" dirty="0"/>
              <a:t>Когда испускается сигнал, вызываются все подписанные  обработчики</a:t>
            </a:r>
          </a:p>
          <a:p>
            <a:r>
              <a:rPr lang="ru-RU" dirty="0"/>
              <a:t>В </a:t>
            </a:r>
            <a:r>
              <a:rPr lang="en-US" dirty="0"/>
              <a:t>C++ </a:t>
            </a:r>
            <a:r>
              <a:rPr lang="ru-RU" dirty="0"/>
              <a:t>есть библиотеки, вроде </a:t>
            </a:r>
            <a:r>
              <a:rPr lang="en-US" dirty="0"/>
              <a:t>boost::signals2</a:t>
            </a:r>
          </a:p>
          <a:p>
            <a:r>
              <a:rPr lang="ru-RU" dirty="0"/>
              <a:t>В других языках: события, делегаты, сигналы, </a:t>
            </a:r>
            <a:r>
              <a:rPr lang="en-US" dirty="0"/>
              <a:t>callbacks</a:t>
            </a:r>
          </a:p>
          <a:p>
            <a:r>
              <a:rPr lang="ru-RU" dirty="0"/>
              <a:t>Сигналы-слоты – один из механизмов реализации паттерна </a:t>
            </a:r>
            <a:r>
              <a:rPr lang="en-US" dirty="0"/>
              <a:t>Observer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3F5D33F5-DE20-2176-B0D2-EE52B2E18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142" y="1690688"/>
            <a:ext cx="4241487" cy="30387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55BF52-E9CB-E05A-B992-C3F201A35E33}"/>
              </a:ext>
            </a:extLst>
          </p:cNvPr>
          <p:cNvSpPr txBox="1"/>
          <p:nvPr/>
        </p:nvSpPr>
        <p:spPr>
          <a:xfrm>
            <a:off x="6952888" y="4982646"/>
            <a:ext cx="4083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https://youtu.be/jPcP1owBZCY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1FC41D-2FAD-B6B8-9F9E-8C1B325AF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2785" y="4982646"/>
            <a:ext cx="1417688" cy="142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920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9B1C-DFFB-968C-0A71-929C93451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: </a:t>
            </a:r>
            <a:r>
              <a:rPr lang="en-US" dirty="0" err="1"/>
              <a:t>следующие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— </a:t>
            </a:r>
            <a:r>
              <a:rPr lang="en-US" dirty="0" err="1"/>
              <a:t>ваши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F91D-31DE-ED81-F9A7-35223A463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374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32D0EF-4959-E882-C0E5-3BE2DE79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закончена</a:t>
            </a:r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E1C6746-9979-6865-EB56-1AA1E9740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13927" y="1825625"/>
            <a:ext cx="6364145" cy="4351338"/>
          </a:xfrm>
        </p:spPr>
      </p:pic>
    </p:spTree>
    <p:extLst>
      <p:ext uri="{BB962C8B-B14F-4D97-AF65-F5344CB8AC3E}">
        <p14:creationId xmlns:p14="http://schemas.microsoft.com/office/powerpoint/2010/main" val="3544782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7738-6468-2505-8CA4-10CDF6BB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B77C7-5728-579B-107D-A62B62B25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CanvasView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endParaRPr lang="en-US" dirty="0"/>
          </a:p>
          <a:p>
            <a:pPr lvl="1"/>
            <a:r>
              <a:rPr lang="ru-RU" dirty="0"/>
              <a:t>Рамка трансформации, маркеры изменения размера и т.п.</a:t>
            </a:r>
          </a:p>
          <a:p>
            <a:r>
              <a:rPr lang="ru-RU" dirty="0"/>
              <a:t>Нужно ли для отображения каждой фигуры создавать отдельный объект </a:t>
            </a:r>
            <a:r>
              <a:rPr lang="en-US" dirty="0"/>
              <a:t>View</a:t>
            </a:r>
            <a:r>
              <a:rPr lang="ru-RU" dirty="0"/>
              <a:t> (</a:t>
            </a:r>
            <a:r>
              <a:rPr lang="en-US" dirty="0" err="1"/>
              <a:t>RectangleView</a:t>
            </a:r>
            <a:r>
              <a:rPr lang="en-US" dirty="0"/>
              <a:t>, </a:t>
            </a:r>
            <a:r>
              <a:rPr lang="en-US" dirty="0" err="1"/>
              <a:t>EllipseView</a:t>
            </a:r>
            <a:r>
              <a:rPr lang="en-US" dirty="0"/>
              <a:t>)?</a:t>
            </a:r>
          </a:p>
          <a:p>
            <a:r>
              <a:rPr lang="ru-RU" dirty="0"/>
              <a:t>Если да, то кто должен создавать нужный</a:t>
            </a:r>
            <a:r>
              <a:rPr lang="en-US" dirty="0"/>
              <a:t> View</a:t>
            </a:r>
            <a:r>
              <a:rPr lang="ru-RU" dirty="0"/>
              <a:t> при появлении фигуры</a:t>
            </a:r>
            <a:r>
              <a:rPr lang="en-US" dirty="0"/>
              <a:t>?</a:t>
            </a:r>
          </a:p>
          <a:p>
            <a:r>
              <a:rPr lang="ru-RU" dirty="0"/>
              <a:t>Кто должен удалять этот </a:t>
            </a:r>
            <a:r>
              <a:rPr lang="en-US" dirty="0"/>
              <a:t>View?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6590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AE57-32EB-1198-98D6-7BB59C8CE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сообщать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D276-07DB-7CD2-F21A-1662CC6D5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Вопросы</a:t>
            </a:r>
            <a:r>
              <a:rPr lang="en-US" dirty="0"/>
              <a:t>:</a:t>
            </a:r>
          </a:p>
          <a:p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IShape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наблюдаемыми</a:t>
            </a:r>
            <a:r>
              <a:rPr lang="en-US" dirty="0"/>
              <a:t>?</a:t>
            </a:r>
          </a:p>
          <a:p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проходить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Drawing?</a:t>
            </a:r>
          </a:p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подписывается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сотни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?</a:t>
            </a:r>
          </a:p>
          <a:p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Drawing </a:t>
            </a:r>
            <a:r>
              <a:rPr lang="en-US" dirty="0" err="1"/>
              <a:t>переиздавать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своих</a:t>
            </a:r>
            <a:r>
              <a:rPr lang="en-US" dirty="0"/>
              <a:t> </a:t>
            </a:r>
            <a:r>
              <a:rPr lang="en-US" dirty="0" err="1"/>
              <a:t>детей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2081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E3A6-4515-A2A6-8D40-26CED016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множественном</a:t>
            </a:r>
            <a:r>
              <a:rPr lang="en-US" dirty="0"/>
              <a:t> </a:t>
            </a:r>
            <a:r>
              <a:rPr lang="en-US" dirty="0" err="1"/>
              <a:t>выборе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EA570-2A05-7B03-7EF7-C91FC9B06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Выделяем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а </a:t>
            </a:r>
            <a:r>
              <a:rPr lang="en-US" dirty="0" err="1"/>
              <a:t>несколько</a:t>
            </a:r>
            <a:endParaRPr lang="en-US" dirty="0"/>
          </a:p>
          <a:p>
            <a:r>
              <a:rPr lang="ru-RU" dirty="0"/>
              <a:t>Вопросы:</a:t>
            </a:r>
          </a:p>
          <a:p>
            <a:pPr lvl="1"/>
            <a:r>
              <a:rPr lang="ru-RU" dirty="0"/>
              <a:t>Достаточно ли заменить указатель контейнером указателей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Как реализовать </a:t>
            </a:r>
            <a:r>
              <a:rPr lang="en-US" dirty="0"/>
              <a:t>drag</a:t>
            </a:r>
            <a:r>
              <a:rPr lang="ru-RU" dirty="0"/>
              <a:t> всей выделенной группы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ru-RU" dirty="0"/>
              <a:t>Как реализовать </a:t>
            </a:r>
            <a:r>
              <a:rPr lang="ru-RU" dirty="0" err="1"/>
              <a:t>ресайз</a:t>
            </a:r>
            <a:r>
              <a:rPr lang="ru-RU" dirty="0"/>
              <a:t> всей выделенной группы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Как обработать удаление выделенных фигур</a:t>
            </a:r>
            <a:r>
              <a:rPr lang="en-US" dirty="0"/>
              <a:t>?</a:t>
            </a:r>
          </a:p>
          <a:p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затрагивает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архитектурных</a:t>
            </a:r>
            <a:r>
              <a:rPr lang="en-US" dirty="0"/>
              <a:t> </a:t>
            </a:r>
            <a:r>
              <a:rPr lang="en-US" dirty="0" err="1"/>
              <a:t>ролей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3206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560F-D7EA-6594-1A23-8FCCEF23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2373A-B0EE-128D-BF93-74B3CC393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?</a:t>
            </a:r>
          </a:p>
          <a:p>
            <a:pPr lvl="0"/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?</a:t>
            </a:r>
          </a:p>
          <a:p>
            <a:pPr lvl="0"/>
            <a:r>
              <a:rPr lang="en-US" dirty="0" err="1"/>
              <a:t>Каково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?</a:t>
            </a:r>
          </a:p>
          <a:p>
            <a:pPr lvl="0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?</a:t>
            </a:r>
          </a:p>
          <a:p>
            <a:pPr lvl="0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?</a:t>
            </a:r>
          </a:p>
          <a:p>
            <a:pPr lvl="0"/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смешались</a:t>
            </a:r>
            <a:r>
              <a:rPr lang="en-US" dirty="0"/>
              <a:t>?</a:t>
            </a:r>
          </a:p>
          <a:p>
            <a:pPr lvl="0"/>
            <a:r>
              <a:rPr lang="en-US" dirty="0" err="1"/>
              <a:t>Какая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компонентами</a:t>
            </a:r>
            <a:r>
              <a:rPr lang="en-US" dirty="0"/>
              <a:t>?</a:t>
            </a:r>
          </a:p>
          <a:p>
            <a:pPr lvl="0"/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ось</a:t>
            </a:r>
            <a:r>
              <a:rPr lang="en-US" dirty="0"/>
              <a:t> </a:t>
            </a:r>
            <a:r>
              <a:rPr lang="en-US" dirty="0" err="1"/>
              <a:t>будущих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дешёвой</a:t>
            </a:r>
            <a:r>
              <a:rPr lang="en-US" dirty="0"/>
              <a:t>?</a:t>
            </a:r>
          </a:p>
          <a:p>
            <a:pPr lvl="0"/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0325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E02F-591A-F074-3C8E-8AEC2DC9E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Архитектуры</a:t>
            </a:r>
            <a:r>
              <a:rPr lang="en-US" dirty="0"/>
              <a:t> GUI-</a:t>
            </a:r>
            <a:r>
              <a:rPr lang="en-US" dirty="0" err="1"/>
              <a:t>приложений</a:t>
            </a:r>
            <a:r>
              <a:rPr lang="en-US" dirty="0"/>
              <a:t> — </a:t>
            </a:r>
            <a:r>
              <a:rPr lang="en-US" dirty="0" err="1"/>
              <a:t>обзор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E099C-3D2D-0DDF-10D7-A5F12C685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1339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Document–View · MVC · MVP · MVVM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попробуйте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схем</a:t>
            </a:r>
            <a:r>
              <a:rPr lang="en-US" dirty="0"/>
              <a:t>, а </a:t>
            </a:r>
            <a:r>
              <a:rPr lang="en-US" dirty="0" err="1"/>
              <a:t>задавая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пользователю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интерпретирует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ввод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 </a:t>
            </a:r>
            <a:r>
              <a:rPr lang="en-US" dirty="0" err="1"/>
              <a:t>узнают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изменениях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направлении</a:t>
            </a:r>
            <a:r>
              <a:rPr lang="en-US" dirty="0"/>
              <a:t> </a:t>
            </a:r>
            <a:r>
              <a:rPr lang="en-US" dirty="0" err="1"/>
              <a:t>идут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?</a:t>
            </a:r>
          </a:p>
          <a:p>
            <a:r>
              <a:rPr lang="en-US" dirty="0" err="1"/>
              <a:t>Теперь</a:t>
            </a:r>
            <a:r>
              <a:rPr lang="en-US" dirty="0"/>
              <a:t> у </a:t>
            </a:r>
            <a:r>
              <a:rPr lang="en-US" dirty="0" err="1"/>
              <a:t>вас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решают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архитектурные</a:t>
            </a:r>
            <a:r>
              <a:rPr lang="en-US" dirty="0"/>
              <a:t> </a:t>
            </a:r>
            <a:r>
              <a:rPr lang="en-US" dirty="0" err="1"/>
              <a:t>паттерны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09682-6617-38E6-7AA8-9762CEAF37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2" b="3020"/>
          <a:stretch>
            <a:fillRect/>
          </a:stretch>
        </p:blipFill>
        <p:spPr>
          <a:xfrm>
            <a:off x="8679543" y="2042886"/>
            <a:ext cx="3051629" cy="19266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C8127C-12F3-27A4-8C0D-9AD859BD3B65}"/>
              </a:ext>
            </a:extLst>
          </p:cNvPr>
          <p:cNvSpPr txBox="1"/>
          <p:nvPr/>
        </p:nvSpPr>
        <p:spPr>
          <a:xfrm>
            <a:off x="8351594" y="4107389"/>
            <a:ext cx="3707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ctr"/>
            <a:r>
              <a:rPr lang="en-US" sz="2000" dirty="0">
                <a:hlinkClick r:id="rId4"/>
              </a:rPr>
              <a:t>https://youtu.be/KfbXI2Bf3rc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AF2360-565E-7AEB-7B4B-078B9F11A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3676" y="4507499"/>
            <a:ext cx="1657496" cy="166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579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4336</TotalTime>
  <Words>15596</Words>
  <Application>Microsoft Office PowerPoint</Application>
  <PresentationFormat>Widescreen</PresentationFormat>
  <Paragraphs>1912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Aptos</vt:lpstr>
      <vt:lpstr>Aptos Display</vt:lpstr>
      <vt:lpstr>Arial</vt:lpstr>
      <vt:lpstr>Consolas</vt:lpstr>
      <vt:lpstr>Office Theme</vt:lpstr>
      <vt:lpstr>От модели к интерфейсу: Проектируем интерактивное приложение</vt:lpstr>
      <vt:lpstr>От консольного редактора к графическому</vt:lpstr>
      <vt:lpstr>SFML как графический инструментарий</vt:lpstr>
      <vt:lpstr>Минимальное графическое приложение</vt:lpstr>
      <vt:lpstr>Но это ещё не наш редактор</vt:lpstr>
      <vt:lpstr>Модель предметной области</vt:lpstr>
      <vt:lpstr>Два прямоугольника</vt:lpstr>
      <vt:lpstr>Модель предметной области (Domain Model*)</vt:lpstr>
      <vt:lpstr>Модель — это не просто данные</vt:lpstr>
      <vt:lpstr>Где проходит граница модели?</vt:lpstr>
      <vt:lpstr>Одна модель — несколько представлений</vt:lpstr>
      <vt:lpstr>Модель редактора и объекты SFML — не одно и то же</vt:lpstr>
      <vt:lpstr>А нужен ли собственный Rectangle?</vt:lpstr>
      <vt:lpstr>Похожие данные — разные роли</vt:lpstr>
      <vt:lpstr>Как добавить новую фигуру</vt:lpstr>
      <vt:lpstr>Что если связать Domain Model с SFML?</vt:lpstr>
      <vt:lpstr>Две части всё равно должны встретиться</vt:lpstr>
      <vt:lpstr>Где должна жить логика отображения?</vt:lpstr>
      <vt:lpstr>Знакомое решение: фигура рисует себя</vt:lpstr>
      <vt:lpstr>Должна ли модель уметь рисовать себя?</vt:lpstr>
      <vt:lpstr>Одну модель можно представлять по-разному</vt:lpstr>
      <vt:lpstr>Отображение — отдельная ответственность</vt:lpstr>
      <vt:lpstr>А как Renderer узнает тип фигуры?</vt:lpstr>
      <vt:lpstr>Добавляем управление мышью</vt:lpstr>
      <vt:lpstr>Новое требование: выбрать фигуру мышью</vt:lpstr>
      <vt:lpstr>SFML знает координаты мыши, но не знает наши фигуры</vt:lpstr>
      <vt:lpstr>Какая фигура находится в точке?</vt:lpstr>
      <vt:lpstr>Обработаем выбор прямо в main</vt:lpstr>
      <vt:lpstr>Событие закончилось, а выбор остался</vt:lpstr>
      <vt:lpstr>Где хранить состояние взаимодействия? </vt:lpstr>
      <vt:lpstr>У редактора появилось новое состояние</vt:lpstr>
      <vt:lpstr>Почему бы не поместить информацию о выделении в Domain Model?</vt:lpstr>
      <vt:lpstr>Но часть состояния должна быть общей</vt:lpstr>
      <vt:lpstr>У состояния разные области жизни</vt:lpstr>
      <vt:lpstr>Понимать границу — не значит сразу создавать класс</vt:lpstr>
      <vt:lpstr>Кто интерпретирует пользовательский ввод? </vt:lpstr>
      <vt:lpstr>Одно действие — несколько событий</vt:lpstr>
      <vt:lpstr>Сначала реализуем drag прямо в main</vt:lpstr>
      <vt:lpstr>События нужно интерпретировать</vt:lpstr>
      <vt:lpstr>У main появилась новая причина для изменения</vt:lpstr>
      <vt:lpstr>Выделяем интерпретацию ввода</vt:lpstr>
      <vt:lpstr>Выделим 3 группы обязанностей</vt:lpstr>
      <vt:lpstr>Обнаруживаем роли Model, View и Controller</vt:lpstr>
      <vt:lpstr>Три разные ответственности</vt:lpstr>
      <vt:lpstr>Model – состояние и поведение</vt:lpstr>
      <vt:lpstr>View — представление состояния пользователю</vt:lpstr>
      <vt:lpstr>Controller — интерпретация действий пользователя</vt:lpstr>
      <vt:lpstr>Почти MVC — но граница GUI ещё не оформлена</vt:lpstr>
      <vt:lpstr>Оформляем границу пользовательского интерфейса</vt:lpstr>
      <vt:lpstr>main всё ещё делает слишком много</vt:lpstr>
      <vt:lpstr>Selection — не внутреннее состояние Controller</vt:lpstr>
      <vt:lpstr>Уточняем ответственность Controller</vt:lpstr>
      <vt:lpstr>У Canvas есть отображение и ввод</vt:lpstr>
      <vt:lpstr>Как CanvasView взаимодействует с другими классами</vt:lpstr>
      <vt:lpstr>Кому принадлежит event loop?</vt:lpstr>
      <vt:lpstr>Окно — владелец UI-сеанса</vt:lpstr>
      <vt:lpstr>main снова отвечает только за запуск приложения</vt:lpstr>
      <vt:lpstr>Как View узнают об изменениях Model?</vt:lpstr>
      <vt:lpstr>Canvas и так видит изменения</vt:lpstr>
      <vt:lpstr>Появляется ещё одно представление</vt:lpstr>
      <vt:lpstr>Пусть Controller обновит все View?</vt:lpstr>
      <vt:lpstr>Пусть источник сообщает об изменении</vt:lpstr>
      <vt:lpstr>Кто должен отправлять уведомление?</vt:lpstr>
      <vt:lpstr>Подписчики реагируют независимо</vt:lpstr>
      <vt:lpstr>Мы получили Observer</vt:lpstr>
      <vt:lpstr>Достаточно ли OnDrawingChanged()?</vt:lpstr>
      <vt:lpstr>Что именно произошло? От Changed к событиям</vt:lpstr>
      <vt:lpstr>OnDrawingChanged() сообщает слишком мало</vt:lpstr>
      <vt:lpstr>Передадим описание изменения</vt:lpstr>
      <vt:lpstr>Не каждого подписчика интересуют все события</vt:lpstr>
      <vt:lpstr>Подписываемся на конкретные события</vt:lpstr>
      <vt:lpstr>Сигналы и слоты</vt:lpstr>
      <vt:lpstr>Редактор продолжает расти: следующие решения — ваши</vt:lpstr>
      <vt:lpstr>Архитектура не закончена</vt:lpstr>
      <vt:lpstr>Нужен ли каждой фигуре свой View?</vt:lpstr>
      <vt:lpstr>Кто должен сообщать об изменении фигуры?</vt:lpstr>
      <vt:lpstr>Что изменится при множественном выборе?</vt:lpstr>
      <vt:lpstr>Какие вопросы задавать при следующем изменении?</vt:lpstr>
      <vt:lpstr>Архитектуры GUI-приложений — обзор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21</cp:revision>
  <dcterms:created xsi:type="dcterms:W3CDTF">2026-09-15T20:04:56Z</dcterms:created>
  <dcterms:modified xsi:type="dcterms:W3CDTF">2026-10-21T22:18:57Z</dcterms:modified>
</cp:coreProperties>
</file>