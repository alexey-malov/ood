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6" r:id="rId21"/>
    <p:sldId id="280" r:id="rId22"/>
    <p:sldId id="281" r:id="rId23"/>
    <p:sldId id="282" r:id="rId24"/>
    <p:sldId id="283" r:id="rId25"/>
    <p:sldId id="284" r:id="rId26"/>
    <p:sldId id="285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3" r:id="rId43"/>
    <p:sldId id="3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5655" autoAdjust="0"/>
  </p:normalViewPr>
  <p:slideViewPr>
    <p:cSldViewPr snapToGrid="0" showGuides="1">
      <p:cViewPr varScale="1">
        <p:scale>
          <a:sx n="69" d="100"/>
          <a:sy n="69" d="100"/>
        </p:scale>
        <p:origin x="21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410C4-807D-4E1F-BCF1-DD57A1933E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58E09-A115-459F-B138-61EA0CF8F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60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99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занятиях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серьёзно</a:t>
            </a:r>
            <a:r>
              <a:rPr lang="en-US" dirty="0"/>
              <a:t> </a:t>
            </a:r>
            <a:r>
              <a:rPr lang="en-US" dirty="0" err="1"/>
              <a:t>занимались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потребовала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 Undo/Redo. </a:t>
            </a:r>
            <a:r>
              <a:rPr lang="en-US" dirty="0" err="1"/>
              <a:t>Оказалось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разбираться</a:t>
            </a:r>
            <a:r>
              <a:rPr lang="en-US" dirty="0"/>
              <a:t> с </a:t>
            </a:r>
            <a:r>
              <a:rPr lang="en-US" dirty="0" err="1"/>
              <a:t>управлением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, </a:t>
            </a:r>
            <a:r>
              <a:rPr lang="en-US" dirty="0" err="1"/>
              <a:t>владением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, </a:t>
            </a:r>
            <a:r>
              <a:rPr lang="en-US" dirty="0" err="1"/>
              <a:t>предварительным</a:t>
            </a:r>
            <a:r>
              <a:rPr lang="en-US" dirty="0"/>
              <a:t> </a:t>
            </a:r>
            <a:r>
              <a:rPr lang="en-US" dirty="0" err="1"/>
              <a:t>отображением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и </a:t>
            </a:r>
            <a:r>
              <a:rPr lang="en-US" dirty="0" err="1"/>
              <a:t>взаимодействием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сменим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целого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существующему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несовместимых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Template Method, Decorator и Adapter.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прежним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практическая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хорошим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86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Первое</a:t>
            </a:r>
            <a:r>
              <a:rPr lang="en-US" b="1" dirty="0"/>
              <a:t> — </a:t>
            </a:r>
            <a:r>
              <a:rPr lang="en-US" b="1" dirty="0" err="1"/>
              <a:t>новые</a:t>
            </a:r>
            <a:r>
              <a:rPr lang="en-US" b="1" dirty="0"/>
              <a:t> </a:t>
            </a:r>
            <a:r>
              <a:rPr lang="en-US" b="1" dirty="0" err="1"/>
              <a:t>инструменты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</a:t>
            </a:r>
            <a:r>
              <a:rPr lang="en-US" dirty="0" err="1"/>
              <a:t>перетаскиванием</a:t>
            </a:r>
            <a:r>
              <a:rPr lang="en-US" dirty="0"/>
              <a:t>, а в </a:t>
            </a:r>
            <a:r>
              <a:rPr lang="ru-RU" dirty="0"/>
              <a:t>будущем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управляющих</a:t>
            </a:r>
            <a:r>
              <a:rPr lang="en-US" dirty="0"/>
              <a:t> </a:t>
            </a:r>
            <a:r>
              <a:rPr lang="en-US" dirty="0" err="1"/>
              <a:t>маркеров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устроены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,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предварительный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ru-RU" dirty="0"/>
              <a:t> и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отменяет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дублир</a:t>
            </a:r>
            <a:r>
              <a:rPr lang="ru-RU" dirty="0" err="1"/>
              <a:t>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Второе</a:t>
            </a:r>
            <a:r>
              <a:rPr lang="en-US" b="1" dirty="0"/>
              <a:t> — </a:t>
            </a:r>
            <a:r>
              <a:rPr lang="en-US" b="1" dirty="0" err="1"/>
              <a:t>визуальные</a:t>
            </a:r>
            <a:r>
              <a:rPr lang="en-US" b="1" dirty="0"/>
              <a:t> </a:t>
            </a:r>
            <a:r>
              <a:rPr lang="en-US" b="1" dirty="0" err="1"/>
              <a:t>эффекты</a:t>
            </a:r>
            <a:r>
              <a:rPr lang="en-US" b="1" dirty="0"/>
              <a:t>.</a:t>
            </a:r>
            <a:endParaRPr lang="en-US" dirty="0"/>
          </a:p>
          <a:p>
            <a:r>
              <a:rPr lang="ru-RU" dirty="0"/>
              <a:t>Допустим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к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, 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отключить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и </a:t>
            </a:r>
            <a:r>
              <a:rPr lang="en-US" dirty="0" err="1"/>
              <a:t>включить</a:t>
            </a:r>
            <a:r>
              <a:rPr lang="en-US" dirty="0"/>
              <a:t> </a:t>
            </a:r>
            <a:r>
              <a:rPr lang="en-US" dirty="0" err="1"/>
              <a:t>отражение</a:t>
            </a:r>
            <a:r>
              <a:rPr lang="en-US" dirty="0"/>
              <a:t>.</a:t>
            </a:r>
          </a:p>
          <a:p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сочетания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. Хотелось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 и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создавая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комбинации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Третье</a:t>
            </a:r>
            <a:r>
              <a:rPr lang="en-US" b="1" dirty="0"/>
              <a:t> — </a:t>
            </a:r>
            <a:r>
              <a:rPr lang="en-US" b="1" dirty="0" err="1"/>
              <a:t>панель</a:t>
            </a:r>
            <a:r>
              <a:rPr lang="en-US" b="1" dirty="0"/>
              <a:t> </a:t>
            </a:r>
            <a:r>
              <a:rPr lang="en-US" b="1" dirty="0" err="1"/>
              <a:t>со</a:t>
            </a:r>
            <a:r>
              <a:rPr lang="en-US" b="1" dirty="0"/>
              <a:t> </a:t>
            </a:r>
            <a:r>
              <a:rPr lang="en-US" b="1" dirty="0" err="1"/>
              <a:t>списком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Допустим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и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нашем</a:t>
            </a:r>
            <a:r>
              <a:rPr lang="en-US" dirty="0"/>
              <a:t> Drawing и </a:t>
            </a:r>
            <a:r>
              <a:rPr lang="en-US" dirty="0" err="1"/>
              <a:t>интерфейсе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. А Drawing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интерфейсе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?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расширением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, с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сталкиваемся</a:t>
            </a:r>
            <a:r>
              <a:rPr lang="en-US" dirty="0"/>
              <a:t>,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.</a:t>
            </a:r>
          </a:p>
          <a:p>
            <a:endParaRPr lang="ru-RU" i="1" dirty="0"/>
          </a:p>
          <a:p>
            <a:r>
              <a:rPr lang="ru-RU" dirty="0"/>
              <a:t>М</a:t>
            </a:r>
            <a:r>
              <a:rPr lang="en-US" dirty="0"/>
              <a:t>ы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архитектурных</a:t>
            </a:r>
            <a:r>
              <a:rPr lang="en-US" dirty="0"/>
              <a:t> </a:t>
            </a:r>
            <a:r>
              <a:rPr lang="en-US" dirty="0" err="1"/>
              <a:t>приёма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помочь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2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существующими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.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ru-RU" dirty="0"/>
              <a:t>фигуры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делается</a:t>
            </a:r>
            <a:r>
              <a:rPr lang="en-US" dirty="0"/>
              <a:t> в </a:t>
            </a:r>
            <a:r>
              <a:rPr lang="en-US" dirty="0" err="1"/>
              <a:t>большинстве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редакторов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Rectangle,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левую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предварительный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 </a:t>
            </a:r>
            <a:r>
              <a:rPr lang="en-US" dirty="0" err="1"/>
              <a:t>вслед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движением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отпускает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 и в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добавляется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Вспомните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Preview и committed state,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ru-RU" dirty="0"/>
              <a:t>в лекции про</a:t>
            </a:r>
            <a:r>
              <a:rPr lang="en-US" dirty="0"/>
              <a:t> Undo/Redo.</a:t>
            </a:r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а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впоследствии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нажмёт</a:t>
            </a:r>
            <a:r>
              <a:rPr lang="en-US" dirty="0"/>
              <a:t> Escape,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удалим</a:t>
            </a:r>
            <a:r>
              <a:rPr lang="en-US" dirty="0"/>
              <a:t> </a:t>
            </a:r>
            <a:r>
              <a:rPr lang="en-US" dirty="0" err="1"/>
              <a:t>предварительное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оставив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похожее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8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Посмотрите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похожи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перемещаем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нажатию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движении</a:t>
            </a:r>
            <a:r>
              <a:rPr lang="en-US" dirty="0"/>
              <a:t> </a:t>
            </a:r>
            <a:r>
              <a:rPr lang="en-US" dirty="0" err="1"/>
              <a:t>указателя</a:t>
            </a:r>
            <a:r>
              <a:rPr lang="en-US" dirty="0"/>
              <a:t> </a:t>
            </a:r>
            <a:r>
              <a:rPr lang="en-US" dirty="0" err="1"/>
              <a:t>обновляем</a:t>
            </a:r>
            <a:r>
              <a:rPr lang="en-US" dirty="0"/>
              <a:t> Preview,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отпускании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обновляем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начинать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подходящей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Canvas, а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свободной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предварительное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узнаваем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определяем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отслеживаем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подтверждаем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отменяем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ru-RU" i="1" dirty="0"/>
          </a:p>
          <a:p>
            <a:r>
              <a:rPr lang="en-US" b="1" i="1" dirty="0" err="1"/>
              <a:t>Вопрос</a:t>
            </a:r>
            <a:r>
              <a:rPr lang="en-US" b="1" i="1" dirty="0"/>
              <a:t> </a:t>
            </a:r>
            <a:r>
              <a:rPr lang="en-US" b="1" i="1" dirty="0" err="1"/>
              <a:t>студентам</a:t>
            </a:r>
            <a:r>
              <a:rPr lang="en-US" b="1" i="1" dirty="0"/>
              <a:t>:</a:t>
            </a:r>
            <a:r>
              <a:rPr lang="en-US" b="1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независимой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30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самостоятельных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: </a:t>
            </a:r>
            <a:r>
              <a:rPr lang="en-US" dirty="0" err="1"/>
              <a:t>MoveTool</a:t>
            </a:r>
            <a:r>
              <a:rPr lang="en-US" dirty="0"/>
              <a:t> и </a:t>
            </a:r>
            <a:r>
              <a:rPr lang="en-US" dirty="0" err="1"/>
              <a:t>RectangleTool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и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dirty="0" err="1"/>
              <a:t>упрощённые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отпускания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содержат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?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обновляем</a:t>
            </a:r>
            <a:r>
              <a:rPr lang="en-US" dirty="0"/>
              <a:t> Preview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конечного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указателя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удаляем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и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в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посмотрите</a:t>
            </a:r>
            <a:r>
              <a:rPr lang="en-US" dirty="0"/>
              <a:t>: </a:t>
            </a:r>
            <a:r>
              <a:rPr lang="en-US" dirty="0" err="1"/>
              <a:t>большая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.</a:t>
            </a:r>
          </a:p>
          <a:p>
            <a:r>
              <a:rPr lang="en-US" dirty="0" err="1"/>
              <a:t>Различается</a:t>
            </a:r>
            <a:r>
              <a:rPr lang="en-US" dirty="0"/>
              <a:t> </a:t>
            </a:r>
            <a:r>
              <a:rPr lang="en-US" dirty="0" err="1"/>
              <a:t>главным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вычисляем</a:t>
            </a:r>
            <a:r>
              <a:rPr lang="en-US" dirty="0"/>
              <a:t> </a:t>
            </a:r>
            <a:r>
              <a:rPr lang="en-US" dirty="0" err="1"/>
              <a:t>предварительное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. </a:t>
            </a:r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дублирования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продолжаем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.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взаимодействию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заметной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0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улучшить</a:t>
            </a:r>
            <a:r>
              <a:rPr lang="en-US" dirty="0"/>
              <a:t> </a:t>
            </a:r>
            <a:r>
              <a:rPr lang="en-US" dirty="0" err="1"/>
              <a:t>удобство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инструментами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 </a:t>
            </a:r>
            <a:r>
              <a:rPr lang="en-US" dirty="0" err="1"/>
              <a:t>клавишей</a:t>
            </a:r>
            <a:r>
              <a:rPr lang="en-US" dirty="0"/>
              <a:t> Escape.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Preview и </a:t>
            </a:r>
            <a:r>
              <a:rPr lang="en-US" dirty="0" err="1"/>
              <a:t>вернуться</a:t>
            </a:r>
            <a:r>
              <a:rPr lang="en-US" dirty="0"/>
              <a:t> в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и </a:t>
            </a:r>
            <a:r>
              <a:rPr lang="en-US" dirty="0" err="1"/>
              <a:t>отпустил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переместив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бессмысленную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в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возникать</a:t>
            </a:r>
            <a:r>
              <a:rPr lang="en-US" dirty="0"/>
              <a:t> </a:t>
            </a:r>
            <a:r>
              <a:rPr lang="en-US" dirty="0" err="1"/>
              <a:t>нестандартные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потеряло</a:t>
            </a:r>
            <a:r>
              <a:rPr lang="en-US" dirty="0"/>
              <a:t> </a:t>
            </a:r>
            <a:r>
              <a:rPr lang="en-US" dirty="0" err="1"/>
              <a:t>захват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.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зависнуть</a:t>
            </a:r>
            <a:r>
              <a:rPr lang="en-US" dirty="0"/>
              <a:t> в </a:t>
            </a:r>
            <a:r>
              <a:rPr lang="en-US" dirty="0" err="1"/>
              <a:t>промежуточном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ru-RU" dirty="0"/>
              <a:t>вот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</a:t>
            </a:r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, и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вносить</a:t>
            </a:r>
            <a:r>
              <a:rPr lang="en-US" dirty="0"/>
              <a:t> </a:t>
            </a:r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.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поворот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забудем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какое-нибудь</a:t>
            </a:r>
            <a:r>
              <a:rPr lang="en-US" dirty="0"/>
              <a:t> </a:t>
            </a:r>
            <a:r>
              <a:rPr lang="en-US" dirty="0" err="1"/>
              <a:t>обязательное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дело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дублировании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r>
              <a:rPr lang="en-US" b="1" dirty="0"/>
              <a:t>У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общий</a:t>
            </a:r>
            <a:r>
              <a:rPr lang="en-US" b="1" dirty="0"/>
              <a:t> </a:t>
            </a:r>
            <a:r>
              <a:rPr lang="en-US" b="1" dirty="0" err="1"/>
              <a:t>протокол</a:t>
            </a:r>
            <a:r>
              <a:rPr lang="en-US" b="1" dirty="0"/>
              <a:t> </a:t>
            </a:r>
            <a:r>
              <a:rPr lang="en-US" b="1" dirty="0" err="1"/>
              <a:t>взаимодействия</a:t>
            </a:r>
            <a:r>
              <a:rPr lang="en-US" b="1" dirty="0"/>
              <a:t>, </a:t>
            </a:r>
            <a:r>
              <a:rPr lang="en-US" b="1" dirty="0" err="1"/>
              <a:t>но</a:t>
            </a:r>
            <a:r>
              <a:rPr lang="en-US" b="1" dirty="0"/>
              <a:t> </a:t>
            </a:r>
            <a:r>
              <a:rPr lang="en-US" b="1" dirty="0" err="1"/>
              <a:t>он</a:t>
            </a:r>
            <a:r>
              <a:rPr lang="en-US" b="1" dirty="0"/>
              <a:t> </a:t>
            </a:r>
            <a:r>
              <a:rPr lang="en-US" b="1" dirty="0" err="1"/>
              <a:t>нигде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описан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единое</a:t>
            </a:r>
            <a:r>
              <a:rPr lang="en-US" b="1" dirty="0"/>
              <a:t> </a:t>
            </a:r>
            <a:r>
              <a:rPr lang="en-US" b="1" dirty="0" err="1"/>
              <a:t>целое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93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одинаково</a:t>
            </a:r>
            <a:r>
              <a:rPr lang="en-US" dirty="0"/>
              <a:t>,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различаться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единый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обрабатывается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отмене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.</a:t>
            </a:r>
            <a:r>
              <a:rPr lang="ru-RU" dirty="0"/>
              <a:t> Однако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выбранных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формирования</a:t>
            </a:r>
            <a:r>
              <a:rPr lang="en-US" dirty="0"/>
              <a:t> Preview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инструменту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а </a:t>
            </a:r>
            <a:r>
              <a:rPr lang="en-US" dirty="0" err="1"/>
              <a:t>другому</a:t>
            </a:r>
            <a:r>
              <a:rPr lang="en-US" dirty="0"/>
              <a:t> —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вынесем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в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а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инструментам</a:t>
            </a:r>
            <a:r>
              <a:rPr lang="en-US" dirty="0"/>
              <a:t> </a:t>
            </a:r>
            <a:r>
              <a:rPr lang="en-US" dirty="0" err="1"/>
              <a:t>оставим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изменяемых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—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9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Предложим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DragTool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я </a:t>
            </a:r>
            <a:r>
              <a:rPr lang="en-US" dirty="0" err="1"/>
              <a:t>показываю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MouseUp</a:t>
            </a:r>
            <a:r>
              <a:rPr lang="en-US" dirty="0"/>
              <a:t> —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слайда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записан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проверяем</a:t>
            </a:r>
            <a:r>
              <a:rPr lang="en-US" dirty="0"/>
              <a:t>,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обновляем</a:t>
            </a:r>
            <a:r>
              <a:rPr lang="en-US" dirty="0"/>
              <a:t> Preview,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учесть</a:t>
            </a:r>
            <a:r>
              <a:rPr lang="en-US" dirty="0"/>
              <a:t> </a:t>
            </a:r>
            <a:r>
              <a:rPr lang="en-US" dirty="0" err="1"/>
              <a:t>конечное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очищаем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завершаем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и,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узнает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 Preview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?</a:t>
            </a:r>
          </a:p>
          <a:p>
            <a:r>
              <a:rPr lang="en-US" dirty="0" err="1"/>
              <a:t>Никак</a:t>
            </a:r>
            <a:r>
              <a:rPr lang="en-US" dirty="0"/>
              <a:t>. И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, 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а </a:t>
            </a:r>
            <a:r>
              <a:rPr lang="en-US" dirty="0" err="1"/>
              <a:t>подклассы</a:t>
            </a:r>
            <a:r>
              <a:rPr lang="en-US" dirty="0"/>
              <a:t> —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.</a:t>
            </a:r>
          </a:p>
          <a:p>
            <a:r>
              <a:rPr lang="en-US" dirty="0" err="1"/>
              <a:t>Аналогично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MouseDown</a:t>
            </a:r>
            <a:r>
              <a:rPr lang="en-US" dirty="0"/>
              <a:t>, </a:t>
            </a:r>
            <a:r>
              <a:rPr lang="en-US" dirty="0" err="1"/>
              <a:t>MouseMove</a:t>
            </a:r>
            <a:r>
              <a:rPr lang="en-US" dirty="0"/>
              <a:t> и Escape,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контролировал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</a:t>
            </a:r>
            <a:r>
              <a:rPr lang="en-US" dirty="0" err="1"/>
              <a:t>абстрактным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необязательных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с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—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называемый</a:t>
            </a:r>
            <a:r>
              <a:rPr lang="en-US" dirty="0"/>
              <a:t> hook.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увлечься</a:t>
            </a:r>
            <a:r>
              <a:rPr lang="en-US" dirty="0"/>
              <a:t>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64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инструментам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MoveTool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перемещаются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находились</a:t>
            </a:r>
            <a:r>
              <a:rPr lang="en-US" dirty="0"/>
              <a:t> 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RectangleTool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предварительный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Заметьте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предоставляют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завершением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важном</a:t>
            </a:r>
            <a:r>
              <a:rPr lang="en-US" dirty="0"/>
              <a:t> </a:t>
            </a:r>
            <a:r>
              <a:rPr lang="en-US" dirty="0" err="1"/>
              <a:t>условии</a:t>
            </a:r>
            <a:r>
              <a:rPr lang="en-US" dirty="0"/>
              <a:t>: у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какому-нибудь</a:t>
            </a:r>
            <a:r>
              <a:rPr lang="en-US" dirty="0"/>
              <a:t> </a:t>
            </a:r>
            <a:r>
              <a:rPr lang="en-US" dirty="0" err="1"/>
              <a:t>инструменту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насильно</a:t>
            </a:r>
            <a:r>
              <a:rPr lang="en-US" dirty="0"/>
              <a:t> </a:t>
            </a:r>
            <a:r>
              <a:rPr lang="en-US" dirty="0" err="1"/>
              <a:t>вписывать</a:t>
            </a:r>
            <a:r>
              <a:rPr lang="en-US" dirty="0"/>
              <a:t> в </a:t>
            </a:r>
            <a:r>
              <a:rPr lang="en-US" dirty="0" err="1"/>
              <a:t>существующую</a:t>
            </a:r>
            <a:r>
              <a:rPr lang="en-US" dirty="0"/>
              <a:t> </a:t>
            </a:r>
            <a:r>
              <a:rPr lang="en-US" dirty="0" err="1"/>
              <a:t>иерархию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11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— Template Method,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Шаблонный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Суть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каркас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, а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подклассам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подклассы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описывать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привычном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и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наоборот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и в </a:t>
            </a:r>
            <a:r>
              <a:rPr lang="en-US" dirty="0" err="1"/>
              <a:t>определённые</a:t>
            </a:r>
            <a:r>
              <a:rPr lang="en-US" dirty="0"/>
              <a:t> </a:t>
            </a:r>
            <a:r>
              <a:rPr lang="en-US" dirty="0" err="1"/>
              <a:t>моменты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методам</a:t>
            </a:r>
            <a:r>
              <a:rPr lang="en-US" dirty="0"/>
              <a:t>, </a:t>
            </a:r>
            <a:r>
              <a:rPr lang="en-US" dirty="0" err="1"/>
              <a:t>реализованным</a:t>
            </a:r>
            <a:r>
              <a:rPr lang="en-US" dirty="0"/>
              <a:t> </a:t>
            </a:r>
            <a:r>
              <a:rPr lang="en-US" dirty="0" err="1"/>
              <a:t>подклассами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называемого</a:t>
            </a:r>
            <a:r>
              <a:rPr lang="en-US" dirty="0"/>
              <a:t> </a:t>
            </a:r>
            <a:r>
              <a:rPr lang="en-US" dirty="0" err="1"/>
              <a:t>голливудского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: «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вызывайте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вас</a:t>
            </a:r>
            <a:r>
              <a:rPr lang="en-US" dirty="0"/>
              <a:t> </a:t>
            </a:r>
            <a:r>
              <a:rPr lang="en-US" dirty="0" err="1"/>
              <a:t>вызовем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управляете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сценарием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предоставляете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нужных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, а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подходящий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событиями</a:t>
            </a:r>
            <a:r>
              <a:rPr lang="en-US" dirty="0"/>
              <a:t> и callback-</a:t>
            </a:r>
            <a:r>
              <a:rPr lang="en-US" dirty="0" err="1"/>
              <a:t>функциями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реализован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методом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, а </a:t>
            </a:r>
            <a:r>
              <a:rPr lang="en-US" dirty="0" err="1"/>
              <a:t>изменяемые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 </a:t>
            </a:r>
            <a:r>
              <a:rPr lang="en-US" dirty="0" err="1"/>
              <a:t>предоставляются</a:t>
            </a:r>
            <a:r>
              <a:rPr lang="en-US" dirty="0"/>
              <a:t> </a:t>
            </a:r>
            <a:r>
              <a:rPr lang="en-US" dirty="0" err="1"/>
              <a:t>подклассами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характерная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Template Method.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оценим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устранили</a:t>
            </a:r>
            <a:r>
              <a:rPr lang="en-US" dirty="0"/>
              <a:t> </a:t>
            </a:r>
            <a:r>
              <a:rPr lang="en-US" dirty="0" err="1"/>
              <a:t>дублирование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 </a:t>
            </a:r>
            <a:r>
              <a:rPr lang="ru-RU" dirty="0"/>
              <a:t>Кроме 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собрали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завершаться</a:t>
            </a:r>
            <a:r>
              <a:rPr lang="en-US" dirty="0"/>
              <a:t> </a:t>
            </a:r>
            <a:r>
              <a:rPr lang="en-US" dirty="0" err="1"/>
              <a:t>созданием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Preview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очищается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отмене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пустую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—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централизованно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небольшими</a:t>
            </a:r>
            <a:r>
              <a:rPr lang="en-US" dirty="0"/>
              <a:t> и </a:t>
            </a:r>
            <a:r>
              <a:rPr lang="en-US" dirty="0" err="1"/>
              <a:t>отвечают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связали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с </a:t>
            </a:r>
            <a:r>
              <a:rPr lang="en-US" dirty="0" err="1"/>
              <a:t>наследованием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DragTool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зафиксировал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 Это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инструментам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требованиями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сложным</a:t>
            </a:r>
            <a:r>
              <a:rPr lang="en-US" dirty="0"/>
              <a:t>, </a:t>
            </a:r>
            <a:r>
              <a:rPr lang="en-US" dirty="0" err="1"/>
              <a:t>разработчикам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и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расширять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?</a:t>
            </a:r>
          </a:p>
          <a:p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инструмента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дублирование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специального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управляющий</a:t>
            </a:r>
            <a:r>
              <a:rPr lang="en-US" dirty="0"/>
              <a:t> </a:t>
            </a:r>
            <a:r>
              <a:rPr lang="en-US" dirty="0" err="1"/>
              <a:t>перетаскиванием</a:t>
            </a:r>
            <a:r>
              <a:rPr lang="en-US" dirty="0"/>
              <a:t>, и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callback-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изменяемых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. Это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композиции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b="1" dirty="0"/>
              <a:t>Template Method </a:t>
            </a:r>
            <a:r>
              <a:rPr lang="en-US" b="1" dirty="0" err="1"/>
              <a:t>оправдан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у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устойчивый</a:t>
            </a:r>
            <a:r>
              <a:rPr lang="en-US" b="1" dirty="0"/>
              <a:t> </a:t>
            </a:r>
            <a:r>
              <a:rPr lang="en-US" b="1" dirty="0" err="1"/>
              <a:t>общий</a:t>
            </a:r>
            <a:r>
              <a:rPr lang="en-US" b="1" dirty="0"/>
              <a:t> </a:t>
            </a:r>
            <a:r>
              <a:rPr lang="en-US" b="1" dirty="0" err="1"/>
              <a:t>алгоритм</a:t>
            </a:r>
            <a:r>
              <a:rPr lang="en-US" b="1" dirty="0"/>
              <a:t> и </a:t>
            </a:r>
            <a:r>
              <a:rPr lang="en-US" b="1" dirty="0" err="1"/>
              <a:t>понятные</a:t>
            </a:r>
            <a:r>
              <a:rPr lang="en-US" b="1" dirty="0"/>
              <a:t> </a:t>
            </a:r>
            <a:r>
              <a:rPr lang="en-US" b="1" dirty="0" err="1"/>
              <a:t>точки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пытались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47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 к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 </a:t>
            </a:r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к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— </a:t>
            </a:r>
            <a:r>
              <a:rPr lang="en-US" dirty="0" err="1"/>
              <a:t>причём</a:t>
            </a:r>
            <a:r>
              <a:rPr lang="en-US" dirty="0"/>
              <a:t>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комбинациях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графическом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отличный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—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97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пользователям</a:t>
            </a:r>
            <a:r>
              <a:rPr lang="en-US" dirty="0"/>
              <a:t> </a:t>
            </a:r>
            <a:r>
              <a:rPr lang="en-US" dirty="0" err="1"/>
              <a:t>захотелось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рисунки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интереснее</a:t>
            </a:r>
            <a:r>
              <a:rPr lang="en-US" dirty="0"/>
              <a:t>. </a:t>
            </a:r>
            <a:r>
              <a:rPr lang="en-US" dirty="0" err="1"/>
              <a:t>Сейчас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. А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падающую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и </a:t>
            </a:r>
            <a:r>
              <a:rPr lang="en-US" dirty="0" err="1"/>
              <a:t>светиться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хочется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отражение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зеркальной</a:t>
            </a:r>
            <a:r>
              <a:rPr lang="en-US" dirty="0"/>
              <a:t> </a:t>
            </a:r>
            <a:r>
              <a:rPr lang="en-US" dirty="0" err="1"/>
              <a:t>поверхностью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— </a:t>
            </a:r>
            <a:r>
              <a:rPr lang="en-US" dirty="0" err="1"/>
              <a:t>размытие</a:t>
            </a:r>
            <a:r>
              <a:rPr lang="en-US" dirty="0"/>
              <a:t>, </a:t>
            </a:r>
            <a:r>
              <a:rPr lang="en-US" dirty="0" err="1"/>
              <a:t>перспективные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, </a:t>
            </a:r>
            <a:r>
              <a:rPr lang="en-US" dirty="0" err="1"/>
              <a:t>завтра</a:t>
            </a:r>
            <a:r>
              <a:rPr lang="en-US" dirty="0"/>
              <a:t> с </a:t>
            </a:r>
            <a:r>
              <a:rPr lang="en-US" dirty="0" err="1"/>
              <a:t>тенью</a:t>
            </a:r>
            <a:r>
              <a:rPr lang="en-US" dirty="0"/>
              <a:t>, </a:t>
            </a:r>
            <a:r>
              <a:rPr lang="ru-RU" dirty="0"/>
              <a:t>послезавтра </a:t>
            </a:r>
            <a:r>
              <a:rPr lang="en-US" dirty="0"/>
              <a:t>с </a:t>
            </a:r>
            <a:r>
              <a:rPr lang="en-US" dirty="0" err="1"/>
              <a:t>тенью</a:t>
            </a:r>
            <a:r>
              <a:rPr lang="en-US" dirty="0"/>
              <a:t> и </a:t>
            </a:r>
            <a:r>
              <a:rPr lang="en-US" dirty="0" err="1"/>
              <a:t>свечением</a:t>
            </a:r>
            <a:r>
              <a:rPr lang="en-US" dirty="0"/>
              <a:t>. </a:t>
            </a:r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аналогичные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эллипсов</a:t>
            </a:r>
            <a:r>
              <a:rPr lang="en-US" dirty="0"/>
              <a:t>,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переписывать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очередной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Хотелось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 и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17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показаться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Ну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ну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.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 — и </a:t>
            </a:r>
            <a:r>
              <a:rPr lang="en-US" dirty="0" err="1"/>
              <a:t>готово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эффекта</a:t>
            </a:r>
            <a:r>
              <a:rPr lang="en-US" dirty="0"/>
              <a:t>,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включить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выключить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шестнадцать</a:t>
            </a:r>
            <a:r>
              <a:rPr lang="en-US" dirty="0"/>
              <a:t> </a:t>
            </a:r>
            <a:r>
              <a:rPr lang="en-US" dirty="0" err="1"/>
              <a:t>комбинаций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включён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выключен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,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размытия</a:t>
            </a:r>
            <a:r>
              <a:rPr lang="en-US" dirty="0"/>
              <a:t>. У </a:t>
            </a:r>
            <a:r>
              <a:rPr lang="en-US" dirty="0" err="1"/>
              <a:t>свечения</a:t>
            </a:r>
            <a:r>
              <a:rPr lang="en-US" dirty="0"/>
              <a:t> — </a:t>
            </a:r>
            <a:r>
              <a:rPr lang="en-US" dirty="0" err="1"/>
              <a:t>интенсивность</a:t>
            </a:r>
            <a:r>
              <a:rPr lang="en-US" dirty="0"/>
              <a:t> и </a:t>
            </a:r>
            <a:r>
              <a:rPr lang="en-US" dirty="0" err="1"/>
              <a:t>радиус</a:t>
            </a:r>
            <a:r>
              <a:rPr lang="en-US" dirty="0"/>
              <a:t>. А </a:t>
            </a:r>
            <a:r>
              <a:rPr lang="en-US" dirty="0" err="1"/>
              <a:t>отражение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прозрачным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захотеть</a:t>
            </a:r>
            <a:r>
              <a:rPr lang="en-US" dirty="0"/>
              <a:t> </a:t>
            </a:r>
            <a:r>
              <a:rPr lang="en-US" dirty="0" err="1"/>
              <a:t>поменять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к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получившегося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наоборот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сформировать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</a:t>
            </a:r>
            <a:r>
              <a:rPr lang="en-US" dirty="0" err="1"/>
              <a:t>результату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i="1" dirty="0" err="1"/>
              <a:t>Вопрос</a:t>
            </a:r>
            <a:r>
              <a:rPr lang="en-US" b="1" i="1" dirty="0"/>
              <a:t> </a:t>
            </a:r>
            <a:r>
              <a:rPr lang="en-US" b="1" i="1" dirty="0" err="1"/>
              <a:t>студентам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организовали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?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приходят</a:t>
            </a:r>
            <a:r>
              <a:rPr lang="en-US" dirty="0"/>
              <a:t> в </a:t>
            </a:r>
            <a:r>
              <a:rPr lang="en-US" dirty="0" err="1"/>
              <a:t>голову</a:t>
            </a:r>
            <a:r>
              <a:rPr lang="en-US" dirty="0"/>
              <a:t>?</a:t>
            </a:r>
          </a:p>
          <a:p>
            <a:r>
              <a:rPr lang="en-US" dirty="0"/>
              <a:t>[</a:t>
            </a:r>
            <a:r>
              <a:rPr lang="en-US" dirty="0" err="1"/>
              <a:t>Выслушать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предложений</a:t>
            </a:r>
            <a:r>
              <a:rPr lang="en-US" dirty="0"/>
              <a:t>.]</a:t>
            </a:r>
          </a:p>
          <a:p>
            <a:endParaRPr lang="ru-RU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очевидных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56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предложить</a:t>
            </a:r>
            <a:r>
              <a:rPr lang="en-US" dirty="0"/>
              <a:t>,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отображающий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наследника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с </a:t>
            </a:r>
            <a:r>
              <a:rPr lang="en-US" dirty="0" err="1"/>
              <a:t>тенью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свечения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и </a:t>
            </a:r>
            <a:r>
              <a:rPr lang="en-US" dirty="0" err="1"/>
              <a:t>тень</a:t>
            </a:r>
            <a:r>
              <a:rPr lang="en-US" dirty="0"/>
              <a:t>, и </a:t>
            </a:r>
            <a:r>
              <a:rPr lang="en-US" dirty="0" err="1"/>
              <a:t>свечение</a:t>
            </a:r>
            <a:r>
              <a:rPr lang="en-US" dirty="0"/>
              <a:t>?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сочетания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получим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различающихся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комбинациями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комбинации</a:t>
            </a:r>
            <a:r>
              <a:rPr lang="en-US" dirty="0"/>
              <a:t>, а </a:t>
            </a:r>
            <a:r>
              <a:rPr lang="en-US" dirty="0" err="1"/>
              <a:t>позволить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очевидный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в </a:t>
            </a:r>
            <a:r>
              <a:rPr lang="en-US" dirty="0" err="1"/>
              <a:t>рендерер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флагов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включена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— </a:t>
            </a:r>
            <a:r>
              <a:rPr lang="en-US" dirty="0" err="1"/>
              <a:t>рисуем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включено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 — </a:t>
            </a:r>
            <a:r>
              <a:rPr lang="en-US" dirty="0" err="1"/>
              <a:t>применяем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.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Кстати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объявлять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, а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фиксирован</a:t>
            </a:r>
            <a:r>
              <a:rPr lang="en-US" dirty="0"/>
              <a:t>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рендерера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обрастать</a:t>
            </a:r>
            <a:r>
              <a:rPr lang="en-US" dirty="0"/>
              <a:t> </a:t>
            </a:r>
            <a:r>
              <a:rPr lang="en-US" dirty="0" err="1"/>
              <a:t>условными</a:t>
            </a:r>
            <a:r>
              <a:rPr lang="en-US" dirty="0"/>
              <a:t> </a:t>
            </a:r>
            <a:r>
              <a:rPr lang="en-US" dirty="0" err="1"/>
              <a:t>операторами</a:t>
            </a:r>
            <a:r>
              <a:rPr lang="en-US" dirty="0"/>
              <a:t>.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потребует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обо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эффектах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параметрах</a:t>
            </a:r>
            <a:r>
              <a:rPr lang="en-US" dirty="0"/>
              <a:t> и </a:t>
            </a:r>
            <a:r>
              <a:rPr lang="en-US" dirty="0" err="1"/>
              <a:t>правилах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представлял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независимый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перестанем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разновидности</a:t>
            </a:r>
            <a:r>
              <a:rPr lang="en-US" dirty="0"/>
              <a:t>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?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71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,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руководствовались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: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отвечать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подряд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 и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— Rectangle и Ellipse.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представляют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и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собственной</a:t>
            </a:r>
            <a:r>
              <a:rPr lang="en-US" dirty="0"/>
              <a:t> </a:t>
            </a:r>
            <a:r>
              <a:rPr lang="en-US" dirty="0" err="1"/>
              <a:t>идентичностью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рендеринга</a:t>
            </a:r>
            <a:r>
              <a:rPr lang="en-US" dirty="0"/>
              <a:t>. В </a:t>
            </a:r>
            <a:r>
              <a:rPr lang="en-US" dirty="0" err="1"/>
              <a:t>частности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DrawingRenderer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применяет</a:t>
            </a:r>
            <a:r>
              <a:rPr lang="en-US" dirty="0"/>
              <a:t> Visitor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— </a:t>
            </a:r>
            <a:r>
              <a:rPr lang="en-US" dirty="0" err="1"/>
              <a:t>визуальное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условно</a:t>
            </a:r>
            <a:r>
              <a:rPr lang="en-US" dirty="0"/>
              <a:t> </a:t>
            </a:r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ShapeVisual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рендерера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определим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умеют</a:t>
            </a:r>
            <a:r>
              <a:rPr lang="en-US" dirty="0"/>
              <a:t>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?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и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и </a:t>
            </a:r>
            <a:r>
              <a:rPr lang="en-US" dirty="0" err="1"/>
              <a:t>отображение</a:t>
            </a:r>
            <a:r>
              <a:rPr lang="en-US" dirty="0"/>
              <a:t> с </a:t>
            </a:r>
            <a:r>
              <a:rPr lang="en-US" dirty="0" err="1"/>
              <a:t>дополнительными</a:t>
            </a:r>
            <a:r>
              <a:rPr lang="en-US" dirty="0"/>
              <a:t> </a:t>
            </a:r>
            <a:r>
              <a:rPr lang="en-US" dirty="0" err="1"/>
              <a:t>эффектами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у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и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свечения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затронуло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Visitor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расширять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визуальное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26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простоты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Render,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визуального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Layer — </a:t>
            </a:r>
            <a:r>
              <a:rPr lang="en-US" dirty="0" err="1"/>
              <a:t>условное</a:t>
            </a:r>
            <a:r>
              <a:rPr lang="en-US" dirty="0"/>
              <a:t> </a:t>
            </a:r>
            <a:r>
              <a:rPr lang="en-US" dirty="0" err="1"/>
              <a:t>обозначение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с </a:t>
            </a:r>
            <a:r>
              <a:rPr lang="en-US" dirty="0" err="1"/>
              <a:t>информацией</a:t>
            </a:r>
            <a:r>
              <a:rPr lang="en-US" dirty="0"/>
              <a:t> о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положении</a:t>
            </a:r>
            <a:r>
              <a:rPr lang="en-US" dirty="0"/>
              <a:t>.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графическом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промежуточная</a:t>
            </a:r>
            <a:r>
              <a:rPr lang="en-US" dirty="0"/>
              <a:t> </a:t>
            </a:r>
            <a:r>
              <a:rPr lang="en-US" dirty="0" err="1"/>
              <a:t>текстура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ShapeVisual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и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VisualDecorator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принимать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реализующий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.</a:t>
            </a:r>
          </a:p>
          <a:p>
            <a:r>
              <a:rPr lang="en-US" dirty="0" err="1"/>
              <a:t>VisualDecorator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абстрактным</a:t>
            </a:r>
            <a:r>
              <a:rPr lang="en-US" dirty="0"/>
              <a:t>: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наследники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свечение</a:t>
            </a:r>
            <a:r>
              <a:rPr lang="en-US" dirty="0"/>
              <a:t>, </a:t>
            </a:r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dirty="0" err="1"/>
              <a:t>отражение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вложенному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</a:t>
            </a:r>
            <a:r>
              <a:rPr lang="en-US" dirty="0" err="1"/>
              <a:t>дополнять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собственным</a:t>
            </a:r>
            <a:r>
              <a:rPr lang="en-US" dirty="0"/>
              <a:t> </a:t>
            </a:r>
            <a:r>
              <a:rPr lang="en-US" dirty="0" err="1"/>
              <a:t>эффектом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к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b="1" dirty="0"/>
              <a:t>Decorator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Декоратор</a:t>
            </a:r>
            <a:r>
              <a:rPr lang="en-US" dirty="0"/>
              <a:t>».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ключевая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оборачиваем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расширяет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r>
              <a:rPr lang="en-US" dirty="0" err="1"/>
              <a:t>Клиентский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добавлено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85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обобщим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и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Decorator.</a:t>
            </a:r>
          </a:p>
          <a:p>
            <a:endParaRPr lang="en-US" dirty="0"/>
          </a:p>
          <a:p>
            <a:r>
              <a:rPr lang="ru-RU" dirty="0"/>
              <a:t>И</a:t>
            </a:r>
            <a:r>
              <a:rPr lang="en-US" dirty="0" err="1"/>
              <a:t>нтерфейс</a:t>
            </a:r>
            <a:r>
              <a:rPr lang="en-US" dirty="0"/>
              <a:t> </a:t>
            </a:r>
            <a:r>
              <a:rPr lang="en-US" b="1" dirty="0"/>
              <a:t>Component</a:t>
            </a:r>
            <a:r>
              <a:rPr lang="ru-RU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Operation()</a:t>
            </a:r>
            <a:r>
              <a:rPr lang="en-US" dirty="0"/>
              <a:t>.</a:t>
            </a:r>
          </a:p>
          <a:p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b="1" dirty="0" err="1"/>
              <a:t>ConcreteComponent</a:t>
            </a:r>
            <a:r>
              <a:rPr lang="en-US" dirty="0"/>
              <a:t> —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графическом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ShapeVisual</a:t>
            </a:r>
            <a:r>
              <a:rPr lang="en-US" dirty="0"/>
              <a:t>, </a:t>
            </a:r>
            <a:r>
              <a:rPr lang="en-US" dirty="0" err="1"/>
              <a:t>отвечающий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b="1" dirty="0"/>
              <a:t>Decorator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Decorator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Component. 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Decorator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Component.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сочетание</a:t>
            </a:r>
            <a:r>
              <a:rPr lang="en-US" dirty="0"/>
              <a:t> </a:t>
            </a:r>
            <a:r>
              <a:rPr lang="en-US" b="1" dirty="0" err="1"/>
              <a:t>наследования</a:t>
            </a:r>
            <a:r>
              <a:rPr lang="en-US" b="1" dirty="0"/>
              <a:t> и </a:t>
            </a:r>
            <a:r>
              <a:rPr lang="en-US" b="1" dirty="0" err="1"/>
              <a:t>композиции</a:t>
            </a:r>
            <a:r>
              <a:rPr lang="en-US" dirty="0"/>
              <a:t>. 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совместимость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, а </a:t>
            </a:r>
            <a:r>
              <a:rPr lang="en-US" dirty="0" err="1"/>
              <a:t>композиция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расширять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Operation()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базовом</a:t>
            </a:r>
            <a:r>
              <a:rPr lang="en-US" dirty="0"/>
              <a:t> </a:t>
            </a:r>
            <a:r>
              <a:rPr lang="en-US" dirty="0" err="1"/>
              <a:t>декораторе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вложенному</a:t>
            </a:r>
            <a:r>
              <a:rPr lang="en-US" dirty="0"/>
              <a:t> </a:t>
            </a:r>
            <a:r>
              <a:rPr lang="en-US" dirty="0" err="1"/>
              <a:t>компоненту</a:t>
            </a:r>
            <a:r>
              <a:rPr lang="en-US" dirty="0"/>
              <a:t>, </a:t>
            </a:r>
            <a:r>
              <a:rPr lang="en-US" dirty="0" err="1"/>
              <a:t>вызывая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m_component.Operation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декораторах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b="1" dirty="0" err="1"/>
              <a:t>ConcreteDecoratorA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к </a:t>
            </a:r>
            <a:r>
              <a:rPr lang="en-US" dirty="0" err="1"/>
              <a:t>компоненту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m_addedState</a:t>
            </a:r>
            <a:r>
              <a:rPr lang="en-US" dirty="0"/>
              <a:t>.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: </a:t>
            </a:r>
            <a:r>
              <a:rPr lang="en-US" dirty="0" err="1"/>
              <a:t>цвет</a:t>
            </a:r>
            <a:r>
              <a:rPr lang="en-US" dirty="0"/>
              <a:t>,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радиус</a:t>
            </a:r>
            <a:r>
              <a:rPr lang="en-US" dirty="0"/>
              <a:t> </a:t>
            </a:r>
            <a:r>
              <a:rPr lang="en-US" dirty="0" err="1"/>
              <a:t>размытия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b="1" dirty="0" err="1"/>
              <a:t>ConcreteDecoratorB</a:t>
            </a:r>
            <a:r>
              <a:rPr lang="en-US" dirty="0"/>
              <a:t> </a:t>
            </a:r>
            <a:r>
              <a:rPr lang="en-US" dirty="0" err="1"/>
              <a:t>демонстрирует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Operation()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декоратора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AddedBehavior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и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вложенного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, и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Главная</a:t>
            </a:r>
            <a:r>
              <a:rPr lang="en-US" b="1" dirty="0"/>
              <a:t> </a:t>
            </a:r>
            <a:r>
              <a:rPr lang="en-US" b="1" dirty="0" err="1"/>
              <a:t>идея</a:t>
            </a:r>
            <a:r>
              <a:rPr lang="en-US" b="1" dirty="0"/>
              <a:t> Decorator — </a:t>
            </a:r>
            <a:r>
              <a:rPr lang="en-US" b="1" dirty="0" err="1"/>
              <a:t>расширять</a:t>
            </a:r>
            <a:r>
              <a:rPr lang="en-US" b="1" dirty="0"/>
              <a:t> </a:t>
            </a:r>
            <a:r>
              <a:rPr lang="en-US" b="1" dirty="0" err="1"/>
              <a:t>поведение</a:t>
            </a:r>
            <a:r>
              <a:rPr lang="en-US" b="1" dirty="0"/>
              <a:t> </a:t>
            </a:r>
            <a:r>
              <a:rPr lang="en-US" b="1" dirty="0" err="1"/>
              <a:t>через</a:t>
            </a:r>
            <a:r>
              <a:rPr lang="en-US" b="1" dirty="0"/>
              <a:t> </a:t>
            </a:r>
            <a:r>
              <a:rPr lang="en-US" b="1" dirty="0" err="1"/>
              <a:t>композицию</a:t>
            </a:r>
            <a:r>
              <a:rPr lang="en-US" b="1" dirty="0"/>
              <a:t>, </a:t>
            </a:r>
            <a:r>
              <a:rPr lang="en-US" b="1" dirty="0" err="1"/>
              <a:t>сохраняя</a:t>
            </a:r>
            <a:r>
              <a:rPr lang="en-US" b="1" dirty="0"/>
              <a:t> </a:t>
            </a:r>
            <a:r>
              <a:rPr lang="en-US" b="1" dirty="0" err="1"/>
              <a:t>интерфейс</a:t>
            </a:r>
            <a:r>
              <a:rPr lang="en-US" b="1" dirty="0"/>
              <a:t> </a:t>
            </a:r>
            <a:r>
              <a:rPr lang="en-US" b="1" dirty="0" err="1"/>
              <a:t>исходного</a:t>
            </a:r>
            <a:r>
              <a:rPr lang="en-US" b="1" dirty="0"/>
              <a:t> </a:t>
            </a:r>
            <a:r>
              <a:rPr lang="en-US" b="1" dirty="0" err="1"/>
              <a:t>компонента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821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— </a:t>
            </a:r>
            <a:r>
              <a:rPr lang="en-US" dirty="0" err="1"/>
              <a:t>ShadowDecorator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к </a:t>
            </a:r>
            <a:r>
              <a:rPr lang="en-US" dirty="0" err="1"/>
              <a:t>изображению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вложенный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Render.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Render у </a:t>
            </a:r>
            <a:r>
              <a:rPr lang="en-US" dirty="0" err="1"/>
              <a:t>вложенного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какую-либо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ShapeVisual</a:t>
            </a:r>
            <a:r>
              <a:rPr lang="en-US" dirty="0"/>
              <a:t>, 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добавил</a:t>
            </a:r>
            <a:r>
              <a:rPr lang="en-US" dirty="0"/>
              <a:t> к </a:t>
            </a:r>
            <a:r>
              <a:rPr lang="en-US" dirty="0" err="1"/>
              <a:t>изображению</a:t>
            </a:r>
            <a:r>
              <a:rPr lang="en-US" dirty="0"/>
              <a:t>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.</a:t>
            </a:r>
          </a:p>
          <a:p>
            <a:r>
              <a:rPr lang="en-US" dirty="0" err="1"/>
              <a:t>Получив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ShadowDecorator</a:t>
            </a:r>
            <a:r>
              <a:rPr lang="en-US" dirty="0"/>
              <a:t>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 </a:t>
            </a:r>
            <a:r>
              <a:rPr lang="en-US" dirty="0" err="1"/>
              <a:t>альфа-канал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,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силуэт</a:t>
            </a:r>
            <a:r>
              <a:rPr lang="en-US" dirty="0"/>
              <a:t>, </a:t>
            </a:r>
            <a:r>
              <a:rPr lang="en-US" dirty="0" err="1"/>
              <a:t>сместить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силуэт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 и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размытие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совмещаем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с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dirty="0" err="1"/>
              <a:t>изображением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позади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возвращаем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MakeShadow</a:t>
            </a:r>
            <a:r>
              <a:rPr lang="en-US" dirty="0"/>
              <a:t> и Composite. Я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хочу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углубляться</a:t>
            </a:r>
            <a:r>
              <a:rPr lang="en-US" dirty="0"/>
              <a:t> в </a:t>
            </a:r>
            <a:r>
              <a:rPr lang="en-US" dirty="0" err="1"/>
              <a:t>конкретные</a:t>
            </a:r>
            <a:r>
              <a:rPr lang="en-US" dirty="0"/>
              <a:t> API SFML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шейдеров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тема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применяют</a:t>
            </a:r>
            <a:r>
              <a:rPr lang="en-US" dirty="0"/>
              <a:t> </a:t>
            </a:r>
            <a:r>
              <a:rPr lang="en-US" dirty="0" err="1"/>
              <a:t>промежуточные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RenderTexture</a:t>
            </a:r>
            <a:r>
              <a:rPr lang="en-US" dirty="0"/>
              <a:t>, и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шейдеры</a:t>
            </a:r>
            <a:r>
              <a:rPr lang="en-US" dirty="0"/>
              <a:t>.</a:t>
            </a:r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архитектурная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ShadowDecorator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любым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ShadowDecorator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захотим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ShadowDecorator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.</a:t>
            </a:r>
            <a:r>
              <a:rPr lang="ru-RU" dirty="0"/>
              <a:t> Таким образом, декоратор помогает нам </a:t>
            </a:r>
            <a:r>
              <a:rPr lang="ru-RU" dirty="0" err="1"/>
              <a:t>применяьт</a:t>
            </a:r>
            <a:r>
              <a:rPr lang="ru-RU" dirty="0"/>
              <a:t> принцип открытости-закрытости.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24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, </a:t>
            </a:r>
            <a:r>
              <a:rPr lang="en-US" dirty="0" err="1"/>
              <a:t>ничто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мешает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обернуть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ShapeVisual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исходную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обернём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ShadowDecorator</a:t>
            </a:r>
            <a:r>
              <a:rPr lang="en-US" dirty="0"/>
              <a:t>.</a:t>
            </a:r>
          </a:p>
          <a:p>
            <a:r>
              <a:rPr lang="en-US" dirty="0" err="1"/>
              <a:t>Получившийся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обернуть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GlowDecorator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слой</a:t>
            </a:r>
            <a:r>
              <a:rPr lang="en-US" dirty="0"/>
              <a:t> — </a:t>
            </a:r>
            <a:r>
              <a:rPr lang="en-US" dirty="0" err="1"/>
              <a:t>ReflectionDecorator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итоговую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получилась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вложенных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Render у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декоратора</a:t>
            </a:r>
            <a:r>
              <a:rPr lang="en-US" dirty="0"/>
              <a:t>,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обратится</a:t>
            </a:r>
            <a:r>
              <a:rPr lang="en-US" dirty="0"/>
              <a:t> к </a:t>
            </a:r>
            <a:r>
              <a:rPr lang="en-US" dirty="0" err="1"/>
              <a:t>вложенному</a:t>
            </a:r>
            <a:r>
              <a:rPr lang="en-US" dirty="0"/>
              <a:t> </a:t>
            </a:r>
            <a:r>
              <a:rPr lang="en-US" dirty="0" err="1"/>
              <a:t>компоненту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GlowDecorator</a:t>
            </a:r>
            <a:r>
              <a:rPr lang="en-US" dirty="0"/>
              <a:t>, в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, </a:t>
            </a:r>
            <a:r>
              <a:rPr lang="en-US" dirty="0" err="1"/>
              <a:t>обратится</a:t>
            </a:r>
            <a:r>
              <a:rPr lang="en-US" dirty="0"/>
              <a:t> к </a:t>
            </a:r>
            <a:r>
              <a:rPr lang="en-US" dirty="0" err="1"/>
              <a:t>ShadowDecorator</a:t>
            </a:r>
            <a:r>
              <a:rPr lang="en-US" dirty="0"/>
              <a:t>, а </a:t>
            </a:r>
            <a:r>
              <a:rPr lang="en-US" dirty="0" err="1"/>
              <a:t>тот</a:t>
            </a:r>
            <a:r>
              <a:rPr lang="en-US" dirty="0"/>
              <a:t> — к </a:t>
            </a:r>
            <a:r>
              <a:rPr lang="en-US" dirty="0" err="1"/>
              <a:t>ShapeVisual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сформировано</a:t>
            </a:r>
            <a:r>
              <a:rPr lang="en-US" dirty="0"/>
              <a:t>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ShadowDecorator</a:t>
            </a:r>
            <a:r>
              <a:rPr lang="en-US" dirty="0"/>
              <a:t> </a:t>
            </a:r>
            <a:r>
              <a:rPr lang="en-US" dirty="0" err="1"/>
              <a:t>добавит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и </a:t>
            </a:r>
            <a:r>
              <a:rPr lang="en-US" dirty="0" err="1"/>
              <a:t>вернёт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GlowDecorator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с </a:t>
            </a:r>
            <a:r>
              <a:rPr lang="en-US" dirty="0" err="1"/>
              <a:t>тенью</a:t>
            </a:r>
            <a:r>
              <a:rPr lang="en-US" dirty="0"/>
              <a:t> и </a:t>
            </a:r>
            <a:r>
              <a:rPr lang="en-US" dirty="0" err="1"/>
              <a:t>применит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.</a:t>
            </a:r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ReflectionDecorator</a:t>
            </a:r>
            <a:r>
              <a:rPr lang="en-US" dirty="0"/>
              <a:t> </a:t>
            </a:r>
            <a:r>
              <a:rPr lang="en-US" dirty="0" err="1"/>
              <a:t>создаст</a:t>
            </a:r>
            <a:r>
              <a:rPr lang="en-US" dirty="0"/>
              <a:t> </a:t>
            </a:r>
            <a:r>
              <a:rPr lang="en-US" dirty="0" err="1"/>
              <a:t>отражение</a:t>
            </a:r>
            <a:r>
              <a:rPr lang="en-US" dirty="0"/>
              <a:t> </a:t>
            </a:r>
            <a:r>
              <a:rPr lang="en-US" dirty="0" err="1"/>
              <a:t>получившегося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Заметьте</a:t>
            </a:r>
            <a:r>
              <a:rPr lang="en-US" dirty="0"/>
              <a:t>: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потребовались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dirty="0" err="1"/>
              <a:t>RectangleWithShadowAndGlowAndReflection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сочетать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достоинств</a:t>
            </a:r>
            <a:r>
              <a:rPr lang="en-US" dirty="0"/>
              <a:t> Decorator — </a:t>
            </a:r>
            <a:r>
              <a:rPr lang="en-US" dirty="0" err="1"/>
              <a:t>гибкая</a:t>
            </a:r>
            <a:r>
              <a:rPr lang="en-US" dirty="0"/>
              <a:t> </a:t>
            </a:r>
            <a:r>
              <a:rPr lang="en-US" dirty="0" err="1"/>
              <a:t>композиция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4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исходному</a:t>
            </a:r>
            <a:r>
              <a:rPr lang="en-US" dirty="0"/>
              <a:t> </a:t>
            </a:r>
            <a:r>
              <a:rPr lang="en-US" dirty="0" err="1"/>
              <a:t>требованию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включать</a:t>
            </a:r>
            <a:r>
              <a:rPr lang="en-US" dirty="0"/>
              <a:t> и </a:t>
            </a:r>
            <a:r>
              <a:rPr lang="en-US" dirty="0" err="1"/>
              <a:t>выключать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визуальных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ShapeVisual</a:t>
            </a:r>
            <a:r>
              <a:rPr lang="en-US" dirty="0"/>
              <a:t> и </a:t>
            </a:r>
            <a:r>
              <a:rPr lang="en-US" dirty="0" err="1"/>
              <a:t>оборачиваем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ShadowDecorator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GlowDecorator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отключает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GlowDecorator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включит</a:t>
            </a:r>
            <a:r>
              <a:rPr lang="en-US" dirty="0"/>
              <a:t> </a:t>
            </a:r>
            <a:r>
              <a:rPr lang="en-US" dirty="0" err="1"/>
              <a:t>отражение</a:t>
            </a:r>
            <a:r>
              <a:rPr lang="en-US" dirty="0"/>
              <a:t>,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ReflectionDecorator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простейшем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настроек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пересоздать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обновлять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кэширование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применённых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зашит</a:t>
            </a:r>
            <a:r>
              <a:rPr lang="en-US" dirty="0"/>
              <a:t> в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 в </a:t>
            </a:r>
            <a:r>
              <a:rPr lang="en-US" dirty="0" err="1"/>
              <a:t>документе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оформить</a:t>
            </a:r>
            <a:r>
              <a:rPr lang="en-US" dirty="0"/>
              <a:t> </a:t>
            </a:r>
            <a:r>
              <a:rPr lang="en-US" dirty="0" err="1"/>
              <a:t>обратимой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 и </a:t>
            </a:r>
            <a:r>
              <a:rPr lang="en-US" dirty="0" err="1"/>
              <a:t>поддержать</a:t>
            </a:r>
            <a:r>
              <a:rPr lang="en-US" dirty="0"/>
              <a:t> Undo/Redo.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временным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, </a:t>
            </a:r>
            <a:r>
              <a:rPr lang="en-US" dirty="0" err="1"/>
              <a:t>построенным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основании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настроек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отделяем</a:t>
            </a:r>
            <a:r>
              <a:rPr lang="en-US" dirty="0"/>
              <a:t> </a:t>
            </a:r>
            <a:r>
              <a:rPr lang="en-US" b="1" dirty="0" err="1"/>
              <a:t>информацию</a:t>
            </a:r>
            <a:r>
              <a:rPr lang="en-US" b="1" dirty="0"/>
              <a:t> о </a:t>
            </a:r>
            <a:r>
              <a:rPr lang="en-US" b="1" dirty="0" err="1"/>
              <a:t>применённых</a:t>
            </a:r>
            <a:r>
              <a:rPr lang="en-US" b="1" dirty="0"/>
              <a:t> </a:t>
            </a:r>
            <a:r>
              <a:rPr lang="en-US" b="1" dirty="0" err="1"/>
              <a:t>эффектах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b="1" dirty="0" err="1"/>
              <a:t>механизма</a:t>
            </a:r>
            <a:r>
              <a:rPr lang="en-US" b="1" dirty="0"/>
              <a:t> </a:t>
            </a:r>
            <a:r>
              <a:rPr lang="en-US" b="1" dirty="0" err="1"/>
              <a:t>их</a:t>
            </a:r>
            <a:r>
              <a:rPr lang="en-US" b="1" dirty="0"/>
              <a:t> </a:t>
            </a:r>
            <a:r>
              <a:rPr lang="en-US" b="1" dirty="0" err="1"/>
              <a:t>отображения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смешивая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с </a:t>
            </a:r>
            <a:r>
              <a:rPr lang="en-US" dirty="0" err="1"/>
              <a:t>ответственностями</a:t>
            </a:r>
            <a:r>
              <a:rPr lang="en-US" dirty="0"/>
              <a:t> </a:t>
            </a:r>
            <a:r>
              <a:rPr lang="en-US" dirty="0" err="1"/>
              <a:t>доменных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873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цепочек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Порядок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соединяем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к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обернули</a:t>
            </a:r>
            <a:r>
              <a:rPr lang="en-US" dirty="0"/>
              <a:t> </a:t>
            </a:r>
            <a:r>
              <a:rPr lang="en-US" dirty="0" err="1"/>
              <a:t>получившийся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свечения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свечения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,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, 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ShadowDecorator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изображением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</a:t>
            </a:r>
            <a:r>
              <a:rPr lang="en-US" dirty="0" err="1"/>
              <a:t>свечение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различаться</a:t>
            </a:r>
            <a:r>
              <a:rPr lang="en-US" dirty="0"/>
              <a:t>.</a:t>
            </a:r>
          </a:p>
          <a:p>
            <a:endParaRPr lang="ru-RU" i="1" dirty="0"/>
          </a:p>
          <a:p>
            <a:r>
              <a:rPr lang="en-US" i="1" dirty="0" err="1"/>
              <a:t>Вопрос</a:t>
            </a:r>
            <a:r>
              <a:rPr lang="en-US" i="1" dirty="0"/>
              <a:t> </a:t>
            </a:r>
            <a:r>
              <a:rPr lang="en-US" i="1" dirty="0" err="1"/>
              <a:t>студентам</a:t>
            </a:r>
            <a:r>
              <a:rPr lang="en-US" i="1" dirty="0"/>
              <a:t>:</a:t>
            </a:r>
            <a:r>
              <a:rPr lang="en-US" dirty="0"/>
              <a:t> 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отражение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</a:t>
            </a:r>
            <a:r>
              <a:rPr lang="en-US" dirty="0" err="1"/>
              <a:t>размытие</a:t>
            </a:r>
            <a:r>
              <a:rPr lang="en-US" dirty="0"/>
              <a:t>? </a:t>
            </a:r>
            <a:r>
              <a:rPr lang="en-US" dirty="0" err="1"/>
              <a:t>Получим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размытии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с </a:t>
            </a:r>
            <a:r>
              <a:rPr lang="en-US" dirty="0" err="1"/>
              <a:t>последующим</a:t>
            </a:r>
            <a:r>
              <a:rPr lang="en-US" dirty="0"/>
              <a:t> </a:t>
            </a:r>
            <a:r>
              <a:rPr lang="en-US" dirty="0" err="1"/>
              <a:t>созданием</a:t>
            </a:r>
            <a:r>
              <a:rPr lang="en-US" dirty="0"/>
              <a:t> </a:t>
            </a:r>
            <a:r>
              <a:rPr lang="en-US" dirty="0" err="1"/>
              <a:t>отражения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композиция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вложенности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экспериментировать</a:t>
            </a:r>
            <a:r>
              <a:rPr lang="en-US" dirty="0"/>
              <a:t> с </a:t>
            </a:r>
            <a:r>
              <a:rPr lang="en-US" dirty="0" err="1"/>
              <a:t>последовательностью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, и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формировании</a:t>
            </a:r>
            <a:r>
              <a:rPr lang="en-US" dirty="0"/>
              <a:t> и </a:t>
            </a:r>
            <a:r>
              <a:rPr lang="en-US" dirty="0" err="1"/>
              <a:t>отображении</a:t>
            </a:r>
            <a:r>
              <a:rPr lang="en-US" dirty="0"/>
              <a:t> </a:t>
            </a:r>
            <a:r>
              <a:rPr lang="en-US" dirty="0" err="1"/>
              <a:t>цепочки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разрешать</a:t>
            </a:r>
            <a:r>
              <a:rPr lang="en-US" dirty="0"/>
              <a:t> </a:t>
            </a:r>
            <a:r>
              <a:rPr lang="en-US" dirty="0" err="1"/>
              <a:t>произвольный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—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правил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3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оценим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существующих</a:t>
            </a:r>
            <a:r>
              <a:rPr lang="en-US" dirty="0"/>
              <a:t> </a:t>
            </a:r>
            <a:r>
              <a:rPr lang="en-US" dirty="0" err="1"/>
              <a:t>рендереров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разрабатывать</a:t>
            </a:r>
            <a:r>
              <a:rPr lang="en-US" dirty="0"/>
              <a:t> и </a:t>
            </a:r>
            <a:r>
              <a:rPr lang="en-US" dirty="0" err="1"/>
              <a:t>тестировать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 err="1"/>
              <a:t>Декораторы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, а </a:t>
            </a:r>
            <a:r>
              <a:rPr lang="en-US" dirty="0" err="1"/>
              <a:t>клиентский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привычным</a:t>
            </a:r>
            <a:r>
              <a:rPr lang="en-US" dirty="0"/>
              <a:t> </a:t>
            </a:r>
            <a:r>
              <a:rPr lang="en-US" dirty="0" err="1"/>
              <a:t>интерфейсом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развиваются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,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следующему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промежуточных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,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проходов</a:t>
            </a:r>
            <a:r>
              <a:rPr lang="en-US" dirty="0"/>
              <a:t> </a:t>
            </a:r>
            <a:r>
              <a:rPr lang="en-US" dirty="0" err="1"/>
              <a:t>рендеринга</a:t>
            </a:r>
            <a:r>
              <a:rPr lang="en-US" dirty="0"/>
              <a:t> и </a:t>
            </a:r>
            <a:r>
              <a:rPr lang="en-US" dirty="0" err="1"/>
              <a:t>существенных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большом</a:t>
            </a:r>
            <a:r>
              <a:rPr lang="en-US" dirty="0"/>
              <a:t> </a:t>
            </a:r>
            <a:r>
              <a:rPr lang="en-US" dirty="0" err="1"/>
              <a:t>документе</a:t>
            </a:r>
            <a:r>
              <a:rPr lang="en-US" dirty="0"/>
              <a:t> с </a:t>
            </a:r>
            <a:r>
              <a:rPr lang="en-US" dirty="0" err="1"/>
              <a:t>множеством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заметной</a:t>
            </a:r>
            <a:r>
              <a:rPr lang="en-US" dirty="0"/>
              <a:t> </a:t>
            </a:r>
            <a:r>
              <a:rPr lang="en-US" dirty="0" err="1"/>
              <a:t>нагрузкой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Decorator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, Undo/Redo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с </a:t>
            </a:r>
            <a:r>
              <a:rPr lang="en-US" dirty="0" err="1"/>
              <a:t>изменённой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главное</a:t>
            </a:r>
            <a:r>
              <a:rPr lang="en-US" dirty="0"/>
              <a:t> — Decorator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единственным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комбинирования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конвейер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и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к </a:t>
            </a:r>
            <a:r>
              <a:rPr lang="en-US" dirty="0" err="1"/>
              <a:t>текущему</a:t>
            </a:r>
            <a:r>
              <a:rPr lang="en-US" dirty="0"/>
              <a:t> </a:t>
            </a:r>
            <a:r>
              <a:rPr lang="en-US" dirty="0" err="1"/>
              <a:t>изображению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однотипных</a:t>
            </a:r>
            <a:r>
              <a:rPr lang="en-US" dirty="0"/>
              <a:t> </a:t>
            </a:r>
            <a:r>
              <a:rPr lang="en-US" dirty="0" err="1"/>
              <a:t>преобразований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и </a:t>
            </a:r>
            <a:r>
              <a:rPr lang="en-US" dirty="0" err="1"/>
              <a:t>эффективнее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вложенных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правильный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Decorator.</a:t>
            </a:r>
          </a:p>
          <a:p>
            <a:r>
              <a:rPr lang="en-US" dirty="0" err="1"/>
              <a:t>Вопрос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самостоятельные</a:t>
            </a:r>
            <a:r>
              <a:rPr lang="en-US" dirty="0"/>
              <a:t>, </a:t>
            </a:r>
            <a:r>
              <a:rPr lang="en-US" dirty="0" err="1"/>
              <a:t>взаимозаменяемые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расширяющие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Decorator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описываются</a:t>
            </a:r>
            <a:r>
              <a:rPr lang="en-US" dirty="0"/>
              <a:t> </a:t>
            </a:r>
            <a:r>
              <a:rPr lang="en-US" dirty="0" err="1"/>
              <a:t>единым</a:t>
            </a:r>
            <a:r>
              <a:rPr lang="en-US" dirty="0"/>
              <a:t> </a:t>
            </a:r>
            <a:r>
              <a:rPr lang="en-US" dirty="0" err="1"/>
              <a:t>списком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изображением</a:t>
            </a:r>
            <a:r>
              <a:rPr lang="en-US" dirty="0"/>
              <a:t>,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конвейер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предпочтительнее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: </a:t>
            </a:r>
            <a:r>
              <a:rPr lang="en-US" b="1" dirty="0" err="1"/>
              <a:t>паттерн</a:t>
            </a:r>
            <a:r>
              <a:rPr lang="en-US" b="1" dirty="0"/>
              <a:t> —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инструмент</a:t>
            </a:r>
            <a:r>
              <a:rPr lang="en-US" b="1" dirty="0"/>
              <a:t>, а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обязательная</a:t>
            </a:r>
            <a:r>
              <a:rPr lang="en-US" b="1" dirty="0"/>
              <a:t> </a:t>
            </a:r>
            <a:r>
              <a:rPr lang="en-US" b="1" dirty="0" err="1"/>
              <a:t>цель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16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знакомство</a:t>
            </a:r>
            <a:r>
              <a:rPr lang="en-US" dirty="0"/>
              <a:t> с Decorator,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оборачивания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графике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умеющий</a:t>
            </a:r>
            <a:r>
              <a:rPr lang="en-US" dirty="0"/>
              <a:t> </a:t>
            </a:r>
            <a:r>
              <a:rPr lang="en-US" dirty="0" err="1"/>
              <a:t>записывать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сжимать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записью</a:t>
            </a:r>
            <a:r>
              <a:rPr lang="en-US" dirty="0"/>
              <a:t> и </a:t>
            </a:r>
            <a:r>
              <a:rPr lang="en-US" dirty="0" err="1"/>
              <a:t>подсчитывать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пойти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путём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FileOutputStream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r>
              <a:rPr lang="en-US" dirty="0" err="1"/>
              <a:t>Обернём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CompressingOutputStream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сжимает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обернём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в </a:t>
            </a:r>
            <a:r>
              <a:rPr lang="en-US" dirty="0" err="1"/>
              <a:t>CountingOutputStream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подсчитывает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проходящих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С</a:t>
            </a:r>
            <a:r>
              <a:rPr lang="en-US" dirty="0" err="1"/>
              <a:t>труктура</a:t>
            </a:r>
            <a:r>
              <a:rPr lang="en-US" dirty="0"/>
              <a:t> </a:t>
            </a:r>
            <a:r>
              <a:rPr lang="en-US" dirty="0" err="1"/>
              <a:t>получилась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визуальных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вложенному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и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сжатием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считает</a:t>
            </a:r>
            <a:r>
              <a:rPr lang="en-US" dirty="0"/>
              <a:t> </a:t>
            </a:r>
            <a:r>
              <a:rPr lang="en-US" dirty="0" err="1"/>
              <a:t>исходные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сжатия</a:t>
            </a:r>
            <a:r>
              <a:rPr lang="en-US" dirty="0"/>
              <a:t> — </a:t>
            </a:r>
            <a:r>
              <a:rPr lang="en-US" dirty="0" err="1"/>
              <a:t>сжатые</a:t>
            </a:r>
            <a:r>
              <a:rPr lang="en-US" dirty="0"/>
              <a:t> </a:t>
            </a:r>
            <a:r>
              <a:rPr lang="en-US" dirty="0" err="1"/>
              <a:t>байты</a:t>
            </a:r>
            <a:r>
              <a:rPr lang="en-US" dirty="0"/>
              <a:t>,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.</a:t>
            </a:r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потокового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языках</a:t>
            </a:r>
            <a:r>
              <a:rPr lang="en-US" dirty="0"/>
              <a:t> и </a:t>
            </a:r>
            <a:r>
              <a:rPr lang="en-US" dirty="0" err="1"/>
              <a:t>библиотеках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и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обёрток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Decorator.</a:t>
            </a:r>
          </a:p>
          <a:p>
            <a:endParaRPr lang="ru-RU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суть</a:t>
            </a:r>
            <a:r>
              <a:rPr lang="en-US" dirty="0"/>
              <a:t> — </a:t>
            </a:r>
            <a:r>
              <a:rPr lang="en-US" b="1" dirty="0" err="1"/>
              <a:t>добавление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 </a:t>
            </a:r>
            <a:r>
              <a:rPr lang="en-US" b="1" dirty="0" err="1"/>
              <a:t>объекту</a:t>
            </a:r>
            <a:r>
              <a:rPr lang="en-US" b="1" dirty="0"/>
              <a:t> с </a:t>
            </a:r>
            <a:r>
              <a:rPr lang="en-US" b="1" dirty="0" err="1"/>
              <a:t>сохранением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интерфейса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68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обёртку</a:t>
            </a:r>
            <a:r>
              <a:rPr lang="en-US" dirty="0"/>
              <a:t>?</a:t>
            </a:r>
          </a:p>
          <a:p>
            <a:r>
              <a:rPr lang="en-US" dirty="0" err="1"/>
              <a:t>Да</a:t>
            </a:r>
            <a:r>
              <a:rPr lang="en-US" dirty="0"/>
              <a:t>.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расширить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а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02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Перейдём</a:t>
            </a:r>
            <a:r>
              <a:rPr lang="en-US" dirty="0"/>
              <a:t> к </a:t>
            </a:r>
            <a:r>
              <a:rPr lang="en-US" dirty="0" err="1"/>
              <a:t>третьей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усовершенствовать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?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маленькими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частично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перекрывать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панель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перечислены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Rectangle 1, Ellipse 1, Rectangle 2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списке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выделяется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исчезает</a:t>
            </a:r>
            <a:r>
              <a:rPr lang="en-US" dirty="0"/>
              <a:t> и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имеем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необходимой</a:t>
            </a:r>
            <a:r>
              <a:rPr lang="en-US" dirty="0"/>
              <a:t> </a:t>
            </a:r>
            <a:r>
              <a:rPr lang="en-US" dirty="0" err="1"/>
              <a:t>функциональности</a:t>
            </a:r>
            <a:r>
              <a:rPr lang="en-US" dirty="0"/>
              <a:t>.</a:t>
            </a:r>
          </a:p>
          <a:p>
            <a:r>
              <a:rPr lang="en-US" dirty="0" err="1"/>
              <a:t>Наш</a:t>
            </a:r>
            <a:r>
              <a:rPr lang="en-US" dirty="0"/>
              <a:t> Drawing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. </a:t>
            </a:r>
            <a:r>
              <a:rPr lang="en-US" dirty="0" err="1"/>
              <a:t>EditorModel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r>
              <a:rPr lang="en-US" dirty="0" err="1"/>
              <a:t>Осталось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—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прокручивать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, </a:t>
            </a:r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,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клавиатуру</a:t>
            </a:r>
            <a:r>
              <a:rPr lang="en-US" dirty="0"/>
              <a:t> и </a:t>
            </a:r>
            <a:r>
              <a:rPr lang="en-US" dirty="0" err="1"/>
              <a:t>мышь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?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воспользоваться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разберёмся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64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универсален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собираемся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пользователи</a:t>
            </a:r>
            <a:r>
              <a:rPr lang="en-US" dirty="0"/>
              <a:t>, </a:t>
            </a:r>
            <a:r>
              <a:rPr lang="en-US" dirty="0" err="1"/>
              <a:t>письма</a:t>
            </a:r>
            <a:r>
              <a:rPr lang="en-US" dirty="0"/>
              <a:t>, </a:t>
            </a:r>
            <a:r>
              <a:rPr lang="en-US" dirty="0" err="1"/>
              <a:t>файлы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упрощённом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элементе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индексу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заголовок</a:t>
            </a:r>
            <a:r>
              <a:rPr lang="en-US" dirty="0"/>
              <a:t>, </a:t>
            </a:r>
            <a:r>
              <a:rPr lang="en-US" dirty="0" err="1"/>
              <a:t>миниатюру</a:t>
            </a:r>
            <a:r>
              <a:rPr lang="en-US" dirty="0"/>
              <a:t> и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сложном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в </a:t>
            </a:r>
            <a:r>
              <a:rPr lang="en-US" dirty="0" err="1"/>
              <a:t>прошлогодней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?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Drawing,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порядком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.</a:t>
            </a:r>
          </a:p>
          <a:p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необходимая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Drawing в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—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ожидаемый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отсутствующей</a:t>
            </a:r>
            <a:r>
              <a:rPr lang="en-US" dirty="0"/>
              <a:t> </a:t>
            </a:r>
            <a:r>
              <a:rPr lang="en-US" dirty="0" err="1"/>
              <a:t>функциональности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b="1" dirty="0" err="1"/>
              <a:t>несовместимости</a:t>
            </a:r>
            <a:r>
              <a:rPr lang="en-US" b="1" dirty="0"/>
              <a:t> </a:t>
            </a:r>
            <a:r>
              <a:rPr lang="en-US" b="1" dirty="0" err="1"/>
              <a:t>интерфейсов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i="1" dirty="0" err="1"/>
              <a:t>Вопрос</a:t>
            </a:r>
            <a:r>
              <a:rPr lang="en-US" b="1" i="1" dirty="0"/>
              <a:t> </a:t>
            </a:r>
            <a:r>
              <a:rPr lang="en-US" b="1" i="1" dirty="0" err="1"/>
              <a:t>студентам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позволят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соединить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отказаться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и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ShapeListView</a:t>
            </a:r>
            <a:r>
              <a:rPr lang="en-US" dirty="0"/>
              <a:t>, </a:t>
            </a:r>
            <a:r>
              <a:rPr lang="en-US" dirty="0" err="1"/>
              <a:t>предназначенный</a:t>
            </a:r>
            <a:r>
              <a:rPr lang="en-US" dirty="0"/>
              <a:t> </a:t>
            </a:r>
            <a:r>
              <a:rPr lang="en-US" dirty="0" err="1"/>
              <a:t>исключительно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унаследоваться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, и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с </a:t>
            </a:r>
            <a:r>
              <a:rPr lang="en-US" dirty="0" err="1"/>
              <a:t>конкретными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изменить</a:t>
            </a:r>
            <a:r>
              <a:rPr lang="en-US" dirty="0"/>
              <a:t> Drawing, </a:t>
            </a:r>
            <a:r>
              <a:rPr lang="en-US" dirty="0" err="1"/>
              <a:t>добавив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Drawing в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вспомните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занятиях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GUI и SOLID.</a:t>
            </a:r>
          </a:p>
          <a:p>
            <a:endParaRPr lang="en-US" dirty="0"/>
          </a:p>
          <a:p>
            <a:r>
              <a:rPr lang="en-US" dirty="0"/>
              <a:t>Drawing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интерфейсе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?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захотим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ListView</a:t>
            </a:r>
            <a:r>
              <a:rPr lang="en-US" dirty="0"/>
              <a:t>, а в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компоненте</a:t>
            </a:r>
            <a:r>
              <a:rPr lang="en-US" dirty="0"/>
              <a:t>?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обязательна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предложить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: </a:t>
            </a:r>
            <a:r>
              <a:rPr lang="en-US" dirty="0" err="1"/>
              <a:t>извлечь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Drawing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списку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статического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рассчитан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с </a:t>
            </a:r>
            <a:r>
              <a:rPr lang="en-US" dirty="0" err="1"/>
              <a:t>нашим</a:t>
            </a:r>
            <a:r>
              <a:rPr lang="en-US" dirty="0"/>
              <a:t>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Drawing,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?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устроить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098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Предложим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ShapeListDataSource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Drawing.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спрашивает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,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Drawing и </a:t>
            </a:r>
            <a:r>
              <a:rPr lang="en-US" dirty="0" err="1"/>
              <a:t>узнаёт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запрашивает</a:t>
            </a:r>
            <a:r>
              <a:rPr lang="en-US" dirty="0"/>
              <a:t> </a:t>
            </a:r>
            <a:r>
              <a:rPr lang="en-US" dirty="0" err="1"/>
              <a:t>очередной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Rectangle </a:t>
            </a:r>
            <a:r>
              <a:rPr lang="en-US" dirty="0" err="1"/>
              <a:t>или</a:t>
            </a:r>
            <a:r>
              <a:rPr lang="en-US" dirty="0"/>
              <a:t> Ellipse, </a:t>
            </a:r>
            <a:r>
              <a:rPr lang="en-US" dirty="0" err="1"/>
              <a:t>цветную</a:t>
            </a:r>
            <a:r>
              <a:rPr lang="en-US" dirty="0"/>
              <a:t> </a:t>
            </a:r>
            <a:r>
              <a:rPr lang="en-US" dirty="0" err="1"/>
              <a:t>миниатюру</a:t>
            </a:r>
            <a:r>
              <a:rPr lang="en-US" dirty="0"/>
              <a:t> и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выступает</a:t>
            </a:r>
            <a:r>
              <a:rPr lang="en-US" dirty="0"/>
              <a:t> </a:t>
            </a:r>
            <a:r>
              <a:rPr lang="en-US" dirty="0" err="1"/>
              <a:t>посредником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.</a:t>
            </a:r>
          </a:p>
          <a:p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ожидаемому</a:t>
            </a:r>
            <a:r>
              <a:rPr lang="en-US" dirty="0"/>
              <a:t> </a:t>
            </a:r>
            <a:r>
              <a:rPr lang="en-US" dirty="0" err="1"/>
              <a:t>интерфейсу</a:t>
            </a:r>
            <a:r>
              <a:rPr lang="en-US" dirty="0"/>
              <a:t>.</a:t>
            </a:r>
          </a:p>
          <a:p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Drawing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клиентом</a:t>
            </a:r>
            <a:r>
              <a:rPr lang="en-US" dirty="0"/>
              <a:t>, </a:t>
            </a:r>
            <a:r>
              <a:rPr lang="en-US" dirty="0" err="1"/>
              <a:t>использующим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фигурах</a:t>
            </a:r>
            <a:r>
              <a:rPr lang="en-US" dirty="0"/>
              <a:t>, а Drawing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устройстве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dirty="0" err="1"/>
              <a:t>паттерну</a:t>
            </a:r>
            <a:r>
              <a:rPr lang="en-US" dirty="0"/>
              <a:t> </a:t>
            </a:r>
            <a:r>
              <a:rPr lang="en-US" b="1" dirty="0"/>
              <a:t>Adapter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Адаптер</a:t>
            </a:r>
            <a:r>
              <a:rPr lang="en-US" dirty="0"/>
              <a:t>».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преобразовать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в </a:t>
            </a:r>
            <a:r>
              <a:rPr lang="en-US" dirty="0" err="1"/>
              <a:t>другой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, </a:t>
            </a:r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рассчитанные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совместную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Decorator,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, Adapter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стремится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</a:p>
          <a:p>
            <a:r>
              <a:rPr lang="en-US" dirty="0" err="1"/>
              <a:t>Нужная</a:t>
            </a:r>
            <a:r>
              <a:rPr lang="en-US" dirty="0"/>
              <a:t> </a:t>
            </a:r>
            <a:r>
              <a:rPr lang="en-US" dirty="0" err="1"/>
              <a:t>функциональность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делаем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доступной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78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я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упростил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сосредоточиться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идее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Drawing и </a:t>
            </a:r>
            <a:r>
              <a:rPr lang="en-US" dirty="0" err="1"/>
              <a:t>вспомогательные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dirty="0" err="1"/>
              <a:t>условно</a:t>
            </a:r>
            <a:r>
              <a:rPr lang="en-US" dirty="0"/>
              <a:t> —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конструкторе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Drawing.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— </a:t>
            </a:r>
            <a:r>
              <a:rPr lang="en-US" dirty="0" err="1"/>
              <a:t>GetItemCount</a:t>
            </a:r>
            <a:r>
              <a:rPr lang="en-US" dirty="0"/>
              <a:t>.</a:t>
            </a:r>
          </a:p>
          <a:p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.</a:t>
            </a:r>
          </a:p>
          <a:p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Drawing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интереснее</a:t>
            </a:r>
            <a:r>
              <a:rPr lang="en-US" dirty="0"/>
              <a:t>.</a:t>
            </a:r>
          </a:p>
          <a:p>
            <a:r>
              <a:rPr lang="en-US" dirty="0" err="1"/>
              <a:t>GetItem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индекс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, </a:t>
            </a:r>
            <a:r>
              <a:rPr lang="en-US" dirty="0" err="1"/>
              <a:t>находит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 Это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Visitor,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заставляя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разбираться</a:t>
            </a:r>
            <a:r>
              <a:rPr lang="en-US" dirty="0"/>
              <a:t> с Rectangle и Ellipse.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возвращаем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?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.</a:t>
            </a:r>
          </a:p>
          <a:p>
            <a:r>
              <a:rPr lang="en-US" dirty="0" err="1"/>
              <a:t>Индекс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удалит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изменит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индексы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идентичность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сохраниться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устойчивый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, </a:t>
            </a:r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— в Drawing, </a:t>
            </a:r>
            <a:r>
              <a:rPr lang="en-US" dirty="0" err="1"/>
              <a:t>EditorModel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связанном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объекте</a:t>
            </a:r>
            <a:r>
              <a:rPr lang="en-US" dirty="0"/>
              <a:t>, —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принятой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независимую</a:t>
            </a:r>
            <a:r>
              <a:rPr lang="en-US" dirty="0"/>
              <a:t> </a:t>
            </a:r>
            <a:r>
              <a:rPr lang="en-US" dirty="0" err="1"/>
              <a:t>коллекцию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существующему</a:t>
            </a:r>
            <a:r>
              <a:rPr lang="en-US" dirty="0"/>
              <a:t> Drawing и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полученные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согласования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небольшом</a:t>
            </a:r>
            <a:r>
              <a:rPr lang="en-US" dirty="0"/>
              <a:t> </a:t>
            </a:r>
            <a:r>
              <a:rPr lang="en-US" dirty="0" err="1"/>
              <a:t>классе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116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усложним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подключили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редактировать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ru-RU" dirty="0"/>
              <a:t>, и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выделенный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Undo, </a:t>
            </a:r>
            <a:r>
              <a:rPr lang="en-US" dirty="0" err="1"/>
              <a:t>отменяя</a:t>
            </a:r>
            <a:r>
              <a:rPr lang="en-US" dirty="0"/>
              <a:t>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произойти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панели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Очевидно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отразить</a:t>
            </a:r>
            <a:r>
              <a:rPr lang="en-US" dirty="0"/>
              <a:t> </a:t>
            </a:r>
            <a:r>
              <a:rPr lang="en-US" dirty="0" err="1"/>
              <a:t>актуальное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Adapter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?</a:t>
            </a:r>
          </a:p>
          <a:p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согласует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нужном</a:t>
            </a:r>
            <a:r>
              <a:rPr lang="en-US" dirty="0"/>
              <a:t> </a:t>
            </a:r>
            <a:r>
              <a:rPr lang="en-US" dirty="0" err="1"/>
              <a:t>формате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откуда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узнает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пора</a:t>
            </a:r>
            <a:r>
              <a:rPr lang="en-US" dirty="0"/>
              <a:t> </a:t>
            </a:r>
            <a:r>
              <a:rPr lang="en-US" dirty="0" err="1"/>
              <a:t>запросить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?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Observer.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DrawingChanged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управляющий</a:t>
            </a:r>
            <a:r>
              <a:rPr lang="en-US" dirty="0"/>
              <a:t> </a:t>
            </a:r>
            <a:r>
              <a:rPr lang="en-US" dirty="0" err="1"/>
              <a:t>панелью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подписаться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, </a:t>
            </a:r>
            <a:r>
              <a:rPr lang="en-US" dirty="0" err="1"/>
              <a:t>панель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ShapeListDataSource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актуальное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Заметьте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r>
              <a:rPr lang="en-US" dirty="0"/>
              <a:t>Observer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заинтересованным</a:t>
            </a:r>
            <a:r>
              <a:rPr lang="en-US" dirty="0"/>
              <a:t> </a:t>
            </a:r>
            <a:r>
              <a:rPr lang="en-US" dirty="0" err="1"/>
              <a:t>компонентам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/>
              <a:t>Adapter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совместимость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получении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дополняют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заменяют</a:t>
            </a:r>
            <a:r>
              <a:rPr lang="en-US" dirty="0"/>
              <a:t>.</a:t>
            </a:r>
          </a:p>
          <a:p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выбрал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в </a:t>
            </a:r>
            <a:r>
              <a:rPr lang="en-US" dirty="0" err="1"/>
              <a:t>EditorModel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выделил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отразить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dirty="0" err="1"/>
              <a:t>EditorModel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Adapter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локальную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брать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панели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911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</a:t>
            </a:r>
            <a:r>
              <a:rPr lang="en-US" dirty="0" err="1"/>
              <a:t>авайте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интересную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Visitor и </a:t>
            </a:r>
            <a:r>
              <a:rPr lang="en-US" dirty="0" err="1"/>
              <a:t>разделением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возникла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посетителей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— </a:t>
            </a:r>
            <a:r>
              <a:rPr lang="en-US" dirty="0" err="1"/>
              <a:t>IShapeVisitor</a:t>
            </a:r>
            <a:r>
              <a:rPr lang="en-US" dirty="0"/>
              <a:t> —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доменными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IEditorShapeVisitor</a:t>
            </a:r>
            <a:r>
              <a:rPr lang="en-US" dirty="0"/>
              <a:t> —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EditorShape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доменную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dirty="0" err="1"/>
              <a:t>VisitorAdapter</a:t>
            </a:r>
            <a:r>
              <a:rPr lang="en-US" dirty="0"/>
              <a:t>.</a:t>
            </a:r>
          </a:p>
          <a:p>
            <a:r>
              <a:rPr lang="ru-RU" dirty="0"/>
              <a:t>О</a:t>
            </a:r>
            <a:r>
              <a:rPr lang="en-US" dirty="0"/>
              <a:t>н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самую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смыслу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рассмотренный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рассчитан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использующая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согласующий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Adapter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придумывать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подсистему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вспомогательный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узнаём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подобное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распознавать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UML-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44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обобщим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и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Adapter.</a:t>
            </a:r>
          </a:p>
          <a:p>
            <a:endParaRPr lang="en-US" dirty="0"/>
          </a:p>
          <a:p>
            <a:r>
              <a:rPr lang="en-US" b="1" dirty="0"/>
              <a:t>Client</a:t>
            </a:r>
            <a:r>
              <a:rPr lang="en-US" dirty="0"/>
              <a:t> — </a:t>
            </a:r>
            <a:r>
              <a:rPr lang="en-US" dirty="0" err="1"/>
              <a:t>клиентский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определённая</a:t>
            </a:r>
            <a:r>
              <a:rPr lang="en-US" dirty="0"/>
              <a:t> </a:t>
            </a:r>
            <a:r>
              <a:rPr lang="en-US" dirty="0" err="1"/>
              <a:t>функциональность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интерфейсом</a:t>
            </a:r>
            <a:r>
              <a:rPr lang="en-US" dirty="0"/>
              <a:t> </a:t>
            </a:r>
            <a:r>
              <a:rPr lang="en-US" b="1" dirty="0"/>
              <a:t>Target</a:t>
            </a:r>
            <a:r>
              <a:rPr lang="en-US" dirty="0"/>
              <a:t>, </a:t>
            </a:r>
            <a:r>
              <a:rPr lang="en-US" dirty="0" err="1"/>
              <a:t>предоставляющим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Request()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b="1" dirty="0" err="1"/>
              <a:t>Adaptee</a:t>
            </a:r>
            <a:r>
              <a:rPr lang="en-US" dirty="0"/>
              <a:t> —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функциональность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: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Request()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SpecificRequest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несовместимость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Adaptee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b="1" dirty="0"/>
              <a:t>Adapter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Adapter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Target. </a:t>
            </a:r>
            <a:r>
              <a:rPr lang="en-US" dirty="0" err="1"/>
              <a:t>Поэтому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Request()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Adapter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Adaptee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Request()</a:t>
            </a:r>
            <a:r>
              <a:rPr lang="en-US" dirty="0"/>
              <a:t>,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в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SpecificRequest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у </a:t>
            </a:r>
            <a:r>
              <a:rPr lang="en-US" dirty="0" err="1"/>
              <a:t>адаптируемого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ru-RU" dirty="0"/>
              <a:t>Если нужно,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преобразовывать</a:t>
            </a:r>
            <a:r>
              <a:rPr lang="en-US" dirty="0"/>
              <a:t> </a:t>
            </a:r>
            <a:r>
              <a:rPr lang="en-US" dirty="0" err="1"/>
              <a:t>аргументы</a:t>
            </a:r>
            <a:r>
              <a:rPr lang="en-US" dirty="0"/>
              <a:t>,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преобразовывать</a:t>
            </a:r>
            <a:r>
              <a:rPr lang="en-US" dirty="0"/>
              <a:t> </a:t>
            </a:r>
            <a:r>
              <a:rPr lang="en-US" dirty="0" err="1"/>
              <a:t>возвращаемые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привычным</a:t>
            </a:r>
            <a:r>
              <a:rPr lang="en-US" dirty="0"/>
              <a:t> </a:t>
            </a:r>
            <a:r>
              <a:rPr lang="en-US" dirty="0" err="1"/>
              <a:t>интерфейсом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подозревая</a:t>
            </a:r>
            <a:r>
              <a:rPr lang="en-US" dirty="0"/>
              <a:t> о </a:t>
            </a:r>
            <a:r>
              <a:rPr lang="en-US" dirty="0" err="1"/>
              <a:t>существовании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API.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правую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Adaptee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ConcreteAdaptee1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ConcreteAdaptee2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Adapter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Adaptee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и </a:t>
            </a:r>
            <a:r>
              <a:rPr lang="en-US" b="1" dirty="0" err="1"/>
              <a:t>тот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адаптер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использовать</a:t>
            </a:r>
            <a:r>
              <a:rPr lang="en-US" b="1" dirty="0"/>
              <a:t> с </a:t>
            </a:r>
            <a:r>
              <a:rPr lang="en-US" b="1" dirty="0" err="1"/>
              <a:t>разными</a:t>
            </a:r>
            <a:r>
              <a:rPr lang="en-US" b="1" dirty="0"/>
              <a:t> </a:t>
            </a:r>
            <a:r>
              <a:rPr lang="en-US" b="1" dirty="0" err="1"/>
              <a:t>реализациями</a:t>
            </a:r>
            <a:r>
              <a:rPr lang="en-US" b="1" dirty="0"/>
              <a:t> </a:t>
            </a:r>
            <a:r>
              <a:rPr lang="en-US" b="1" dirty="0" err="1"/>
              <a:t>адаптируемого</a:t>
            </a:r>
            <a:r>
              <a:rPr lang="en-US" b="1" dirty="0"/>
              <a:t> </a:t>
            </a:r>
            <a:r>
              <a:rPr lang="en-US" b="1" dirty="0" err="1"/>
              <a:t>компонента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C++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указателя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SpecificRequest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—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, </a:t>
            </a:r>
            <a:r>
              <a:rPr lang="en-US" dirty="0" err="1"/>
              <a:t>нужная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 </a:t>
            </a:r>
            <a:r>
              <a:rPr lang="en-US" dirty="0" err="1"/>
              <a:t>полиморфно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называемый</a:t>
            </a:r>
            <a:r>
              <a:rPr lang="en-US" dirty="0"/>
              <a:t> </a:t>
            </a:r>
            <a:r>
              <a:rPr lang="en-US" i="1" dirty="0" err="1"/>
              <a:t>адаптер</a:t>
            </a:r>
            <a:r>
              <a:rPr lang="en-US" i="1" dirty="0"/>
              <a:t> </a:t>
            </a:r>
            <a:r>
              <a:rPr lang="en-US" i="1" dirty="0" err="1"/>
              <a:t>объектов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адаптируемый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, </a:t>
            </a:r>
            <a:r>
              <a:rPr lang="en-US" dirty="0" err="1"/>
              <a:t>основанный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наследовании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адаптируемого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останавливаться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Client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ListView</a:t>
            </a:r>
            <a:r>
              <a:rPr lang="en-US" dirty="0"/>
              <a:t>, </a:t>
            </a:r>
            <a:r>
              <a:rPr lang="en-US" dirty="0" err="1"/>
              <a:t>роль</a:t>
            </a:r>
            <a:r>
              <a:rPr lang="en-US" dirty="0"/>
              <a:t> Target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IListViewDataSource</a:t>
            </a:r>
            <a:r>
              <a:rPr lang="en-US" dirty="0"/>
              <a:t>, а </a:t>
            </a:r>
            <a:r>
              <a:rPr lang="en-US" dirty="0" err="1"/>
              <a:t>роль</a:t>
            </a:r>
            <a:r>
              <a:rPr lang="en-US" dirty="0"/>
              <a:t> Adapter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ShapeListDataSource</a:t>
            </a:r>
            <a:r>
              <a:rPr lang="en-US" dirty="0"/>
              <a:t>. </a:t>
            </a:r>
            <a:r>
              <a:rPr lang="en-US" dirty="0" err="1"/>
              <a:t>Адаптируемым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 </a:t>
            </a:r>
            <a:r>
              <a:rPr lang="en-US" dirty="0" err="1"/>
              <a:t>выступает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ru-RU" b="1" dirty="0"/>
          </a:p>
          <a:p>
            <a:r>
              <a:rPr lang="en-US" b="1" dirty="0" err="1"/>
              <a:t>Главная</a:t>
            </a:r>
            <a:r>
              <a:rPr lang="en-US" b="1" dirty="0"/>
              <a:t> </a:t>
            </a:r>
            <a:r>
              <a:rPr lang="en-US" b="1" dirty="0" err="1"/>
              <a:t>идея</a:t>
            </a:r>
            <a:r>
              <a:rPr lang="en-US" b="1" dirty="0"/>
              <a:t> </a:t>
            </a:r>
            <a:r>
              <a:rPr lang="en-US" b="1" dirty="0" err="1"/>
              <a:t>паттерна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заставляем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совместимости</a:t>
            </a:r>
            <a:r>
              <a:rPr lang="en-US" dirty="0"/>
              <a:t>.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локализуем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в </a:t>
            </a:r>
            <a:r>
              <a:rPr lang="en-US" dirty="0" err="1"/>
              <a:t>отдельном</a:t>
            </a:r>
            <a:r>
              <a:rPr lang="en-US" dirty="0"/>
              <a:t> </a:t>
            </a:r>
            <a:r>
              <a:rPr lang="en-US" dirty="0" err="1"/>
              <a:t>объекте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сравним</a:t>
            </a:r>
            <a:r>
              <a:rPr lang="en-US" dirty="0"/>
              <a:t> Adapter и Decorator.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внешне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композицию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</a:t>
            </a:r>
            <a:r>
              <a:rPr lang="en-US" dirty="0" err="1"/>
              <a:t>делегирование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В</a:t>
            </a:r>
            <a:r>
              <a:rPr lang="en-US" dirty="0" err="1"/>
              <a:t>спомним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вводили</a:t>
            </a:r>
            <a:r>
              <a:rPr lang="en-US" dirty="0"/>
              <a:t> Decorator.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отображению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GlowDecorator</a:t>
            </a:r>
            <a:r>
              <a:rPr lang="en-US" dirty="0"/>
              <a:t> </a:t>
            </a:r>
            <a:r>
              <a:rPr lang="en-US" dirty="0" err="1"/>
              <a:t>реализовывал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и </a:t>
            </a:r>
            <a:r>
              <a:rPr lang="en-US" dirty="0" err="1"/>
              <a:t>оборачиваемый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в </a:t>
            </a:r>
            <a:r>
              <a:rPr lang="en-US" dirty="0" err="1"/>
              <a:t>цепочку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Decorator — </a:t>
            </a:r>
            <a:r>
              <a:rPr lang="en-US" b="1" dirty="0" err="1"/>
              <a:t>расширить</a:t>
            </a:r>
            <a:r>
              <a:rPr lang="en-US" b="1" dirty="0"/>
              <a:t> </a:t>
            </a:r>
            <a:r>
              <a:rPr lang="en-US" b="1" dirty="0" err="1"/>
              <a:t>поведение</a:t>
            </a:r>
            <a:r>
              <a:rPr lang="en-US" b="1" dirty="0"/>
              <a:t>, </a:t>
            </a:r>
            <a:r>
              <a:rPr lang="en-US" b="1" dirty="0" err="1"/>
              <a:t>сохранив</a:t>
            </a:r>
            <a:r>
              <a:rPr lang="en-US" b="1" dirty="0"/>
              <a:t> </a:t>
            </a:r>
            <a:r>
              <a:rPr lang="en-US" b="1" dirty="0" err="1"/>
              <a:t>интерфейс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Adapter.</a:t>
            </a:r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— Drawing.</a:t>
            </a:r>
          </a:p>
          <a:p>
            <a:r>
              <a:rPr lang="en-US" dirty="0" err="1"/>
              <a:t>Но</a:t>
            </a:r>
            <a:r>
              <a:rPr lang="en-US" dirty="0"/>
              <a:t> Drawing </a:t>
            </a:r>
            <a:r>
              <a:rPr lang="en-US" dirty="0" err="1"/>
              <a:t>вовсе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несовместимости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и </a:t>
            </a:r>
            <a:r>
              <a:rPr lang="en-US" dirty="0" err="1"/>
              <a:t>заключалась</a:t>
            </a:r>
            <a:r>
              <a:rPr lang="en-US" dirty="0"/>
              <a:t> </a:t>
            </a:r>
            <a:r>
              <a:rPr lang="en-US" dirty="0" err="1"/>
              <a:t>исходная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ожидаемого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в </a:t>
            </a:r>
            <a:r>
              <a:rPr lang="en-US" dirty="0" err="1"/>
              <a:t>обращения</a:t>
            </a:r>
            <a:r>
              <a:rPr lang="en-US" dirty="0"/>
              <a:t> к Drawing.</a:t>
            </a:r>
          </a:p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Adapter —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доступную</a:t>
            </a:r>
            <a:r>
              <a:rPr lang="en-US" b="1" dirty="0"/>
              <a:t> </a:t>
            </a:r>
            <a:r>
              <a:rPr lang="en-US" b="1" dirty="0" err="1"/>
              <a:t>функциональность</a:t>
            </a:r>
            <a:r>
              <a:rPr lang="en-US" b="1" dirty="0"/>
              <a:t> </a:t>
            </a:r>
            <a:r>
              <a:rPr lang="en-US" b="1" dirty="0" err="1"/>
              <a:t>пригодной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клиента</a:t>
            </a:r>
            <a:r>
              <a:rPr lang="en-US" b="1" dirty="0"/>
              <a:t> с </a:t>
            </a:r>
            <a:r>
              <a:rPr lang="en-US" b="1" dirty="0" err="1"/>
              <a:t>другим</a:t>
            </a:r>
            <a:r>
              <a:rPr lang="en-US" b="1" dirty="0"/>
              <a:t> </a:t>
            </a:r>
            <a:r>
              <a:rPr lang="en-US" b="1" dirty="0" err="1"/>
              <a:t>интерфейсом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i="1" dirty="0" err="1"/>
              <a:t>Вопрос</a:t>
            </a:r>
            <a:r>
              <a:rPr lang="en-US" b="1" i="1" dirty="0"/>
              <a:t> </a:t>
            </a:r>
            <a:r>
              <a:rPr lang="en-US" b="1" i="1" dirty="0" err="1"/>
              <a:t>студентам</a:t>
            </a:r>
            <a:r>
              <a:rPr lang="en-US" b="1" i="1" dirty="0"/>
              <a:t>: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обёртку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Drawing,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и Drawing,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логирование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Adapter?</a:t>
            </a:r>
          </a:p>
          <a:p>
            <a:endParaRPr lang="en-US" dirty="0"/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логирование</a:t>
            </a:r>
            <a:r>
              <a:rPr lang="en-US" dirty="0"/>
              <a:t>, </a:t>
            </a:r>
            <a:r>
              <a:rPr lang="en-US" dirty="0" err="1"/>
              <a:t>сохранив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Decorator.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распознавании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обращать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намерение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425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третьей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подключить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r>
              <a:rPr lang="en-US" dirty="0"/>
              <a:t>Необходимая </a:t>
            </a:r>
            <a:r>
              <a:rPr lang="en-US" dirty="0" err="1"/>
              <a:t>функциональность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существовала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и Drawing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совпадали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ShapeListDataSource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смогли</a:t>
            </a:r>
            <a:r>
              <a:rPr lang="en-US" dirty="0"/>
              <a:t>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исходных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?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сохранили</a:t>
            </a:r>
            <a:r>
              <a:rPr lang="en-US" dirty="0"/>
              <a:t> </a:t>
            </a:r>
            <a:r>
              <a:rPr lang="en-US" dirty="0" err="1"/>
              <a:t>независимость</a:t>
            </a:r>
            <a:r>
              <a:rPr lang="en-US" dirty="0"/>
              <a:t> </a:t>
            </a:r>
            <a:r>
              <a:rPr lang="en-US" dirty="0" err="1"/>
              <a:t>доменной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интерфейсами</a:t>
            </a:r>
            <a:r>
              <a:rPr lang="en-US" dirty="0"/>
              <a:t> </a:t>
            </a:r>
            <a:r>
              <a:rPr lang="en-US" dirty="0" err="1"/>
              <a:t>оказались</a:t>
            </a:r>
            <a:r>
              <a:rPr lang="en-US" dirty="0"/>
              <a:t> </a:t>
            </a:r>
            <a:r>
              <a:rPr lang="en-US" dirty="0" err="1"/>
              <a:t>локализованы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заменим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 с </a:t>
            </a:r>
            <a:r>
              <a:rPr lang="en-US" dirty="0" err="1"/>
              <a:t>отличающимся</a:t>
            </a:r>
            <a:r>
              <a:rPr lang="en-US" dirty="0"/>
              <a:t> </a:t>
            </a:r>
            <a:r>
              <a:rPr lang="en-US" dirty="0" err="1"/>
              <a:t>интерфейсом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переписывать</a:t>
            </a:r>
            <a:r>
              <a:rPr lang="en-US" dirty="0"/>
              <a:t> Drawing.</a:t>
            </a:r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любого</a:t>
            </a:r>
            <a:r>
              <a:rPr lang="en-US" dirty="0"/>
              <a:t> </a:t>
            </a:r>
            <a:r>
              <a:rPr lang="en-US" dirty="0" err="1"/>
              <a:t>архитектурного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, </a:t>
            </a:r>
            <a:r>
              <a:rPr lang="en-US" dirty="0" err="1"/>
              <a:t>вероятно</a:t>
            </a:r>
            <a:r>
              <a:rPr lang="en-US" dirty="0"/>
              <a:t>,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Adapter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избавляет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владение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,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и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преобразовать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в </a:t>
            </a:r>
            <a:r>
              <a:rPr lang="en-US" dirty="0" err="1"/>
              <a:t>другой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объектный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а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с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интерфейсом</a:t>
            </a:r>
            <a:r>
              <a:rPr lang="en-US" dirty="0"/>
              <a:t>, Adapter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и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Итак</a:t>
            </a:r>
            <a:r>
              <a:rPr lang="en-US" b="1" dirty="0"/>
              <a:t>, Adapter </a:t>
            </a:r>
            <a:r>
              <a:rPr lang="en-US" b="1" dirty="0" err="1"/>
              <a:t>нужен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добавления</a:t>
            </a:r>
            <a:r>
              <a:rPr lang="en-US" b="1" dirty="0"/>
              <a:t> </a:t>
            </a:r>
            <a:r>
              <a:rPr lang="en-US" b="1" dirty="0" err="1"/>
              <a:t>новых</a:t>
            </a:r>
            <a:r>
              <a:rPr lang="en-US" b="1" dirty="0"/>
              <a:t> </a:t>
            </a:r>
            <a:r>
              <a:rPr lang="en-US" b="1" dirty="0" err="1"/>
              <a:t>возможностей</a:t>
            </a:r>
            <a:r>
              <a:rPr lang="en-US" b="1" dirty="0"/>
              <a:t>, а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обеспечения</a:t>
            </a:r>
            <a:r>
              <a:rPr lang="en-US" b="1" dirty="0"/>
              <a:t> </a:t>
            </a:r>
            <a:r>
              <a:rPr lang="en-US" b="1" dirty="0" err="1"/>
              <a:t>совместимости</a:t>
            </a:r>
            <a:r>
              <a:rPr lang="en-US" b="1" dirty="0"/>
              <a:t>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существующих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9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к </a:t>
            </a:r>
            <a:r>
              <a:rPr lang="en-US" dirty="0" err="1"/>
              <a:t>трём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, с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и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третьей</a:t>
            </a:r>
            <a:r>
              <a:rPr lang="en-US" dirty="0"/>
              <a:t> —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несовместимые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привели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трём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паттернам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,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, в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31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Я </a:t>
            </a:r>
            <a:r>
              <a:rPr lang="en-US" dirty="0" err="1"/>
              <a:t>покажу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, с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столкнуться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развитии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Попробуйте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рассмотренных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ограничивайтесь</a:t>
            </a:r>
            <a:r>
              <a:rPr lang="en-US" dirty="0"/>
              <a:t> </a:t>
            </a:r>
            <a:r>
              <a:rPr lang="en-US" dirty="0" err="1"/>
              <a:t>названием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объяснить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Начнём</a:t>
            </a:r>
            <a:r>
              <a:rPr lang="en-US" b="1" dirty="0"/>
              <a:t> с </a:t>
            </a:r>
            <a:r>
              <a:rPr lang="en-US" b="1" dirty="0" err="1"/>
              <a:t>задачи</a:t>
            </a:r>
            <a:r>
              <a:rPr lang="en-US" b="1" dirty="0"/>
              <a:t> A.</a:t>
            </a:r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научился</a:t>
            </a:r>
            <a:r>
              <a:rPr lang="en-US" dirty="0"/>
              <a:t> </a:t>
            </a:r>
            <a:r>
              <a:rPr lang="en-US" dirty="0" err="1"/>
              <a:t>импортировать</a:t>
            </a:r>
            <a:r>
              <a:rPr lang="en-US" dirty="0"/>
              <a:t> </a:t>
            </a:r>
            <a:r>
              <a:rPr lang="en-US" dirty="0" err="1"/>
              <a:t>документы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форматов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импортёр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похожа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входные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,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и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пригодиться</a:t>
            </a:r>
            <a:r>
              <a:rPr lang="en-US" dirty="0"/>
              <a:t>?</a:t>
            </a:r>
          </a:p>
          <a:p>
            <a:endParaRPr lang="en-US" b="1" i="1" dirty="0"/>
          </a:p>
          <a:p>
            <a:r>
              <a:rPr lang="en-US" b="1" i="1" dirty="0"/>
              <a:t>[</a:t>
            </a:r>
            <a:r>
              <a:rPr lang="en-US" b="1" i="1" dirty="0" err="1"/>
              <a:t>Выслушать</a:t>
            </a:r>
            <a:r>
              <a:rPr lang="en-US" b="1" i="1" dirty="0"/>
              <a:t> </a:t>
            </a:r>
            <a:r>
              <a:rPr lang="en-US" b="1" i="1" dirty="0" err="1"/>
              <a:t>ответы</a:t>
            </a:r>
            <a:r>
              <a:rPr lang="en-US" b="1" i="1" dirty="0"/>
              <a:t>.]</a:t>
            </a:r>
          </a:p>
          <a:p>
            <a:endParaRPr lang="en-US" dirty="0"/>
          </a:p>
          <a:p>
            <a:r>
              <a:rPr lang="ru-RU" dirty="0"/>
              <a:t>Э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b="1" dirty="0"/>
              <a:t>Template Method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в </a:t>
            </a:r>
            <a:r>
              <a:rPr lang="en-US" dirty="0" err="1"/>
              <a:t>базовом</a:t>
            </a:r>
            <a:r>
              <a:rPr lang="en-US" dirty="0"/>
              <a:t> </a:t>
            </a:r>
            <a:r>
              <a:rPr lang="en-US" dirty="0" err="1"/>
              <a:t>классе</a:t>
            </a:r>
            <a:r>
              <a:rPr lang="en-US" dirty="0"/>
              <a:t>, а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изменяемых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</a:t>
            </a:r>
            <a:r>
              <a:rPr lang="en-US" dirty="0" err="1"/>
              <a:t>поручить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импортёрам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Разумеется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и </a:t>
            </a:r>
            <a:r>
              <a:rPr lang="en-US" dirty="0" err="1"/>
              <a:t>композицию</a:t>
            </a:r>
            <a:r>
              <a:rPr lang="en-US" dirty="0"/>
              <a:t>, </a:t>
            </a:r>
            <a:r>
              <a:rPr lang="en-US" dirty="0" err="1"/>
              <a:t>передавая</a:t>
            </a:r>
            <a:r>
              <a:rPr lang="en-US" dirty="0"/>
              <a:t> </a:t>
            </a:r>
            <a:r>
              <a:rPr lang="en-US" dirty="0" err="1"/>
              <a:t>изменяемые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. Template Method —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Теперь</a:t>
            </a:r>
            <a:r>
              <a:rPr lang="en-US" b="1" dirty="0"/>
              <a:t> </a:t>
            </a:r>
            <a:r>
              <a:rPr lang="en-US" b="1" dirty="0" err="1"/>
              <a:t>задача</a:t>
            </a:r>
            <a:r>
              <a:rPr lang="en-US" b="1" dirty="0"/>
              <a:t> B.</a:t>
            </a:r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работающий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записывать</a:t>
            </a:r>
            <a:r>
              <a:rPr lang="en-US" dirty="0"/>
              <a:t> </a:t>
            </a:r>
            <a:r>
              <a:rPr lang="en-US" dirty="0" err="1"/>
              <a:t>журнал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, а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включать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хочется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b="1" i="1" dirty="0"/>
              <a:t>[</a:t>
            </a:r>
            <a:r>
              <a:rPr lang="en-US" b="1" i="1" dirty="0" err="1"/>
              <a:t>Выслушать</a:t>
            </a:r>
            <a:r>
              <a:rPr lang="en-US" b="1" i="1" dirty="0"/>
              <a:t> </a:t>
            </a:r>
            <a:r>
              <a:rPr lang="en-US" b="1" i="1" dirty="0" err="1"/>
              <a:t>ответы</a:t>
            </a:r>
            <a:r>
              <a:rPr lang="en-US" b="1" i="1" dirty="0"/>
              <a:t>.]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b="1" dirty="0"/>
              <a:t>Decorator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журналирования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рендерера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И </a:t>
            </a:r>
            <a:r>
              <a:rPr lang="en-US" b="1" dirty="0" err="1"/>
              <a:t>наконец</a:t>
            </a:r>
            <a:r>
              <a:rPr lang="en-US" b="1" dirty="0"/>
              <a:t>, </a:t>
            </a:r>
            <a:r>
              <a:rPr lang="en-US" b="1" dirty="0" err="1"/>
              <a:t>задача</a:t>
            </a:r>
            <a:r>
              <a:rPr lang="en-US" b="1" dirty="0"/>
              <a:t> C.</a:t>
            </a:r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готовую</a:t>
            </a:r>
            <a:r>
              <a:rPr lang="en-US" dirty="0"/>
              <a:t> </a:t>
            </a:r>
            <a:r>
              <a:rPr lang="en-US" dirty="0" err="1"/>
              <a:t>графическую</a:t>
            </a:r>
            <a:r>
              <a:rPr lang="en-US" dirty="0"/>
              <a:t> </a:t>
            </a:r>
            <a:r>
              <a:rPr lang="en-US" dirty="0" err="1"/>
              <a:t>библиотеку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DrawRect</a:t>
            </a:r>
            <a:r>
              <a:rPr lang="en-US" dirty="0"/>
              <a:t> с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Rect</a:t>
            </a:r>
            <a:r>
              <a:rPr lang="en-US" dirty="0"/>
              <a:t>, а </a:t>
            </a:r>
            <a:r>
              <a:rPr lang="en-US" dirty="0" err="1"/>
              <a:t>сторонняя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и </a:t>
            </a:r>
            <a:r>
              <a:rPr lang="en-US" dirty="0" err="1"/>
              <a:t>размеры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аргументами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поможет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b="1" i="1" dirty="0"/>
              <a:t>[</a:t>
            </a:r>
            <a:r>
              <a:rPr lang="en-US" b="1" i="1" dirty="0" err="1"/>
              <a:t>Выслушать</a:t>
            </a:r>
            <a:r>
              <a:rPr lang="en-US" b="1" i="1" dirty="0"/>
              <a:t> </a:t>
            </a:r>
            <a:r>
              <a:rPr lang="en-US" b="1" i="1" dirty="0" err="1"/>
              <a:t>ответы</a:t>
            </a:r>
            <a:r>
              <a:rPr lang="en-US" b="1" i="1" dirty="0"/>
              <a:t>.]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 </a:t>
            </a:r>
            <a:r>
              <a:rPr lang="en-US" b="1" dirty="0"/>
              <a:t>Adapter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позволит</a:t>
            </a:r>
            <a:r>
              <a:rPr lang="en-US" dirty="0"/>
              <a:t> </a:t>
            </a:r>
            <a:r>
              <a:rPr lang="en-US" dirty="0" err="1"/>
              <a:t>преобразовать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в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сторонней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ситуациях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,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</a:t>
            </a:r>
            <a:r>
              <a:rPr lang="en-US" dirty="0" err="1"/>
              <a:t>подряд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</a:t>
            </a:r>
            <a:r>
              <a:rPr lang="en-US" dirty="0" err="1"/>
              <a:t>подходящий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применение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оправдано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686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соберём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узнали</a:t>
            </a:r>
            <a:r>
              <a:rPr lang="en-US" dirty="0"/>
              <a:t>, в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картину</a:t>
            </a:r>
            <a:r>
              <a:rPr lang="en-US" dirty="0"/>
              <a:t>.</a:t>
            </a:r>
          </a:p>
          <a:p>
            <a:r>
              <a:rPr lang="en-US" dirty="0" err="1"/>
              <a:t>Посмотрите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Template Method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применяли</a:t>
            </a:r>
            <a:r>
              <a:rPr lang="en-US" dirty="0"/>
              <a:t> в </a:t>
            </a:r>
            <a:r>
              <a:rPr lang="en-US" dirty="0" err="1"/>
              <a:t>ситуации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обнаружили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похожих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выделили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в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а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 </a:t>
            </a:r>
            <a:r>
              <a:rPr lang="en-US" dirty="0" err="1"/>
              <a:t>поручили</a:t>
            </a:r>
            <a:r>
              <a:rPr lang="en-US" dirty="0"/>
              <a:t> </a:t>
            </a:r>
            <a:r>
              <a:rPr lang="en-US" dirty="0" err="1"/>
              <a:t>подклассам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удалось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заплатили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зависимостью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жёстким</a:t>
            </a:r>
            <a:r>
              <a:rPr lang="en-US" dirty="0"/>
              <a:t> </a:t>
            </a:r>
            <a:r>
              <a:rPr lang="en-US" dirty="0" err="1"/>
              <a:t>сценарием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Decorator</a:t>
            </a:r>
            <a:r>
              <a:rPr lang="en-US" dirty="0"/>
              <a:t> </a:t>
            </a:r>
            <a:r>
              <a:rPr lang="en-US" dirty="0" err="1"/>
              <a:t>решал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умел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к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, </a:t>
            </a:r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динамически</a:t>
            </a:r>
            <a:r>
              <a:rPr lang="en-US" dirty="0"/>
              <a:t> и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сочетаниях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наследников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оборачивать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, </a:t>
            </a:r>
            <a:r>
              <a:rPr lang="en-US" dirty="0" err="1"/>
              <a:t>сохраняющими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гибкую</a:t>
            </a:r>
            <a:r>
              <a:rPr lang="en-US" dirty="0"/>
              <a:t> </a:t>
            </a:r>
            <a:r>
              <a:rPr lang="en-US" dirty="0" err="1"/>
              <a:t>композицию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сложностью</a:t>
            </a:r>
            <a:r>
              <a:rPr lang="en-US" dirty="0"/>
              <a:t> </a:t>
            </a:r>
            <a:r>
              <a:rPr lang="en-US" dirty="0" err="1"/>
              <a:t>цепочек</a:t>
            </a:r>
            <a:r>
              <a:rPr lang="en-US" dirty="0"/>
              <a:t> </a:t>
            </a:r>
            <a:r>
              <a:rPr lang="en-US" dirty="0" err="1"/>
              <a:t>обёрток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Adapter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в </a:t>
            </a:r>
            <a:r>
              <a:rPr lang="en-US" dirty="0" err="1"/>
              <a:t>третьей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.</a:t>
            </a:r>
          </a:p>
          <a:p>
            <a:r>
              <a:rPr lang="en-US" dirty="0"/>
              <a:t>Необходимая </a:t>
            </a:r>
            <a:r>
              <a:rPr lang="en-US" dirty="0" err="1"/>
              <a:t>функциональность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существовала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совпадал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ожидал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преобразующий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в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позволило</a:t>
            </a:r>
            <a:r>
              <a:rPr lang="en-US" dirty="0"/>
              <a:t> </a:t>
            </a:r>
            <a:r>
              <a:rPr lang="en-US" dirty="0" err="1"/>
              <a:t>соединить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Обратите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ru-RU" dirty="0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r>
              <a:rPr lang="en-US" dirty="0"/>
              <a:t>Decorator и Adapter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там</a:t>
            </a:r>
            <a:r>
              <a:rPr lang="en-US" dirty="0"/>
              <a:t>, и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 у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разное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Decorator </a:t>
            </a:r>
            <a:r>
              <a:rPr lang="en-US" b="1" dirty="0" err="1"/>
              <a:t>расширяет</a:t>
            </a:r>
            <a:r>
              <a:rPr lang="en-US" b="1" dirty="0"/>
              <a:t> </a:t>
            </a:r>
            <a:r>
              <a:rPr lang="en-US" b="1" dirty="0" err="1"/>
              <a:t>поведение</a:t>
            </a:r>
            <a:r>
              <a:rPr lang="en-US" b="1" dirty="0"/>
              <a:t>, </a:t>
            </a:r>
            <a:r>
              <a:rPr lang="en-US" b="1" dirty="0" err="1"/>
              <a:t>сохраняя</a:t>
            </a:r>
            <a:r>
              <a:rPr lang="en-US" b="1" dirty="0"/>
              <a:t> </a:t>
            </a:r>
            <a:r>
              <a:rPr lang="en-US" b="1" dirty="0" err="1"/>
              <a:t>интерфейс</a:t>
            </a:r>
            <a:r>
              <a:rPr lang="en-US" b="1" dirty="0"/>
              <a:t>. Adapter </a:t>
            </a:r>
            <a:r>
              <a:rPr lang="en-US" b="1" dirty="0" err="1"/>
              <a:t>согласует</a:t>
            </a:r>
            <a:r>
              <a:rPr lang="en-US" b="1" dirty="0"/>
              <a:t>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интерфейсы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видите</a:t>
            </a:r>
            <a:r>
              <a:rPr lang="en-US" dirty="0"/>
              <a:t> </a:t>
            </a:r>
            <a:r>
              <a:rPr lang="en-US" dirty="0" err="1"/>
              <a:t>знакомую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спешите</a:t>
            </a:r>
            <a:r>
              <a:rPr lang="en-US" dirty="0"/>
              <a:t> </a:t>
            </a:r>
            <a:r>
              <a:rPr lang="en-US" dirty="0" err="1"/>
              <a:t>называть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паттерном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спросите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: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пытался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выбирайте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870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тремя</a:t>
            </a:r>
            <a:r>
              <a:rPr lang="en-US" dirty="0"/>
              <a:t> </a:t>
            </a:r>
            <a:r>
              <a:rPr lang="en-US" dirty="0" err="1"/>
              <a:t>паттернами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примерах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повседневные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, </a:t>
            </a:r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затронули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рассмотренных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интересные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и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в Template Method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кратко</a:t>
            </a:r>
            <a:r>
              <a:rPr lang="en-US" dirty="0"/>
              <a:t> </a:t>
            </a:r>
            <a:r>
              <a:rPr lang="en-US" dirty="0" err="1"/>
              <a:t>упомянули</a:t>
            </a:r>
            <a:r>
              <a:rPr lang="en-US" dirty="0"/>
              <a:t> </a:t>
            </a:r>
            <a:r>
              <a:rPr lang="en-US" dirty="0" err="1"/>
              <a:t>методы-перехватчики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hooks,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подклассам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участвовать</a:t>
            </a:r>
            <a:r>
              <a:rPr lang="en-US" dirty="0"/>
              <a:t> в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шагах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паттерном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идиома</a:t>
            </a:r>
            <a:r>
              <a:rPr lang="en-US" dirty="0"/>
              <a:t> Non-Virtual Interface, </a:t>
            </a:r>
            <a:r>
              <a:rPr lang="en-US" dirty="0" err="1"/>
              <a:t>позволяющая</a:t>
            </a:r>
            <a:r>
              <a:rPr lang="en-US" dirty="0"/>
              <a:t> </a:t>
            </a:r>
            <a:r>
              <a:rPr lang="en-US" dirty="0" err="1"/>
              <a:t>отделять</a:t>
            </a:r>
            <a:r>
              <a:rPr lang="en-US" dirty="0"/>
              <a:t> </a:t>
            </a:r>
            <a:r>
              <a:rPr lang="en-US" dirty="0" err="1"/>
              <a:t>публичный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Decorator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в </a:t>
            </a:r>
            <a:r>
              <a:rPr lang="en-US" dirty="0" err="1"/>
              <a:t>потоках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в </a:t>
            </a:r>
            <a:r>
              <a:rPr lang="en-US" dirty="0" err="1"/>
              <a:t>обработке</a:t>
            </a:r>
            <a:r>
              <a:rPr lang="en-US" dirty="0"/>
              <a:t> HTTP-</a:t>
            </a:r>
            <a:r>
              <a:rPr lang="en-US" dirty="0" err="1"/>
              <a:t>запросов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конвейерах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рассмотренного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использующий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. А 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лямбда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разбирались</a:t>
            </a:r>
            <a:r>
              <a:rPr lang="en-US" dirty="0"/>
              <a:t> в </a:t>
            </a:r>
            <a:r>
              <a:rPr lang="en-US" dirty="0" err="1"/>
              <a:t>лекциях</a:t>
            </a:r>
            <a:r>
              <a:rPr lang="en-US" dirty="0"/>
              <a:t> </a:t>
            </a:r>
            <a:r>
              <a:rPr lang="en-US" dirty="0" err="1"/>
              <a:t>прошлых</a:t>
            </a:r>
            <a:r>
              <a:rPr lang="en-US" dirty="0"/>
              <a:t> </a:t>
            </a:r>
            <a:r>
              <a:rPr lang="en-US" dirty="0" err="1"/>
              <a:t>лет</a:t>
            </a:r>
            <a:r>
              <a:rPr lang="en-US" dirty="0"/>
              <a:t>. Я </a:t>
            </a:r>
            <a:r>
              <a:rPr lang="en-US" dirty="0" err="1"/>
              <a:t>оставлю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захочет</a:t>
            </a:r>
            <a:r>
              <a:rPr lang="en-US" dirty="0"/>
              <a:t> </a:t>
            </a:r>
            <a:r>
              <a:rPr lang="en-US" dirty="0" err="1"/>
              <a:t>изучить</a:t>
            </a:r>
            <a:r>
              <a:rPr lang="en-US" dirty="0"/>
              <a:t> </a:t>
            </a:r>
            <a:r>
              <a:rPr lang="en-US" dirty="0" err="1"/>
              <a:t>тему</a:t>
            </a:r>
            <a:r>
              <a:rPr lang="en-US" dirty="0"/>
              <a:t> </a:t>
            </a:r>
            <a:r>
              <a:rPr lang="en-US" dirty="0" err="1"/>
              <a:t>глубже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153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А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будем</a:t>
            </a:r>
            <a:r>
              <a:rPr lang="en-US" b="1" dirty="0"/>
              <a:t> </a:t>
            </a:r>
            <a:r>
              <a:rPr lang="en-US" b="1" dirty="0" err="1"/>
              <a:t>делать</a:t>
            </a:r>
            <a:r>
              <a:rPr lang="en-US" b="1" dirty="0"/>
              <a:t> </a:t>
            </a:r>
            <a:r>
              <a:rPr lang="en-US" b="1" dirty="0" err="1"/>
              <a:t>дальше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занятии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развитию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выделил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захотел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группу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группу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единое</a:t>
            </a:r>
            <a:r>
              <a:rPr lang="en-US" dirty="0"/>
              <a:t> </a:t>
            </a:r>
            <a:r>
              <a:rPr lang="en-US" dirty="0" err="1"/>
              <a:t>целое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группу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захотим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?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получившуюся</a:t>
            </a:r>
            <a:r>
              <a:rPr lang="en-US" dirty="0"/>
              <a:t> </a:t>
            </a:r>
            <a:r>
              <a:rPr lang="en-US" dirty="0" err="1"/>
              <a:t>группу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?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иерархическая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единообразно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группой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вводя</a:t>
            </a:r>
            <a:r>
              <a:rPr lang="en-US" dirty="0"/>
              <a:t> </a:t>
            </a:r>
            <a:r>
              <a:rPr lang="en-US" dirty="0" err="1"/>
              <a:t>специальную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возможного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вложенности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паттерну</a:t>
            </a:r>
            <a:r>
              <a:rPr lang="en-US" dirty="0"/>
              <a:t> — </a:t>
            </a:r>
            <a:r>
              <a:rPr lang="en-US" b="1" dirty="0"/>
              <a:t>Composite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Компоновщик</a:t>
            </a:r>
            <a:r>
              <a:rPr lang="en-US" dirty="0"/>
              <a:t>».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тема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  <a:r>
              <a:rPr lang="ru-RU" dirty="0"/>
              <a:t> И для архитектуры нашего редактора это будет очередным испытанием на прочность.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80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Эту лекцию</a:t>
            </a:r>
            <a:r>
              <a:rPr lang="en-US" dirty="0"/>
              <a:t> </a:t>
            </a:r>
            <a:r>
              <a:rPr lang="ru-RU" dirty="0"/>
              <a:t>хочется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мыслью</a:t>
            </a:r>
            <a:r>
              <a:rPr lang="en-US" dirty="0"/>
              <a:t>.</a:t>
            </a:r>
          </a:p>
          <a:p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правил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в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понимаете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легче</a:t>
            </a:r>
            <a:r>
              <a:rPr lang="en-US" dirty="0"/>
              <a:t> </a:t>
            </a:r>
            <a:r>
              <a:rPr lang="en-US" dirty="0" err="1"/>
              <a:t>вам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подходящие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стремитесь</a:t>
            </a:r>
            <a:r>
              <a:rPr lang="en-US" b="1" dirty="0"/>
              <a:t> </a:t>
            </a:r>
            <a:r>
              <a:rPr lang="en-US" b="1" dirty="0" err="1"/>
              <a:t>использовать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больше</a:t>
            </a:r>
            <a:r>
              <a:rPr lang="en-US" b="1" dirty="0"/>
              <a:t> </a:t>
            </a:r>
            <a:r>
              <a:rPr lang="en-US" b="1" dirty="0" err="1"/>
              <a:t>паттернов</a:t>
            </a:r>
            <a:r>
              <a:rPr lang="en-US" b="1" dirty="0"/>
              <a:t>. </a:t>
            </a:r>
            <a:r>
              <a:rPr lang="en-US" b="1" dirty="0" err="1"/>
              <a:t>Стремитесь</a:t>
            </a:r>
            <a:r>
              <a:rPr lang="en-US" b="1" dirty="0"/>
              <a:t> </a:t>
            </a:r>
            <a:r>
              <a:rPr lang="en-US" b="1" dirty="0" err="1"/>
              <a:t>делать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в </a:t>
            </a:r>
            <a:r>
              <a:rPr lang="en-US" b="1" dirty="0" err="1"/>
              <a:t>программе</a:t>
            </a:r>
            <a:r>
              <a:rPr lang="en-US" b="1" dirty="0"/>
              <a:t> </a:t>
            </a:r>
            <a:r>
              <a:rPr lang="en-US" b="1" dirty="0" err="1"/>
              <a:t>проще</a:t>
            </a:r>
            <a:r>
              <a:rPr lang="en-US" b="1" dirty="0"/>
              <a:t>, </a:t>
            </a:r>
            <a:r>
              <a:rPr lang="en-US" b="1" dirty="0" err="1"/>
              <a:t>понятнее</a:t>
            </a:r>
            <a:r>
              <a:rPr lang="en-US" b="1" dirty="0"/>
              <a:t> и </a:t>
            </a:r>
            <a:r>
              <a:rPr lang="en-US" b="1" dirty="0" err="1"/>
              <a:t>дешевле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58E09-A115-459F-B138-61EA0CF8F2F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6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30FE-F00A-E1BB-11A9-D1ACCA56B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51454-E8D0-636B-1D29-9F8142E01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FE33A-921A-D4C6-4737-638C7E37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6A96-12A1-3591-C9EC-EDDC24323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A7807-F302-B609-CA5A-D2059D50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8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D791-C796-FB0F-67A4-6DF9A958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D04B-DC34-F82F-86D0-D708790F6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1525-043E-7331-99E1-A940D8A8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57B59-491F-AA39-ECE4-11BBEB38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CC677-4BA7-4804-8CD2-C70B6D18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C42A-7B1C-BFA2-9EBD-7B4B39C3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D4383-B3E4-86C4-1CBA-DE27F5B2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6460-551B-9453-95B8-6864FF012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EBE9-6BEF-425D-CAFC-C7FB3C533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4D97-6D9B-8639-D541-BBB1AE10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0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F31-2157-F6E3-45A9-852A78CD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224D-FAF1-72E0-195E-B3F3F0C8E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8C779-F6FF-F100-45D2-ECFD6C91C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B9D03-E7F4-47F7-7B66-9926E934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29544-3B8E-42D2-4882-FD98510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D5DDC-B6AD-37E6-5C66-B80F9889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ECD4-7163-2F64-298E-025445CC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0D1BF-43F4-BB63-AC39-78970D0DE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F06EF-D9C5-E7E5-6884-F98E2B61C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833CE-FFA2-CBDC-BF29-E3AE604F1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FB7DA-2E99-F971-FA8D-CE8A312D3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9DAAB-C089-9790-6530-E1B56B67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A28ED-B47C-D73F-53F5-66DF7F5A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ED1CF-1738-1E2D-ED33-0C177071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7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6DE1-09DB-2563-3037-4378CBC3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B3D83-67BB-9133-D368-1DEB51F4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B4F8B-C3BB-E37D-A335-0B5E48C29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9285C-1ADF-DF72-9903-D09E68C3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5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D752F-DB56-6511-521F-94DA2DF69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4F761-77B2-AE8B-17EB-21FE4C21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8897E-E19D-C3F6-D0F8-FA106F7E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4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B448-6AFE-E038-1313-43860BD35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3FDD-6218-579C-B453-93F6DF65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65BD2-B8CB-C652-523A-83AD9ED53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62596-5BCE-5DB2-CCCD-4EA6BDD6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E6837-8321-4405-A2EE-3949675E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8FC9F-3153-2E98-6470-F76C5529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8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94B3-09C5-22D1-F76F-B2231800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7010D-FE28-CC55-ED45-5EFB2F895C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016CD-DD31-05A0-B6E8-3F1EEED2F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75404-A6A3-DE41-12C4-4582AFB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D8E0E-5C32-3D4B-0914-FB87EE52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B3D42-B2B2-3B53-3594-FCC55874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2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3362-CDC7-A0EC-836A-B74B532E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4FA76-4CD8-61F7-E1BA-658969CEE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36F8-B9DC-2616-BB23-FFF13AC0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A379E-7402-C8B2-CB65-2FB8D0D1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12179-345E-CB9E-D905-C0AA02BC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0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1E2C7-0B55-20D4-4A54-749ED3B06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AE417-188D-08F2-CF44-0ABB3E1DB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98E5C-9493-6264-5AFD-D77A5B99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731B-DD16-B1F1-A310-1D090215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F6A5E-0223-0A97-35CF-4DD23782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57B45-65BB-76A8-FC60-95DEEA46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8BD93-3AE0-A690-B41C-96F99C21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293CF-6086-95CA-C331-030665210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49970-ABD8-48B3-8CA5-33BE1AA5772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1DD8-7096-CAB0-FF0C-88238F6A3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51FF2-4606-94E3-3921-0A10AB0A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A9487-6C16-4549-B63A-7F4E992E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6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7JngKy62Avg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xQu6JesSoN0" TargetMode="External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hyperlink" Target="https://youtu.be/wudLzRhOMF8" TargetMode="External"/><Relationship Id="rId9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375C-1BCF-5B65-BFC9-0102E7099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031528"/>
          </a:xfrm>
        </p:spPr>
        <p:txBody>
          <a:bodyPr>
            <a:normAutofit/>
          </a:bodyPr>
          <a:lstStyle/>
          <a:p>
            <a:r>
              <a:rPr lang="ru-RU" dirty="0"/>
              <a:t>Паттерны на каждый день:</a:t>
            </a:r>
            <a:br>
              <a:rPr lang="ru-RU" dirty="0"/>
            </a:br>
            <a:r>
              <a:rPr lang="en-US" dirty="0"/>
              <a:t>Template Method,</a:t>
            </a:r>
            <a:br>
              <a:rPr lang="en-US" dirty="0"/>
            </a:br>
            <a:r>
              <a:rPr lang="en-US" dirty="0"/>
              <a:t>Decorator,</a:t>
            </a:r>
            <a:br>
              <a:rPr lang="en-US" dirty="0"/>
            </a:br>
            <a:r>
              <a:rPr lang="en-US" dirty="0"/>
              <a:t>Adapter</a:t>
            </a:r>
          </a:p>
        </p:txBody>
      </p:sp>
    </p:spTree>
    <p:extLst>
      <p:ext uri="{BB962C8B-B14F-4D97-AF65-F5344CB8AC3E}">
        <p14:creationId xmlns:p14="http://schemas.microsoft.com/office/powerpoint/2010/main" val="254423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1F1E-A1A1-2365-2E51-D33BEFF5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Паттерны на каждый день: три задачи — три решения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8C7C0-8FFA-CC2A-9703-E918CCF18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45914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Мы реализовали графический редактор с поддержкой </a:t>
            </a:r>
            <a:r>
              <a:rPr lang="en-US" dirty="0"/>
              <a:t>Undo/Redo</a:t>
            </a:r>
          </a:p>
          <a:p>
            <a:pPr lvl="1"/>
            <a:r>
              <a:rPr lang="ru-RU" dirty="0"/>
              <a:t>Архитектура пережила несколько крупных архитектурных изменений</a:t>
            </a:r>
          </a:p>
          <a:p>
            <a:r>
              <a:rPr lang="ru-RU" dirty="0"/>
              <a:t>Иногда нужно решать и локальные задачи</a:t>
            </a:r>
          </a:p>
          <a:p>
            <a:pPr lvl="1"/>
            <a:r>
              <a:rPr lang="ru-RU" dirty="0"/>
              <a:t>Повторное использование алгоритмов</a:t>
            </a:r>
          </a:p>
          <a:p>
            <a:pPr lvl="1"/>
            <a:r>
              <a:rPr lang="ru-RU" dirty="0"/>
              <a:t>Расширение поведения</a:t>
            </a:r>
          </a:p>
          <a:p>
            <a:pPr lvl="1"/>
            <a:r>
              <a:rPr lang="ru-RU" dirty="0"/>
              <a:t>Согласование интерфейсов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улучшать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перестраивая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B980CC-6DFC-7715-54C0-488AE73B8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114" y="1825626"/>
            <a:ext cx="4069687" cy="27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4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3C7C-EBD9-3C31-72DE-EC76B103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Три новых требования к графическому редактору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7D78-EE99-E268-49BD-32FA26ABD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883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endParaRPr lang="en-US" dirty="0"/>
          </a:p>
          <a:p>
            <a:pPr lvl="1"/>
            <a:r>
              <a:rPr lang="en-US" dirty="0" err="1"/>
              <a:t>Создавать</a:t>
            </a:r>
            <a:r>
              <a:rPr lang="en-US" dirty="0"/>
              <a:t> и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перетаскиванием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Переиспользовать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Canvas.</a:t>
            </a:r>
          </a:p>
          <a:p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endParaRPr lang="en-US" dirty="0"/>
          </a:p>
          <a:p>
            <a:pPr lvl="1"/>
            <a:r>
              <a:rPr lang="en-US" dirty="0" err="1"/>
              <a:t>Тень</a:t>
            </a:r>
            <a:r>
              <a:rPr lang="en-US" dirty="0"/>
              <a:t>, </a:t>
            </a:r>
            <a:r>
              <a:rPr lang="en-US" dirty="0" err="1"/>
              <a:t>свечение</a:t>
            </a:r>
            <a:r>
              <a:rPr lang="en-US" dirty="0"/>
              <a:t>, </a:t>
            </a:r>
            <a:r>
              <a:rPr lang="en-US" dirty="0" err="1"/>
              <a:t>отражение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включать</a:t>
            </a:r>
            <a:r>
              <a:rPr lang="en-US" dirty="0"/>
              <a:t> и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.</a:t>
            </a:r>
          </a:p>
          <a:p>
            <a:r>
              <a:rPr lang="en-US" dirty="0" err="1"/>
              <a:t>Панель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списком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  <a:p>
            <a:pPr lvl="1"/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Drawing.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A39F53-39AA-2784-C4B4-3825143BA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82"/>
          <a:stretch>
            <a:fillRect/>
          </a:stretch>
        </p:blipFill>
        <p:spPr>
          <a:xfrm>
            <a:off x="7233946" y="1690687"/>
            <a:ext cx="2077912" cy="2444593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0F4B6969-F314-2D0A-E73E-BBF2AAC53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19" r="33741"/>
          <a:stretch>
            <a:fillRect/>
          </a:stretch>
        </p:blipFill>
        <p:spPr>
          <a:xfrm>
            <a:off x="9365574" y="1690688"/>
            <a:ext cx="2041942" cy="2444593"/>
          </a:xfrm>
          <a:prstGeom prst="rect">
            <a:avLst/>
          </a:prstGeom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46C46BA1-CB58-0FC8-996D-9BD2D6128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58"/>
          <a:stretch>
            <a:fillRect/>
          </a:stretch>
        </p:blipFill>
        <p:spPr>
          <a:xfrm>
            <a:off x="9365574" y="4238547"/>
            <a:ext cx="2097996" cy="24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0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FA9E85-D165-DF2B-4E18-8AD44A6B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инструменты — один сценарий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4D502B-3B4E-7E66-F773-836572FCF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9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CA6D-4597-5F7A-1CFF-8239A6B9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фигуры перетаскиванием мышью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86D0E-BB87-1D1D-78A0-C11F8F5CF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94615" cy="435133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ru-RU" dirty="0"/>
              <a:t>фигуры</a:t>
            </a:r>
            <a:r>
              <a:rPr lang="en-US" dirty="0"/>
              <a:t> </a:t>
            </a:r>
            <a:r>
              <a:rPr lang="ru-RU" dirty="0"/>
              <a:t>прямо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</a:t>
            </a:r>
          </a:p>
          <a:p>
            <a:pPr lvl="1"/>
            <a:r>
              <a:rPr lang="en-US" b="1" dirty="0" err="1"/>
              <a:t>MouseDown</a:t>
            </a:r>
            <a:r>
              <a:rPr lang="en-US" dirty="0"/>
              <a:t> —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MouseMove</a:t>
            </a:r>
            <a:r>
              <a:rPr lang="en-US" dirty="0"/>
              <a:t> —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предварительный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(Preview).</a:t>
            </a:r>
          </a:p>
          <a:p>
            <a:pPr lvl="1"/>
            <a:r>
              <a:rPr lang="en-US" b="1" dirty="0" err="1"/>
              <a:t>MouseUp</a:t>
            </a:r>
            <a:r>
              <a:rPr lang="en-US" dirty="0"/>
              <a:t> —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Escape</a:t>
            </a:r>
            <a:r>
              <a:rPr lang="en-US" dirty="0"/>
              <a:t> — </a:t>
            </a:r>
            <a:r>
              <a:rPr lang="en-US" dirty="0" err="1"/>
              <a:t>отменяем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MouseUp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07595B-0839-9105-9CDB-F115F5DE7A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443" y="1825625"/>
            <a:ext cx="4653741" cy="2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6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C96-380C-A41D-8CA5-28759D61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действия — похожий сценарий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CBF5E9-D63B-3DF2-B2F9-4AFAEA7282C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2229586"/>
              </p:ext>
            </p:extLst>
          </p:nvPr>
        </p:nvGraphicFramePr>
        <p:xfrm>
          <a:off x="838200" y="1825625"/>
          <a:ext cx="10515601" cy="231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378">
                  <a:extLst>
                    <a:ext uri="{9D8B030D-6E8A-4147-A177-3AD203B41FA5}">
                      <a16:colId xmlns:a16="http://schemas.microsoft.com/office/drawing/2014/main" val="1942437492"/>
                    </a:ext>
                  </a:extLst>
                </a:gridCol>
                <a:gridCol w="4989022">
                  <a:extLst>
                    <a:ext uri="{9D8B030D-6E8A-4147-A177-3AD203B41FA5}">
                      <a16:colId xmlns:a16="http://schemas.microsoft.com/office/drawing/2014/main" val="1910417412"/>
                    </a:ext>
                  </a:extLst>
                </a:gridCol>
                <a:gridCol w="3505201">
                  <a:extLst>
                    <a:ext uri="{9D8B030D-6E8A-4147-A177-3AD203B41FA5}">
                      <a16:colId xmlns:a16="http://schemas.microsoft.com/office/drawing/2014/main" val="1420309885"/>
                    </a:ext>
                  </a:extLst>
                </a:gridCol>
              </a:tblGrid>
              <a:tr h="56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Событие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Перемещение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фигур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Создание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прямоугольника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215510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MouseDown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Запомнить исходное положение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Запомнить начальную точку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1452"/>
                  </a:ext>
                </a:extLst>
              </a:tr>
              <a:tr h="39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MouseMove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Показать новое положение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Показать новый размер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190406"/>
                  </a:ext>
                </a:extLst>
              </a:tr>
              <a:tr h="39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MouseUp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Команда перемещения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Команда добавления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134381"/>
                  </a:ext>
                </a:extLst>
              </a:tr>
              <a:tr h="39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Escape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Отменить перемещение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Отменить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создание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350327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02414D-B12C-933B-11CB-66E55C9A9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054137"/>
            <a:ext cx="10515600" cy="1122825"/>
          </a:xfrm>
        </p:spPr>
        <p:txBody>
          <a:bodyPr/>
          <a:lstStyle/>
          <a:p>
            <a:r>
              <a:rPr lang="ru-RU" dirty="0"/>
              <a:t>Отличаются детали, но порядок действий почти одинаковый.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5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15A8-B819-EC10-DF77-F44F6C3C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Два инструмента — две копии алгоритма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057AE-8F7D-EA04-FB8E-417EA17D3188}"/>
              </a:ext>
            </a:extLst>
          </p:cNvPr>
          <p:cNvSpPr txBox="1"/>
          <p:nvPr/>
        </p:nvSpPr>
        <p:spPr>
          <a:xfrm>
            <a:off x="838199" y="1851635"/>
            <a:ext cx="4930833" cy="257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MoveTool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OnMouseUp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CreateMoveCommand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m_history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D79D6-4870-F6A1-23BB-AE21C5AB722B}"/>
              </a:ext>
            </a:extLst>
          </p:cNvPr>
          <p:cNvSpPr txBox="1"/>
          <p:nvPr/>
        </p:nvSpPr>
        <p:spPr>
          <a:xfrm>
            <a:off x="6288578" y="1851635"/>
            <a:ext cx="4930833" cy="257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RectangleTool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OnMouseUp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CreateAddShapeCommand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m_history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3DC66C-5B2E-4991-EB72-86C73122E322}"/>
              </a:ext>
            </a:extLst>
          </p:cNvPr>
          <p:cNvSpPr txBox="1"/>
          <p:nvPr/>
        </p:nvSpPr>
        <p:spPr>
          <a:xfrm>
            <a:off x="1018310" y="5005293"/>
            <a:ext cx="8258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Мы повторяем не только строки кода, но и последовательность действий.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75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1A5F-F84F-4836-3B00-B6379F25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алгоритм начинает жить в нескольких местах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A674-6A42-2DA6-A037-288E296B9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отмену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Escape.</a:t>
            </a:r>
          </a:p>
          <a:p>
            <a:r>
              <a:rPr lang="ru-RU" dirty="0"/>
              <a:t>Следующие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Гарантированно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Preview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отмене</a:t>
            </a:r>
            <a:r>
              <a:rPr lang="en-US" dirty="0"/>
              <a:t>.</a:t>
            </a:r>
          </a:p>
          <a:p>
            <a:r>
              <a:rPr lang="en-US" b="1" dirty="0" err="1"/>
              <a:t>Каждое</a:t>
            </a:r>
            <a:r>
              <a:rPr lang="en-US" b="1" dirty="0"/>
              <a:t> </a:t>
            </a:r>
            <a:r>
              <a:rPr lang="en-US" b="1" dirty="0" err="1"/>
              <a:t>общее</a:t>
            </a:r>
            <a:r>
              <a:rPr lang="en-US" b="1" dirty="0"/>
              <a:t> </a:t>
            </a:r>
            <a:r>
              <a:rPr lang="en-US" b="1" dirty="0" err="1"/>
              <a:t>правило</a:t>
            </a:r>
            <a:r>
              <a:rPr lang="en-US" b="1" dirty="0"/>
              <a:t> </a:t>
            </a:r>
            <a:r>
              <a:rPr lang="en-US" b="1" dirty="0" err="1"/>
              <a:t>приходится</a:t>
            </a:r>
            <a:r>
              <a:rPr lang="en-US" b="1" dirty="0"/>
              <a:t> </a:t>
            </a:r>
            <a:r>
              <a:rPr lang="en-US" b="1" dirty="0" err="1"/>
              <a:t>реализовывать</a:t>
            </a:r>
            <a:r>
              <a:rPr lang="en-US" b="1" dirty="0"/>
              <a:t> </a:t>
            </a:r>
            <a:r>
              <a:rPr lang="en-US" b="1" dirty="0" err="1"/>
              <a:t>во</a:t>
            </a:r>
            <a:r>
              <a:rPr lang="en-US" b="1" dirty="0"/>
              <a:t> </a:t>
            </a:r>
            <a:r>
              <a:rPr lang="en-US" b="1" dirty="0" err="1"/>
              <a:t>всех</a:t>
            </a:r>
            <a:r>
              <a:rPr lang="en-US" b="1" dirty="0"/>
              <a:t> </a:t>
            </a:r>
            <a:r>
              <a:rPr lang="en-US" b="1" dirty="0" err="1"/>
              <a:t>инструментах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88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F89E-B896-C8FA-9227-9C935253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должно быть общим, а что — изменяемым?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1C419E-EBEA-79F9-6C30-D1391CBCF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353" y="1690688"/>
            <a:ext cx="7725294" cy="515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7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A271-B4EB-F626-A256-69D8E90A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алгоритм в базовом классе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60479-ED6D-AAEE-9B59-242DB9EE39B0}"/>
              </a:ext>
            </a:extLst>
          </p:cNvPr>
          <p:cNvSpPr txBox="1"/>
          <p:nvPr/>
        </p:nvSpPr>
        <p:spPr>
          <a:xfrm>
            <a:off x="980902" y="1690688"/>
            <a:ext cx="7198822" cy="504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DragTool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OnMouseUp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m_history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Изменяемые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шаги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CreateCommand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ClearPreview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8431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157E-4D6B-9B67-813D-4F9E72B1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Новые инструменты реализуют только свои шаги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FBAE4B-46A1-21F8-82F5-16B9DD54C3E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3284707"/>
              </p:ext>
            </p:extLst>
          </p:nvPr>
        </p:nvGraphicFramePr>
        <p:xfrm>
          <a:off x="838199" y="1825625"/>
          <a:ext cx="10515599" cy="1983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624">
                  <a:extLst>
                    <a:ext uri="{9D8B030D-6E8A-4147-A177-3AD203B41FA5}">
                      <a16:colId xmlns:a16="http://schemas.microsoft.com/office/drawing/2014/main" val="837965730"/>
                    </a:ext>
                  </a:extLst>
                </a:gridCol>
                <a:gridCol w="4073238">
                  <a:extLst>
                    <a:ext uri="{9D8B030D-6E8A-4147-A177-3AD203B41FA5}">
                      <a16:colId xmlns:a16="http://schemas.microsoft.com/office/drawing/2014/main" val="2099289132"/>
                    </a:ext>
                  </a:extLst>
                </a:gridCol>
                <a:gridCol w="4520737">
                  <a:extLst>
                    <a:ext uri="{9D8B030D-6E8A-4147-A177-3AD203B41FA5}">
                      <a16:colId xmlns:a16="http://schemas.microsoft.com/office/drawing/2014/main" val="1006219543"/>
                    </a:ext>
                  </a:extLst>
                </a:gridCol>
              </a:tblGrid>
              <a:tr h="25179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MoveTool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RectangleTool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849429"/>
                  </a:ext>
                </a:extLst>
              </a:tr>
              <a:tr h="397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Начало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Сохранить исходные позиции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Сохранить начальную точку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974673"/>
                  </a:ext>
                </a:extLst>
              </a:tr>
              <a:tr h="397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Переместить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выбранные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фигуры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Изменить размеры прямоугольника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209036"/>
                  </a:ext>
                </a:extLst>
              </a:tr>
              <a:tr h="27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MoveShapesCommand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AddShapeCommand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198834"/>
                  </a:ext>
                </a:extLst>
              </a:tr>
              <a:tr h="27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Очистка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Сбросить Preview перемещения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Удалить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временную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фигуру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637258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345C4-79B0-0260-1366-57F01E9DF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38502"/>
            <a:ext cx="10515600" cy="15384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Обработка </a:t>
            </a:r>
            <a:r>
              <a:rPr lang="en-US" dirty="0" err="1"/>
              <a:t>MouseDown</a:t>
            </a:r>
            <a:r>
              <a:rPr lang="en-US" dirty="0"/>
              <a:t> / </a:t>
            </a:r>
            <a:r>
              <a:rPr lang="en-US" dirty="0" err="1"/>
              <a:t>MouseMove</a:t>
            </a:r>
            <a:r>
              <a:rPr lang="en-US" dirty="0"/>
              <a:t> / </a:t>
            </a:r>
            <a:r>
              <a:rPr lang="en-US" dirty="0" err="1"/>
              <a:t>MouseUp</a:t>
            </a:r>
            <a:r>
              <a:rPr lang="en-US" dirty="0"/>
              <a:t> / Escape </a:t>
            </a:r>
            <a:r>
              <a:rPr lang="ru-RU" dirty="0"/>
              <a:t>переиспользуется.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43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46C0-2764-33F2-4877-898A8243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Template</a:t>
            </a:r>
            <a:r>
              <a:rPr lang="ru-RU" dirty="0"/>
              <a:t> </a:t>
            </a:r>
            <a:r>
              <a:rPr lang="ru-RU" dirty="0" err="1"/>
              <a:t>Method</a:t>
            </a:r>
            <a:r>
              <a:rPr lang="ru-RU" dirty="0"/>
              <a:t>: кто управляет алгоритмом?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90B78-06CB-8802-E752-32204D0C5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5480" cy="4351338"/>
          </a:xfrm>
        </p:spPr>
        <p:txBody>
          <a:bodyPr/>
          <a:lstStyle/>
          <a:p>
            <a:r>
              <a:rPr lang="ru-RU" dirty="0" err="1"/>
              <a:t>Template</a:t>
            </a:r>
            <a:r>
              <a:rPr lang="ru-RU" dirty="0"/>
              <a:t> </a:t>
            </a:r>
            <a:r>
              <a:rPr lang="ru-RU" dirty="0" err="1"/>
              <a:t>Method</a:t>
            </a:r>
            <a:r>
              <a:rPr lang="ru-RU" dirty="0"/>
              <a:t> (Шаблонный метод)</a:t>
            </a:r>
          </a:p>
          <a:p>
            <a:pPr lvl="1"/>
            <a:r>
              <a:rPr lang="ru-RU" dirty="0"/>
              <a:t>Определяет общий каркас алгоритма в базовом классе.</a:t>
            </a:r>
          </a:p>
          <a:p>
            <a:pPr lvl="1"/>
            <a:r>
              <a:rPr lang="ru-RU" dirty="0"/>
              <a:t>Делегирует реализацию отдельных шагов подклассам.</a:t>
            </a:r>
          </a:p>
          <a:p>
            <a:pPr lvl="1"/>
            <a:r>
              <a:rPr lang="ru-RU" dirty="0"/>
              <a:t>Позволяет изменять шаги, сохраняя структуру алгоритма.</a:t>
            </a:r>
          </a:p>
          <a:p>
            <a:r>
              <a:rPr lang="ru-RU" dirty="0"/>
              <a:t>Инверсия управления:</a:t>
            </a:r>
          </a:p>
          <a:p>
            <a:pPr lvl="1"/>
            <a:r>
              <a:rPr lang="ru-RU" dirty="0"/>
              <a:t>«Не вызывайте нас — мы сами вас вызовем»</a:t>
            </a:r>
          </a:p>
          <a:p>
            <a:endParaRPr lang="en-US" dirty="0"/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D4D22475-A536-685B-5B23-6BC5CDF23F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323" y="1825625"/>
            <a:ext cx="5195970" cy="37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5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6716-691D-C613-FA2C-02F2960F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Method: </a:t>
            </a:r>
            <a:r>
              <a:rPr lang="ru-RU" dirty="0"/>
              <a:t>выигрыш и цена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48B1-6FC1-9EA7-43F4-7DEEA1F3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определён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дублирования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Единые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изменяемые</a:t>
            </a:r>
            <a:r>
              <a:rPr lang="en-US" dirty="0"/>
              <a:t> </a:t>
            </a:r>
            <a:r>
              <a:rPr lang="en-US" dirty="0" err="1"/>
              <a:t>шаги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Зависимостью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Жёсткой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Дополнительными</a:t>
            </a:r>
            <a:r>
              <a:rPr lang="en-US" dirty="0"/>
              <a:t> </a:t>
            </a:r>
            <a:r>
              <a:rPr lang="en-US" dirty="0" err="1"/>
              <a:t>виртуальными</a:t>
            </a:r>
            <a:r>
              <a:rPr lang="en-US" dirty="0"/>
              <a:t> </a:t>
            </a:r>
            <a:r>
              <a:rPr lang="en-US" dirty="0" err="1"/>
              <a:t>методами</a:t>
            </a:r>
            <a:r>
              <a:rPr lang="en-US" dirty="0"/>
              <a:t> и </a:t>
            </a:r>
            <a:r>
              <a:rPr lang="en-US" dirty="0" err="1"/>
              <a:t>контрактами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обойтись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функцией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композицией</a:t>
            </a:r>
            <a:r>
              <a:rPr lang="en-US" dirty="0"/>
              <a:t>?</a:t>
            </a:r>
          </a:p>
          <a:p>
            <a:r>
              <a:rPr lang="en-US" b="1" dirty="0"/>
              <a:t>Template Method </a:t>
            </a:r>
            <a:r>
              <a:rPr lang="en-US" b="1" dirty="0" err="1"/>
              <a:t>оправдан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у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устойчивый</a:t>
            </a:r>
            <a:r>
              <a:rPr lang="en-US" b="1" dirty="0"/>
              <a:t> </a:t>
            </a:r>
            <a:r>
              <a:rPr lang="en-US" b="1" dirty="0" err="1"/>
              <a:t>общий</a:t>
            </a:r>
            <a:r>
              <a:rPr lang="en-US" b="1" dirty="0"/>
              <a:t> </a:t>
            </a:r>
            <a:r>
              <a:rPr lang="en-US" b="1" dirty="0" err="1"/>
              <a:t>алгоритм</a:t>
            </a:r>
            <a:r>
              <a:rPr lang="en-US" b="1" dirty="0"/>
              <a:t> и </a:t>
            </a:r>
            <a:r>
              <a:rPr lang="en-US" b="1" dirty="0" err="1"/>
              <a:t>понятные</a:t>
            </a:r>
            <a:r>
              <a:rPr lang="en-US" b="1" dirty="0"/>
              <a:t> </a:t>
            </a:r>
            <a:r>
              <a:rPr lang="en-US" b="1" dirty="0" err="1"/>
              <a:t>точки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904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057B3A-29F7-4377-1C6F-2AD90DD9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Добавляем новые возможности без изменения существующего кода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918D2-8331-EF58-93B3-2896B482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3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42F1D-C54C-A387-1115-687D7DF3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Сделаем фигуры красивее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466229-0D70-B789-308F-69211D27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5604" cy="4351338"/>
          </a:xfrm>
        </p:spPr>
        <p:txBody>
          <a:bodyPr/>
          <a:lstStyle/>
          <a:p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к </a:t>
            </a:r>
            <a:r>
              <a:rPr lang="en-US" dirty="0" err="1"/>
              <a:t>фигурам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Отбрасывание тени</a:t>
            </a:r>
            <a:endParaRPr lang="en-US" dirty="0"/>
          </a:p>
          <a:p>
            <a:pPr lvl="1"/>
            <a:r>
              <a:rPr lang="en-US" dirty="0" err="1"/>
              <a:t>Свечение</a:t>
            </a:r>
            <a:endParaRPr lang="en-US" dirty="0"/>
          </a:p>
          <a:p>
            <a:pPr lvl="1"/>
            <a:r>
              <a:rPr lang="en-US" dirty="0" err="1"/>
              <a:t>Отражение</a:t>
            </a:r>
            <a:endParaRPr lang="en-US" dirty="0"/>
          </a:p>
          <a:p>
            <a:pPr lvl="1"/>
            <a:r>
              <a:rPr lang="en-US" dirty="0" err="1"/>
              <a:t>Перспектива</a:t>
            </a:r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включать</a:t>
            </a:r>
            <a:r>
              <a:rPr lang="en-US" dirty="0"/>
              <a:t>, </a:t>
            </a:r>
            <a:r>
              <a:rPr lang="en-US" dirty="0" err="1"/>
              <a:t>отключать</a:t>
            </a:r>
            <a:r>
              <a:rPr lang="en-US" dirty="0"/>
              <a:t> и </a:t>
            </a:r>
            <a:r>
              <a:rPr lang="en-US" dirty="0" err="1"/>
              <a:t>комбинировать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B6A19F-800C-DEAC-421D-CA3D378A1621}"/>
              </a:ext>
            </a:extLst>
          </p:cNvPr>
          <p:cNvSpPr/>
          <p:nvPr/>
        </p:nvSpPr>
        <p:spPr>
          <a:xfrm>
            <a:off x="7549157" y="1690688"/>
            <a:ext cx="1625871" cy="122018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7D6F5-1203-1090-FEB0-64564D7149A8}"/>
              </a:ext>
            </a:extLst>
          </p:cNvPr>
          <p:cNvSpPr/>
          <p:nvPr/>
        </p:nvSpPr>
        <p:spPr>
          <a:xfrm>
            <a:off x="7549158" y="3545379"/>
            <a:ext cx="1625871" cy="1220186"/>
          </a:xfrm>
          <a:prstGeom prst="roundRect">
            <a:avLst/>
          </a:prstGeom>
          <a:effectLst>
            <a:outerShdw blurRad="101600" dist="1016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C0AAF-2A56-B607-9C8C-97F5E4F4AD6B}"/>
              </a:ext>
            </a:extLst>
          </p:cNvPr>
          <p:cNvSpPr/>
          <p:nvPr/>
        </p:nvSpPr>
        <p:spPr>
          <a:xfrm>
            <a:off x="9742769" y="1690688"/>
            <a:ext cx="1625871" cy="1220186"/>
          </a:xfrm>
          <a:prstGeom prst="roundRect">
            <a:avLst/>
          </a:prstGeom>
          <a:effectLst>
            <a:reflection blurRad="6350" stA="50000" endA="300" endPos="34000" dist="50800" dir="5400000" sy="-100000" algn="bl" rotWithShape="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F30EBD-6C50-A1D6-D2C9-9AC057311E2D}"/>
              </a:ext>
            </a:extLst>
          </p:cNvPr>
          <p:cNvSpPr/>
          <p:nvPr/>
        </p:nvSpPr>
        <p:spPr>
          <a:xfrm>
            <a:off x="9790710" y="3578375"/>
            <a:ext cx="1625871" cy="1220186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705155-C990-3F54-C41C-123F4167EF0A}"/>
              </a:ext>
            </a:extLst>
          </p:cNvPr>
          <p:cNvSpPr/>
          <p:nvPr/>
        </p:nvSpPr>
        <p:spPr>
          <a:xfrm>
            <a:off x="8694227" y="5167312"/>
            <a:ext cx="1625871" cy="1220186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101600" dir="2700000" sx="102000" sy="102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95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55DB-0E31-F751-5754-8D84F3F6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Сколько комбинаций нам понадобится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58CE4-20DB-E9FB-6CB6-C358ADE63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628" y="1690688"/>
            <a:ext cx="747474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67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E100-1E9A-2068-CBEB-368F6D2B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Первые решения: наследование или флаги?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3FBF2-7C8E-E891-06BE-E780A1919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Вариант 1. Наследование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C9C1D-54E3-91F5-8A2A-A33A0369B6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Отдельные классы для разных вариантов отображения:</a:t>
            </a:r>
          </a:p>
          <a:p>
            <a:pPr lvl="1"/>
            <a:r>
              <a:rPr lang="en-US" dirty="0" err="1"/>
              <a:t>RectangleVisual</a:t>
            </a:r>
            <a:endParaRPr lang="en-US" dirty="0"/>
          </a:p>
          <a:p>
            <a:pPr lvl="1"/>
            <a:r>
              <a:rPr lang="en-US" dirty="0" err="1"/>
              <a:t>RectangleWithShadowVisual</a:t>
            </a:r>
            <a:endParaRPr lang="en-US" dirty="0"/>
          </a:p>
          <a:p>
            <a:pPr lvl="1"/>
            <a:r>
              <a:rPr lang="en-US" dirty="0" err="1"/>
              <a:t>RectangleWithGlowVisual</a:t>
            </a:r>
            <a:endParaRPr lang="en-US" dirty="0"/>
          </a:p>
          <a:p>
            <a:pPr lvl="1"/>
            <a:r>
              <a:rPr lang="en-US" dirty="0" err="1"/>
              <a:t>RectangleWithShadowAndGlowVisual</a:t>
            </a:r>
            <a:endParaRPr lang="en-US" dirty="0"/>
          </a:p>
          <a:p>
            <a:pPr lvl="1"/>
            <a:r>
              <a:rPr lang="en-US" dirty="0"/>
              <a:t>...</a:t>
            </a:r>
          </a:p>
          <a:p>
            <a:r>
              <a:rPr lang="ru-RU" dirty="0"/>
              <a:t>Проблема: количество классов растёт вместе с числом комбинаций.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042407-CEB7-951E-1709-3B1EAB39B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Вариант 2. Флаги в рендерере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7EC50F-3ECD-6DC1-CDDB-5F757E1E3EE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dirty="0"/>
              <a:t>if (</a:t>
            </a:r>
            <a:r>
              <a:rPr lang="en-US" dirty="0" err="1"/>
              <a:t>hasShadow</a:t>
            </a:r>
            <a:r>
              <a:rPr lang="en-US" dirty="0"/>
              <a:t>)</a:t>
            </a:r>
            <a:br>
              <a:rPr lang="ru-RU" dirty="0"/>
            </a:br>
            <a:r>
              <a:rPr lang="en-US" dirty="0"/>
              <a:t>    </a:t>
            </a:r>
            <a:r>
              <a:rPr lang="en-US" dirty="0" err="1"/>
              <a:t>DrawShadow</a:t>
            </a:r>
            <a:r>
              <a:rPr lang="en-US" dirty="0"/>
              <a:t>();</a:t>
            </a:r>
            <a:br>
              <a:rPr lang="ru-RU" dirty="0"/>
            </a:br>
            <a:r>
              <a:rPr lang="en-US" dirty="0" err="1"/>
              <a:t>DrawShape</a:t>
            </a:r>
            <a:r>
              <a:rPr lang="en-US" dirty="0"/>
              <a:t>();</a:t>
            </a:r>
            <a:br>
              <a:rPr lang="ru-RU" dirty="0"/>
            </a:br>
            <a:r>
              <a:rPr lang="en-US" dirty="0"/>
              <a:t>if (</a:t>
            </a:r>
            <a:r>
              <a:rPr lang="en-US" dirty="0" err="1"/>
              <a:t>hasGlow</a:t>
            </a:r>
            <a:r>
              <a:rPr lang="en-US" dirty="0"/>
              <a:t>)</a:t>
            </a:r>
            <a:br>
              <a:rPr lang="ru-RU" dirty="0"/>
            </a:br>
            <a:r>
              <a:rPr lang="en-US" dirty="0"/>
              <a:t>    </a:t>
            </a:r>
            <a:r>
              <a:rPr lang="en-US" dirty="0" err="1"/>
              <a:t>ApplyGlow</a:t>
            </a:r>
            <a:r>
              <a:rPr lang="en-US" dirty="0"/>
              <a:t>();</a:t>
            </a:r>
            <a:br>
              <a:rPr lang="ru-RU" dirty="0"/>
            </a:br>
            <a:r>
              <a:rPr lang="en-US" dirty="0"/>
              <a:t>if (</a:t>
            </a:r>
            <a:r>
              <a:rPr lang="en-US" dirty="0" err="1"/>
              <a:t>hasReflection</a:t>
            </a:r>
            <a:r>
              <a:rPr lang="en-US" dirty="0"/>
              <a:t>)</a:t>
            </a:r>
            <a:br>
              <a:rPr lang="ru-RU" dirty="0"/>
            </a:br>
            <a:r>
              <a:rPr lang="en-US" dirty="0"/>
              <a:t>    </a:t>
            </a:r>
            <a:r>
              <a:rPr lang="en-US" dirty="0" err="1"/>
              <a:t>DrawReflection</a:t>
            </a:r>
            <a:r>
              <a:rPr lang="en-US" dirty="0"/>
              <a:t>();</a:t>
            </a:r>
          </a:p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5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DB22-0B83-9BA8-4B22-F751D55F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Отделим фигуру от её визуального представления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960636-3990-AA0B-20EF-694DDCE1F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788" y="1871663"/>
            <a:ext cx="9242424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40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9E49-7C21-CC66-FC92-E29F806E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Декоратор сохраняет интерфейс компонента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FF737F-FC24-5101-23BB-F79802CFF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4" y="5500254"/>
            <a:ext cx="8312727" cy="13577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err="1"/>
              <a:t>Декоратор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IVisual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Делегирует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D3070-05BB-6E00-F768-4271C678AC58}"/>
              </a:ext>
            </a:extLst>
          </p:cNvPr>
          <p:cNvSpPr txBox="1"/>
          <p:nvPr/>
        </p:nvSpPr>
        <p:spPr>
          <a:xfrm>
            <a:off x="193964" y="1690688"/>
            <a:ext cx="62137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Общий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визуальных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компонентов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IVisual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дополнительных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эффектов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VisualDecorator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V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isual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VisualDecorator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m_inner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67AFE-4293-83BF-9B81-C2652BECCEF4}"/>
              </a:ext>
            </a:extLst>
          </p:cNvPr>
          <p:cNvSpPr txBox="1"/>
          <p:nvPr/>
        </p:nvSpPr>
        <p:spPr>
          <a:xfrm>
            <a:off x="6407729" y="1690688"/>
            <a:ext cx="578427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Визуализатор фигур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V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isual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VisualDecorator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 Layer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RenderContext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override;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Эффект свечения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GlowDecorator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VisualDecorator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explicit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VisualDecorator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 Layer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RenderContext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77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7568" y="1556792"/>
            <a:ext cx="8700373" cy="5081267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паттерна </a:t>
            </a:r>
            <a:r>
              <a:rPr lang="en-US" dirty="0"/>
              <a:t>Decorator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449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E8E3-37D3-A661-D15C-0F85281C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декоратор тени?</a:t>
            </a:r>
            <a:endParaRPr lang="en-US" dirty="0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E564A654-C86F-200A-E778-3E55CE923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345616" cy="3476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F5F58-00B2-515D-D294-5052008E83B4}"/>
              </a:ext>
            </a:extLst>
          </p:cNvPr>
          <p:cNvSpPr txBox="1"/>
          <p:nvPr/>
        </p:nvSpPr>
        <p:spPr>
          <a:xfrm>
            <a:off x="6096000" y="5167312"/>
            <a:ext cx="5999018" cy="153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ShadowDecorator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m_inner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MakeShadow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m_settings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Composite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6118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8A80-62A5-B537-882E-D56D29A0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Собираем цепочку эффектов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BC6B2D-E580-ACFE-7DCB-6069D0AC6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3886309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16FD4-667A-DED5-F595-7D1DE05C0FAF}"/>
              </a:ext>
            </a:extLst>
          </p:cNvPr>
          <p:cNvSpPr txBox="1"/>
          <p:nvPr/>
        </p:nvSpPr>
        <p:spPr>
          <a:xfrm>
            <a:off x="5735781" y="2097581"/>
            <a:ext cx="616527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visual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ShadowDecorator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(visual));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visual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GlowDecorator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(visual));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visual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ReflectionDecorator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(visual));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Результат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по-прежнему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реализует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IVisual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2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F893-F6B9-8771-629C-AEF7BC58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Эффекты можно менять динамически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B6F3-1D7C-162D-2A61-9F13E9EA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перестраиваем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.</a:t>
            </a:r>
          </a:p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ShapeVisual</a:t>
            </a:r>
            <a:endParaRPr lang="en-US" dirty="0"/>
          </a:p>
          <a:p>
            <a:pPr lvl="1"/>
            <a:r>
              <a:rPr lang="en-US" dirty="0"/>
              <a:t>Shadow(</a:t>
            </a:r>
            <a:r>
              <a:rPr lang="en-US" dirty="0" err="1"/>
              <a:t>ShapeVisual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Glow(Shadow(</a:t>
            </a:r>
            <a:r>
              <a:rPr lang="en-US" dirty="0" err="1"/>
              <a:t>ShapeVisual</a:t>
            </a:r>
            <a:r>
              <a:rPr lang="en-US" dirty="0"/>
              <a:t>))</a:t>
            </a:r>
          </a:p>
          <a:p>
            <a:pPr lvl="1"/>
            <a:r>
              <a:rPr lang="en-US" dirty="0"/>
              <a:t>Reflection(Glow(</a:t>
            </a:r>
            <a:r>
              <a:rPr lang="en-US" dirty="0" err="1"/>
              <a:t>ShapeVisual</a:t>
            </a:r>
            <a:r>
              <a:rPr lang="en-US" dirty="0"/>
              <a:t>))</a:t>
            </a:r>
          </a:p>
          <a:p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комбинации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379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7BCA-0D89-C503-058D-47A703EA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эффектов имеет значение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CC148-0F74-841C-1CA7-E35284A4D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876" y="1690688"/>
            <a:ext cx="885424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7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6BE4-2028-1C82-5CDF-6C0DED59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Decorator</a:t>
            </a:r>
            <a:r>
              <a:rPr lang="ru-RU" dirty="0"/>
              <a:t>: не единственный способ комбинировать эффекты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3282-BF91-0ECF-478B-F9543808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Динамическое</a:t>
            </a:r>
            <a:r>
              <a:rPr lang="en-US" dirty="0"/>
              <a:t> </a:t>
            </a:r>
            <a:r>
              <a:rPr lang="en-US" dirty="0" err="1"/>
              <a:t>комбинирование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визуальных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Повторное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и </a:t>
            </a:r>
            <a:r>
              <a:rPr lang="en-US" dirty="0" err="1"/>
              <a:t>вызовы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промежуточные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 и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рендеринг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цепочками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отладки</a:t>
            </a:r>
            <a:r>
              <a:rPr lang="en-US" dirty="0"/>
              <a:t>.</a:t>
            </a:r>
          </a:p>
          <a:p>
            <a:r>
              <a:rPr lang="en-US" dirty="0" err="1"/>
              <a:t>Альтернатива</a:t>
            </a:r>
            <a:r>
              <a:rPr lang="en-US" dirty="0"/>
              <a:t>: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конвейер</a:t>
            </a:r>
            <a:r>
              <a:rPr lang="en-US" dirty="0"/>
              <a:t> </a:t>
            </a:r>
            <a:r>
              <a:rPr lang="en-US" dirty="0" err="1"/>
              <a:t>эффектов</a:t>
            </a:r>
            <a:r>
              <a:rPr lang="en-US" dirty="0"/>
              <a:t> (vector&lt;Effect&gt;).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декораторов</a:t>
            </a:r>
            <a:r>
              <a:rPr lang="en-US" dirty="0"/>
              <a:t> </a:t>
            </a:r>
            <a:r>
              <a:rPr lang="en-US" dirty="0" err="1"/>
              <a:t>оправдывает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15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E723-4870-57EC-39A5-A4EFC26D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ещё встречается </a:t>
            </a:r>
            <a:r>
              <a:rPr lang="ru-RU" dirty="0" err="1"/>
              <a:t>Decorator</a:t>
            </a:r>
            <a:r>
              <a:rPr lang="ru-RU" dirty="0"/>
              <a:t>? Потоки ввода-вывода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76F1B-5865-EDD5-BE09-1A2239F9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Сжать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Подсчитать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записанных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r>
              <a:rPr lang="en-US" dirty="0" err="1"/>
              <a:t>Решение</a:t>
            </a:r>
            <a:r>
              <a:rPr lang="en-US" dirty="0"/>
              <a:t>: </a:t>
            </a:r>
            <a:r>
              <a:rPr lang="en-US" dirty="0" err="1"/>
              <a:t>обёртки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, </a:t>
            </a:r>
            <a:r>
              <a:rPr lang="en-US" dirty="0" err="1"/>
              <a:t>реализующие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CountingOutputStream</a:t>
            </a:r>
            <a:r>
              <a:rPr lang="en-US" dirty="0"/>
              <a:t> → </a:t>
            </a:r>
            <a:r>
              <a:rPr lang="en-US" dirty="0" err="1"/>
              <a:t>CompressingOutputStream</a:t>
            </a:r>
            <a:r>
              <a:rPr lang="en-US" dirty="0"/>
              <a:t> → </a:t>
            </a:r>
            <a:r>
              <a:rPr lang="en-US" dirty="0" err="1"/>
              <a:t>FileOutputStream</a:t>
            </a:r>
            <a:endParaRPr lang="en-US" dirty="0"/>
          </a:p>
          <a:p>
            <a:pPr lvl="1"/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декоратор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37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F7258A-1372-A392-ACB3-2D4F50CA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подружить готовые компоненты?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5E968-DBE8-2BFE-C689-6D3C66E1B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74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0E6CCF-A4CF-9743-FAD6-C09366DC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Добавим в редактор панель со списком фигур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26934-92FB-A248-79D9-116186916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66164" cy="4351338"/>
          </a:xfrm>
        </p:spPr>
        <p:txBody>
          <a:bodyPr>
            <a:normAutofit/>
          </a:bodyPr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Canvas.</a:t>
            </a:r>
          </a:p>
          <a:p>
            <a:pPr lvl="1"/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расположения</a:t>
            </a:r>
            <a:r>
              <a:rPr lang="en-US" dirty="0"/>
              <a:t> в </a:t>
            </a:r>
            <a:r>
              <a:rPr lang="en-US" dirty="0" err="1"/>
              <a:t>документе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Отражать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и </a:t>
            </a:r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с </a:t>
            </a:r>
            <a:r>
              <a:rPr lang="en-US" dirty="0" err="1"/>
              <a:t>нуля</a:t>
            </a:r>
            <a:r>
              <a:rPr lang="en-US" dirty="0"/>
              <a:t> — </a:t>
            </a:r>
            <a:r>
              <a:rPr lang="en-US" dirty="0" err="1"/>
              <a:t>воспользуемся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E75BF1-DDC9-A44F-481B-56AA81060F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364" y="1723105"/>
            <a:ext cx="4815839" cy="27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31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04B6-B590-E4D1-3C5C-06DB02CA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ListView</a:t>
            </a:r>
            <a:r>
              <a:rPr lang="ru-RU" dirty="0"/>
              <a:t> и </a:t>
            </a:r>
            <a:r>
              <a:rPr lang="ru-RU" dirty="0" err="1"/>
              <a:t>Drawing</a:t>
            </a:r>
            <a:r>
              <a:rPr lang="ru-RU" dirty="0"/>
              <a:t> говорят на разных языках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C717-0629-30D0-E668-1F00CE99A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72201" cy="435133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GetItemCount</a:t>
            </a:r>
            <a:r>
              <a:rPr lang="en-US" dirty="0"/>
              <a:t>() —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GetItem</a:t>
            </a:r>
            <a:r>
              <a:rPr lang="en-US" dirty="0"/>
              <a:t>(index) —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/>
              <a:t>Drawing </a:t>
            </a:r>
            <a:r>
              <a:rPr lang="en-US" dirty="0" err="1"/>
              <a:t>предоставляет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Коллекцию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и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расположения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функциональность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6DA3B76-FF5C-7487-ED61-367F66EE16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97776" y="1825626"/>
            <a:ext cx="4681738" cy="209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7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71F2-C298-1ABB-A0AB-189BE22F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есть варианты?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0D0D53-F5AE-1BDC-A7CB-AE8F7D328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ShapeListView</a:t>
            </a:r>
            <a:endParaRPr lang="en-US" dirty="0"/>
          </a:p>
          <a:p>
            <a:pPr lvl="1"/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списка</a:t>
            </a:r>
            <a:r>
              <a:rPr lang="en-US" dirty="0"/>
              <a:t>.</a:t>
            </a:r>
          </a:p>
          <a:p>
            <a:r>
              <a:rPr lang="en-US" dirty="0" err="1"/>
              <a:t>Заставить</a:t>
            </a:r>
            <a:r>
              <a:rPr lang="en-US" dirty="0"/>
              <a:t> Drawing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endParaRPr lang="en-US" dirty="0"/>
          </a:p>
          <a:p>
            <a:pPr lvl="1"/>
            <a:r>
              <a:rPr lang="en-US" dirty="0" err="1"/>
              <a:t>Доменная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узнает</a:t>
            </a:r>
            <a:r>
              <a:rPr lang="en-US" dirty="0"/>
              <a:t> о </a:t>
            </a:r>
            <a:r>
              <a:rPr lang="en-US" dirty="0" err="1"/>
              <a:t>требованиях</a:t>
            </a:r>
            <a:r>
              <a:rPr lang="en-US" dirty="0"/>
              <a:t> GUI-</a:t>
            </a:r>
            <a:r>
              <a:rPr lang="en-US" dirty="0" err="1"/>
              <a:t>компонента</a:t>
            </a:r>
            <a:r>
              <a:rPr lang="en-US" dirty="0"/>
              <a:t>.</a:t>
            </a:r>
          </a:p>
          <a:p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endParaRPr lang="en-US" dirty="0"/>
          </a:p>
          <a:p>
            <a:pPr lvl="1"/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предоставит</a:t>
            </a:r>
            <a:r>
              <a:rPr lang="en-US" dirty="0"/>
              <a:t> </a:t>
            </a:r>
            <a:r>
              <a:rPr lang="en-US" dirty="0" err="1"/>
              <a:t>IListViewDataSource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Drawing.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соединить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8542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FFD9-5863-BC8F-D92A-D5E4DD5C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— </a:t>
            </a:r>
            <a:r>
              <a:rPr lang="ru-RU" dirty="0"/>
              <a:t>переводчик между интерфейсами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4F193-3D04-ED55-33B6-DF50608BA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38" y="1690688"/>
            <a:ext cx="996632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9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73AA-1430-CCC4-872A-7D9B23C9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Реализуем </a:t>
            </a:r>
            <a:r>
              <a:rPr lang="en-US" dirty="0" err="1"/>
              <a:t>ShapeListDataSource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46821-32C9-A62A-1713-4B287AA43830}"/>
              </a:ext>
            </a:extLst>
          </p:cNvPr>
          <p:cNvSpPr txBox="1"/>
          <p:nvPr/>
        </p:nvSpPr>
        <p:spPr>
          <a:xfrm>
            <a:off x="367146" y="1690688"/>
            <a:ext cx="71004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ShapeListDataSource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IListViewDataSource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ShapeListDataSource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GetItemCount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D85D5-C79C-833B-B3E8-06329BB2C51D}"/>
              </a:ext>
            </a:extLst>
          </p:cNvPr>
          <p:cNvSpPr txBox="1"/>
          <p:nvPr/>
        </p:nvSpPr>
        <p:spPr>
          <a:xfrm>
            <a:off x="4310743" y="5384007"/>
            <a:ext cx="7373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+mn-lt"/>
              </a:rPr>
              <a:t>ListItem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текст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дублирует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Drawing.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495B6-0ED4-4B6D-9C24-3BF80BB0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91" y="2369127"/>
            <a:ext cx="5413310" cy="279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91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1448-03F5-FB4D-4530-CACE2655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произойдёт при изменении документа?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2830D-4165-019E-1F1C-B4F6A4258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32" y="1690688"/>
            <a:ext cx="1013773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04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CFF5-DBFF-C7C9-A25E-894BA6C6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Adapter</a:t>
            </a:r>
            <a:r>
              <a:rPr lang="ru-RU" dirty="0"/>
              <a:t> уже есть в нашем редакторе!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B3A8-20F0-D7BF-A67C-5BF9C00A4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38455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EditorShape</a:t>
            </a:r>
            <a:r>
              <a:rPr lang="en-US" dirty="0"/>
              <a:t>::Accept()</a:t>
            </a:r>
          </a:p>
          <a:p>
            <a:r>
              <a:rPr lang="en-US" dirty="0"/>
              <a:t>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VisitorAdapter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согласует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IShapeVisitor</a:t>
            </a:r>
            <a:r>
              <a:rPr lang="en-US" dirty="0"/>
              <a:t> —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посетителя</a:t>
            </a:r>
            <a:r>
              <a:rPr lang="en-US" dirty="0"/>
              <a:t> </a:t>
            </a:r>
            <a:r>
              <a:rPr lang="en-US" dirty="0" err="1"/>
              <a:t>доменных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IEditorShapeVisitor</a:t>
            </a:r>
            <a:r>
              <a:rPr lang="en-US" dirty="0"/>
              <a:t> —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посетителя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согласовать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816F12-0989-FF5E-4F39-786688E3D1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24188" y="1825625"/>
            <a:ext cx="40296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1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E84A9E-D5FF-49CC-5616-3586F339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паттерна </a:t>
            </a:r>
            <a:r>
              <a:rPr lang="en-US" dirty="0"/>
              <a:t>Adapter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44B63D-385F-B072-7A48-41E51751F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58994"/>
            <a:ext cx="10515600" cy="368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507CC5-6624-9BEB-52A3-0B1775468D58}"/>
              </a:ext>
            </a:extLst>
          </p:cNvPr>
          <p:cNvSpPr txBox="1"/>
          <p:nvPr/>
        </p:nvSpPr>
        <p:spPr>
          <a:xfrm>
            <a:off x="5087888" y="6243338"/>
            <a:ext cx="6624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Адаптер может работать с любыми наследниками адаптируемого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35481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9866-684E-70FD-4778-1370EC49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Adapter</a:t>
            </a:r>
            <a:r>
              <a:rPr lang="ru-RU" dirty="0"/>
              <a:t> и </a:t>
            </a:r>
            <a:r>
              <a:rPr lang="ru-RU" dirty="0" err="1"/>
              <a:t>Decorator</a:t>
            </a:r>
            <a:r>
              <a:rPr lang="ru-RU" dirty="0"/>
              <a:t>: внешне похожи, но решают разные задачи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6A96E8-D500-0073-70AD-73ACE4908F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07291779"/>
              </p:ext>
            </p:extLst>
          </p:nvPr>
        </p:nvGraphicFramePr>
        <p:xfrm>
          <a:off x="838200" y="1825625"/>
          <a:ext cx="10515600" cy="224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782">
                  <a:extLst>
                    <a:ext uri="{9D8B030D-6E8A-4147-A177-3AD203B41FA5}">
                      <a16:colId xmlns:a16="http://schemas.microsoft.com/office/drawing/2014/main" val="3125345769"/>
                    </a:ext>
                  </a:extLst>
                </a:gridCol>
                <a:gridCol w="3754583">
                  <a:extLst>
                    <a:ext uri="{9D8B030D-6E8A-4147-A177-3AD203B41FA5}">
                      <a16:colId xmlns:a16="http://schemas.microsoft.com/office/drawing/2014/main" val="473199751"/>
                    </a:ext>
                  </a:extLst>
                </a:gridCol>
                <a:gridCol w="4454235">
                  <a:extLst>
                    <a:ext uri="{9D8B030D-6E8A-4147-A177-3AD203B41FA5}">
                      <a16:colId xmlns:a16="http://schemas.microsoft.com/office/drawing/2014/main" val="2026144426"/>
                    </a:ext>
                  </a:extLst>
                </a:gridCol>
              </a:tblGrid>
              <a:tr h="2070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Decorator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Adapter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804844"/>
                  </a:ext>
                </a:extLst>
              </a:tr>
              <a:tr h="35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Цель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Добавить поведение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Согласовать интерфейсы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213644"/>
                  </a:ext>
                </a:extLst>
              </a:tr>
              <a:tr h="51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Интерфейс обёртки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Тот же, что у компонента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Ожидаемый клиентом, обычно другой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114532"/>
                  </a:ext>
                </a:extLst>
              </a:tr>
              <a:tr h="51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внутри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Компонент с общим интерфейсом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Компонент с несовместимым интерфейсом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46220"/>
                  </a:ext>
                </a:extLst>
              </a:tr>
              <a:tr h="35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GlowDecorator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IVisual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ShapeListDataSource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 + Drawing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742722"/>
                  </a:ext>
                </a:extLst>
              </a:tr>
            </a:tbl>
          </a:graphicData>
        </a:graphic>
      </p:graphicFrame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1E93F8B-3158-65A8-BFB7-BE9F5C1132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57585" y="4208442"/>
            <a:ext cx="9276830" cy="260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30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4729-F984-8FD6-B368-B3247D2D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Adapter: </a:t>
            </a:r>
            <a:r>
              <a:rPr lang="ru-RU" dirty="0"/>
              <a:t>выигрыш и цена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67448-50D3-C17E-BF6D-CB45A283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Переиспользование</a:t>
            </a:r>
            <a:r>
              <a:rPr lang="en-US" dirty="0"/>
              <a:t>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Независимость</a:t>
            </a:r>
            <a:r>
              <a:rPr lang="en-US" dirty="0"/>
              <a:t> Drawing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GUI.</a:t>
            </a:r>
          </a:p>
          <a:p>
            <a:pPr lvl="1"/>
            <a:r>
              <a:rPr lang="en-US" dirty="0" err="1"/>
              <a:t>Локализацию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и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Кодом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Необходимостью</a:t>
            </a:r>
            <a:r>
              <a:rPr lang="en-US" dirty="0"/>
              <a:t> </a:t>
            </a:r>
            <a:r>
              <a:rPr lang="en-US" dirty="0" err="1"/>
              <a:t>сопровождать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dirty="0" err="1"/>
              <a:t>контрактов</a:t>
            </a:r>
            <a:r>
              <a:rPr lang="en-US" dirty="0"/>
              <a:t>.</a:t>
            </a:r>
          </a:p>
          <a:p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функции-преобразователя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5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809A23-D48F-9B58-442F-8240E8F82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F7736-819F-7526-87AC-86DC152EB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81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28534-CF2F-77FA-F899-2284DBA5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Узнайте паттерн по задаче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2FD85D-B85B-D7FA-6FE8-EDF61C11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Задача </a:t>
            </a:r>
            <a:r>
              <a:rPr lang="en-US" dirty="0"/>
              <a:t>A. </a:t>
            </a:r>
            <a:r>
              <a:rPr lang="en-US" dirty="0" err="1"/>
              <a:t>Импорт</a:t>
            </a:r>
            <a:r>
              <a:rPr lang="en-US" dirty="0"/>
              <a:t> </a:t>
            </a:r>
            <a:r>
              <a:rPr lang="en-US" dirty="0" err="1"/>
              <a:t>документов</a:t>
            </a:r>
            <a:endParaRPr lang="en-US" dirty="0"/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импортёров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: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 </a:t>
            </a:r>
            <a:r>
              <a:rPr lang="en-US" dirty="0" err="1"/>
              <a:t>Различается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.</a:t>
            </a:r>
          </a:p>
          <a:p>
            <a:r>
              <a:rPr lang="ru-RU" dirty="0"/>
              <a:t>Задача </a:t>
            </a:r>
            <a:r>
              <a:rPr lang="en-US" dirty="0"/>
              <a:t>B.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рендерера</a:t>
            </a:r>
            <a:endParaRPr lang="en-US" dirty="0"/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подключать</a:t>
            </a:r>
            <a:r>
              <a:rPr lang="en-US" dirty="0"/>
              <a:t> к </a:t>
            </a:r>
            <a:r>
              <a:rPr lang="en-US" dirty="0" err="1"/>
              <a:t>рендереру</a:t>
            </a:r>
            <a:r>
              <a:rPr lang="en-US" dirty="0"/>
              <a:t> </a:t>
            </a:r>
            <a:r>
              <a:rPr lang="en-US" dirty="0" err="1"/>
              <a:t>измерение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журналирование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,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меняя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.</a:t>
            </a:r>
          </a:p>
          <a:p>
            <a:r>
              <a:rPr lang="ru-RU" dirty="0"/>
              <a:t>Задача </a:t>
            </a:r>
            <a:r>
              <a:rPr lang="en-US" dirty="0"/>
              <a:t>C. </a:t>
            </a:r>
            <a:r>
              <a:rPr lang="en-US" dirty="0" err="1"/>
              <a:t>Подключение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endParaRPr lang="en-US" dirty="0"/>
          </a:p>
          <a:p>
            <a:pPr lvl="1"/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API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 </a:t>
            </a:r>
            <a:r>
              <a:rPr lang="en-US" dirty="0" err="1"/>
              <a:t>Переписывать</a:t>
            </a:r>
            <a:r>
              <a:rPr lang="en-US" dirty="0"/>
              <a:t> </a:t>
            </a:r>
            <a:r>
              <a:rPr lang="en-US" dirty="0" err="1"/>
              <a:t>клиентский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нежелательно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поможет</a:t>
            </a:r>
            <a:r>
              <a:rPr lang="en-US" dirty="0"/>
              <a:t> в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?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29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C4D-C5DD-61FB-354C-A222DA74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паттерна — три разных намерения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1B0B44-6B1C-FEBB-DA25-AB8E98941CC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72495228"/>
              </p:ext>
            </p:extLst>
          </p:nvPr>
        </p:nvGraphicFramePr>
        <p:xfrm>
          <a:off x="838200" y="1825625"/>
          <a:ext cx="10515599" cy="2746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618">
                  <a:extLst>
                    <a:ext uri="{9D8B030D-6E8A-4147-A177-3AD203B41FA5}">
                      <a16:colId xmlns:a16="http://schemas.microsoft.com/office/drawing/2014/main" val="38227694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615866177"/>
                    </a:ext>
                  </a:extLst>
                </a:gridCol>
                <a:gridCol w="2604655">
                  <a:extLst>
                    <a:ext uri="{9D8B030D-6E8A-4147-A177-3AD203B41FA5}">
                      <a16:colId xmlns:a16="http://schemas.microsoft.com/office/drawing/2014/main" val="3707127709"/>
                    </a:ext>
                  </a:extLst>
                </a:gridCol>
                <a:gridCol w="2902526">
                  <a:extLst>
                    <a:ext uri="{9D8B030D-6E8A-4147-A177-3AD203B41FA5}">
                      <a16:colId xmlns:a16="http://schemas.microsoft.com/office/drawing/2014/main" val="3161125942"/>
                    </a:ext>
                  </a:extLst>
                </a:gridCol>
              </a:tblGrid>
              <a:tr h="2480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Template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Decorator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Adapter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610345"/>
                  </a:ext>
                </a:extLst>
              </a:tr>
              <a:tr h="460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Задача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Переиспользовать алгоритм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Расширить поведение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Согласовать интерфейсы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719111"/>
                  </a:ext>
                </a:extLst>
              </a:tr>
              <a:tr h="460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Что сохраняем?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Общий порядок шагов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Интерфейс компонента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Существующие компоненты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534210"/>
                  </a:ext>
                </a:extLst>
              </a:tr>
              <a:tr h="460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Основной механизм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Наследование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Композиция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Преобразование вызовов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44162"/>
                  </a:ext>
                </a:extLst>
              </a:tr>
              <a:tr h="354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Цена решения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Жёсткость алгоритма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Цепочки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обёрток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Дополнительный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посредник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20125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8419EC-EEC6-7020-04B1-690CF0FA0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973781"/>
            <a:ext cx="10515600" cy="1203181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Паттерн</a:t>
            </a:r>
            <a:r>
              <a:rPr lang="en-US" b="1" dirty="0"/>
              <a:t> </a:t>
            </a:r>
            <a:r>
              <a:rPr lang="en-US" b="1" dirty="0" err="1"/>
              <a:t>определяется</a:t>
            </a:r>
            <a:r>
              <a:rPr lang="en-US" b="1" dirty="0"/>
              <a:t> </a:t>
            </a:r>
            <a:r>
              <a:rPr lang="en-US" b="1" dirty="0" err="1"/>
              <a:t>намерением</a:t>
            </a:r>
            <a:r>
              <a:rPr lang="en-US" b="1" dirty="0"/>
              <a:t>, а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структурой</a:t>
            </a:r>
            <a:r>
              <a:rPr lang="en-US" b="1" dirty="0"/>
              <a:t> </a:t>
            </a:r>
            <a:r>
              <a:rPr lang="en-US" b="1" dirty="0" err="1"/>
              <a:t>классов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78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2092-B5B2-1DBC-FC95-7800B3FE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 для самостоятельного изучения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352B7-81DF-EF33-96C6-DEC3C652D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24145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Template Method — hooks, NVI, </a:t>
            </a:r>
            <a:r>
              <a:rPr lang="en-US" dirty="0" err="1"/>
              <a:t>альтернативы</a:t>
            </a:r>
            <a:r>
              <a:rPr lang="en-US" dirty="0"/>
              <a:t> </a:t>
            </a:r>
            <a:r>
              <a:rPr lang="en-US" dirty="0" err="1"/>
              <a:t>наследованию</a:t>
            </a:r>
            <a:r>
              <a:rPr lang="en-US" dirty="0"/>
              <a:t>.</a:t>
            </a:r>
          </a:p>
          <a:p>
            <a:r>
              <a:rPr lang="en-US" dirty="0"/>
              <a:t>Decorator —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функциональные</a:t>
            </a:r>
            <a:r>
              <a:rPr lang="en-US" dirty="0"/>
              <a:t> </a:t>
            </a:r>
            <a:r>
              <a:rPr lang="en-US" dirty="0" err="1"/>
              <a:t>декораторы</a:t>
            </a:r>
            <a:r>
              <a:rPr lang="en-US" dirty="0"/>
              <a:t>, middleware.</a:t>
            </a:r>
          </a:p>
          <a:p>
            <a:r>
              <a:rPr lang="en-US" dirty="0"/>
              <a:t>Adapter — </a:t>
            </a:r>
            <a:r>
              <a:rPr lang="en-US" dirty="0" err="1"/>
              <a:t>адаптеры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и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функциональные</a:t>
            </a:r>
            <a:r>
              <a:rPr lang="en-US" dirty="0"/>
              <a:t> </a:t>
            </a:r>
            <a:r>
              <a:rPr lang="en-US" dirty="0" err="1"/>
              <a:t>адаптеры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F85B6-B97C-6CD3-8B16-A17F0EFC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541990"/>
            <a:ext cx="3311236" cy="2146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DDA035-430B-B02A-7695-F514626F3993}"/>
              </a:ext>
            </a:extLst>
          </p:cNvPr>
          <p:cNvSpPr txBox="1"/>
          <p:nvPr/>
        </p:nvSpPr>
        <p:spPr>
          <a:xfrm>
            <a:off x="6664035" y="3688245"/>
            <a:ext cx="361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https://youtu.be/wudLzRhOMF8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46A4A7-98C9-DF06-DB65-4AFD3A8CD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4115988"/>
            <a:ext cx="3311236" cy="22900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6B9F9A-F69C-E544-23C3-F6CA355A7C50}"/>
              </a:ext>
            </a:extLst>
          </p:cNvPr>
          <p:cNvSpPr txBox="1"/>
          <p:nvPr/>
        </p:nvSpPr>
        <p:spPr>
          <a:xfrm>
            <a:off x="6594763" y="6446908"/>
            <a:ext cx="353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https://youtu.be/xQu6JesSoN0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3B1691-2DB3-1227-D95B-81D977D48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947" y="4309690"/>
            <a:ext cx="3311236" cy="21229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07E5EB-668E-0577-A957-6AEE1C302FE0}"/>
              </a:ext>
            </a:extLst>
          </p:cNvPr>
          <p:cNvSpPr txBox="1"/>
          <p:nvPr/>
        </p:nvSpPr>
        <p:spPr>
          <a:xfrm>
            <a:off x="942110" y="6432620"/>
            <a:ext cx="353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https://youtu.be/7JngKy62Avg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C0D492-292E-D3BE-6D3F-F8B3865C17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5685" y="1541990"/>
            <a:ext cx="1845666" cy="1858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133034-771E-C603-005F-889244F5E5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0072" y="4115988"/>
            <a:ext cx="1811280" cy="18442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6AECBB-00E4-2F5A-B3A3-1504469052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5019" y="4309690"/>
            <a:ext cx="1811280" cy="182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2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8EA2-5A2E-BA6C-88AD-60348323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Следующая задача: группировка фигур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2CEA4E-03A8-E081-7FED-8707D3D0E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94" y="1825625"/>
            <a:ext cx="99814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46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1FE4-39BE-F4B8-1C92-6FF994BA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9A1C-D89E-1E71-A8EE-0B5EF5B56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272977"/>
            <a:ext cx="10397836" cy="121989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ru-RU" dirty="0"/>
              <a:t>обязательных </a:t>
            </a:r>
            <a:r>
              <a:rPr lang="en-US" dirty="0" err="1"/>
              <a:t>правил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Стремитесь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, </a:t>
            </a:r>
            <a:r>
              <a:rPr lang="en-US" dirty="0" err="1"/>
              <a:t>понятнее</a:t>
            </a:r>
            <a:r>
              <a:rPr lang="en-US" dirty="0"/>
              <a:t> и </a:t>
            </a:r>
            <a:r>
              <a:rPr lang="en-US" dirty="0" err="1"/>
              <a:t>дешевле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37EA77-88FF-276A-42E6-A22EDD7EA4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74" y="204476"/>
            <a:ext cx="8720432" cy="49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7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10188</Words>
  <Application>Microsoft Office PowerPoint</Application>
  <PresentationFormat>Widescreen</PresentationFormat>
  <Paragraphs>1257</Paragraphs>
  <Slides>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Office Theme</vt:lpstr>
      <vt:lpstr>Паттерны на каждый день: Template Method, Decorator, Adapter</vt:lpstr>
      <vt:lpstr>Паттерны на каждый день: три задачи — три решения</vt:lpstr>
      <vt:lpstr>Три новых требования к графическому редактору</vt:lpstr>
      <vt:lpstr>Разные инструменты — один сценарий</vt:lpstr>
      <vt:lpstr>Создаём фигуры перетаскиванием мышью</vt:lpstr>
      <vt:lpstr>Разные действия — похожий сценарий</vt:lpstr>
      <vt:lpstr>Два инструмента — две копии алгоритма</vt:lpstr>
      <vt:lpstr>Общий алгоритм начинает жить в нескольких местах</vt:lpstr>
      <vt:lpstr>Что должно быть общим, а что — изменяемым?</vt:lpstr>
      <vt:lpstr>Общий алгоритм в базовом классе</vt:lpstr>
      <vt:lpstr>Новые инструменты реализуют только свои шаги</vt:lpstr>
      <vt:lpstr>Template Method: кто управляет алгоритмом?</vt:lpstr>
      <vt:lpstr>Template Method: выигрыш и цена</vt:lpstr>
      <vt:lpstr>Добавляем новые возможности без изменения существующего кода</vt:lpstr>
      <vt:lpstr>Сделаем фигуры красивее</vt:lpstr>
      <vt:lpstr>Сколько комбинаций нам понадобится</vt:lpstr>
      <vt:lpstr>Первые решения: наследование или флаги?</vt:lpstr>
      <vt:lpstr>Отделим фигуру от её визуального представления</vt:lpstr>
      <vt:lpstr>Декоратор сохраняет интерфейс компонента</vt:lpstr>
      <vt:lpstr>Структура паттерна Decorator</vt:lpstr>
      <vt:lpstr>Как работает декоратор тени?</vt:lpstr>
      <vt:lpstr>Собираем цепочку эффектов</vt:lpstr>
      <vt:lpstr>Эффекты можно менять динамически</vt:lpstr>
      <vt:lpstr>Порядок эффектов имеет значение</vt:lpstr>
      <vt:lpstr>Decorator: не единственный способ комбинировать эффекты</vt:lpstr>
      <vt:lpstr>Где ещё встречается Decorator? Потоки ввода-вывода</vt:lpstr>
      <vt:lpstr>Как подружить готовые компоненты?</vt:lpstr>
      <vt:lpstr>Добавим в редактор панель со списком фигур</vt:lpstr>
      <vt:lpstr>ListView и Drawing говорят на разных языках</vt:lpstr>
      <vt:lpstr>Какие есть варианты?</vt:lpstr>
      <vt:lpstr>Adapter — переводчик между интерфейсами</vt:lpstr>
      <vt:lpstr>Реализуем ShapeListDataSource</vt:lpstr>
      <vt:lpstr>Что произойдёт при изменении документа?</vt:lpstr>
      <vt:lpstr>Adapter уже есть в нашем редакторе!</vt:lpstr>
      <vt:lpstr>Структура паттерна Adapter</vt:lpstr>
      <vt:lpstr>Adapter и Decorator: внешне похожи, но решают разные задачи</vt:lpstr>
      <vt:lpstr>Adapter: выигрыш и цена</vt:lpstr>
      <vt:lpstr>Заключение</vt:lpstr>
      <vt:lpstr>Узнайте паттерн по задаче</vt:lpstr>
      <vt:lpstr>Три паттерна — три разных намерения</vt:lpstr>
      <vt:lpstr>Материалы для самостоятельного изучения</vt:lpstr>
      <vt:lpstr>Следующая задача: группировка фигур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10</cp:revision>
  <dcterms:created xsi:type="dcterms:W3CDTF">2026-10-20T23:02:23Z</dcterms:created>
  <dcterms:modified xsi:type="dcterms:W3CDTF">2026-10-22T17:48:58Z</dcterms:modified>
</cp:coreProperties>
</file>