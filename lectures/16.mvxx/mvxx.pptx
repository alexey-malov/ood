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0"/>
  </p:sldMasterIdLst>
  <p:notesMasterIdLst>
    <p:notesMasterId r:id="rId78"/>
  </p:notesMasterIdLst>
  <p:sldIdLst>
    <p:sldId id="330" r:id="rId11"/>
    <p:sldId id="327" r:id="rId12"/>
    <p:sldId id="328" r:id="rId13"/>
    <p:sldId id="279" r:id="rId14"/>
    <p:sldId id="278" r:id="rId15"/>
    <p:sldId id="280" r:id="rId16"/>
    <p:sldId id="321" r:id="rId17"/>
    <p:sldId id="282" r:id="rId18"/>
    <p:sldId id="283" r:id="rId19"/>
    <p:sldId id="284" r:id="rId20"/>
    <p:sldId id="288" r:id="rId21"/>
    <p:sldId id="322" r:id="rId22"/>
    <p:sldId id="323" r:id="rId23"/>
    <p:sldId id="324" r:id="rId24"/>
    <p:sldId id="325" r:id="rId25"/>
    <p:sldId id="326" r:id="rId26"/>
    <p:sldId id="291" r:id="rId27"/>
    <p:sldId id="289" r:id="rId28"/>
    <p:sldId id="292" r:id="rId29"/>
    <p:sldId id="290" r:id="rId30"/>
    <p:sldId id="294" r:id="rId31"/>
    <p:sldId id="293" r:id="rId32"/>
    <p:sldId id="295" r:id="rId33"/>
    <p:sldId id="296" r:id="rId34"/>
    <p:sldId id="297" r:id="rId35"/>
    <p:sldId id="298" r:id="rId36"/>
    <p:sldId id="299" r:id="rId37"/>
    <p:sldId id="301" r:id="rId38"/>
    <p:sldId id="262" r:id="rId39"/>
    <p:sldId id="303" r:id="rId40"/>
    <p:sldId id="304" r:id="rId41"/>
    <p:sldId id="305" r:id="rId42"/>
    <p:sldId id="275" r:id="rId43"/>
    <p:sldId id="276" r:id="rId44"/>
    <p:sldId id="277" r:id="rId45"/>
    <p:sldId id="267" r:id="rId46"/>
    <p:sldId id="314" r:id="rId47"/>
    <p:sldId id="317" r:id="rId48"/>
    <p:sldId id="306" r:id="rId49"/>
    <p:sldId id="307" r:id="rId50"/>
    <p:sldId id="308" r:id="rId51"/>
    <p:sldId id="309" r:id="rId52"/>
    <p:sldId id="310" r:id="rId53"/>
    <p:sldId id="311" r:id="rId54"/>
    <p:sldId id="313" r:id="rId55"/>
    <p:sldId id="312" r:id="rId56"/>
    <p:sldId id="263" r:id="rId57"/>
    <p:sldId id="315" r:id="rId58"/>
    <p:sldId id="257" r:id="rId59"/>
    <p:sldId id="258" r:id="rId60"/>
    <p:sldId id="259" r:id="rId61"/>
    <p:sldId id="260" r:id="rId62"/>
    <p:sldId id="261" r:id="rId63"/>
    <p:sldId id="272" r:id="rId64"/>
    <p:sldId id="271" r:id="rId65"/>
    <p:sldId id="273" r:id="rId66"/>
    <p:sldId id="274" r:id="rId67"/>
    <p:sldId id="268" r:id="rId68"/>
    <p:sldId id="269" r:id="rId69"/>
    <p:sldId id="331" r:id="rId70"/>
    <p:sldId id="270" r:id="rId71"/>
    <p:sldId id="336" r:id="rId72"/>
    <p:sldId id="332" r:id="rId73"/>
    <p:sldId id="333" r:id="rId74"/>
    <p:sldId id="334" r:id="rId75"/>
    <p:sldId id="335" r:id="rId76"/>
    <p:sldId id="329" r:id="rId77"/>
  </p:sldIdLst>
  <p:sldSz cx="12192000" cy="6858000"/>
  <p:notesSz cx="6858000" cy="9144000"/>
  <p:custDataLst>
    <p:tags r:id="rId7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EE4C"/>
    <a:srgbClr val="FFFFFF"/>
    <a:srgbClr val="ED0378"/>
    <a:srgbClr val="DEEBF7"/>
    <a:srgbClr val="AFB1FB"/>
    <a:srgbClr val="CA266C"/>
    <a:srgbClr val="FAFA00"/>
    <a:srgbClr val="FFFF00"/>
    <a:srgbClr val="5DFFFF"/>
    <a:srgbClr val="F391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86" autoAdjust="0"/>
    <p:restoredTop sz="62500" autoAdjust="0"/>
  </p:normalViewPr>
  <p:slideViewPr>
    <p:cSldViewPr>
      <p:cViewPr varScale="1">
        <p:scale>
          <a:sx n="57" d="100"/>
          <a:sy n="57" d="100"/>
        </p:scale>
        <p:origin x="2634" y="2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2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6.xml"/><Relationship Id="rId21" Type="http://schemas.openxmlformats.org/officeDocument/2006/relationships/slide" Target="slides/slide11.xml"/><Relationship Id="rId42" Type="http://schemas.openxmlformats.org/officeDocument/2006/relationships/slide" Target="slides/slide32.xml"/><Relationship Id="rId47" Type="http://schemas.openxmlformats.org/officeDocument/2006/relationships/slide" Target="slides/slide37.xml"/><Relationship Id="rId63" Type="http://schemas.openxmlformats.org/officeDocument/2006/relationships/slide" Target="slides/slide53.xml"/><Relationship Id="rId68" Type="http://schemas.openxmlformats.org/officeDocument/2006/relationships/slide" Target="slides/slide58.xml"/><Relationship Id="rId16" Type="http://schemas.openxmlformats.org/officeDocument/2006/relationships/slide" Target="slides/slide6.xml"/><Relationship Id="rId11" Type="http://schemas.openxmlformats.org/officeDocument/2006/relationships/slide" Target="slides/slide1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53" Type="http://schemas.openxmlformats.org/officeDocument/2006/relationships/slide" Target="slides/slide43.xml"/><Relationship Id="rId58" Type="http://schemas.openxmlformats.org/officeDocument/2006/relationships/slide" Target="slides/slide48.xml"/><Relationship Id="rId74" Type="http://schemas.openxmlformats.org/officeDocument/2006/relationships/slide" Target="slides/slide64.xml"/><Relationship Id="rId79" Type="http://schemas.openxmlformats.org/officeDocument/2006/relationships/tags" Target="tags/tag1.xml"/><Relationship Id="rId5" Type="http://schemas.openxmlformats.org/officeDocument/2006/relationships/customXml" Target="../customXml/item5.xml"/><Relationship Id="rId61" Type="http://schemas.openxmlformats.org/officeDocument/2006/relationships/slide" Target="slides/slide51.xml"/><Relationship Id="rId82" Type="http://schemas.openxmlformats.org/officeDocument/2006/relationships/theme" Target="theme/theme1.xml"/><Relationship Id="rId19" Type="http://schemas.openxmlformats.org/officeDocument/2006/relationships/slide" Target="slides/slide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48" Type="http://schemas.openxmlformats.org/officeDocument/2006/relationships/slide" Target="slides/slide38.xml"/><Relationship Id="rId56" Type="http://schemas.openxmlformats.org/officeDocument/2006/relationships/slide" Target="slides/slide46.xml"/><Relationship Id="rId64" Type="http://schemas.openxmlformats.org/officeDocument/2006/relationships/slide" Target="slides/slide54.xml"/><Relationship Id="rId69" Type="http://schemas.openxmlformats.org/officeDocument/2006/relationships/slide" Target="slides/slide59.xml"/><Relationship Id="rId77" Type="http://schemas.openxmlformats.org/officeDocument/2006/relationships/slide" Target="slides/slide67.xml"/><Relationship Id="rId8" Type="http://schemas.openxmlformats.org/officeDocument/2006/relationships/customXml" Target="../customXml/item8.xml"/><Relationship Id="rId51" Type="http://schemas.openxmlformats.org/officeDocument/2006/relationships/slide" Target="slides/slide41.xml"/><Relationship Id="rId72" Type="http://schemas.openxmlformats.org/officeDocument/2006/relationships/slide" Target="slides/slide62.xml"/><Relationship Id="rId80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slide" Target="slides/slide36.xml"/><Relationship Id="rId59" Type="http://schemas.openxmlformats.org/officeDocument/2006/relationships/slide" Target="slides/slide49.xml"/><Relationship Id="rId67" Type="http://schemas.openxmlformats.org/officeDocument/2006/relationships/slide" Target="slides/slide57.xml"/><Relationship Id="rId20" Type="http://schemas.openxmlformats.org/officeDocument/2006/relationships/slide" Target="slides/slide10.xml"/><Relationship Id="rId41" Type="http://schemas.openxmlformats.org/officeDocument/2006/relationships/slide" Target="slides/slide31.xml"/><Relationship Id="rId54" Type="http://schemas.openxmlformats.org/officeDocument/2006/relationships/slide" Target="slides/slide44.xml"/><Relationship Id="rId62" Type="http://schemas.openxmlformats.org/officeDocument/2006/relationships/slide" Target="slides/slide52.xml"/><Relationship Id="rId70" Type="http://schemas.openxmlformats.org/officeDocument/2006/relationships/slide" Target="slides/slide60.xml"/><Relationship Id="rId75" Type="http://schemas.openxmlformats.org/officeDocument/2006/relationships/slide" Target="slides/slide65.xml"/><Relationship Id="rId83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49" Type="http://schemas.openxmlformats.org/officeDocument/2006/relationships/slide" Target="slides/slide39.xml"/><Relationship Id="rId57" Type="http://schemas.openxmlformats.org/officeDocument/2006/relationships/slide" Target="slides/slide47.xml"/><Relationship Id="rId10" Type="http://schemas.openxmlformats.org/officeDocument/2006/relationships/slideMaster" Target="slideMasters/slideMaster1.xml"/><Relationship Id="rId31" Type="http://schemas.openxmlformats.org/officeDocument/2006/relationships/slide" Target="slides/slide21.xml"/><Relationship Id="rId44" Type="http://schemas.openxmlformats.org/officeDocument/2006/relationships/slide" Target="slides/slide34.xml"/><Relationship Id="rId52" Type="http://schemas.openxmlformats.org/officeDocument/2006/relationships/slide" Target="slides/slide42.xml"/><Relationship Id="rId60" Type="http://schemas.openxmlformats.org/officeDocument/2006/relationships/slide" Target="slides/slide50.xml"/><Relationship Id="rId65" Type="http://schemas.openxmlformats.org/officeDocument/2006/relationships/slide" Target="slides/slide55.xml"/><Relationship Id="rId73" Type="http://schemas.openxmlformats.org/officeDocument/2006/relationships/slide" Target="slides/slide63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39" Type="http://schemas.openxmlformats.org/officeDocument/2006/relationships/slide" Target="slides/slide29.xml"/><Relationship Id="rId34" Type="http://schemas.openxmlformats.org/officeDocument/2006/relationships/slide" Target="slides/slide24.xml"/><Relationship Id="rId50" Type="http://schemas.openxmlformats.org/officeDocument/2006/relationships/slide" Target="slides/slide40.xml"/><Relationship Id="rId55" Type="http://schemas.openxmlformats.org/officeDocument/2006/relationships/slide" Target="slides/slide45.xml"/><Relationship Id="rId76" Type="http://schemas.openxmlformats.org/officeDocument/2006/relationships/slide" Target="slides/slide66.xml"/><Relationship Id="rId7" Type="http://schemas.openxmlformats.org/officeDocument/2006/relationships/customXml" Target="../customXml/item7.xml"/><Relationship Id="rId71" Type="http://schemas.openxmlformats.org/officeDocument/2006/relationships/slide" Target="slides/slide61.xml"/><Relationship Id="rId2" Type="http://schemas.openxmlformats.org/officeDocument/2006/relationships/customXml" Target="../customXml/item2.xml"/><Relationship Id="rId29" Type="http://schemas.openxmlformats.org/officeDocument/2006/relationships/slide" Target="slides/slide19.xml"/><Relationship Id="rId24" Type="http://schemas.openxmlformats.org/officeDocument/2006/relationships/slide" Target="slides/slide14.xml"/><Relationship Id="rId40" Type="http://schemas.openxmlformats.org/officeDocument/2006/relationships/slide" Target="slides/slide30.xml"/><Relationship Id="rId45" Type="http://schemas.openxmlformats.org/officeDocument/2006/relationships/slide" Target="slides/slide35.xml"/><Relationship Id="rId66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790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595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572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2168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7214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559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6194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7725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9379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46587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5865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297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5898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7438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8104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73992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01167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874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836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899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86563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1506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75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0245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95505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40894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59789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32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4640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578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68264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22039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6965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2820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458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5483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23260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45657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39198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63718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96294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4165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1176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86947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9478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39691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1445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0732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902366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66307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12161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7441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256368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6819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паттерне Model–View–</a:t>
            </a:r>
            <a:r>
              <a:rPr lang="ru-RU" dirty="0" err="1"/>
              <a:t>Presenter</a:t>
            </a:r>
            <a:r>
              <a:rPr lang="ru-RU" dirty="0"/>
              <a:t> </a:t>
            </a:r>
            <a:r>
              <a:rPr lang="ru-RU" dirty="0" err="1"/>
              <a:t>Presenter</a:t>
            </a:r>
            <a:r>
              <a:rPr lang="ru-RU" dirty="0"/>
              <a:t> играет центральную роль и фактически управляет всей логикой взаимодействия между моделью и представлением.</a:t>
            </a:r>
          </a:p>
          <a:p>
            <a:endParaRPr lang="ru-RU" dirty="0"/>
          </a:p>
          <a:p>
            <a:r>
              <a:rPr lang="ru-RU" dirty="0"/>
              <a:t>View в MVP максимально упрощено: оно только отображает данные и отправляет </a:t>
            </a:r>
            <a:r>
              <a:rPr lang="ru-RU" dirty="0" err="1"/>
              <a:t>пользователские</a:t>
            </a:r>
            <a:r>
              <a:rPr lang="ru-RU" dirty="0"/>
              <a:t> события. В нём нет логики и оно не знает о модели напрямую. Поэтому всю работу, требующую понимания состояния приложения, берёт на себя </a:t>
            </a:r>
            <a:r>
              <a:rPr lang="ru-RU" dirty="0" err="1"/>
              <a:t>Presenter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пользователь взаимодействует с интерфейсом — нажимает кнопку, вводит текст — View передаёт это событие </a:t>
            </a:r>
            <a:r>
              <a:rPr lang="ru-RU" dirty="0" err="1"/>
              <a:t>Presenter'у</a:t>
            </a:r>
            <a:r>
              <a:rPr lang="ru-RU" dirty="0"/>
              <a:t>. </a:t>
            </a:r>
            <a:r>
              <a:rPr lang="ru-RU" dirty="0" err="1"/>
              <a:t>Presenter</a:t>
            </a:r>
            <a:r>
              <a:rPr lang="ru-RU" dirty="0"/>
              <a:t> решает, какие операции нужно выполнить над моделью, вызывает соответствующие методы и получает обновлённое состояние.</a:t>
            </a:r>
          </a:p>
          <a:p>
            <a:endParaRPr lang="ru-RU" dirty="0"/>
          </a:p>
          <a:p>
            <a:r>
              <a:rPr lang="ru-RU" dirty="0"/>
              <a:t>Далее </a:t>
            </a:r>
            <a:r>
              <a:rPr lang="ru-RU" dirty="0" err="1"/>
              <a:t>Presenter</a:t>
            </a:r>
            <a:r>
              <a:rPr lang="ru-RU" dirty="0"/>
              <a:t> преобразует данные модели в формат, удобный для отображения: например, форматирует строки, подготавливает данные для виджетов, вычисляет </a:t>
            </a:r>
            <a:r>
              <a:rPr lang="ru-RU" dirty="0" err="1"/>
              <a:t>derived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. После этого он вызывает методы View и передаёт ей уже готовые данные.</a:t>
            </a:r>
          </a:p>
          <a:p>
            <a:endParaRPr lang="ru-RU" dirty="0"/>
          </a:p>
          <a:p>
            <a:r>
              <a:rPr lang="ru-RU" dirty="0"/>
              <a:t>Очень важный момент — </a:t>
            </a:r>
            <a:r>
              <a:rPr lang="ru-RU" dirty="0" err="1"/>
              <a:t>Presenter</a:t>
            </a:r>
            <a:r>
              <a:rPr lang="ru-RU" dirty="0"/>
              <a:t> подписывается на изменения модели. Это делает его похожим на контроллер в некоторых реализациях MVC, но в MVP именно </a:t>
            </a:r>
            <a:r>
              <a:rPr lang="ru-RU" dirty="0" err="1"/>
              <a:t>Presenter</a:t>
            </a:r>
            <a:r>
              <a:rPr lang="ru-RU" dirty="0"/>
              <a:t> обновляет View. View не получает события напрямую из модели.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dirty="0" err="1"/>
              <a:t>Presenter</a:t>
            </a:r>
            <a:r>
              <a:rPr lang="ru-RU" dirty="0"/>
              <a:t> нередко хранит так называемое “</a:t>
            </a:r>
            <a:r>
              <a:rPr lang="ru-RU" dirty="0" err="1"/>
              <a:t>представленческое</a:t>
            </a:r>
            <a:r>
              <a:rPr lang="ru-RU" dirty="0"/>
              <a:t> состояние” — то есть состояние, которое относится к отображению, но не к предметной области. Например: какая вкладка выбрана, какие элементы выделены, нужно ли показывать ошибку и так далее.</a:t>
            </a:r>
          </a:p>
          <a:p>
            <a:endParaRPr lang="ru-RU" dirty="0"/>
          </a:p>
          <a:p>
            <a:r>
              <a:rPr lang="ru-RU" dirty="0"/>
              <a:t>Благодаря тому, что View и Model для </a:t>
            </a:r>
            <a:r>
              <a:rPr lang="ru-RU" dirty="0" err="1"/>
              <a:t>Presenter</a:t>
            </a:r>
            <a:r>
              <a:rPr lang="ru-RU" dirty="0"/>
              <a:t> — всего лишь интерфейсы, этот компонент отлично тестируется. Можно легко подставить мок-модель и мок-представление, и проверить логику </a:t>
            </a:r>
            <a:r>
              <a:rPr lang="ru-RU" dirty="0" err="1"/>
              <a:t>Presenter</a:t>
            </a:r>
            <a:r>
              <a:rPr lang="ru-RU" dirty="0"/>
              <a:t> изолированно, без запуска UI.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Presenter</a:t>
            </a:r>
            <a:r>
              <a:rPr lang="ru-RU" dirty="0"/>
              <a:t> обеспечивает полное разделение бизнес-логики и визуального слоя, и делает код интерфейса гораздо более чистым, структурированным и тестируемым.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45887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94396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87326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Подход MVVM — Model–View–</a:t>
            </a:r>
            <a:r>
              <a:rPr lang="ru-RU" dirty="0" err="1"/>
              <a:t>ViewModel</a:t>
            </a:r>
            <a:r>
              <a:rPr lang="ru-RU" dirty="0"/>
              <a:t> — появился как развитие идей MVC и MVP, но был специально разработан для фреймворков с полноценной поддержкой привязки данных, таких как WPF, </a:t>
            </a:r>
            <a:r>
              <a:rPr lang="ru-RU" dirty="0" err="1"/>
              <a:t>Silverlight</a:t>
            </a:r>
            <a:r>
              <a:rPr lang="ru-RU" dirty="0"/>
              <a:t> и позже </a:t>
            </a:r>
            <a:r>
              <a:rPr lang="ru-RU" dirty="0" err="1"/>
              <a:t>Avalonia</a:t>
            </a:r>
            <a:r>
              <a:rPr lang="ru-RU" dirty="0"/>
              <a:t> и </a:t>
            </a:r>
            <a:r>
              <a:rPr lang="ru-RU" dirty="0" err="1"/>
              <a:t>Qt</a:t>
            </a:r>
            <a:r>
              <a:rPr lang="ru-RU" dirty="0"/>
              <a:t>/QML. Его основная задача — максимально отделить визуальный слой от логики приложения и перенести большую часть работы в </a:t>
            </a:r>
            <a:r>
              <a:rPr lang="ru-RU" dirty="0" err="1"/>
              <a:t>ViewModel</a:t>
            </a:r>
            <a:r>
              <a:rPr lang="ru-RU" dirty="0"/>
              <a:t>, чтобы UI оставался как можно более декларативным.</a:t>
            </a:r>
          </a:p>
          <a:p>
            <a:endParaRPr lang="ru-RU" dirty="0"/>
          </a:p>
          <a:p>
            <a:r>
              <a:rPr lang="ru-RU" dirty="0"/>
              <a:t>Начнём с модели. Model — это та же самая доменная логика, что и в других паттернах. Она хранит состояние предметной области и уведомляет об изменениях. Модель полностью независима от пользовательского интерфейса.</a:t>
            </a:r>
          </a:p>
          <a:p>
            <a:endParaRPr lang="ru-RU" dirty="0"/>
          </a:p>
          <a:p>
            <a:r>
              <a:rPr lang="ru-RU" dirty="0"/>
              <a:t>View — это чистый визуальный слой. В идеале он не содержит бизнес-логики. Его задача — отображать данные и отправлять действия пользователя. И самое важное: View взаимодействует с </a:t>
            </a:r>
            <a:r>
              <a:rPr lang="ru-RU" dirty="0" err="1"/>
              <a:t>ViewModel</a:t>
            </a:r>
            <a:r>
              <a:rPr lang="ru-RU" dirty="0"/>
              <a:t> через механизмы 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binding</a:t>
            </a:r>
            <a:r>
              <a:rPr lang="ru-RU" dirty="0"/>
              <a:t> — привязку свойств и команд.</a:t>
            </a:r>
          </a:p>
          <a:p>
            <a:endParaRPr lang="ru-RU" dirty="0"/>
          </a:p>
          <a:p>
            <a:r>
              <a:rPr lang="ru-RU" dirty="0"/>
              <a:t>Теперь рассмотрим ключевую часть — </a:t>
            </a:r>
            <a:r>
              <a:rPr lang="ru-RU" dirty="0" err="1"/>
              <a:t>ViewModel</a:t>
            </a:r>
            <a:r>
              <a:rPr lang="ru-RU" dirty="0"/>
              <a:t>. </a:t>
            </a:r>
            <a:r>
              <a:rPr lang="ru-RU" dirty="0" err="1"/>
              <a:t>ViewModel</a:t>
            </a:r>
            <a:r>
              <a:rPr lang="ru-RU" dirty="0"/>
              <a:t> включает в себя всю логику, которая необходима для представления данных модели на экране. Она преобразует данные модели в формат, удобный для отображения, например строки или вычисляемые свойства. Она же реагирует на действия пользователя, используя команды или методы, привязанные к событиям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97945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один важный момент — </a:t>
            </a:r>
            <a:r>
              <a:rPr lang="ru-RU" dirty="0" err="1"/>
              <a:t>ViewModel</a:t>
            </a:r>
            <a:r>
              <a:rPr lang="ru-RU" dirty="0"/>
              <a:t> не должна зависеть от конкретного класса представления. Она не знает, какие виджеты или элементы интерфейса используются. И за счёт этого </a:t>
            </a:r>
            <a:r>
              <a:rPr lang="ru-RU" dirty="0" err="1"/>
              <a:t>ViewModel</a:t>
            </a:r>
            <a:r>
              <a:rPr lang="ru-RU" dirty="0"/>
              <a:t> отлично тестируется. Мы можем подменить модель на мок-объект и проверять </a:t>
            </a:r>
            <a:r>
              <a:rPr lang="ru-RU" dirty="0" err="1"/>
              <a:t>ViewModel</a:t>
            </a:r>
            <a:r>
              <a:rPr lang="ru-RU" dirty="0"/>
              <a:t> полностью изолированно, без запуска UI.</a:t>
            </a:r>
          </a:p>
          <a:p>
            <a:endParaRPr lang="ru-RU" dirty="0"/>
          </a:p>
          <a:p>
            <a:r>
              <a:rPr lang="ru-RU" dirty="0"/>
              <a:t>Наконец, ключевое преимущество MVVM заключается в том, что View можно сделать практически полностью декларативным. В XAML или QML мы просто описываем привязки, а всю логику поведения выносит </a:t>
            </a:r>
            <a:r>
              <a:rPr lang="ru-RU" dirty="0" err="1"/>
              <a:t>ViewModel</a:t>
            </a:r>
            <a:r>
              <a:rPr lang="ru-RU" dirty="0"/>
              <a:t>. Это значительно упрощает поддержку и развитие кода, особенно в больших интерфейсах.</a:t>
            </a:r>
          </a:p>
          <a:p>
            <a:endParaRPr lang="ru-RU" dirty="0"/>
          </a:p>
          <a:p>
            <a:r>
              <a:rPr lang="ru-RU" dirty="0"/>
              <a:t>Таким образом, MVVM — это паттерн, который делает UI гибким, модульным и легко тестируемым благодаря силе 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binding</a:t>
            </a:r>
            <a:r>
              <a:rPr lang="ru-RU" dirty="0"/>
              <a:t> и строгому разделению ответственности между View и </a:t>
            </a:r>
            <a:r>
              <a:rPr lang="ru-RU" dirty="0" err="1"/>
              <a:t>ViewModel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00189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586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3349-999A-34D4-171A-E5116A082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87C8D-4153-0FEE-B9D6-DF984A519C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B1F5E-0DBD-DDEC-6172-A3C0881BC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CB395-10EA-6930-CC60-181915510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AF84D-DC10-409E-0037-57E5FBF6A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982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1D6AE-77CC-A526-B208-6BD994700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119E3-C207-3C60-DEE7-4658AC2AB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17AC8-DDA5-C797-5FD8-EF46E51F5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12449-AF25-7F9A-03A9-57AAFF4FF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0B6E7-FF68-F3E5-F89C-2916D190E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563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BEB96-97E2-B176-C586-B7BE7B6BC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1E8EC-E57F-01C6-EFBF-EB0F7C079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87CA-CDED-1ED7-007E-E18A246AE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2380E-517A-5D2F-8F84-EDCF483BE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61DC1-4E91-B653-052D-12D455B99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07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51555-83E5-AB1A-5CAE-F9808A631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6E868-3F2E-505F-AA09-6A8F1113DF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8D28EC-76EC-DE0B-C93E-2F1320F8C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E983B-5B3E-688E-B7A2-3CE3A6B5A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39AF6-1A5A-9C5D-2E64-3EAB6FAF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5B7258-A32F-63B1-54B1-F0010421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171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26BFE-25CA-C221-4913-ABF87841C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69F13F-65D4-D3DB-7303-3BDE5DAB5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379E4-6F2D-5BCB-D872-61044B97A8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3FE560-735B-7CDC-B108-67C7F6A09E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964EE-861B-C2E1-052E-37518EB65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DADC72-9E09-8E4D-6C07-088E52218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ABAFB0-58AF-8469-FC91-9054A023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14F5FA-58F6-FBA8-E721-31DB4022F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732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ED2A-F79C-1246-962D-045CAC70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41720E-67B3-F630-51EA-CBD9C8605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AF545-00EF-F048-7359-94870CA18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5F1F2-BDB6-1055-36FB-851D018E5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7690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5F7876-F0CF-0BE6-3B26-88D3164FC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E46534-579A-3A19-1E5A-55007A8A5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7BE07-5529-AE46-04CC-9CC42927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8103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02235-2A80-0FC4-D194-3110DB6DA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F773A-B035-B0DB-7466-981A8C758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67FD14-5926-3874-F7EA-27EB09C82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22F9BB-D5F6-21C4-F2D7-481F81C0C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0B2E2-1E8D-A0DE-0928-6A222FD19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3C17E5-6A62-6B99-31B6-4ECF8C7B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6194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18B2-DF68-B29B-ED94-B53987E74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7AA981-5AA6-9491-11B8-76A6839D6F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F468D-7322-CBEF-22A9-FDB4CF8AB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8CFD85-12E1-CC75-683B-84856B57C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CA7643-5BA6-0559-8804-6AA2D172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71FC2-D4F3-E9E8-04B5-519D32162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983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F165-3577-246A-5EA3-86FB9B4A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3F3B81-76C5-C296-357F-DBEA7000CF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DFABD-810C-D93A-B1FB-F4A9CE099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FAF5F-DD75-6785-D606-E2AD07155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EE31D-B0F9-BEFC-07C2-A2C1111BB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677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DEC4FA-DF15-2704-69FB-EB6DAEC9F3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44381-4D47-05C1-1E76-FB40E0450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3381B-2289-BDB1-6A74-F84A8E01D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CA887-E52B-85E8-C574-437426265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93157-C8D5-9515-ABE8-B9888AF71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3263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DB2B7E-99F6-F176-FF1B-4725AA9B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33F0E-D63C-D014-CBBD-A77B1630E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3F849-4B81-F5C4-7221-BA036D03BB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A2FA3-A34B-C63E-1E79-63E4F1BB60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0882F-B6C7-4532-2499-5D4E339AB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73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hyperlink" Target="https://stefanoborini.gitbooks.io/modelviewcontroller/01_from_smartui_to_traditional_mvc/01_smart_ui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forthescience.org/books/modelviewcontroller/02_mvc_variations/17_passive_view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forthescience.org/books/modelviewcontroller/02_mvc_variations/21_dolphin_mvp.html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msdn.microsoft.com/en-us/library/ff798384.aspx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F55A9-C457-ECDF-B6AE-96D6C429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D7FD1D-D8D7-25F9-136F-4DA519AC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Архитектура </a:t>
            </a:r>
            <a:r>
              <a:rPr lang="en-US" dirty="0"/>
              <a:t>GUI</a:t>
            </a:r>
            <a:r>
              <a:rPr lang="ru-RU" dirty="0"/>
              <a:t> приложений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17BA450-E008-1554-AD3B-E00FC9D89A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38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C3F17-C5AD-B8A4-96FA-341FD40E3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</a:t>
            </a:r>
            <a:r>
              <a:rPr lang="en-US" dirty="0"/>
              <a:t>GUI-</a:t>
            </a:r>
            <a:r>
              <a:rPr lang="ru-RU" dirty="0"/>
              <a:t>приложений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EF87A-1CAD-7288-A52E-37CC97DCE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Используют событийно-ориентированную модель выполнения</a:t>
            </a:r>
          </a:p>
          <a:p>
            <a:r>
              <a:rPr lang="ru-RU" dirty="0"/>
              <a:t>Управление передано фреймворку: обработчики вызываются по принципу </a:t>
            </a:r>
            <a:r>
              <a:rPr lang="ru-RU" b="1" i="1" dirty="0"/>
              <a:t>инверсии управления</a:t>
            </a:r>
            <a:endParaRPr lang="ru-RU" b="1" dirty="0"/>
          </a:p>
          <a:p>
            <a:pPr lvl="1"/>
            <a:r>
              <a:rPr lang="ru-RU" dirty="0"/>
              <a:t>События инициируются действием пользователя или ОС (таймеры, перерисовка, ввод, системные уведомления и т.п.)</a:t>
            </a:r>
          </a:p>
          <a:p>
            <a:r>
              <a:rPr lang="ru-RU" dirty="0"/>
              <a:t>Основная часть времени приложение проводит в ожидании событий в цикле обработки сообщений</a:t>
            </a:r>
          </a:p>
        </p:txBody>
      </p:sp>
    </p:spTree>
    <p:extLst>
      <p:ext uri="{BB962C8B-B14F-4D97-AF65-F5344CB8AC3E}">
        <p14:creationId xmlns:p14="http://schemas.microsoft.com/office/powerpoint/2010/main" val="2561058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51">
            <a:extLst>
              <a:ext uri="{FF2B5EF4-FFF2-40B4-BE49-F238E27FC236}">
                <a16:creationId xmlns:a16="http://schemas.microsoft.com/office/drawing/2014/main" id="{25A7B923-DADE-19F4-D7BB-4A76FF221306}"/>
              </a:ext>
            </a:extLst>
          </p:cNvPr>
          <p:cNvGrpSpPr>
            <a:grpSpLocks/>
          </p:cNvGrpSpPr>
          <p:nvPr/>
        </p:nvGrpSpPr>
        <p:grpSpPr bwMode="auto">
          <a:xfrm>
            <a:off x="1337920" y="56828"/>
            <a:ext cx="9342147" cy="6755136"/>
            <a:chOff x="-185634" y="56475"/>
            <a:chExt cx="9341268" cy="6755839"/>
          </a:xfrm>
        </p:grpSpPr>
        <p:grpSp>
          <p:nvGrpSpPr>
            <p:cNvPr id="9" name="Группа 3">
              <a:extLst>
                <a:ext uri="{FF2B5EF4-FFF2-40B4-BE49-F238E27FC236}">
                  <a16:creationId xmlns:a16="http://schemas.microsoft.com/office/drawing/2014/main" id="{600C68F5-1078-A91D-8BAE-4DC15A81BB0F}"/>
                </a:ext>
              </a:extLst>
            </p:cNvPr>
            <p:cNvGrpSpPr/>
            <p:nvPr/>
          </p:nvGrpSpPr>
          <p:grpSpPr>
            <a:xfrm>
              <a:off x="3936586" y="763642"/>
              <a:ext cx="1368152" cy="1728192"/>
              <a:chOff x="3563888" y="1340768"/>
              <a:chExt cx="1872208" cy="1728192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51" name="Прямоугольник 45">
                <a:extLst>
                  <a:ext uri="{FF2B5EF4-FFF2-40B4-BE49-F238E27FC236}">
                    <a16:creationId xmlns:a16="http://schemas.microsoft.com/office/drawing/2014/main" id="{5F70CCAC-826C-8EF8-85C6-703FF4AC86A1}"/>
                  </a:ext>
                </a:extLst>
              </p:cNvPr>
              <p:cNvSpPr/>
              <p:nvPr/>
            </p:nvSpPr>
            <p:spPr>
              <a:xfrm>
                <a:off x="3563888" y="1340768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Прямоугольник 46">
                <a:extLst>
                  <a:ext uri="{FF2B5EF4-FFF2-40B4-BE49-F238E27FC236}">
                    <a16:creationId xmlns:a16="http://schemas.microsoft.com/office/drawing/2014/main" id="{F493C5FA-2C12-A9E7-1751-DCA3BD3DBBD8}"/>
                  </a:ext>
                </a:extLst>
              </p:cNvPr>
              <p:cNvSpPr/>
              <p:nvPr/>
            </p:nvSpPr>
            <p:spPr>
              <a:xfrm>
                <a:off x="3563888" y="1628800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47">
                <a:extLst>
                  <a:ext uri="{FF2B5EF4-FFF2-40B4-BE49-F238E27FC236}">
                    <a16:creationId xmlns:a16="http://schemas.microsoft.com/office/drawing/2014/main" id="{3C3D2718-CE1B-5B0B-CA0B-0DDDC3929404}"/>
                  </a:ext>
                </a:extLst>
              </p:cNvPr>
              <p:cNvSpPr/>
              <p:nvPr/>
            </p:nvSpPr>
            <p:spPr>
              <a:xfrm>
                <a:off x="3563888" y="1916832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Прямоугольник 48">
                <a:extLst>
                  <a:ext uri="{FF2B5EF4-FFF2-40B4-BE49-F238E27FC236}">
                    <a16:creationId xmlns:a16="http://schemas.microsoft.com/office/drawing/2014/main" id="{3343DDAC-8943-5A35-C9A5-282A92A7FE10}"/>
                  </a:ext>
                </a:extLst>
              </p:cNvPr>
              <p:cNvSpPr/>
              <p:nvPr/>
            </p:nvSpPr>
            <p:spPr>
              <a:xfrm>
                <a:off x="3563888" y="2204864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Прямоугольник 49">
                <a:extLst>
                  <a:ext uri="{FF2B5EF4-FFF2-40B4-BE49-F238E27FC236}">
                    <a16:creationId xmlns:a16="http://schemas.microsoft.com/office/drawing/2014/main" id="{EC46E744-7AE4-B3EA-9043-5DAA18CEB4AE}"/>
                  </a:ext>
                </a:extLst>
              </p:cNvPr>
              <p:cNvSpPr/>
              <p:nvPr/>
            </p:nvSpPr>
            <p:spPr>
              <a:xfrm>
                <a:off x="3563888" y="2492896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Прямоугольник 50">
                <a:extLst>
                  <a:ext uri="{FF2B5EF4-FFF2-40B4-BE49-F238E27FC236}">
                    <a16:creationId xmlns:a16="http://schemas.microsoft.com/office/drawing/2014/main" id="{B5F39CF4-347B-3DDE-9BB2-DE7981AE8CAA}"/>
                  </a:ext>
                </a:extLst>
              </p:cNvPr>
              <p:cNvSpPr/>
              <p:nvPr/>
            </p:nvSpPr>
            <p:spPr>
              <a:xfrm>
                <a:off x="3563888" y="2780928"/>
                <a:ext cx="1872208" cy="28803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>
                <a:defPPr>
                  <a:defRPr lang="ru-RU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endParaRPr lang="ru-RU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TextBox 22">
              <a:extLst>
                <a:ext uri="{FF2B5EF4-FFF2-40B4-BE49-F238E27FC236}">
                  <a16:creationId xmlns:a16="http://schemas.microsoft.com/office/drawing/2014/main" id="{B3647480-191B-89FC-07B0-054CB9B932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56266" y="2851874"/>
              <a:ext cx="1663120" cy="3693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 dirty="0">
                  <a:latin typeface="Constantia" panose="02030602050306030303" pitchFamily="18" charset="0"/>
                </a:rPr>
                <a:t>Приложение </a:t>
              </a:r>
              <a:r>
                <a:rPr lang="en-US" altLang="ru-RU" dirty="0">
                  <a:latin typeface="Constantia" panose="02030602050306030303" pitchFamily="18" charset="0"/>
                </a:rPr>
                <a:t>1</a:t>
              </a:r>
              <a:endParaRPr lang="ru-RU" altLang="ru-RU" dirty="0">
                <a:latin typeface="Constantia" panose="02030602050306030303" pitchFamily="18" charset="0"/>
              </a:endParaRPr>
            </a:p>
          </p:txBody>
        </p:sp>
        <p:sp>
          <p:nvSpPr>
            <p:cNvPr id="11" name="Прямоугольник 5">
              <a:extLst>
                <a:ext uri="{FF2B5EF4-FFF2-40B4-BE49-F238E27FC236}">
                  <a16:creationId xmlns:a16="http://schemas.microsoft.com/office/drawing/2014/main" id="{2FBB4682-1468-893D-F91D-5FE072A3E9FA}"/>
                </a:ext>
              </a:extLst>
            </p:cNvPr>
            <p:cNvSpPr/>
            <p:nvPr/>
          </p:nvSpPr>
          <p:spPr>
            <a:xfrm>
              <a:off x="262975" y="2851089"/>
              <a:ext cx="4237594" cy="252121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2" name="Прямоугольник 6">
              <a:extLst>
                <a:ext uri="{FF2B5EF4-FFF2-40B4-BE49-F238E27FC236}">
                  <a16:creationId xmlns:a16="http://schemas.microsoft.com/office/drawing/2014/main" id="{28F3DA17-2C68-E666-B635-F8C27CA22302}"/>
                </a:ext>
              </a:extLst>
            </p:cNvPr>
            <p:cNvSpPr/>
            <p:nvPr/>
          </p:nvSpPr>
          <p:spPr>
            <a:xfrm>
              <a:off x="640809" y="3656770"/>
              <a:ext cx="1368296" cy="28895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3" name="TextBox 26">
              <a:extLst>
                <a:ext uri="{FF2B5EF4-FFF2-40B4-BE49-F238E27FC236}">
                  <a16:creationId xmlns:a16="http://schemas.microsoft.com/office/drawing/2014/main" id="{C467BC6A-9AD2-022C-7C5B-4A7F66B8C9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592" y="3211914"/>
              <a:ext cx="1607148" cy="461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 sz="1200" dirty="0">
                  <a:latin typeface="Constantia" panose="02030602050306030303" pitchFamily="18" charset="0"/>
                </a:rPr>
                <a:t>Очередь сообщений</a:t>
              </a:r>
              <a:br>
                <a:rPr lang="ru-RU" altLang="ru-RU" sz="1200" dirty="0">
                  <a:latin typeface="Constantia" panose="02030602050306030303" pitchFamily="18" charset="0"/>
                </a:rPr>
              </a:br>
              <a:r>
                <a:rPr lang="ru-RU" altLang="ru-RU" sz="1200" dirty="0">
                  <a:latin typeface="Constantia" panose="02030602050306030303" pitchFamily="18" charset="0"/>
                </a:rPr>
                <a:t>потока 1</a:t>
              </a:r>
              <a:endParaRPr lang="en-US" altLang="ru-RU" sz="1200" dirty="0">
                <a:latin typeface="Constantia" panose="02030602050306030303" pitchFamily="18" charset="0"/>
              </a:endParaRPr>
            </a:p>
          </p:txBody>
        </p:sp>
        <p:sp>
          <p:nvSpPr>
            <p:cNvPr id="14" name="Прямоугольник 8">
              <a:extLst>
                <a:ext uri="{FF2B5EF4-FFF2-40B4-BE49-F238E27FC236}">
                  <a16:creationId xmlns:a16="http://schemas.microsoft.com/office/drawing/2014/main" id="{F1D6C469-A0DA-9159-9D71-4E8DB8EA94EC}"/>
                </a:ext>
              </a:extLst>
            </p:cNvPr>
            <p:cNvSpPr/>
            <p:nvPr/>
          </p:nvSpPr>
          <p:spPr>
            <a:xfrm>
              <a:off x="640809" y="3945725"/>
              <a:ext cx="1368296" cy="28736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5" name="Прямоугольник 9">
              <a:extLst>
                <a:ext uri="{FF2B5EF4-FFF2-40B4-BE49-F238E27FC236}">
                  <a16:creationId xmlns:a16="http://schemas.microsoft.com/office/drawing/2014/main" id="{6D7BA5DB-F90C-821D-D53D-E4E33D60E805}"/>
                </a:ext>
              </a:extLst>
            </p:cNvPr>
            <p:cNvSpPr/>
            <p:nvPr/>
          </p:nvSpPr>
          <p:spPr>
            <a:xfrm>
              <a:off x="640809" y="4233092"/>
              <a:ext cx="1368296" cy="28895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Прямоугольник 10">
              <a:extLst>
                <a:ext uri="{FF2B5EF4-FFF2-40B4-BE49-F238E27FC236}">
                  <a16:creationId xmlns:a16="http://schemas.microsoft.com/office/drawing/2014/main" id="{5C088F28-90E2-E613-6BDF-995BE57A74B6}"/>
                </a:ext>
              </a:extLst>
            </p:cNvPr>
            <p:cNvSpPr/>
            <p:nvPr/>
          </p:nvSpPr>
          <p:spPr>
            <a:xfrm>
              <a:off x="640809" y="4522047"/>
              <a:ext cx="1368296" cy="287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7" name="Прямоугольник 11">
              <a:extLst>
                <a:ext uri="{FF2B5EF4-FFF2-40B4-BE49-F238E27FC236}">
                  <a16:creationId xmlns:a16="http://schemas.microsoft.com/office/drawing/2014/main" id="{2F50A60A-E9D3-D4DB-8812-20B83F68DAB9}"/>
                </a:ext>
              </a:extLst>
            </p:cNvPr>
            <p:cNvSpPr/>
            <p:nvPr/>
          </p:nvSpPr>
          <p:spPr>
            <a:xfrm>
              <a:off x="2916393" y="3643334"/>
              <a:ext cx="1368296" cy="28895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Прямоугольник 12">
              <a:extLst>
                <a:ext uri="{FF2B5EF4-FFF2-40B4-BE49-F238E27FC236}">
                  <a16:creationId xmlns:a16="http://schemas.microsoft.com/office/drawing/2014/main" id="{4CA6F685-789E-B279-81A6-348A0E951910}"/>
                </a:ext>
              </a:extLst>
            </p:cNvPr>
            <p:cNvSpPr/>
            <p:nvPr/>
          </p:nvSpPr>
          <p:spPr>
            <a:xfrm>
              <a:off x="2916393" y="3932289"/>
              <a:ext cx="1368296" cy="28736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Прямоугольник 13">
              <a:extLst>
                <a:ext uri="{FF2B5EF4-FFF2-40B4-BE49-F238E27FC236}">
                  <a16:creationId xmlns:a16="http://schemas.microsoft.com/office/drawing/2014/main" id="{6C6B0D2F-4430-B340-25C3-4CA52083D863}"/>
                </a:ext>
              </a:extLst>
            </p:cNvPr>
            <p:cNvSpPr/>
            <p:nvPr/>
          </p:nvSpPr>
          <p:spPr>
            <a:xfrm>
              <a:off x="2916393" y="4219656"/>
              <a:ext cx="1368296" cy="28895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0" name="Прямоугольник 14">
              <a:extLst>
                <a:ext uri="{FF2B5EF4-FFF2-40B4-BE49-F238E27FC236}">
                  <a16:creationId xmlns:a16="http://schemas.microsoft.com/office/drawing/2014/main" id="{053D1D89-9080-48A8-0C40-80C8234ABD12}"/>
                </a:ext>
              </a:extLst>
            </p:cNvPr>
            <p:cNvSpPr/>
            <p:nvPr/>
          </p:nvSpPr>
          <p:spPr>
            <a:xfrm>
              <a:off x="2916393" y="4508611"/>
              <a:ext cx="1368296" cy="287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TextBox 34">
              <a:extLst>
                <a:ext uri="{FF2B5EF4-FFF2-40B4-BE49-F238E27FC236}">
                  <a16:creationId xmlns:a16="http://schemas.microsoft.com/office/drawing/2014/main" id="{95A9084F-F752-BC62-FEB8-6DF4656B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3808" y="3211914"/>
              <a:ext cx="1607148" cy="461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 sz="1200" dirty="0">
                  <a:latin typeface="Constantia" panose="02030602050306030303" pitchFamily="18" charset="0"/>
                </a:rPr>
                <a:t>Очередь сообщений</a:t>
              </a:r>
              <a:br>
                <a:rPr lang="ru-RU" altLang="ru-RU" sz="1200" dirty="0">
                  <a:latin typeface="Constantia" panose="02030602050306030303" pitchFamily="18" charset="0"/>
                </a:rPr>
              </a:br>
              <a:r>
                <a:rPr lang="ru-RU" altLang="ru-RU" sz="1200" dirty="0">
                  <a:latin typeface="Constantia" panose="02030602050306030303" pitchFamily="18" charset="0"/>
                </a:rPr>
                <a:t>потока 2</a:t>
              </a:r>
              <a:endParaRPr lang="en-US" altLang="ru-RU" sz="1200" dirty="0">
                <a:latin typeface="Constantia" panose="02030602050306030303" pitchFamily="18" charset="0"/>
              </a:endParaRPr>
            </a:p>
          </p:txBody>
        </p:sp>
        <p:sp>
          <p:nvSpPr>
            <p:cNvPr id="22" name="TextBox 35">
              <a:extLst>
                <a:ext uri="{FF2B5EF4-FFF2-40B4-BE49-F238E27FC236}">
                  <a16:creationId xmlns:a16="http://schemas.microsoft.com/office/drawing/2014/main" id="{B2A14901-D6CB-C6E8-8836-92099A2B2C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12850" y="2851874"/>
              <a:ext cx="1703191" cy="3693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>
                  <a:latin typeface="Constantia" panose="02030602050306030303" pitchFamily="18" charset="0"/>
                </a:rPr>
                <a:t>Приложение 2</a:t>
              </a:r>
            </a:p>
          </p:txBody>
        </p:sp>
        <p:sp>
          <p:nvSpPr>
            <p:cNvPr id="23" name="Прямоугольник 17">
              <a:extLst>
                <a:ext uri="{FF2B5EF4-FFF2-40B4-BE49-F238E27FC236}">
                  <a16:creationId xmlns:a16="http://schemas.microsoft.com/office/drawing/2014/main" id="{3A7C3B6E-B1DA-BEA1-3896-1797838969E2}"/>
                </a:ext>
              </a:extLst>
            </p:cNvPr>
            <p:cNvSpPr/>
            <p:nvPr/>
          </p:nvSpPr>
          <p:spPr>
            <a:xfrm>
              <a:off x="6936518" y="2829912"/>
              <a:ext cx="1944504" cy="230529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4" name="Прямоугольник 18">
              <a:extLst>
                <a:ext uri="{FF2B5EF4-FFF2-40B4-BE49-F238E27FC236}">
                  <a16:creationId xmlns:a16="http://schemas.microsoft.com/office/drawing/2014/main" id="{C77702E3-02EA-DE51-FD66-877BFF58C86C}"/>
                </a:ext>
              </a:extLst>
            </p:cNvPr>
            <p:cNvSpPr/>
            <p:nvPr/>
          </p:nvSpPr>
          <p:spPr>
            <a:xfrm>
              <a:off x="7173413" y="3650066"/>
              <a:ext cx="1368296" cy="28895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5" name="TextBox 38">
              <a:extLst>
                <a:ext uri="{FF2B5EF4-FFF2-40B4-BE49-F238E27FC236}">
                  <a16:creationId xmlns:a16="http://schemas.microsoft.com/office/drawing/2014/main" id="{08ACFD14-4ED2-A4AD-1115-5FFCF0AE60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8874" y="3211914"/>
              <a:ext cx="1607148" cy="461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 sz="1200">
                  <a:latin typeface="Constantia" panose="02030602050306030303" pitchFamily="18" charset="0"/>
                </a:rPr>
                <a:t>Очередь сообщений</a:t>
              </a:r>
              <a:br>
                <a:rPr lang="ru-RU" altLang="ru-RU" sz="1200">
                  <a:latin typeface="Constantia" panose="02030602050306030303" pitchFamily="18" charset="0"/>
                </a:rPr>
              </a:br>
              <a:r>
                <a:rPr lang="ru-RU" altLang="ru-RU" sz="1200">
                  <a:latin typeface="Constantia" panose="02030602050306030303" pitchFamily="18" charset="0"/>
                </a:rPr>
                <a:t>потока 1</a:t>
              </a:r>
              <a:endParaRPr lang="en-US" altLang="ru-RU" sz="1200">
                <a:latin typeface="Constantia" panose="02030602050306030303" pitchFamily="18" charset="0"/>
              </a:endParaRPr>
            </a:p>
          </p:txBody>
        </p:sp>
        <p:sp>
          <p:nvSpPr>
            <p:cNvPr id="26" name="Прямоугольник 20">
              <a:extLst>
                <a:ext uri="{FF2B5EF4-FFF2-40B4-BE49-F238E27FC236}">
                  <a16:creationId xmlns:a16="http://schemas.microsoft.com/office/drawing/2014/main" id="{10142536-A3B5-16C0-3306-9E78074AAFCA}"/>
                </a:ext>
              </a:extLst>
            </p:cNvPr>
            <p:cNvSpPr/>
            <p:nvPr/>
          </p:nvSpPr>
          <p:spPr>
            <a:xfrm>
              <a:off x="7173413" y="3939021"/>
              <a:ext cx="1368296" cy="287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7" name="Прямоугольник 21">
              <a:extLst>
                <a:ext uri="{FF2B5EF4-FFF2-40B4-BE49-F238E27FC236}">
                  <a16:creationId xmlns:a16="http://schemas.microsoft.com/office/drawing/2014/main" id="{9AAED08A-5DF0-C0A3-D9DD-F118B1D8987F}"/>
                </a:ext>
              </a:extLst>
            </p:cNvPr>
            <p:cNvSpPr/>
            <p:nvPr/>
          </p:nvSpPr>
          <p:spPr>
            <a:xfrm>
              <a:off x="7173413" y="4226388"/>
              <a:ext cx="1368296" cy="28895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8" name="Прямоугольник 22">
              <a:extLst>
                <a:ext uri="{FF2B5EF4-FFF2-40B4-BE49-F238E27FC236}">
                  <a16:creationId xmlns:a16="http://schemas.microsoft.com/office/drawing/2014/main" id="{EBC58279-EB42-BA11-22B9-C809EE5B12D7}"/>
                </a:ext>
              </a:extLst>
            </p:cNvPr>
            <p:cNvSpPr/>
            <p:nvPr/>
          </p:nvSpPr>
          <p:spPr>
            <a:xfrm>
              <a:off x="7173413" y="4515343"/>
              <a:ext cx="1368296" cy="287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9" name="TextBox 47">
              <a:extLst>
                <a:ext uri="{FF2B5EF4-FFF2-40B4-BE49-F238E27FC236}">
                  <a16:creationId xmlns:a16="http://schemas.microsoft.com/office/drawing/2014/main" id="{04CBA39E-E128-84BE-CE73-D04631C03B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3881" y="56475"/>
              <a:ext cx="4764383" cy="3385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ru-RU" altLang="ru-RU" sz="1600" b="1" dirty="0">
                  <a:latin typeface="Constantia" panose="02030602050306030303" pitchFamily="18" charset="0"/>
                </a:rPr>
                <a:t>Схема маршрутизации сообщений</a:t>
              </a:r>
              <a:r>
                <a:rPr lang="en-US" altLang="ru-RU" sz="1600" b="1" dirty="0">
                  <a:latin typeface="Constantia" panose="02030602050306030303" pitchFamily="18" charset="0"/>
                </a:rPr>
                <a:t> </a:t>
              </a:r>
              <a:r>
                <a:rPr lang="ru-RU" altLang="ru-RU" sz="1600" b="1" dirty="0">
                  <a:latin typeface="Constantia" panose="02030602050306030303" pitchFamily="18" charset="0"/>
                </a:rPr>
                <a:t>в </a:t>
              </a:r>
              <a:r>
                <a:rPr lang="en-US" altLang="ru-RU" sz="1600" b="1" dirty="0">
                  <a:latin typeface="Constantia" panose="02030602050306030303" pitchFamily="18" charset="0"/>
                </a:rPr>
                <a:t>Windows</a:t>
              </a:r>
            </a:p>
          </p:txBody>
        </p:sp>
        <p:cxnSp>
          <p:nvCxnSpPr>
            <p:cNvPr id="30" name="Соединительная линия уступом 24">
              <a:extLst>
                <a:ext uri="{FF2B5EF4-FFF2-40B4-BE49-F238E27FC236}">
                  <a16:creationId xmlns:a16="http://schemas.microsoft.com/office/drawing/2014/main" id="{E32F43BF-F7CE-E9EE-C2A0-AFD86EDE0E27}"/>
                </a:ext>
              </a:extLst>
            </p:cNvPr>
            <p:cNvCxnSpPr>
              <a:stCxn id="54" idx="1"/>
              <a:endCxn id="12" idx="1"/>
            </p:cNvCxnSpPr>
            <p:nvPr/>
          </p:nvCxnSpPr>
          <p:spPr>
            <a:xfrm rot="10800000" flipV="1">
              <a:off x="640810" y="1771752"/>
              <a:ext cx="3295777" cy="2029494"/>
            </a:xfrm>
            <a:prstGeom prst="bentConnector3">
              <a:avLst>
                <a:gd name="adj1" fmla="val 116074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Соединительная линия уступом 25">
              <a:extLst>
                <a:ext uri="{FF2B5EF4-FFF2-40B4-BE49-F238E27FC236}">
                  <a16:creationId xmlns:a16="http://schemas.microsoft.com/office/drawing/2014/main" id="{BA7F7488-A12C-8D70-BF7C-FC823FC89DC2}"/>
                </a:ext>
              </a:extLst>
            </p:cNvPr>
            <p:cNvCxnSpPr>
              <a:cxnSpLocks/>
              <a:stCxn id="51" idx="1"/>
              <a:endCxn id="14" idx="1"/>
            </p:cNvCxnSpPr>
            <p:nvPr/>
          </p:nvCxnSpPr>
          <p:spPr>
            <a:xfrm rot="10800000" flipV="1">
              <a:off x="640810" y="907658"/>
              <a:ext cx="3295777" cy="3181751"/>
            </a:xfrm>
            <a:prstGeom prst="bentConnector3">
              <a:avLst>
                <a:gd name="adj1" fmla="val 122601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hape 55">
              <a:extLst>
                <a:ext uri="{FF2B5EF4-FFF2-40B4-BE49-F238E27FC236}">
                  <a16:creationId xmlns:a16="http://schemas.microsoft.com/office/drawing/2014/main" id="{3E73585C-DDA9-55AE-5D95-16954176F99A}"/>
                </a:ext>
              </a:extLst>
            </p:cNvPr>
            <p:cNvCxnSpPr>
              <a:stCxn id="52" idx="1"/>
              <a:endCxn id="17" idx="3"/>
            </p:cNvCxnSpPr>
            <p:nvPr/>
          </p:nvCxnSpPr>
          <p:spPr>
            <a:xfrm rot="10800000" flipH="1" flipV="1">
              <a:off x="3937059" y="1195155"/>
              <a:ext cx="347630" cy="2592657"/>
            </a:xfrm>
            <a:prstGeom prst="bentConnector5">
              <a:avLst>
                <a:gd name="adj1" fmla="val -65807"/>
                <a:gd name="adj2" fmla="val 55689"/>
                <a:gd name="adj3" fmla="val 205433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Соединительная линия уступом 27">
              <a:extLst>
                <a:ext uri="{FF2B5EF4-FFF2-40B4-BE49-F238E27FC236}">
                  <a16:creationId xmlns:a16="http://schemas.microsoft.com/office/drawing/2014/main" id="{024CAEB0-0B55-FC38-8D4B-B961F055D4FB}"/>
                </a:ext>
              </a:extLst>
            </p:cNvPr>
            <p:cNvCxnSpPr>
              <a:cxnSpLocks/>
              <a:stCxn id="53" idx="3"/>
              <a:endCxn id="24" idx="1"/>
            </p:cNvCxnSpPr>
            <p:nvPr/>
          </p:nvCxnSpPr>
          <p:spPr>
            <a:xfrm>
              <a:off x="5304738" y="1483722"/>
              <a:ext cx="1868674" cy="2310822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Соединительная линия уступом 28">
              <a:extLst>
                <a:ext uri="{FF2B5EF4-FFF2-40B4-BE49-F238E27FC236}">
                  <a16:creationId xmlns:a16="http://schemas.microsoft.com/office/drawing/2014/main" id="{FD195728-FC08-61C9-6210-9A74C404C8DF}"/>
                </a:ext>
              </a:extLst>
            </p:cNvPr>
            <p:cNvCxnSpPr>
              <a:stCxn id="55" idx="3"/>
              <a:endCxn id="18" idx="3"/>
            </p:cNvCxnSpPr>
            <p:nvPr/>
          </p:nvCxnSpPr>
          <p:spPr>
            <a:xfrm flipH="1">
              <a:off x="4284690" y="2060432"/>
              <a:ext cx="1020666" cy="2016335"/>
            </a:xfrm>
            <a:prstGeom prst="bentConnector3">
              <a:avLst>
                <a:gd name="adj1" fmla="val -41659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Соединительная линия уступом 29">
              <a:extLst>
                <a:ext uri="{FF2B5EF4-FFF2-40B4-BE49-F238E27FC236}">
                  <a16:creationId xmlns:a16="http://schemas.microsoft.com/office/drawing/2014/main" id="{C570A438-BCD4-40DF-F5F7-55BF7ADD02F5}"/>
                </a:ext>
              </a:extLst>
            </p:cNvPr>
            <p:cNvCxnSpPr>
              <a:stCxn id="56" idx="3"/>
              <a:endCxn id="19" idx="3"/>
            </p:cNvCxnSpPr>
            <p:nvPr/>
          </p:nvCxnSpPr>
          <p:spPr>
            <a:xfrm flipH="1">
              <a:off x="4284690" y="2347800"/>
              <a:ext cx="1020666" cy="2016335"/>
            </a:xfrm>
            <a:prstGeom prst="bentConnector3">
              <a:avLst>
                <a:gd name="adj1" fmla="val -22395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Прямоугольник 30">
              <a:extLst>
                <a:ext uri="{FF2B5EF4-FFF2-40B4-BE49-F238E27FC236}">
                  <a16:creationId xmlns:a16="http://schemas.microsoft.com/office/drawing/2014/main" id="{FBB4785D-A4D2-0BEB-0103-99F10514A3B7}"/>
                </a:ext>
              </a:extLst>
            </p:cNvPr>
            <p:cNvSpPr/>
            <p:nvPr/>
          </p:nvSpPr>
          <p:spPr>
            <a:xfrm>
              <a:off x="-185634" y="5732194"/>
              <a:ext cx="1584176" cy="1080120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r>
                <a:rPr lang="ru-RU" dirty="0"/>
                <a:t>Окно 1</a:t>
              </a:r>
            </a:p>
          </p:txBody>
        </p:sp>
        <p:sp>
          <p:nvSpPr>
            <p:cNvPr id="37" name="Прямоугольник 31">
              <a:extLst>
                <a:ext uri="{FF2B5EF4-FFF2-40B4-BE49-F238E27FC236}">
                  <a16:creationId xmlns:a16="http://schemas.microsoft.com/office/drawing/2014/main" id="{FD15DFC1-C54E-557B-4F12-5BD6FC9962E6}"/>
                </a:ext>
              </a:extLst>
            </p:cNvPr>
            <p:cNvSpPr/>
            <p:nvPr/>
          </p:nvSpPr>
          <p:spPr>
            <a:xfrm>
              <a:off x="2771800" y="5732194"/>
              <a:ext cx="1584176" cy="1080120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r>
                <a:rPr lang="ru-RU" dirty="0"/>
                <a:t>Окно 2</a:t>
              </a:r>
            </a:p>
          </p:txBody>
        </p:sp>
        <p:sp>
          <p:nvSpPr>
            <p:cNvPr id="38" name="Прямоугольник 32">
              <a:extLst>
                <a:ext uri="{FF2B5EF4-FFF2-40B4-BE49-F238E27FC236}">
                  <a16:creationId xmlns:a16="http://schemas.microsoft.com/office/drawing/2014/main" id="{818DE625-18B1-89B4-E624-042C07EC90EE}"/>
                </a:ext>
              </a:extLst>
            </p:cNvPr>
            <p:cNvSpPr/>
            <p:nvPr/>
          </p:nvSpPr>
          <p:spPr>
            <a:xfrm>
              <a:off x="4860032" y="5732194"/>
              <a:ext cx="1584176" cy="1080120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r>
                <a:rPr lang="ru-RU" dirty="0"/>
                <a:t>Окно 3</a:t>
              </a:r>
            </a:p>
          </p:txBody>
        </p:sp>
        <p:sp>
          <p:nvSpPr>
            <p:cNvPr id="39" name="Прямоугольник 33">
              <a:extLst>
                <a:ext uri="{FF2B5EF4-FFF2-40B4-BE49-F238E27FC236}">
                  <a16:creationId xmlns:a16="http://schemas.microsoft.com/office/drawing/2014/main" id="{C953077F-431D-12D7-6185-4A83A6250E9C}"/>
                </a:ext>
              </a:extLst>
            </p:cNvPr>
            <p:cNvSpPr/>
            <p:nvPr/>
          </p:nvSpPr>
          <p:spPr>
            <a:xfrm>
              <a:off x="7571458" y="5711016"/>
              <a:ext cx="1584176" cy="1080120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r>
                <a:rPr lang="ru-RU" dirty="0"/>
                <a:t>Окно 4</a:t>
              </a:r>
            </a:p>
          </p:txBody>
        </p:sp>
        <p:cxnSp>
          <p:nvCxnSpPr>
            <p:cNvPr id="40" name="Соединительная линия уступом 81">
              <a:extLst>
                <a:ext uri="{FF2B5EF4-FFF2-40B4-BE49-F238E27FC236}">
                  <a16:creationId xmlns:a16="http://schemas.microsoft.com/office/drawing/2014/main" id="{7FE0B84E-C223-6B50-2762-833B3D194656}"/>
                </a:ext>
              </a:extLst>
            </p:cNvPr>
            <p:cNvCxnSpPr>
              <a:cxnSpLocks/>
              <a:stCxn id="12" idx="3"/>
              <a:endCxn id="36" idx="3"/>
            </p:cNvCxnSpPr>
            <p:nvPr/>
          </p:nvCxnSpPr>
          <p:spPr>
            <a:xfrm flipH="1">
              <a:off x="1398542" y="3801248"/>
              <a:ext cx="610564" cy="2471006"/>
            </a:xfrm>
            <a:prstGeom prst="bentConnector3">
              <a:avLst>
                <a:gd name="adj1" fmla="val -37437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Соединительная линия уступом 35">
              <a:extLst>
                <a:ext uri="{FF2B5EF4-FFF2-40B4-BE49-F238E27FC236}">
                  <a16:creationId xmlns:a16="http://schemas.microsoft.com/office/drawing/2014/main" id="{445F3EB9-1AFD-F94C-90BC-2A2509D13BE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H="1">
              <a:off x="783156" y="4089409"/>
              <a:ext cx="1225950" cy="1635043"/>
            </a:xfrm>
            <a:prstGeom prst="bentConnector4">
              <a:avLst>
                <a:gd name="adj1" fmla="val -10748"/>
                <a:gd name="adj2" fmla="val 54394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Соединительная линия уступом 81">
              <a:extLst>
                <a:ext uri="{FF2B5EF4-FFF2-40B4-BE49-F238E27FC236}">
                  <a16:creationId xmlns:a16="http://schemas.microsoft.com/office/drawing/2014/main" id="{70619AC0-E5D9-8EA0-0FB0-719210CECD6B}"/>
                </a:ext>
              </a:extLst>
            </p:cNvPr>
            <p:cNvCxnSpPr>
              <a:stCxn id="17" idx="1"/>
            </p:cNvCxnSpPr>
            <p:nvPr/>
          </p:nvCxnSpPr>
          <p:spPr>
            <a:xfrm rot="10800000" flipH="1" flipV="1">
              <a:off x="2916393" y="3787811"/>
              <a:ext cx="647639" cy="1944890"/>
            </a:xfrm>
            <a:prstGeom prst="bentConnector4">
              <a:avLst>
                <a:gd name="adj1" fmla="val -61849"/>
                <a:gd name="adj2" fmla="val 88599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Соединительная линия уступом 81">
              <a:extLst>
                <a:ext uri="{FF2B5EF4-FFF2-40B4-BE49-F238E27FC236}">
                  <a16:creationId xmlns:a16="http://schemas.microsoft.com/office/drawing/2014/main" id="{0B36A1FA-97BF-C2F7-20FF-BC2B41332CC2}"/>
                </a:ext>
              </a:extLst>
            </p:cNvPr>
            <p:cNvCxnSpPr>
              <a:cxnSpLocks/>
              <a:stCxn id="18" idx="1"/>
              <a:endCxn id="38" idx="0"/>
            </p:cNvCxnSpPr>
            <p:nvPr/>
          </p:nvCxnSpPr>
          <p:spPr>
            <a:xfrm rot="10800000" flipH="1" flipV="1">
              <a:off x="2916392" y="4075973"/>
              <a:ext cx="2735728" cy="1656220"/>
            </a:xfrm>
            <a:prstGeom prst="bentConnector4">
              <a:avLst>
                <a:gd name="adj1" fmla="val -8355"/>
                <a:gd name="adj2" fmla="val 54338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Соединительная линия уступом 81">
              <a:extLst>
                <a:ext uri="{FF2B5EF4-FFF2-40B4-BE49-F238E27FC236}">
                  <a16:creationId xmlns:a16="http://schemas.microsoft.com/office/drawing/2014/main" id="{B6323FF8-E6F7-2A73-8E65-29DA036AEC9A}"/>
                </a:ext>
              </a:extLst>
            </p:cNvPr>
            <p:cNvCxnSpPr>
              <a:cxnSpLocks/>
              <a:stCxn id="20" idx="0"/>
              <a:endCxn id="38" idx="1"/>
            </p:cNvCxnSpPr>
            <p:nvPr/>
          </p:nvCxnSpPr>
          <p:spPr>
            <a:xfrm rot="16200000" flipH="1">
              <a:off x="3348465" y="4760687"/>
              <a:ext cx="1763643" cy="1259490"/>
            </a:xfrm>
            <a:prstGeom prst="bentConnector4">
              <a:avLst>
                <a:gd name="adj1" fmla="val 43770"/>
                <a:gd name="adj2" fmla="val 77160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Соединительная линия уступом 153">
              <a:extLst>
                <a:ext uri="{FF2B5EF4-FFF2-40B4-BE49-F238E27FC236}">
                  <a16:creationId xmlns:a16="http://schemas.microsoft.com/office/drawing/2014/main" id="{DAEC4B0F-C44C-A3AC-5173-5AC44D9A39FF}"/>
                </a:ext>
              </a:extLst>
            </p:cNvPr>
            <p:cNvCxnSpPr>
              <a:cxnSpLocks/>
              <a:stCxn id="24" idx="3"/>
            </p:cNvCxnSpPr>
            <p:nvPr/>
          </p:nvCxnSpPr>
          <p:spPr>
            <a:xfrm flipH="1">
              <a:off x="8363546" y="3794544"/>
              <a:ext cx="178163" cy="1916980"/>
            </a:xfrm>
            <a:prstGeom prst="bentConnector4">
              <a:avLst>
                <a:gd name="adj1" fmla="val -297348"/>
                <a:gd name="adj2" fmla="val 81830"/>
              </a:avLst>
            </a:prstGeom>
            <a:ln w="28575">
              <a:solidFill>
                <a:schemeClr val="accent3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160">
              <a:extLst>
                <a:ext uri="{FF2B5EF4-FFF2-40B4-BE49-F238E27FC236}">
                  <a16:creationId xmlns:a16="http://schemas.microsoft.com/office/drawing/2014/main" id="{CD5F7C9A-9309-906F-10E3-4FADF7BD3E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03648" y="979666"/>
              <a:ext cx="2356385" cy="2770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/>
              <a:r>
                <a:rPr lang="ru-RU" altLang="ru-RU" sz="1200">
                  <a:latin typeface="Constantia" panose="02030602050306030303" pitchFamily="18" charset="0"/>
                </a:rPr>
                <a:t>Системная очередь сообщений</a:t>
              </a:r>
              <a:endParaRPr lang="en-US" altLang="ru-RU" sz="1200">
                <a:latin typeface="Constantia" panose="02030602050306030303" pitchFamily="18" charset="0"/>
              </a:endParaRPr>
            </a:p>
          </p:txBody>
        </p:sp>
        <p:pic>
          <p:nvPicPr>
            <p:cNvPr id="47" name="Picture 3">
              <a:extLst>
                <a:ext uri="{FF2B5EF4-FFF2-40B4-BE49-F238E27FC236}">
                  <a16:creationId xmlns:a16="http://schemas.microsoft.com/office/drawing/2014/main" id="{72F3B26B-BA4D-F288-F458-41C092C95E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29174" y="1463413"/>
              <a:ext cx="944471" cy="8046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8" name="Picture 5">
              <a:extLst>
                <a:ext uri="{FF2B5EF4-FFF2-40B4-BE49-F238E27FC236}">
                  <a16:creationId xmlns:a16="http://schemas.microsoft.com/office/drawing/2014/main" id="{240A226E-3B27-D574-6FF4-1E93CEA19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29174" y="464153"/>
              <a:ext cx="1357250" cy="8658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49" name="Прямая со стрелкой 43">
              <a:extLst>
                <a:ext uri="{FF2B5EF4-FFF2-40B4-BE49-F238E27FC236}">
                  <a16:creationId xmlns:a16="http://schemas.microsoft.com/office/drawing/2014/main" id="{AEC86497-3B1F-DC8B-1C6B-4E61C37B1780}"/>
                </a:ext>
              </a:extLst>
            </p:cNvPr>
            <p:cNvCxnSpPr>
              <a:cxnSpLocks/>
              <a:stCxn id="48" idx="1"/>
              <a:endCxn id="51" idx="3"/>
            </p:cNvCxnSpPr>
            <p:nvPr/>
          </p:nvCxnSpPr>
          <p:spPr>
            <a:xfrm flipH="1">
              <a:off x="5304739" y="897069"/>
              <a:ext cx="1424435" cy="10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Прямая со стрелкой 44">
              <a:extLst>
                <a:ext uri="{FF2B5EF4-FFF2-40B4-BE49-F238E27FC236}">
                  <a16:creationId xmlns:a16="http://schemas.microsoft.com/office/drawing/2014/main" id="{B96CAE72-4606-F617-F6E7-102CECBF2C18}"/>
                </a:ext>
              </a:extLst>
            </p:cNvPr>
            <p:cNvCxnSpPr>
              <a:cxnSpLocks/>
              <a:stCxn id="47" idx="1"/>
              <a:endCxn id="52" idx="3"/>
            </p:cNvCxnSpPr>
            <p:nvPr/>
          </p:nvCxnSpPr>
          <p:spPr>
            <a:xfrm flipH="1" flipV="1">
              <a:off x="5304739" y="1195690"/>
              <a:ext cx="1424435" cy="67006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5737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UI</a:t>
            </a:r>
            <a:endParaRPr lang="ru-RU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7071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SmartUI</a:t>
            </a:r>
            <a:r>
              <a:rPr lang="en-US" dirty="0"/>
              <a:t> (</a:t>
            </a:r>
            <a:r>
              <a:rPr lang="ru-RU" dirty="0"/>
              <a:t>автономный </a:t>
            </a:r>
            <a:r>
              <a:rPr lang="en-US" dirty="0"/>
              <a:t>View)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Класс пользовательского интерфейса содержит и бизнес логику, и состояние и отрисовку:</a:t>
            </a:r>
          </a:p>
          <a:p>
            <a:pPr lvl="1"/>
            <a:r>
              <a:rPr lang="ru-RU" dirty="0"/>
              <a:t>Получает события о действиях пользователя</a:t>
            </a:r>
          </a:p>
          <a:p>
            <a:pPr lvl="1"/>
            <a:r>
              <a:rPr lang="ru-RU" dirty="0"/>
              <a:t>Изменяет состояние приложения в зависимости от действий пользователя</a:t>
            </a:r>
          </a:p>
          <a:p>
            <a:pPr lvl="1"/>
            <a:r>
              <a:rPr lang="ru-RU" dirty="0"/>
              <a:t>Хранит состояние приложения</a:t>
            </a:r>
          </a:p>
          <a:p>
            <a:pPr lvl="1"/>
            <a:r>
              <a:rPr lang="ru-RU" dirty="0"/>
              <a:t>Отвечает за визуальное представление состояния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2080803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506" y="3212976"/>
            <a:ext cx="1612979" cy="144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19186" y="1484785"/>
            <a:ext cx="678107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import sys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 PyQt4 import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QtCore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QtGui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 Counter(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QtGui.QPushButton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__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__(self, *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**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kwargs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super(Counter, self).__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__(*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**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kwargs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self._value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self._update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mouseReleaseEvent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(self, event):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super(Counter, self).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mouseReleaseEvent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(event)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self._value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+= 1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self._update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_update(self):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self.setText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unicode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self._value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 =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QtGui.QApplication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counter = Counter()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counter.show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app.exec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_()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151784" y="6584740"/>
            <a:ext cx="658822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>
                <a:hlinkClick r:id="rId4"/>
              </a:rPr>
              <a:t>https://stefanoborini.gitbooks.io/modelviewcontroller/01_from_smartui_to_traditional_mvc/01_smart_ui.html</a:t>
            </a:r>
            <a:r>
              <a:rPr lang="ru-RU" sz="1100" dirty="0"/>
              <a:t> 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9687C4C-C944-48BD-AE5C-4CF86AFBB0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1931" y="4815835"/>
            <a:ext cx="2300089" cy="1728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631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A3EDD7-F486-4ECA-9667-BB5285C893CD}"/>
              </a:ext>
            </a:extLst>
          </p:cNvPr>
          <p:cNvSpPr/>
          <p:nvPr/>
        </p:nvSpPr>
        <p:spPr>
          <a:xfrm>
            <a:off x="0" y="0"/>
            <a:ext cx="12864752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View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ATL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CWindowImpl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View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DECLARE_WND_CLASS(NULL)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BEGIN_MSG_MAP(View)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MSG_WM_PAINT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OnPaint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MSG_WM_LBUTTONUP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OnLButtonUp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END_MSG_MAP()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OnPaint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WTL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CDCHandle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unused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WTL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CPaintDC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CRect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clientRect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ATLVERIFY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GetClientRect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clientRect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DrawText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to_wstring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c_str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clientRect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DT_CENTER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DT_VCENTER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OnLButtonUp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nFlags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CPoint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RedrawWindow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smart-ui">
            <a:hlinkClick r:id="" action="ppaction://media"/>
            <a:extLst>
              <a:ext uri="{FF2B5EF4-FFF2-40B4-BE49-F238E27FC236}">
                <a16:creationId xmlns:a16="http://schemas.microsoft.com/office/drawing/2014/main" id="{31C4EFC6-F09D-49C9-93DF-8AAEC3DE36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744072" y="548680"/>
            <a:ext cx="4451148" cy="259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038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6" dur="443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47" repeatCount="indefinite" fill="remove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и недостатки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Простота, часто используется новичками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Подходит лишь для простых приложений</a:t>
            </a:r>
          </a:p>
          <a:p>
            <a:pPr lvl="1"/>
            <a:r>
              <a:rPr lang="ru-RU" dirty="0"/>
              <a:t>Доступ и изменение состояния снаружи затруднён</a:t>
            </a:r>
          </a:p>
          <a:p>
            <a:pPr lvl="2"/>
            <a:r>
              <a:rPr lang="ru-RU" dirty="0"/>
              <a:t>Помимо модификации состояния, нужно помнить об обновлении визуального представления</a:t>
            </a:r>
          </a:p>
          <a:p>
            <a:pPr lvl="1"/>
            <a:r>
              <a:rPr lang="ru-RU" dirty="0"/>
              <a:t>Трудно иметь несколько визуальных представлений одного и того же состояния</a:t>
            </a:r>
          </a:p>
          <a:p>
            <a:pPr lvl="1"/>
            <a:r>
              <a:rPr lang="ru-RU" dirty="0"/>
              <a:t>Трудность автоматического тестирования</a:t>
            </a:r>
          </a:p>
          <a:p>
            <a:pPr lvl="1"/>
            <a:r>
              <a:rPr lang="ru-RU" dirty="0"/>
              <a:t>Нарушение принципа единственной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4062060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Document-View (Model Delegate)</a:t>
            </a:r>
            <a:endParaRPr lang="ru-RU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999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Document-View</a:t>
            </a:r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Document</a:t>
            </a:r>
            <a:endParaRPr lang="ru-RU" dirty="0"/>
          </a:p>
          <a:p>
            <a:pPr lvl="1"/>
            <a:r>
              <a:rPr lang="ru-RU" dirty="0"/>
              <a:t>Хранит состояние приложения и предоставляет интерфейс для его получения и модификации</a:t>
            </a:r>
          </a:p>
          <a:p>
            <a:pPr lvl="1"/>
            <a:r>
              <a:rPr lang="ru-RU" dirty="0"/>
              <a:t>Предоставляет механизм для информирования заинтересованных объектов об изменении состояния</a:t>
            </a:r>
          </a:p>
          <a:p>
            <a:r>
              <a:rPr lang="en-US" dirty="0"/>
              <a:t>View</a:t>
            </a:r>
          </a:p>
          <a:p>
            <a:pPr lvl="1"/>
            <a:r>
              <a:rPr lang="ru-RU" dirty="0"/>
              <a:t>Обрабатывает события пользователя</a:t>
            </a:r>
          </a:p>
          <a:p>
            <a:pPr lvl="1"/>
            <a:r>
              <a:rPr lang="ru-RU" dirty="0"/>
              <a:t>Отвечает за визуальное представление состояния</a:t>
            </a:r>
          </a:p>
          <a:p>
            <a:pPr lvl="1"/>
            <a:r>
              <a:rPr lang="ru-RU" dirty="0"/>
              <a:t>Выполняет операции над документом</a:t>
            </a:r>
          </a:p>
          <a:p>
            <a:pPr lvl="1"/>
            <a:r>
              <a:rPr lang="ru-RU" dirty="0"/>
              <a:t>Обновляет визуальное представление при изменении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125242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</a:t>
            </a:r>
            <a:r>
              <a:rPr lang="en-US" dirty="0"/>
              <a:t>Document-View</a:t>
            </a:r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Состояние отделяется от визуального представления</a:t>
            </a:r>
          </a:p>
          <a:p>
            <a:pPr lvl="1"/>
            <a:r>
              <a:rPr lang="ru-RU" dirty="0"/>
              <a:t>Можно модифицировать их независимо друг от друга</a:t>
            </a:r>
          </a:p>
          <a:p>
            <a:r>
              <a:rPr lang="ru-RU" dirty="0"/>
              <a:t>Появляется возможность тестирования </a:t>
            </a:r>
            <a:r>
              <a:rPr lang="en-US" dirty="0"/>
              <a:t>Document</a:t>
            </a:r>
            <a:endParaRPr lang="ru-RU" dirty="0"/>
          </a:p>
          <a:p>
            <a:r>
              <a:rPr lang="ru-RU" dirty="0"/>
              <a:t>Можно иметь несколько представлений одного документа</a:t>
            </a:r>
          </a:p>
          <a:p>
            <a:r>
              <a:rPr lang="ru-RU" dirty="0"/>
              <a:t>Стоимость – более сложное решение</a:t>
            </a:r>
          </a:p>
        </p:txBody>
      </p:sp>
    </p:spTree>
    <p:extLst>
      <p:ext uri="{BB962C8B-B14F-4D97-AF65-F5344CB8AC3E}">
        <p14:creationId xmlns:p14="http://schemas.microsoft.com/office/powerpoint/2010/main" val="441014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D2206-9566-4690-8787-DFF54D5E8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паттерна </a:t>
            </a:r>
            <a:r>
              <a:rPr lang="en-US" dirty="0"/>
              <a:t>Document-View</a:t>
            </a:r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09B5152-4A22-4ABF-989D-BE67F38CF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207568" y="1556792"/>
            <a:ext cx="7488830" cy="503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83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983519-88B5-4A54-9F02-A652F3061A12}"/>
              </a:ext>
            </a:extLst>
          </p:cNvPr>
          <p:cNvSpPr/>
          <p:nvPr/>
        </p:nvSpPr>
        <p:spPr>
          <a:xfrm>
            <a:off x="0" y="44624"/>
            <a:ext cx="12192000" cy="66325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OnDocumentChanged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~IDocumentListener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Почему здесь деструктор защищённый и невиртуальный</a:t>
            </a:r>
            <a:r>
              <a:rPr lang="en-US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?</a:t>
            </a:r>
            <a:endParaRPr lang="de-DE" sz="17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Document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Управление подпиской на уведомления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m_listeners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);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RemoveListener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m_listeners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erase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); 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7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 };</a:t>
            </a:r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Получение состояния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Increment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Бизнес-логика приложения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m_listeners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OnDocumentChanged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unordered_set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*&gt;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m_listeners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45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377B15-E683-4F18-B1CB-7FFE6ED2D236}"/>
              </a:ext>
            </a:extLst>
          </p:cNvPr>
          <p:cNvSpPr/>
          <p:nvPr/>
        </p:nvSpPr>
        <p:spPr>
          <a:xfrm>
            <a:off x="0" y="0"/>
            <a:ext cx="12192000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 View</a:t>
            </a:r>
          </a:p>
          <a:p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: </a:t>
            </a:r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 ATL::</a:t>
            </a:r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CWindowImpl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&lt;View&gt;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,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DECLARE_WND_CLASS(NULL)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View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Document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: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 }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BEGIN_MSG_MAP(View)</a:t>
            </a:r>
          </a:p>
          <a:p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    MSG_WM_PAINT(</a:t>
            </a:r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OnPaint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    MSG_WM_LBUTTONUP(</a:t>
            </a:r>
            <a:r>
              <a:rPr lang="de-DE" sz="1400" dirty="0" err="1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OnLButtonUp</a:t>
            </a:r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MSG_WM_CREATE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OnCreate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MSG_WM_DESTROY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OnDestroy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400" dirty="0">
                <a:solidFill>
                  <a:schemeClr val="bg2">
                    <a:lumMod val="90000"/>
                  </a:schemeClr>
                </a:solidFill>
                <a:latin typeface="Consolas" panose="020B0609020204030204" pitchFamily="49" charset="0"/>
              </a:rPr>
              <a:t>    END_MSG_MAP()</a:t>
            </a:r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OnPaint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WTL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CDCHandle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unused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…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1080"/>
                </a:solidFill>
                <a:latin typeface="Consolas" panose="020B0609020204030204" pitchFamily="49" charset="0"/>
              </a:rPr>
              <a:t>       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dc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DrawText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to_wstring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b="1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400" b="1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c_str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(),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clientRect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DT_CENTER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|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DT_VCENTER);</a:t>
            </a:r>
          </a:p>
          <a:p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OnCreate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LPCREATESTRUCT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lpCreateStruct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Подписываемся на уведомления о состоянии документа в момент создания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View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OnDestroy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RemoveListener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 }</a:t>
            </a:r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Если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View 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разрушен, он не должен получать уведомления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OnLButtonUp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UINT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/*nFlags*/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CPoint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/*point*/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Increment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(); }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OnDocumentChanged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override 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RedrawWindow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(); } </a:t>
            </a: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Обрабатываем изменение состояния документа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Document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3B3B3B"/>
                </a:solidFill>
                <a:latin typeface="Consolas" panose="020B0609020204030204" pitchFamily="49" charset="0"/>
              </a:rPr>
              <a:t>m_document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60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D79783-0B1F-46EE-BA1C-B6E9D8F4CBE7}"/>
              </a:ext>
            </a:extLst>
          </p:cNvPr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MainFrame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: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,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IDocumentListener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LRESULT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OnCreate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UINT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uMsg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WPARAM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wParam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LPARAM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lParam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bHandled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…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UpdateTitle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LRESULT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OnDestroy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UINT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uMsg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WPARAM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wParam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LPARAM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lParam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bHandled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RemoveListener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…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OnDocumentChanged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UpdateTitle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 }</a:t>
            </a:r>
          </a:p>
          <a:p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UpdateTitle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SetWindowText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((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L"Click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count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to_wstring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m_document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())).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c_str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Document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m_document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View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m_view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m_document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82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-view">
            <a:hlinkClick r:id="" action="ppaction://media"/>
            <a:extLst>
              <a:ext uri="{FF2B5EF4-FFF2-40B4-BE49-F238E27FC236}">
                <a16:creationId xmlns:a16="http://schemas.microsoft.com/office/drawing/2014/main" id="{04D4B9B4-2E56-4BD1-9141-76D8D9F0AB8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63419" y="1124745"/>
            <a:ext cx="6265162" cy="46085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05651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8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Особенности реализации в языках со статической типизацией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оповещения об изменении модели обычно используется одна из вариаций паттерна «Наблюдатель»</a:t>
            </a:r>
          </a:p>
          <a:p>
            <a:pPr lvl="1"/>
            <a:r>
              <a:rPr lang="ru-RU" dirty="0"/>
              <a:t>Вводится интерфейс </a:t>
            </a:r>
            <a:r>
              <a:rPr lang="en-US" dirty="0" err="1"/>
              <a:t>IDocumentListener</a:t>
            </a:r>
            <a:r>
              <a:rPr lang="ru-RU" dirty="0"/>
              <a:t>, который должны реализовать классы представлений</a:t>
            </a:r>
            <a:endParaRPr lang="en-US" dirty="0"/>
          </a:p>
          <a:p>
            <a:pPr lvl="1"/>
            <a:r>
              <a:rPr lang="ru-RU" dirty="0"/>
              <a:t>Используется механизм сигналов/слотов</a:t>
            </a:r>
          </a:p>
        </p:txBody>
      </p:sp>
    </p:spTree>
    <p:extLst>
      <p:ext uri="{BB962C8B-B14F-4D97-AF65-F5344CB8AC3E}">
        <p14:creationId xmlns:p14="http://schemas.microsoft.com/office/powerpoint/2010/main" val="2659217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86899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Дальнейшее разделение представления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Модель (Model)</a:t>
            </a:r>
            <a:endParaRPr lang="ru-RU" dirty="0"/>
          </a:p>
          <a:p>
            <a:pPr lvl="1"/>
            <a:r>
              <a:rPr lang="ru-RU" dirty="0"/>
              <a:t>Аналог документа в Document–View</a:t>
            </a:r>
          </a:p>
          <a:p>
            <a:pPr lvl="1"/>
            <a:r>
              <a:rPr lang="ru-RU" dirty="0"/>
              <a:t>Хранит состояние</a:t>
            </a:r>
          </a:p>
          <a:p>
            <a:pPr lvl="1"/>
            <a:r>
              <a:rPr lang="ru-RU" dirty="0"/>
              <a:t>Уведомляет об изменениях</a:t>
            </a:r>
          </a:p>
          <a:p>
            <a:r>
              <a:rPr lang="ru-RU" b="1" dirty="0"/>
              <a:t>Представление (View)</a:t>
            </a:r>
            <a:endParaRPr lang="ru-RU" dirty="0"/>
          </a:p>
          <a:p>
            <a:pPr lvl="1"/>
            <a:r>
              <a:rPr lang="ru-RU" dirty="0"/>
              <a:t>Отвечает за визуальное отображение модели</a:t>
            </a:r>
          </a:p>
          <a:p>
            <a:pPr lvl="1"/>
            <a:r>
              <a:rPr lang="ru-RU" dirty="0"/>
              <a:t>Передаёт пользовательские действия контроллеру</a:t>
            </a:r>
          </a:p>
          <a:p>
            <a:r>
              <a:rPr lang="ru-RU" b="1" dirty="0"/>
              <a:t>Контроллер (</a:t>
            </a:r>
            <a:r>
              <a:rPr lang="ru-RU" b="1" dirty="0" err="1"/>
              <a:t>Controller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dirty="0"/>
              <a:t>Часто создаётся внешним кодом (приложением, фреймворком или DI-контейнером), иногда может создаваться представлением</a:t>
            </a:r>
          </a:p>
          <a:p>
            <a:pPr lvl="1"/>
            <a:r>
              <a:rPr lang="ru-RU" dirty="0"/>
              <a:t>Обрабатывает жесты пользователя</a:t>
            </a:r>
          </a:p>
          <a:p>
            <a:pPr lvl="1"/>
            <a:r>
              <a:rPr lang="ru-RU" dirty="0"/>
              <a:t>Вызывает операции на модели</a:t>
            </a:r>
          </a:p>
          <a:p>
            <a:pPr lvl="1"/>
            <a:r>
              <a:rPr lang="ru-RU" dirty="0"/>
              <a:t>Может обновлять View напрямую (в классическом MVC)</a:t>
            </a:r>
          </a:p>
        </p:txBody>
      </p:sp>
    </p:spTree>
    <p:extLst>
      <p:ext uri="{BB962C8B-B14F-4D97-AF65-F5344CB8AC3E}">
        <p14:creationId xmlns:p14="http://schemas.microsoft.com/office/powerpoint/2010/main" val="4182514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паттерна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5613" y="1916832"/>
            <a:ext cx="5217977" cy="473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883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838200" y="1690689"/>
            <a:ext cx="907422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View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QtGui.QPushButton</a:t>
            </a:r>
            <a:r>
              <a:rPr lang="ru-RU" dirty="0">
                <a:latin typeface="Consolas" panose="020B0609020204030204" pitchFamily="49" charset="0"/>
              </a:rPr>
              <a:t>):</a:t>
            </a: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def</a:t>
            </a:r>
            <a:r>
              <a:rPr lang="ru-RU" dirty="0">
                <a:latin typeface="Consolas" panose="020B0609020204030204" pitchFamily="49" charset="0"/>
              </a:rPr>
              <a:t> __</a:t>
            </a:r>
            <a:r>
              <a:rPr lang="ru-RU" dirty="0" err="1">
                <a:latin typeface="Consolas" panose="020B0609020204030204" pitchFamily="49" charset="0"/>
              </a:rPr>
              <a:t>init</a:t>
            </a:r>
            <a:r>
              <a:rPr lang="ru-RU" dirty="0">
                <a:latin typeface="Consolas" panose="020B0609020204030204" pitchFamily="49" charset="0"/>
              </a:rPr>
              <a:t>__(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):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super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View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).__</a:t>
            </a:r>
            <a:r>
              <a:rPr lang="ru-RU" dirty="0" err="1">
                <a:latin typeface="Consolas" panose="020B0609020204030204" pitchFamily="49" charset="0"/>
              </a:rPr>
              <a:t>init</a:t>
            </a:r>
            <a:r>
              <a:rPr lang="ru-RU" dirty="0">
                <a:latin typeface="Consolas" panose="020B0609020204030204" pitchFamily="49" charset="0"/>
              </a:rPr>
              <a:t>__()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 = 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controller</a:t>
            </a:r>
            <a:r>
              <a:rPr lang="ru-RU" dirty="0">
                <a:latin typeface="Consolas" panose="020B0609020204030204" pitchFamily="49" charset="0"/>
              </a:rPr>
              <a:t> = </a:t>
            </a:r>
            <a:r>
              <a:rPr lang="ru-RU" dirty="0" err="1">
                <a:latin typeface="Consolas" panose="020B0609020204030204" pitchFamily="49" charset="0"/>
              </a:rPr>
              <a:t>Controller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model.register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def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mouseReleaseEvent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event</a:t>
            </a:r>
            <a:r>
              <a:rPr lang="ru-RU" dirty="0">
                <a:latin typeface="Consolas" panose="020B0609020204030204" pitchFamily="49" charset="0"/>
              </a:rPr>
              <a:t>):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super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View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).</a:t>
            </a:r>
            <a:r>
              <a:rPr lang="ru-RU" dirty="0" err="1">
                <a:latin typeface="Consolas" panose="020B0609020204030204" pitchFamily="49" charset="0"/>
              </a:rPr>
              <a:t>mouseReleaseEvent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event</a:t>
            </a:r>
            <a:r>
              <a:rPr lang="ru-RU" dirty="0">
                <a:latin typeface="Consolas" panose="020B0609020204030204" pitchFamily="49" charset="0"/>
              </a:rPr>
              <a:t>)  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controller.addOne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def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notify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):</a:t>
            </a:r>
          </a:p>
          <a:p>
            <a:r>
              <a:rPr lang="ru-RU" dirty="0">
                <a:latin typeface="Consolas" panose="020B0609020204030204" pitchFamily="49" charset="0"/>
              </a:rPr>
              <a:t>        </a:t>
            </a:r>
            <a:r>
              <a:rPr lang="ru-RU" dirty="0" err="1">
                <a:latin typeface="Consolas" panose="020B0609020204030204" pitchFamily="49" charset="0"/>
              </a:rPr>
              <a:t>self.setText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unicode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self</a:t>
            </a:r>
            <a:r>
              <a:rPr lang="ru-RU" dirty="0">
                <a:latin typeface="Consolas" panose="020B0609020204030204" pitchFamily="49" charset="0"/>
              </a:rPr>
              <a:t>._</a:t>
            </a:r>
            <a:r>
              <a:rPr lang="ru-RU" dirty="0" err="1">
                <a:latin typeface="Consolas" panose="020B0609020204030204" pitchFamily="49" charset="0"/>
              </a:rPr>
              <a:t>model.value</a:t>
            </a:r>
            <a:r>
              <a:rPr lang="ru-RU" dirty="0">
                <a:latin typeface="Consolas" panose="020B0609020204030204" pitchFamily="49" charset="0"/>
              </a:rPr>
              <a:t>()))</a:t>
            </a:r>
          </a:p>
        </p:txBody>
      </p:sp>
    </p:spTree>
    <p:extLst>
      <p:ext uri="{BB962C8B-B14F-4D97-AF65-F5344CB8AC3E}">
        <p14:creationId xmlns:p14="http://schemas.microsoft.com/office/powerpoint/2010/main" val="118457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  <a:endParaRPr lang="ru-RU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838200" y="1916833"/>
            <a:ext cx="7995154" cy="20214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581025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class Controller(object):</a:t>
            </a:r>
            <a:endParaRPr lang="ru-RU" altLang="ru-RU" dirty="0">
              <a:latin typeface="Consolas" panose="020B06090202040302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   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def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__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init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__(self, model, view):</a:t>
            </a:r>
            <a:endParaRPr lang="ru-RU" altLang="ru-RU" dirty="0">
              <a:latin typeface="Consolas" panose="020B06090202040302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       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self._model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= model</a:t>
            </a:r>
            <a:endParaRPr lang="ru-RU" altLang="ru-RU" dirty="0">
              <a:latin typeface="Consolas" panose="020B06090202040302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       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self._view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= view</a:t>
            </a:r>
          </a:p>
          <a:p>
            <a:endParaRPr lang="en-US" altLang="ru-RU" dirty="0">
              <a:latin typeface="Consolas" panose="020B06090202040302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   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def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addOne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(self):</a:t>
            </a:r>
          </a:p>
          <a:p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       self._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model.setValue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(self._</a:t>
            </a:r>
            <a:r>
              <a:rPr lang="en-US" altLang="ru-RU" dirty="0" err="1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model.value</a:t>
            </a:r>
            <a:r>
              <a:rPr lang="en-US" altLang="ru-RU" dirty="0"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()+1)</a:t>
            </a:r>
            <a:r>
              <a:rPr lang="ru-RU" altLang="ru-RU" dirty="0">
                <a:latin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190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Взаимодействие компонентов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1690688"/>
            <a:ext cx="6192688" cy="503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857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</a:t>
            </a:r>
            <a:endParaRPr lang="ru-RU" dirty="0"/>
          </a:p>
        </p:txBody>
      </p:sp>
      <p:sp>
        <p:nvSpPr>
          <p:cNvPr id="3" name="Rectangle 2"/>
          <p:cNvSpPr/>
          <p:nvPr/>
        </p:nvSpPr>
        <p:spPr>
          <a:xfrm>
            <a:off x="838200" y="2060849"/>
            <a:ext cx="864217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app</a:t>
            </a:r>
            <a:r>
              <a:rPr lang="ru-RU" dirty="0">
                <a:latin typeface="Consolas" panose="020B0609020204030204" pitchFamily="49" charset="0"/>
              </a:rPr>
              <a:t> = </a:t>
            </a:r>
            <a:r>
              <a:rPr lang="ru-RU" dirty="0" err="1">
                <a:latin typeface="Consolas" panose="020B0609020204030204" pitchFamily="49" charset="0"/>
              </a:rPr>
              <a:t>QtGui.QApplication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sys.argv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 = 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 err="1">
                <a:latin typeface="Consolas" panose="020B0609020204030204" pitchFamily="49" charset="0"/>
              </a:rPr>
              <a:t>view</a:t>
            </a:r>
            <a:r>
              <a:rPr lang="ru-RU" dirty="0">
                <a:latin typeface="Consolas" panose="020B0609020204030204" pitchFamily="49" charset="0"/>
              </a:rPr>
              <a:t> = </a:t>
            </a:r>
            <a:r>
              <a:rPr lang="ru-RU" dirty="0" err="1">
                <a:latin typeface="Consolas" panose="020B0609020204030204" pitchFamily="49" charset="0"/>
              </a:rPr>
              <a:t>View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model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 err="1">
                <a:latin typeface="Consolas" panose="020B0609020204030204" pitchFamily="49" charset="0"/>
              </a:rPr>
              <a:t>view.show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app.exec</a:t>
            </a:r>
            <a:r>
              <a:rPr lang="ru-RU" dirty="0">
                <a:latin typeface="Consolas" panose="020B0609020204030204" pitchFamily="49" charset="0"/>
              </a:rPr>
              <a:t>_()</a:t>
            </a:r>
          </a:p>
        </p:txBody>
      </p:sp>
    </p:spTree>
    <p:extLst>
      <p:ext uri="{BB962C8B-B14F-4D97-AF65-F5344CB8AC3E}">
        <p14:creationId xmlns:p14="http://schemas.microsoft.com/office/powerpoint/2010/main" val="375763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приложения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905" y="1700808"/>
            <a:ext cx="5760685" cy="515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4359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Разделение ответственности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Модель</a:t>
            </a:r>
            <a:r>
              <a:rPr lang="ru-RU" dirty="0"/>
              <a:t> отвечает за хранение состояния приложения и логику предметной области</a:t>
            </a:r>
          </a:p>
          <a:p>
            <a:r>
              <a:rPr lang="ru-RU" b="1" dirty="0"/>
              <a:t>Представление</a:t>
            </a:r>
            <a:r>
              <a:rPr lang="ru-RU" dirty="0"/>
              <a:t> отображает модель пользователю</a:t>
            </a:r>
          </a:p>
          <a:p>
            <a:r>
              <a:rPr lang="ru-RU" b="1" dirty="0"/>
              <a:t>Контроллер</a:t>
            </a:r>
            <a:r>
              <a:rPr lang="ru-RU" dirty="0"/>
              <a:t> связывает действия пользователя над </a:t>
            </a:r>
            <a:r>
              <a:rPr lang="en-US" dirty="0"/>
              <a:t>UI</a:t>
            </a:r>
            <a:r>
              <a:rPr lang="ru-RU" dirty="0"/>
              <a:t> с операциями над моделью (логика приложения)</a:t>
            </a:r>
          </a:p>
        </p:txBody>
      </p:sp>
    </p:spTree>
    <p:extLst>
      <p:ext uri="{BB962C8B-B14F-4D97-AF65-F5344CB8AC3E}">
        <p14:creationId xmlns:p14="http://schemas.microsoft.com/office/powerpoint/2010/main" val="3005020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</a:t>
            </a:r>
            <a:r>
              <a:rPr lang="en-US" dirty="0"/>
              <a:t>MVC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Разделение ответственности даёт возможность гибкого изменения реализации</a:t>
            </a:r>
          </a:p>
          <a:p>
            <a:r>
              <a:rPr lang="ru-RU" dirty="0"/>
              <a:t>Ограничение свободы взаимодействия между</a:t>
            </a:r>
            <a:r>
              <a:rPr lang="en-US" dirty="0"/>
              <a:t> Model,</a:t>
            </a:r>
            <a:r>
              <a:rPr lang="ru-RU" dirty="0"/>
              <a:t> </a:t>
            </a:r>
            <a:r>
              <a:rPr lang="en-US" dirty="0"/>
              <a:t>View, Controller</a:t>
            </a:r>
            <a:r>
              <a:rPr lang="ru-RU" dirty="0"/>
              <a:t> уменьшает сложности и побочные эффекты</a:t>
            </a:r>
          </a:p>
          <a:p>
            <a:r>
              <a:rPr lang="ru-RU" dirty="0"/>
              <a:t>Одни и те же данные могут отображаться и редактироваться разными способами</a:t>
            </a:r>
          </a:p>
          <a:p>
            <a:r>
              <a:rPr lang="ru-RU" dirty="0"/>
              <a:t>Облегчается независимое тестирование компонентов за счёт замены зависимостей </a:t>
            </a:r>
            <a:r>
              <a:rPr lang="en-US" dirty="0"/>
              <a:t>mock-</a:t>
            </a:r>
            <a:r>
              <a:rPr lang="ru-RU" dirty="0" err="1"/>
              <a:t>ами</a:t>
            </a:r>
            <a:endParaRPr lang="ru-RU" dirty="0"/>
          </a:p>
          <a:p>
            <a:r>
              <a:rPr lang="ru-RU" dirty="0"/>
              <a:t>Поддержка со стороны </a:t>
            </a:r>
            <a:r>
              <a:rPr lang="en-US" dirty="0"/>
              <a:t>UI Framework-</a:t>
            </a:r>
            <a:r>
              <a:rPr lang="ru-RU" dirty="0" err="1"/>
              <a:t>ов</a:t>
            </a:r>
            <a:endParaRPr lang="ru-RU" dirty="0"/>
          </a:p>
          <a:p>
            <a:r>
              <a:rPr lang="ru-RU" dirty="0"/>
              <a:t>Сложные приложения могут быть составлены из нескольких </a:t>
            </a:r>
            <a:r>
              <a:rPr lang="en-US" dirty="0"/>
              <a:t>MVC-</a:t>
            </a:r>
            <a:r>
              <a:rPr lang="ru-RU" dirty="0"/>
              <a:t>триад, слабо связанных друг с другом</a:t>
            </a:r>
          </a:p>
        </p:txBody>
      </p:sp>
    </p:spTree>
    <p:extLst>
      <p:ext uri="{BB962C8B-B14F-4D97-AF65-F5344CB8AC3E}">
        <p14:creationId xmlns:p14="http://schemas.microsoft.com/office/powerpoint/2010/main" val="1285594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8DC696-F513-17B2-0F5D-CD3C8A929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58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Сервисы, предоставляемые моделью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Получение текущего состояния</a:t>
            </a:r>
          </a:p>
          <a:p>
            <a:r>
              <a:rPr lang="ru-RU" dirty="0"/>
              <a:t>Изменение текущего состояния</a:t>
            </a:r>
          </a:p>
          <a:p>
            <a:pPr lvl="1"/>
            <a:r>
              <a:rPr lang="ru-RU" dirty="0"/>
              <a:t>Интерфейсы модели предоставляют методы для модификации состояния</a:t>
            </a:r>
          </a:p>
          <a:p>
            <a:pPr lvl="1"/>
            <a:r>
              <a:rPr lang="ru-RU" dirty="0"/>
              <a:t>Модель выполняет необходимые проверки и действия для обеспечения целостности своего состояния</a:t>
            </a:r>
          </a:p>
          <a:p>
            <a:r>
              <a:rPr lang="ru-RU" dirty="0"/>
              <a:t>Уведомление об изменении</a:t>
            </a:r>
          </a:p>
          <a:p>
            <a:pPr lvl="1"/>
            <a:r>
              <a:rPr lang="ru-RU" dirty="0"/>
              <a:t>При изменении состояния, заинтересованные объекты получают уведомление и синхронизируют своё состояние</a:t>
            </a:r>
          </a:p>
        </p:txBody>
      </p:sp>
    </p:spTree>
    <p:extLst>
      <p:ext uri="{BB962C8B-B14F-4D97-AF65-F5344CB8AC3E}">
        <p14:creationId xmlns:p14="http://schemas.microsoft.com/office/powerpoint/2010/main" val="385121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Независимость модели от представления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Объекты модели обеспечивают функционирование </a:t>
            </a:r>
            <a:r>
              <a:rPr lang="ru-RU" b="1" dirty="0"/>
              <a:t>ядра</a:t>
            </a:r>
            <a:r>
              <a:rPr lang="ru-RU" dirty="0"/>
              <a:t> приложения</a:t>
            </a:r>
          </a:p>
          <a:p>
            <a:pPr lvl="1"/>
            <a:r>
              <a:rPr lang="ru-RU" dirty="0"/>
              <a:t>Они могут зависеть только от других объектов модели, либо компонентов, не связанных с представлением</a:t>
            </a:r>
            <a:endParaRPr lang="en-US" dirty="0"/>
          </a:p>
          <a:p>
            <a:r>
              <a:rPr lang="ru-RU" dirty="0"/>
              <a:t>Объекты модели должны быть полностью независимы от </a:t>
            </a:r>
            <a:r>
              <a:rPr lang="en-US" dirty="0"/>
              <a:t>UI</a:t>
            </a:r>
          </a:p>
          <a:p>
            <a:pPr lvl="1"/>
            <a:r>
              <a:rPr lang="ru-RU" dirty="0"/>
              <a:t>Допускается слабая связь через интерфейсы уведомлений</a:t>
            </a:r>
          </a:p>
        </p:txBody>
      </p:sp>
    </p:spTree>
    <p:extLst>
      <p:ext uri="{BB962C8B-B14F-4D97-AF65-F5344CB8AC3E}">
        <p14:creationId xmlns:p14="http://schemas.microsoft.com/office/powerpoint/2010/main" val="3701195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принято изменять состояние модели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Модель предоставляет методы для изменения своего состояния</a:t>
            </a:r>
          </a:p>
          <a:p>
            <a:pPr lvl="1"/>
            <a:r>
              <a:rPr lang="ru-RU" dirty="0"/>
              <a:t>Так изменения не останутся незамеченными</a:t>
            </a:r>
          </a:p>
          <a:p>
            <a:r>
              <a:rPr lang="ru-RU" dirty="0"/>
              <a:t>Обычно состояние модели модифицируют Контроллеры</a:t>
            </a:r>
          </a:p>
          <a:p>
            <a:pPr lvl="1"/>
            <a:r>
              <a:rPr lang="ru-RU" dirty="0"/>
              <a:t>Допустимо изменение со стороны иных подсистем: слой работы сетью, другие сущности модели</a:t>
            </a:r>
          </a:p>
          <a:p>
            <a:r>
              <a:rPr lang="ru-RU" dirty="0"/>
              <a:t>Представлению не разрешено модифицировать модель</a:t>
            </a:r>
          </a:p>
        </p:txBody>
      </p:sp>
    </p:spTree>
    <p:extLst>
      <p:ext uri="{BB962C8B-B14F-4D97-AF65-F5344CB8AC3E}">
        <p14:creationId xmlns:p14="http://schemas.microsoft.com/office/powerpoint/2010/main" val="1223782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Обеспечение целостности данных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Модель должна обеспечивать целостность данных</a:t>
            </a:r>
          </a:p>
          <a:p>
            <a:r>
              <a:rPr lang="ru-RU" dirty="0"/>
              <a:t>Целостность не всегда должна подразумевать </a:t>
            </a:r>
            <a:r>
              <a:rPr lang="ru-RU" dirty="0" err="1"/>
              <a:t>валидность</a:t>
            </a:r>
            <a:r>
              <a:rPr lang="ru-RU" dirty="0"/>
              <a:t> данных</a:t>
            </a:r>
            <a:endParaRPr lang="en-US" dirty="0"/>
          </a:p>
          <a:p>
            <a:pPr lvl="1"/>
            <a:r>
              <a:rPr lang="ru-RU" dirty="0"/>
              <a:t>Модель может содержат код для определения </a:t>
            </a:r>
            <a:r>
              <a:rPr lang="ru-RU" dirty="0" err="1"/>
              <a:t>валидности</a:t>
            </a:r>
            <a:r>
              <a:rPr lang="ru-RU" dirty="0"/>
              <a:t> данных</a:t>
            </a:r>
          </a:p>
          <a:p>
            <a:pPr lvl="1"/>
            <a:r>
              <a:rPr lang="ru-RU" dirty="0"/>
              <a:t>Модель может проходить через серию </a:t>
            </a:r>
            <a:r>
              <a:rPr lang="ru-RU" dirty="0" err="1"/>
              <a:t>невалидных</a:t>
            </a:r>
            <a:r>
              <a:rPr lang="ru-RU" dirty="0"/>
              <a:t> состояний к валидному в процессе работы с </a:t>
            </a:r>
            <a:r>
              <a:rPr lang="en-US" dirty="0"/>
              <a:t>UI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79784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Стратегии уведомления об </a:t>
            </a:r>
            <a:r>
              <a:rPr lang="ru-RU" dirty="0" err="1"/>
              <a:t>измененниях</a:t>
            </a:r>
            <a:r>
              <a:rPr lang="ru-RU" dirty="0"/>
              <a:t> модели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Пассивная модель</a:t>
            </a:r>
          </a:p>
          <a:p>
            <a:pPr lvl="1"/>
            <a:r>
              <a:rPr lang="ru-RU" dirty="0"/>
              <a:t>Не имеет механизмов уведомления о своём изменении</a:t>
            </a:r>
          </a:p>
          <a:p>
            <a:pPr lvl="2"/>
            <a:r>
              <a:rPr lang="ru-RU" dirty="0"/>
              <a:t>Эту задачу выполняет Контроллер</a:t>
            </a:r>
          </a:p>
          <a:p>
            <a:pPr lvl="1"/>
            <a:r>
              <a:rPr lang="ru-RU" dirty="0"/>
              <a:t>Хранит лишь данные</a:t>
            </a:r>
          </a:p>
          <a:p>
            <a:r>
              <a:rPr lang="ru-RU" dirty="0"/>
              <a:t>Активная модель</a:t>
            </a:r>
          </a:p>
          <a:p>
            <a:pPr lvl="1"/>
            <a:r>
              <a:rPr lang="ru-RU" dirty="0"/>
              <a:t>Имеет возможности для уведомления слушателей об изменении</a:t>
            </a:r>
          </a:p>
          <a:p>
            <a:pPr lvl="1"/>
            <a:r>
              <a:rPr lang="ru-RU" dirty="0"/>
              <a:t>Традиционный подход к построению модели</a:t>
            </a:r>
          </a:p>
          <a:p>
            <a:r>
              <a:rPr lang="ru-RU" dirty="0"/>
              <a:t>Ленивая модель</a:t>
            </a:r>
          </a:p>
          <a:p>
            <a:pPr lvl="1"/>
            <a:r>
              <a:rPr lang="ru-RU" dirty="0"/>
              <a:t>Переходное решение между Пассивной и Активной моделью</a:t>
            </a:r>
          </a:p>
          <a:p>
            <a:pPr lvl="1"/>
            <a:r>
              <a:rPr lang="ru-RU" dirty="0"/>
              <a:t>Методы, меняющие состояние, не уведомляют об изменениях. Для рассылки уведомлений в модели есть отдельный метод</a:t>
            </a:r>
          </a:p>
        </p:txBody>
      </p:sp>
    </p:spTree>
    <p:extLst>
      <p:ext uri="{BB962C8B-B14F-4D97-AF65-F5344CB8AC3E}">
        <p14:creationId xmlns:p14="http://schemas.microsoft.com/office/powerpoint/2010/main" val="826270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Passive Model</a:t>
            </a:r>
            <a:endParaRPr lang="ru-RU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8082" y="1825625"/>
            <a:ext cx="4995835" cy="4351338"/>
          </a:xfrm>
        </p:spPr>
      </p:pic>
    </p:spTree>
    <p:extLst>
      <p:ext uri="{BB962C8B-B14F-4D97-AF65-F5344CB8AC3E}">
        <p14:creationId xmlns:p14="http://schemas.microsoft.com/office/powerpoint/2010/main" val="3665973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Достоинства и недостатки пассивной модели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Трудности с синхронизацией нескольких </a:t>
            </a:r>
            <a:r>
              <a:rPr lang="en-US" dirty="0"/>
              <a:t>View</a:t>
            </a:r>
            <a:r>
              <a:rPr lang="ru-RU" dirty="0"/>
              <a:t>, при изменении модели со стороны разных контроллеров</a:t>
            </a:r>
          </a:p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Любой объект может играть выступать в роли пассивной модели без внесения изменений</a:t>
            </a:r>
          </a:p>
          <a:p>
            <a:pPr lvl="1"/>
            <a:r>
              <a:rPr lang="ru-RU" dirty="0"/>
              <a:t>Лучший контроль над обновлением </a:t>
            </a:r>
            <a:r>
              <a:rPr lang="en-US" dirty="0"/>
              <a:t>View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613085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Активная модель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1594" y="1825625"/>
            <a:ext cx="53488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438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Ленивая модель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473" y="1825625"/>
            <a:ext cx="5001053" cy="4351338"/>
          </a:xfrm>
        </p:spPr>
      </p:pic>
    </p:spTree>
    <p:extLst>
      <p:ext uri="{BB962C8B-B14F-4D97-AF65-F5344CB8AC3E}">
        <p14:creationId xmlns:p14="http://schemas.microsoft.com/office/powerpoint/2010/main" val="21650394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0C2E58-45E5-4D4A-AD14-8E971C2433FF}"/>
              </a:ext>
            </a:extLst>
          </p:cNvPr>
          <p:cNvSpPr/>
          <p:nvPr/>
        </p:nvSpPr>
        <p:spPr>
          <a:xfrm>
            <a:off x="1524000" y="1"/>
            <a:ext cx="9144000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NoRealRoots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{};</a:t>
            </a: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InfiniteNumberOfRoots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{};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EquationRoots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variant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NoRealRoots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InfiniteNumberOfRoots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</a:t>
            </a:r>
            <a:endParaRPr lang="ru-RU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                    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</a:t>
            </a:r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pair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&gt;&gt;;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CEquationSolver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CEquationSolver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CEquationSolver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SolutionChangeSignal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sig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signal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()&gt;;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sig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connection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DoOnSolutionChange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SolutionChangeSignal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slot_type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handler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EquationRoots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GetEquationRoots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GetQuadraticCoeff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SetQuadraticCoeff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a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GetLinearCoeff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SetLinearCoeff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b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GetConstantCoeff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SetConstantCoeff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m_a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m_b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m_c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SolutionChangeSignal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m_solutionChanged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266088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9E09A-45A5-06C5-5BE4-A166EB57A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0650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View</a:t>
            </a:r>
            <a:r>
              <a:rPr lang="ru-RU" dirty="0"/>
              <a:t> в </a:t>
            </a:r>
            <a:r>
              <a:rPr lang="en-US" dirty="0"/>
              <a:t>MVC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Отображение состояния модели</a:t>
            </a:r>
          </a:p>
          <a:p>
            <a:r>
              <a:rPr lang="ru-RU" dirty="0"/>
              <a:t>Взаимодействие с пользователем</a:t>
            </a:r>
          </a:p>
          <a:p>
            <a:r>
              <a:rPr lang="ru-RU" dirty="0"/>
              <a:t>Реакция на изменение модели</a:t>
            </a:r>
          </a:p>
          <a:p>
            <a:pPr lvl="1"/>
            <a:r>
              <a:rPr lang="ru-RU" dirty="0"/>
              <a:t>Обновление визуального состояния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52228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Зависимости представления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Представление в </a:t>
            </a:r>
            <a:r>
              <a:rPr lang="en-US" dirty="0"/>
              <a:t>MVC </a:t>
            </a:r>
            <a:r>
              <a:rPr lang="ru-RU" dirty="0"/>
              <a:t>имеет сильную зависимость от модели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Для доступа к данным </a:t>
            </a:r>
            <a:r>
              <a:rPr lang="en-US" dirty="0"/>
              <a:t>View</a:t>
            </a:r>
            <a:r>
              <a:rPr lang="ru-RU" dirty="0"/>
              <a:t> полагается на интерфейсы модели и её существование</a:t>
            </a:r>
          </a:p>
          <a:p>
            <a:r>
              <a:rPr lang="en-US" dirty="0"/>
              <a:t>View </a:t>
            </a:r>
            <a:r>
              <a:rPr lang="ru-RU" dirty="0"/>
              <a:t>также отвечает за чисто визуальные аспекты</a:t>
            </a:r>
          </a:p>
          <a:p>
            <a:pPr lvl="1"/>
            <a:r>
              <a:rPr lang="ru-RU" dirty="0"/>
              <a:t>Позиционирование элементов, </a:t>
            </a:r>
            <a:r>
              <a:rPr lang="ru-RU" dirty="0" err="1"/>
              <a:t>скролл</a:t>
            </a:r>
            <a:endParaRPr lang="ru-RU" dirty="0"/>
          </a:p>
          <a:p>
            <a:r>
              <a:rPr lang="ru-RU"/>
              <a:t>Операции, </a:t>
            </a:r>
            <a:r>
              <a:rPr lang="ru-RU" dirty="0"/>
              <a:t>изменяющие состояние модели, делегируются Контроллеру</a:t>
            </a:r>
          </a:p>
        </p:txBody>
      </p:sp>
    </p:spTree>
    <p:extLst>
      <p:ext uri="{BB962C8B-B14F-4D97-AF65-F5344CB8AC3E}">
        <p14:creationId xmlns:p14="http://schemas.microsoft.com/office/powerpoint/2010/main" val="175776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</a:t>
            </a:r>
            <a:r>
              <a:rPr lang="ru-RU" dirty="0"/>
              <a:t> и </a:t>
            </a:r>
            <a:r>
              <a:rPr lang="en-US" dirty="0"/>
              <a:t>Widgets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Часто </a:t>
            </a:r>
            <a:r>
              <a:rPr lang="en-US" dirty="0"/>
              <a:t>View</a:t>
            </a:r>
            <a:r>
              <a:rPr lang="ru-RU" dirty="0"/>
              <a:t> состоит из </a:t>
            </a:r>
            <a:r>
              <a:rPr lang="ru-RU" dirty="0" err="1"/>
              <a:t>виджетов</a:t>
            </a:r>
            <a:r>
              <a:rPr lang="ru-RU" dirty="0"/>
              <a:t> (кнопки, меню, </a:t>
            </a:r>
            <a:r>
              <a:rPr lang="ru-RU" dirty="0" err="1"/>
              <a:t>чекбоксы</a:t>
            </a:r>
            <a:r>
              <a:rPr lang="ru-RU" dirty="0"/>
              <a:t> и т.п.),</a:t>
            </a:r>
          </a:p>
          <a:p>
            <a:pPr lvl="1"/>
            <a:r>
              <a:rPr lang="ru-RU" dirty="0" err="1"/>
              <a:t>Виджет</a:t>
            </a:r>
            <a:r>
              <a:rPr lang="ru-RU" dirty="0"/>
              <a:t> - строительный блоки, предоставляемый библиотекой </a:t>
            </a:r>
            <a:r>
              <a:rPr lang="ru-RU" dirty="0" err="1"/>
              <a:t>виджетов</a:t>
            </a:r>
            <a:endParaRPr lang="ru-RU" dirty="0"/>
          </a:p>
          <a:p>
            <a:pPr lvl="1"/>
            <a:r>
              <a:rPr lang="ru-RU" dirty="0" err="1"/>
              <a:t>Виджеты</a:t>
            </a:r>
            <a:r>
              <a:rPr lang="ru-RU" dirty="0"/>
              <a:t> не имеют зависимостей от модели</a:t>
            </a:r>
          </a:p>
          <a:p>
            <a:r>
              <a:rPr lang="en-US" dirty="0"/>
              <a:t>View</a:t>
            </a:r>
          </a:p>
          <a:p>
            <a:pPr lvl="1"/>
            <a:r>
              <a:rPr lang="ru-RU" dirty="0"/>
              <a:t>отвечает</a:t>
            </a:r>
            <a:r>
              <a:rPr lang="en-US" dirty="0"/>
              <a:t> </a:t>
            </a:r>
            <a:r>
              <a:rPr lang="ru-RU" dirty="0"/>
              <a:t>за обновление состояния </a:t>
            </a:r>
            <a:r>
              <a:rPr lang="ru-RU" dirty="0" err="1"/>
              <a:t>виджетов</a:t>
            </a:r>
            <a:r>
              <a:rPr lang="ru-RU" dirty="0"/>
              <a:t> при изменении модели</a:t>
            </a:r>
            <a:endParaRPr lang="en-US" dirty="0"/>
          </a:p>
          <a:p>
            <a:pPr lvl="1"/>
            <a:r>
              <a:rPr lang="ru-RU" dirty="0"/>
              <a:t>Интерпретирует уведомления, поступающие от </a:t>
            </a:r>
            <a:r>
              <a:rPr lang="ru-RU" dirty="0" err="1"/>
              <a:t>виджетов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4258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Обновление представления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Обновление представления происходит в следующих случаях:</a:t>
            </a:r>
          </a:p>
          <a:p>
            <a:pPr lvl="1"/>
            <a:r>
              <a:rPr lang="ru-RU" dirty="0"/>
              <a:t>Поступает уведомление об изменении модели</a:t>
            </a:r>
          </a:p>
          <a:p>
            <a:pPr lvl="1"/>
            <a:r>
              <a:rPr lang="en-US" dirty="0"/>
              <a:t>View</a:t>
            </a:r>
            <a:r>
              <a:rPr lang="ru-RU" dirty="0"/>
              <a:t> получает уведомление от ОС</a:t>
            </a:r>
          </a:p>
        </p:txBody>
      </p:sp>
    </p:spTree>
    <p:extLst>
      <p:ext uri="{BB962C8B-B14F-4D97-AF65-F5344CB8AC3E}">
        <p14:creationId xmlns:p14="http://schemas.microsoft.com/office/powerpoint/2010/main" val="6934198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– это не только графика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 – </a:t>
            </a:r>
            <a:r>
              <a:rPr lang="ru-RU" dirty="0"/>
              <a:t>это частный, хоть и самый распространённый вариант представления</a:t>
            </a:r>
          </a:p>
          <a:p>
            <a:r>
              <a:rPr lang="ru-RU" dirty="0"/>
              <a:t>В общем случае всё, что может доставлять информацию пользователю, может считаться представлением</a:t>
            </a:r>
          </a:p>
          <a:p>
            <a:pPr lvl="1"/>
            <a:r>
              <a:rPr lang="ru-RU" dirty="0"/>
              <a:t>Звуки</a:t>
            </a:r>
          </a:p>
          <a:p>
            <a:pPr lvl="1"/>
            <a:r>
              <a:rPr lang="ru-RU" dirty="0"/>
              <a:t>Вибрация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3287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Контроллер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7EE91-2FC8-A2C2-C3B6-A62FD5EA4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0661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Контроллер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Контроллеры связаны с представлением в отношении 1 к 1</a:t>
            </a:r>
          </a:p>
          <a:p>
            <a:r>
              <a:rPr lang="ru-RU" dirty="0"/>
              <a:t>Обычно запросы на изменение направляются Модели</a:t>
            </a:r>
          </a:p>
          <a:p>
            <a:pPr lvl="1"/>
            <a:r>
              <a:rPr lang="ru-RU" dirty="0"/>
              <a:t>Контроллер может также модифицировать и </a:t>
            </a:r>
            <a:r>
              <a:rPr lang="en-US" dirty="0"/>
              <a:t>View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50236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Приложение для вычисления корней </a:t>
            </a:r>
            <a:r>
              <a:rPr lang="ru-RU"/>
              <a:t>квадратного уравнения</a:t>
            </a:r>
          </a:p>
        </p:txBody>
      </p:sp>
      <p:pic>
        <p:nvPicPr>
          <p:cNvPr id="29" name="Content Placeholder 2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56041" y="2996952"/>
            <a:ext cx="3914705" cy="211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2746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7">
            <a:extLst>
              <a:ext uri="{FF2B5EF4-FFF2-40B4-BE49-F238E27FC236}">
                <a16:creationId xmlns:a16="http://schemas.microsoft.com/office/drawing/2014/main" id="{D021614F-5619-4686-ABB8-F17F992C24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736" y="309498"/>
            <a:ext cx="6120680" cy="640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9319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Passive View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6673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Passive View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 </a:t>
            </a:r>
            <a:r>
              <a:rPr lang="ru-RU" dirty="0"/>
              <a:t>занимается визуализацией</a:t>
            </a:r>
          </a:p>
          <a:p>
            <a:r>
              <a:rPr lang="en-US" dirty="0"/>
              <a:t>Controller – </a:t>
            </a:r>
            <a:r>
              <a:rPr lang="ru-RU" dirty="0"/>
              <a:t>выполняет обработку пользовательских «жестов»</a:t>
            </a:r>
          </a:p>
          <a:p>
            <a:r>
              <a:rPr lang="ru-RU" dirty="0"/>
              <a:t>Отсутствие каких-либо связей между моделью и представлением</a:t>
            </a:r>
          </a:p>
        </p:txBody>
      </p:sp>
    </p:spTree>
    <p:extLst>
      <p:ext uri="{BB962C8B-B14F-4D97-AF65-F5344CB8AC3E}">
        <p14:creationId xmlns:p14="http://schemas.microsoft.com/office/powerpoint/2010/main" val="4283419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паттерна</a:t>
            </a:r>
          </a:p>
        </p:txBody>
      </p:sp>
      <p:pic>
        <p:nvPicPr>
          <p:cNvPr id="6" name="Picture 2" descr="Fig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3034" y="1988841"/>
            <a:ext cx="6925933" cy="3887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91277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Важно обеспечить хорошее покрытие кода тестами</a:t>
            </a:r>
          </a:p>
          <a:p>
            <a:r>
              <a:rPr lang="ru-RU" dirty="0"/>
              <a:t>Контроллер может функционировать и быть протестирован вне </a:t>
            </a:r>
            <a:r>
              <a:rPr lang="en-US" dirty="0"/>
              <a:t>UI</a:t>
            </a:r>
            <a:r>
              <a:rPr lang="ru-RU" dirty="0"/>
              <a:t>-окружения</a:t>
            </a:r>
          </a:p>
          <a:p>
            <a:pPr lvl="1"/>
            <a:r>
              <a:rPr lang="ru-RU" dirty="0"/>
              <a:t>В качестве </a:t>
            </a:r>
            <a:r>
              <a:rPr lang="en-US" dirty="0"/>
              <a:t>View </a:t>
            </a:r>
            <a:r>
              <a:rPr lang="ru-RU" dirty="0"/>
              <a:t>может быть использован тестовый дублер</a:t>
            </a:r>
          </a:p>
        </p:txBody>
      </p:sp>
    </p:spTree>
    <p:extLst>
      <p:ext uri="{BB962C8B-B14F-4D97-AF65-F5344CB8AC3E}">
        <p14:creationId xmlns:p14="http://schemas.microsoft.com/office/powerpoint/2010/main" val="14234340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Тестовые дублеры (</a:t>
            </a:r>
            <a:r>
              <a:rPr lang="en-US" dirty="0"/>
              <a:t>Test Double)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Test stub (</a:t>
            </a:r>
            <a:r>
              <a:rPr lang="ru-RU" dirty="0"/>
              <a:t>заглушка)</a:t>
            </a:r>
            <a:endParaRPr lang="en-US" dirty="0"/>
          </a:p>
          <a:p>
            <a:pPr lvl="1"/>
            <a:r>
              <a:rPr lang="ru-RU" dirty="0"/>
              <a:t>Предоставляет фиксированный набор результатов вызова</a:t>
            </a:r>
          </a:p>
          <a:p>
            <a:pPr lvl="1"/>
            <a:r>
              <a:rPr lang="ru-RU" dirty="0"/>
              <a:t>Может протоколировать информацию о вызовах методов</a:t>
            </a:r>
          </a:p>
          <a:p>
            <a:r>
              <a:rPr lang="en-US" dirty="0"/>
              <a:t>Mock object </a:t>
            </a:r>
            <a:r>
              <a:rPr lang="ru-RU" dirty="0"/>
              <a:t>(фиктивный объект)</a:t>
            </a:r>
          </a:p>
          <a:p>
            <a:r>
              <a:rPr lang="en-US" dirty="0"/>
              <a:t>Test spy</a:t>
            </a:r>
            <a:endParaRPr lang="ru-RU" dirty="0"/>
          </a:p>
          <a:p>
            <a:r>
              <a:rPr lang="en-US" dirty="0"/>
              <a:t>Fake Object</a:t>
            </a:r>
          </a:p>
          <a:p>
            <a:pPr lvl="1"/>
            <a:r>
              <a:rPr lang="ru-RU" dirty="0"/>
              <a:t>Имеет рабочую реализацию, но</a:t>
            </a:r>
            <a:r>
              <a:rPr lang="en-US" dirty="0"/>
              <a:t> </a:t>
            </a:r>
            <a:r>
              <a:rPr lang="ru-RU" dirty="0"/>
              <a:t>«срезает углы», что делает малопригодным в</a:t>
            </a:r>
            <a:r>
              <a:rPr lang="en-US" dirty="0"/>
              <a:t> production</a:t>
            </a:r>
          </a:p>
          <a:p>
            <a:pPr lvl="2"/>
            <a:r>
              <a:rPr lang="ru-RU" dirty="0"/>
              <a:t>БД, находящаяся в памяти</a:t>
            </a:r>
            <a:endParaRPr lang="en-US" dirty="0"/>
          </a:p>
          <a:p>
            <a:r>
              <a:rPr lang="en-US" dirty="0"/>
              <a:t>Dummy object</a:t>
            </a:r>
          </a:p>
          <a:p>
            <a:pPr lvl="1"/>
            <a:r>
              <a:rPr lang="ru-RU" dirty="0"/>
              <a:t>Передается в метод/функцию, но никогда не используется. Как правило, используется как заполнитель параметров</a:t>
            </a:r>
          </a:p>
        </p:txBody>
      </p:sp>
    </p:spTree>
    <p:extLst>
      <p:ext uri="{BB962C8B-B14F-4D97-AF65-F5344CB8AC3E}">
        <p14:creationId xmlns:p14="http://schemas.microsoft.com/office/powerpoint/2010/main" val="22587324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Model-View-Presenter</a:t>
            </a:r>
            <a:endParaRPr lang="ru-RU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 = </a:t>
            </a:r>
            <a:r>
              <a:rPr lang="en-US" dirty="0" err="1"/>
              <a:t>SupervisingController</a:t>
            </a:r>
            <a:r>
              <a:rPr lang="en-US" dirty="0"/>
              <a:t> + </a:t>
            </a:r>
            <a:r>
              <a:rPr lang="en-US" dirty="0" err="1"/>
              <a:t>PassiveView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0918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Model-View-Presenter</a:t>
            </a:r>
            <a:r>
              <a:rPr lang="en-US" dirty="0"/>
              <a:t> vs MVC</a:t>
            </a:r>
            <a:endParaRPr lang="ru-RU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2" t="4626" r="19368" b="40894"/>
          <a:stretch/>
        </p:blipFill>
        <p:spPr>
          <a:xfrm>
            <a:off x="1703512" y="1844825"/>
            <a:ext cx="8280920" cy="3622903"/>
          </a:xfrm>
        </p:spPr>
      </p:pic>
    </p:spTree>
    <p:extLst>
      <p:ext uri="{BB962C8B-B14F-4D97-AF65-F5344CB8AC3E}">
        <p14:creationId xmlns:p14="http://schemas.microsoft.com/office/powerpoint/2010/main" val="21176841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</a:t>
            </a:r>
            <a:r>
              <a:rPr lang="en-US" dirty="0"/>
              <a:t>Presenter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Является посредником между Model и View</a:t>
            </a:r>
          </a:p>
          <a:p>
            <a:r>
              <a:rPr lang="ru-RU" dirty="0"/>
              <a:t>Получает события от View и вызывает соответствующие операции модели</a:t>
            </a:r>
          </a:p>
          <a:p>
            <a:r>
              <a:rPr lang="ru-RU" dirty="0"/>
              <a:t>Подписывается на изменения модели и обновляет View</a:t>
            </a:r>
          </a:p>
          <a:p>
            <a:r>
              <a:rPr lang="ru-RU" dirty="0"/>
              <a:t>Хранит </a:t>
            </a:r>
            <a:r>
              <a:rPr lang="en-US" dirty="0"/>
              <a:t>View State </a:t>
            </a:r>
            <a:r>
              <a:rPr lang="ru-RU" dirty="0"/>
              <a:t>(данные, подготовленные для отображения)</a:t>
            </a:r>
          </a:p>
          <a:p>
            <a:r>
              <a:rPr lang="ru-RU" dirty="0"/>
              <a:t>Инкапсулирует преобразование данных модели в формат, удобный для View</a:t>
            </a:r>
          </a:p>
          <a:p>
            <a:r>
              <a:rPr lang="ru-RU" dirty="0"/>
              <a:t>Обеспечивает независимость View от бизнес-логики</a:t>
            </a:r>
          </a:p>
          <a:p>
            <a:r>
              <a:rPr lang="ru-RU" dirty="0"/>
              <a:t>Не содержит UI-кода: обращается к View только через интерфейс</a:t>
            </a:r>
          </a:p>
          <a:p>
            <a:r>
              <a:rPr lang="ru-RU" dirty="0"/>
              <a:t>Легко тестируется за счёт замены Model и View </a:t>
            </a:r>
            <a:r>
              <a:rPr lang="ru-RU" dirty="0" err="1"/>
              <a:t>mock</a:t>
            </a:r>
            <a:r>
              <a:rPr lang="ru-RU" dirty="0"/>
              <a:t>-объектами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6390330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Подход </a:t>
            </a:r>
            <a:r>
              <a:rPr lang="en-US" dirty="0"/>
              <a:t>Presenter</a:t>
            </a:r>
            <a:r>
              <a:rPr lang="ru-RU" dirty="0"/>
              <a:t> </a:t>
            </a:r>
            <a:r>
              <a:rPr lang="en-US" dirty="0"/>
              <a:t>First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Подход к реализации </a:t>
            </a:r>
            <a:r>
              <a:rPr lang="en-US" dirty="0"/>
              <a:t>MVP</a:t>
            </a:r>
            <a:r>
              <a:rPr lang="ru-RU" dirty="0"/>
              <a:t>, при котором программист изначально фокусируется на разработке </a:t>
            </a:r>
            <a:r>
              <a:rPr lang="en-US" dirty="0"/>
              <a:t>Presenter</a:t>
            </a:r>
          </a:p>
          <a:p>
            <a:pPr lvl="1"/>
            <a:r>
              <a:rPr lang="en-US" dirty="0"/>
              <a:t>Presenter</a:t>
            </a:r>
            <a:r>
              <a:rPr lang="ru-RU" dirty="0"/>
              <a:t> не имеет состояния (использует</a:t>
            </a:r>
            <a:r>
              <a:rPr lang="en-US" dirty="0"/>
              <a:t> View </a:t>
            </a:r>
            <a:r>
              <a:rPr lang="ru-RU" dirty="0"/>
              <a:t>и </a:t>
            </a:r>
            <a:r>
              <a:rPr lang="en-US" dirty="0"/>
              <a:t>Model)</a:t>
            </a:r>
          </a:p>
          <a:p>
            <a:pPr lvl="2"/>
            <a:r>
              <a:rPr lang="ru-RU" dirty="0"/>
              <a:t>В этом случае </a:t>
            </a:r>
            <a:r>
              <a:rPr lang="en-US" dirty="0"/>
              <a:t>Presenter </a:t>
            </a:r>
            <a:r>
              <a:rPr lang="ru-RU" dirty="0"/>
              <a:t>может вообще не иметь публичных методов</a:t>
            </a:r>
          </a:p>
          <a:p>
            <a:r>
              <a:rPr lang="ru-RU" dirty="0"/>
              <a:t>Учитываются пожелания пользователей</a:t>
            </a:r>
            <a:endParaRPr lang="en-US" dirty="0"/>
          </a:p>
          <a:p>
            <a:pPr lvl="1"/>
            <a:r>
              <a:rPr lang="ru-RU" dirty="0"/>
              <a:t>В процессе разработки формируются интерфейсы модели и </a:t>
            </a:r>
            <a:r>
              <a:rPr lang="en-US" dirty="0"/>
              <a:t>View</a:t>
            </a:r>
          </a:p>
          <a:p>
            <a:r>
              <a:rPr lang="ru-RU" dirty="0"/>
              <a:t>Требуется тщательное тестирование</a:t>
            </a:r>
          </a:p>
          <a:p>
            <a:pPr lvl="2"/>
            <a:r>
              <a:rPr lang="ru-RU" dirty="0"/>
              <a:t>При тестировании вместо </a:t>
            </a:r>
            <a:r>
              <a:rPr lang="en-US" dirty="0"/>
              <a:t>model </a:t>
            </a:r>
            <a:r>
              <a:rPr lang="ru-RU" dirty="0"/>
              <a:t>и </a:t>
            </a:r>
            <a:r>
              <a:rPr lang="en-US" dirty="0"/>
              <a:t>view </a:t>
            </a:r>
            <a:r>
              <a:rPr lang="ru-RU" dirty="0"/>
              <a:t>передаются </a:t>
            </a:r>
            <a:r>
              <a:rPr lang="en-US" dirty="0"/>
              <a:t>mock-</a:t>
            </a:r>
            <a:r>
              <a:rPr lang="ru-RU" dirty="0"/>
              <a:t>и</a:t>
            </a:r>
          </a:p>
        </p:txBody>
      </p:sp>
    </p:spTree>
    <p:extLst>
      <p:ext uri="{BB962C8B-B14F-4D97-AF65-F5344CB8AC3E}">
        <p14:creationId xmlns:p14="http://schemas.microsoft.com/office/powerpoint/2010/main" val="3054116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MVVM</a:t>
            </a:r>
            <a:endParaRPr lang="ru-RU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773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Model-View-</a:t>
            </a:r>
            <a:r>
              <a:rPr lang="en-US" dirty="0" err="1">
                <a:hlinkClick r:id="rId3"/>
              </a:rPr>
              <a:t>ViewModel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Model</a:t>
            </a:r>
          </a:p>
          <a:p>
            <a:pPr lvl="1"/>
            <a:r>
              <a:rPr lang="ru-RU" dirty="0"/>
              <a:t>Хранит данные и бизнес-логику</a:t>
            </a:r>
          </a:p>
          <a:p>
            <a:pPr lvl="1"/>
            <a:r>
              <a:rPr lang="ru-RU" dirty="0"/>
              <a:t>Не зависит от UI</a:t>
            </a:r>
          </a:p>
          <a:p>
            <a:pPr lvl="1"/>
            <a:r>
              <a:rPr lang="ru-RU" dirty="0"/>
              <a:t>Уведомляет об изменениях состояния</a:t>
            </a:r>
          </a:p>
          <a:p>
            <a:r>
              <a:rPr lang="ru-RU" b="1" dirty="0"/>
              <a:t>View</a:t>
            </a:r>
          </a:p>
          <a:p>
            <a:pPr lvl="1"/>
            <a:r>
              <a:rPr lang="ru-RU" dirty="0"/>
              <a:t>Отображает данные, полученные от </a:t>
            </a:r>
            <a:r>
              <a:rPr lang="ru-RU" dirty="0" err="1"/>
              <a:t>ViewModel</a:t>
            </a:r>
            <a:endParaRPr lang="ru-RU" dirty="0"/>
          </a:p>
          <a:p>
            <a:pPr lvl="1"/>
            <a:r>
              <a:rPr lang="ru-RU" dirty="0"/>
              <a:t>Передаёт действия пользователя через механизмы привязки (</a:t>
            </a:r>
            <a:r>
              <a:rPr lang="ru-RU" dirty="0" err="1"/>
              <a:t>binding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Не содержит логики работы с моделью</a:t>
            </a:r>
          </a:p>
          <a:p>
            <a:r>
              <a:rPr lang="ru-RU" b="1" dirty="0" err="1"/>
              <a:t>ViewModel</a:t>
            </a:r>
            <a:endParaRPr lang="ru-RU" b="1" dirty="0"/>
          </a:p>
          <a:p>
            <a:pPr lvl="1"/>
            <a:r>
              <a:rPr lang="ru-RU" dirty="0"/>
              <a:t>Представляет данные модели в виде, удобном для отображения</a:t>
            </a:r>
          </a:p>
          <a:p>
            <a:pPr lvl="1"/>
            <a:r>
              <a:rPr lang="ru-RU" dirty="0"/>
              <a:t>Реализует двустороннюю привязку данных (</a:t>
            </a:r>
            <a:r>
              <a:rPr lang="ru-RU" i="1" dirty="0" err="1"/>
              <a:t>data</a:t>
            </a:r>
            <a:r>
              <a:rPr lang="ru-RU" i="1" dirty="0"/>
              <a:t> </a:t>
            </a:r>
            <a:r>
              <a:rPr lang="ru-RU" i="1" dirty="0" err="1"/>
              <a:t>binding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Хранит состояние, относящееся к представлению</a:t>
            </a:r>
          </a:p>
          <a:p>
            <a:pPr lvl="1"/>
            <a:r>
              <a:rPr lang="ru-RU" dirty="0"/>
              <a:t>Обрабатывает команды (командный паттерн или аналогичные механизмы)</a:t>
            </a:r>
          </a:p>
          <a:p>
            <a:pPr lvl="1"/>
            <a:r>
              <a:rPr lang="ru-RU" dirty="0"/>
              <a:t>Уведомляет View об изменениях (например, через </a:t>
            </a:r>
            <a:r>
              <a:rPr lang="ru-RU" dirty="0" err="1"/>
              <a:t>INotifyPropertyChanged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08277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06E7-B84A-1BFC-1FED-7536458FF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MVVM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95EE8-7DE0-6665-7131-2D2E74EE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View не знает о модели напрямую</a:t>
            </a:r>
          </a:p>
          <a:p>
            <a:r>
              <a:rPr lang="ru-RU" dirty="0" err="1"/>
              <a:t>ViewModel</a:t>
            </a:r>
            <a:r>
              <a:rPr lang="ru-RU" dirty="0"/>
              <a:t> не зависит от View (работает через интерфейсы и </a:t>
            </a:r>
            <a:r>
              <a:rPr lang="ru-RU" dirty="0" err="1"/>
              <a:t>binding</a:t>
            </a:r>
            <a:r>
              <a:rPr lang="ru-RU" dirty="0"/>
              <a:t>)</a:t>
            </a:r>
          </a:p>
          <a:p>
            <a:r>
              <a:rPr lang="ru-RU" dirty="0"/>
              <a:t>Отлично тестируется благодаря отделению логики от UI</a:t>
            </a:r>
          </a:p>
          <a:p>
            <a:r>
              <a:rPr lang="ru-RU" dirty="0"/>
              <a:t>Подходит для UI-фреймворков с поддержкой привязок данных (WPF, UWP, </a:t>
            </a:r>
            <a:r>
              <a:rPr lang="ru-RU" dirty="0" err="1"/>
              <a:t>Avalonia</a:t>
            </a:r>
            <a:r>
              <a:rPr lang="ru-RU" dirty="0"/>
              <a:t>, </a:t>
            </a:r>
            <a:r>
              <a:rPr lang="ru-RU" dirty="0" err="1"/>
              <a:t>Qt</a:t>
            </a:r>
            <a:r>
              <a:rPr lang="ru-RU" dirty="0"/>
              <a:t>/QML)</a:t>
            </a:r>
          </a:p>
        </p:txBody>
      </p:sp>
    </p:spTree>
    <p:extLst>
      <p:ext uri="{BB962C8B-B14F-4D97-AF65-F5344CB8AC3E}">
        <p14:creationId xmlns:p14="http://schemas.microsoft.com/office/powerpoint/2010/main" val="10269701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паттерна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522" y="2891476"/>
            <a:ext cx="5772956" cy="2219635"/>
          </a:xfrm>
        </p:spPr>
      </p:pic>
    </p:spTree>
    <p:extLst>
      <p:ext uri="{BB962C8B-B14F-4D97-AF65-F5344CB8AC3E}">
        <p14:creationId xmlns:p14="http://schemas.microsoft.com/office/powerpoint/2010/main" val="39074682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1B631A-4EB3-4F24-175C-3930F8DC1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FC4A0A-E1C0-7D11-65AB-B7E75904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835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0E264-516F-BFB6-1E65-8DEF546B6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Главный принцип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F3AF2-E275-76B2-744B-F14C1AB0C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Модель не должна зависеть от представления</a:t>
            </a:r>
          </a:p>
          <a:p>
            <a:pPr lvl="1"/>
            <a:r>
              <a:rPr lang="ru-RU" dirty="0"/>
              <a:t>Во всех зрелых архитектурных подходах (MVC, MVP, MVVM, Document–View) модель полностью изолирована от UI и может развиваться независимо от него.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122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59351-D1FB-B77C-065D-60290A5FA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</a:t>
            </a:r>
            <a:r>
              <a:rPr lang="en-US" dirty="0"/>
              <a:t>View </a:t>
            </a:r>
            <a:r>
              <a:rPr lang="ru-RU" dirty="0"/>
              <a:t>зависит от модели (</a:t>
            </a:r>
            <a:r>
              <a:rPr lang="en-US" dirty="0"/>
              <a:t>MVC, Document-View)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56CF2-FBBD-5095-F822-64EB1ACB4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View обращается к модели напрямую</a:t>
            </a:r>
          </a:p>
          <a:p>
            <a:r>
              <a:rPr lang="ru-RU" dirty="0"/>
              <a:t>Получает данные и слушает изменения</a:t>
            </a:r>
          </a:p>
          <a:p>
            <a:r>
              <a:rPr lang="ru-RU" dirty="0"/>
              <a:t>Подходит когда:</a:t>
            </a:r>
          </a:p>
          <a:p>
            <a:pPr lvl="1"/>
            <a:r>
              <a:rPr lang="ru-RU" dirty="0"/>
              <a:t>простая или средняя сложность интерфейса</a:t>
            </a:r>
          </a:p>
          <a:p>
            <a:pPr lvl="1"/>
            <a:r>
              <a:rPr lang="ru-RU" dirty="0"/>
              <a:t>важно минимизировать количество прослоек</a:t>
            </a:r>
          </a:p>
          <a:p>
            <a:pPr lvl="1"/>
            <a:r>
              <a:rPr lang="ru-RU" dirty="0"/>
              <a:t>фреймворк предоставляет удобные механизмы уведомлений</a:t>
            </a:r>
          </a:p>
          <a:p>
            <a:r>
              <a:rPr lang="ru-RU" b="1" dirty="0"/>
              <a:t>Плюсы:</a:t>
            </a:r>
            <a:r>
              <a:rPr lang="ru-RU" dirty="0"/>
              <a:t> меньше кода, проще построить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 View труднее тестировать, больше связей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7600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388C8-DC6D-FF7C-C107-B07AFEC7A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</a:t>
            </a:r>
            <a:r>
              <a:rPr lang="ru-RU" dirty="0"/>
              <a:t>изолировано от модели </a:t>
            </a:r>
            <a:r>
              <a:rPr lang="en-US" dirty="0"/>
              <a:t>(MVP, Passive View, MVVM)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DBB84-0CE1-B881-5A38-F5FD0E41B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Взаимодействие идёт через </a:t>
            </a:r>
            <a:r>
              <a:rPr lang="ru-RU" dirty="0" err="1"/>
              <a:t>Presenter</a:t>
            </a:r>
            <a:r>
              <a:rPr lang="ru-RU" dirty="0"/>
              <a:t>/</a:t>
            </a:r>
            <a:r>
              <a:rPr lang="ru-RU" dirty="0" err="1"/>
              <a:t>ViewModel</a:t>
            </a:r>
            <a:endParaRPr lang="ru-RU" dirty="0"/>
          </a:p>
          <a:p>
            <a:r>
              <a:rPr lang="ru-RU" dirty="0"/>
              <a:t>View не знает о модели и не читает данные напрямую</a:t>
            </a:r>
          </a:p>
          <a:p>
            <a:r>
              <a:rPr lang="ru-RU" dirty="0"/>
              <a:t>Подходит когда:</a:t>
            </a:r>
          </a:p>
          <a:p>
            <a:pPr lvl="1"/>
            <a:r>
              <a:rPr lang="ru-RU" dirty="0"/>
              <a:t>приложение крупное и сложное</a:t>
            </a:r>
          </a:p>
          <a:p>
            <a:pPr lvl="1"/>
            <a:r>
              <a:rPr lang="ru-RU" dirty="0"/>
              <a:t>важна высокая тестируемость UI</a:t>
            </a:r>
          </a:p>
          <a:p>
            <a:pPr lvl="1"/>
            <a:r>
              <a:rPr lang="ru-RU" dirty="0"/>
              <a:t>есть необходимость в </a:t>
            </a:r>
            <a:r>
              <a:rPr lang="ru-RU" dirty="0" err="1"/>
              <a:t>mock</a:t>
            </a:r>
            <a:r>
              <a:rPr lang="ru-RU" dirty="0"/>
              <a:t>-объектах</a:t>
            </a:r>
          </a:p>
          <a:p>
            <a:pPr lvl="1"/>
            <a:r>
              <a:rPr lang="ru-RU" dirty="0"/>
              <a:t>присутствует многократное переиспользование логики отображения</a:t>
            </a:r>
          </a:p>
          <a:p>
            <a:r>
              <a:rPr lang="ru-RU" b="1" dirty="0"/>
              <a:t>Плюсы:</a:t>
            </a:r>
            <a:r>
              <a:rPr lang="ru-RU" dirty="0"/>
              <a:t> высокая модульность, идеальная тестируемость</a:t>
            </a:r>
            <a:endParaRPr lang="en-US" dirty="0"/>
          </a:p>
          <a:p>
            <a:r>
              <a:rPr lang="ru-RU" b="1" dirty="0"/>
              <a:t>Минусы:</a:t>
            </a:r>
            <a:r>
              <a:rPr lang="ru-RU" dirty="0"/>
              <a:t> больше кода, выше стоимость разработки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6953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AC234-5FC0-9279-FEC5-C6919D41C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Выбор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12A2A-D466-BA6A-B0E4-017FB97FF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Малые приложения / прототипы: </a:t>
            </a:r>
            <a:r>
              <a:rPr lang="en-US" dirty="0"/>
              <a:t>Smart UI </a:t>
            </a:r>
            <a:r>
              <a:rPr lang="ru-RU" dirty="0"/>
              <a:t>или </a:t>
            </a:r>
            <a:r>
              <a:rPr lang="en-US" dirty="0"/>
              <a:t>MVC</a:t>
            </a:r>
          </a:p>
          <a:p>
            <a:pPr lvl="1"/>
            <a:r>
              <a:rPr lang="ru-RU" dirty="0"/>
              <a:t>Средние приложения: классический </a:t>
            </a:r>
            <a:r>
              <a:rPr lang="en-US" dirty="0"/>
              <a:t>MVC </a:t>
            </a:r>
            <a:r>
              <a:rPr lang="ru-RU" dirty="0"/>
              <a:t>или </a:t>
            </a:r>
            <a:r>
              <a:rPr lang="en-US" dirty="0"/>
              <a:t>Document–View</a:t>
            </a:r>
          </a:p>
          <a:p>
            <a:pPr lvl="1"/>
            <a:r>
              <a:rPr lang="ru-RU" dirty="0"/>
              <a:t>Крупные и долгоживущие системы: </a:t>
            </a:r>
            <a:r>
              <a:rPr lang="en-US" dirty="0"/>
              <a:t>MVP </a:t>
            </a:r>
            <a:r>
              <a:rPr lang="ru-RU" dirty="0"/>
              <a:t>или </a:t>
            </a:r>
            <a:r>
              <a:rPr lang="en-US" dirty="0"/>
              <a:t>MVVM</a:t>
            </a:r>
          </a:p>
          <a:p>
            <a:r>
              <a:rPr lang="en-US" dirty="0"/>
              <a:t>UI-</a:t>
            </a:r>
            <a:r>
              <a:rPr lang="ru-RU" dirty="0"/>
              <a:t>фреймворки с </a:t>
            </a:r>
            <a:r>
              <a:rPr lang="en-US" dirty="0"/>
              <a:t>binding (WPF, QML, Avalonia): MVVM </a:t>
            </a:r>
            <a:r>
              <a:rPr lang="ru-RU" dirty="0"/>
              <a:t>естественный выбор</a:t>
            </a:r>
          </a:p>
          <a:p>
            <a:r>
              <a:rPr lang="ru-RU" dirty="0"/>
              <a:t>Сложная логика отображения и выборки данных: </a:t>
            </a:r>
            <a:r>
              <a:rPr lang="en-US" dirty="0"/>
              <a:t>MVP/Presenter-first</a:t>
            </a:r>
          </a:p>
        </p:txBody>
      </p:sp>
    </p:spTree>
    <p:extLst>
      <p:ext uri="{BB962C8B-B14F-4D97-AF65-F5344CB8AC3E}">
        <p14:creationId xmlns:p14="http://schemas.microsoft.com/office/powerpoint/2010/main" val="17325878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28667D-A7AB-3C76-D83E-F2D5121D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1306A2-AB25-E690-2348-CB20633A5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51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FOLDER" val="H:\teaching\institutps\2016\ood\lectures\07\07 - Адаптер, Фасад\"/>
  <p:tag name="ISPRING_PRESENTATION_PATH" val="H:\teaching\institutps\2016\ood\lectures\07\07 - Адаптер, Фасад.pptx"/>
  <p:tag name="ISPRING_PROJECT_FOLDER_UPDATED" val="1"/>
  <p:tag name="ISPRING_SCREEN_RECS_UPDATED" val="H:\teaching\institutps\2016\ood\lectures\07\07 - Адаптер, Фасад"/>
  <p:tag name="ISPRING_UUID" val="{77CEB02E-0205-4D42-AC68-BCD00A9879B0}"/>
  <p:tag name="ISPRING_RESOURCE_PATHS_HASH_PRESENTER" val="6462c7c5bf8940b8d66dc7ef7945a1af9add8d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item1.xml><?xml version="1.0" encoding="utf-8"?>
<Control xmlns="http://schemas.microsoft.com/VisualStudio/2011/storyboarding/control">
  <Id Name="System.Storyboarding.Backgrounds.Window" Revision="1" Stencil="System.Storyboarding.Backgrounds" StencilVersion="0.1"/>
</Control>
</file>

<file path=customXml/item2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8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9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Props1.xml><?xml version="1.0" encoding="utf-8"?>
<ds:datastoreItem xmlns:ds="http://schemas.openxmlformats.org/officeDocument/2006/customXml" ds:itemID="{54EBA524-2760-42B5-B6ED-80AA7A8E66FF}">
  <ds:schemaRefs>
    <ds:schemaRef ds:uri="http://schemas.microsoft.com/VisualStudio/2011/storyboarding/control"/>
  </ds:schemaRefs>
</ds:datastoreItem>
</file>

<file path=customXml/itemProps2.xml><?xml version="1.0" encoding="utf-8"?>
<ds:datastoreItem xmlns:ds="http://schemas.openxmlformats.org/officeDocument/2006/customXml" ds:itemID="{425F175B-3530-4A4B-926B-CB7170700CBF}">
  <ds:schemaRefs>
    <ds:schemaRef ds:uri="http://schemas.microsoft.com/VisualStudio/2011/storyboarding/control"/>
  </ds:schemaRefs>
</ds:datastoreItem>
</file>

<file path=customXml/itemProps3.xml><?xml version="1.0" encoding="utf-8"?>
<ds:datastoreItem xmlns:ds="http://schemas.openxmlformats.org/officeDocument/2006/customXml" ds:itemID="{8F525B19-BA52-4B0B-AC85-084E0FF3E37E}">
  <ds:schemaRefs>
    <ds:schemaRef ds:uri="http://schemas.microsoft.com/VisualStudio/2011/storyboarding/control"/>
  </ds:schemaRefs>
</ds:datastoreItem>
</file>

<file path=customXml/itemProps4.xml><?xml version="1.0" encoding="utf-8"?>
<ds:datastoreItem xmlns:ds="http://schemas.openxmlformats.org/officeDocument/2006/customXml" ds:itemID="{E1DD6387-A549-483B-9966-FFE705E0180B}">
  <ds:schemaRefs>
    <ds:schemaRef ds:uri="http://schemas.microsoft.com/VisualStudio/2011/storyboarding/control"/>
  </ds:schemaRefs>
</ds:datastoreItem>
</file>

<file path=customXml/itemProps5.xml><?xml version="1.0" encoding="utf-8"?>
<ds:datastoreItem xmlns:ds="http://schemas.openxmlformats.org/officeDocument/2006/customXml" ds:itemID="{09A7D8BD-D412-472A-9605-CA2D10183910}">
  <ds:schemaRefs>
    <ds:schemaRef ds:uri="http://schemas.microsoft.com/VisualStudio/2011/storyboarding/control"/>
  </ds:schemaRefs>
</ds:datastoreItem>
</file>

<file path=customXml/itemProps6.xml><?xml version="1.0" encoding="utf-8"?>
<ds:datastoreItem xmlns:ds="http://schemas.openxmlformats.org/officeDocument/2006/customXml" ds:itemID="{FAE8ECFE-A746-4CED-8EC6-FB25DA17D2C8}">
  <ds:schemaRefs>
    <ds:schemaRef ds:uri="http://schemas.microsoft.com/VisualStudio/2011/storyboarding/control"/>
  </ds:schemaRefs>
</ds:datastoreItem>
</file>

<file path=customXml/itemProps7.xml><?xml version="1.0" encoding="utf-8"?>
<ds:datastoreItem xmlns:ds="http://schemas.openxmlformats.org/officeDocument/2006/customXml" ds:itemID="{1B9DC17B-761D-47FA-A3C0-E53584C6A4A6}">
  <ds:schemaRefs>
    <ds:schemaRef ds:uri="http://schemas.microsoft.com/VisualStudio/2011/storyboarding/control"/>
  </ds:schemaRefs>
</ds:datastoreItem>
</file>

<file path=customXml/itemProps8.xml><?xml version="1.0" encoding="utf-8"?>
<ds:datastoreItem xmlns:ds="http://schemas.openxmlformats.org/officeDocument/2006/customXml" ds:itemID="{F0C7AE7B-513B-452E-8E39-1FB70E99A509}">
  <ds:schemaRefs>
    <ds:schemaRef ds:uri="http://schemas.microsoft.com/VisualStudio/2011/storyboarding/control"/>
  </ds:schemaRefs>
</ds:datastoreItem>
</file>

<file path=customXml/itemProps9.xml><?xml version="1.0" encoding="utf-8"?>
<ds:datastoreItem xmlns:ds="http://schemas.openxmlformats.org/officeDocument/2006/customXml" ds:itemID="{A8016BC2-1C33-498E-A9F9-5B817A65B8AA}">
  <ds:schemaRefs>
    <ds:schemaRef ds:uri="http://schemas.microsoft.com/VisualStudio/2011/storyboarding/contro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8597</TotalTime>
  <Words>3377</Words>
  <Application>Microsoft Office PowerPoint</Application>
  <PresentationFormat>Widescreen</PresentationFormat>
  <Paragraphs>513</Paragraphs>
  <Slides>67</Slides>
  <Notes>61</Notes>
  <HiddenSlides>1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4" baseType="lpstr">
      <vt:lpstr>Aptos</vt:lpstr>
      <vt:lpstr>Aptos Display</vt:lpstr>
      <vt:lpstr>Arial</vt:lpstr>
      <vt:lpstr>Calibri</vt:lpstr>
      <vt:lpstr>Consolas</vt:lpstr>
      <vt:lpstr>Constantia</vt:lpstr>
      <vt:lpstr>Office Theme</vt:lpstr>
      <vt:lpstr>Архитектура GUI приложений</vt:lpstr>
      <vt:lpstr>Особенности GUI-приложений</vt:lpstr>
      <vt:lpstr>PowerPoint Presentation</vt:lpstr>
      <vt:lpstr>Smart UI</vt:lpstr>
      <vt:lpstr>SmartUI (автономный View)</vt:lpstr>
      <vt:lpstr>Пример</vt:lpstr>
      <vt:lpstr>PowerPoint Presentation</vt:lpstr>
      <vt:lpstr>Достоинства и недостатки</vt:lpstr>
      <vt:lpstr>Document-View (Model Delegate)</vt:lpstr>
      <vt:lpstr>Document-View</vt:lpstr>
      <vt:lpstr>Достоинства Document-View</vt:lpstr>
      <vt:lpstr>Схема паттерна Document-View</vt:lpstr>
      <vt:lpstr>PowerPoint Presentation</vt:lpstr>
      <vt:lpstr>PowerPoint Presentation</vt:lpstr>
      <vt:lpstr>PowerPoint Presentation</vt:lpstr>
      <vt:lpstr>PowerPoint Presentation</vt:lpstr>
      <vt:lpstr>Особенности реализации в языках со статической типизацией</vt:lpstr>
      <vt:lpstr>Model-View-Controller</vt:lpstr>
      <vt:lpstr>Дальнейшее разделение представления</vt:lpstr>
      <vt:lpstr>Структура паттерна</vt:lpstr>
      <vt:lpstr>View</vt:lpstr>
      <vt:lpstr>Controller</vt:lpstr>
      <vt:lpstr>Взаимодействие компонентов</vt:lpstr>
      <vt:lpstr>Application</vt:lpstr>
      <vt:lpstr>Инициализация приложения</vt:lpstr>
      <vt:lpstr>Разделение ответственности</vt:lpstr>
      <vt:lpstr>Достоинства MVC</vt:lpstr>
      <vt:lpstr>Модель</vt:lpstr>
      <vt:lpstr>Сервисы, предоставляемые моделью</vt:lpstr>
      <vt:lpstr>Независимость модели от представления</vt:lpstr>
      <vt:lpstr>Как принято изменять состояние модели</vt:lpstr>
      <vt:lpstr>Обеспечение целостности данных</vt:lpstr>
      <vt:lpstr>Стратегии уведомления об измененниях модели</vt:lpstr>
      <vt:lpstr>Passive Model</vt:lpstr>
      <vt:lpstr>Достоинства и недостатки пассивной модели</vt:lpstr>
      <vt:lpstr>Активная модель</vt:lpstr>
      <vt:lpstr>Ленивая модель</vt:lpstr>
      <vt:lpstr>PowerPoint Presentation</vt:lpstr>
      <vt:lpstr>Представление</vt:lpstr>
      <vt:lpstr>Роль View в MVC</vt:lpstr>
      <vt:lpstr>Зависимости представления</vt:lpstr>
      <vt:lpstr>View и Widgets</vt:lpstr>
      <vt:lpstr>Обновление представления</vt:lpstr>
      <vt:lpstr>Представление – это не только графика</vt:lpstr>
      <vt:lpstr>Контроллер</vt:lpstr>
      <vt:lpstr>Контроллер</vt:lpstr>
      <vt:lpstr>Пример</vt:lpstr>
      <vt:lpstr>PowerPoint Presentation</vt:lpstr>
      <vt:lpstr>Passive View</vt:lpstr>
      <vt:lpstr>Passive View</vt:lpstr>
      <vt:lpstr>Структура паттерна</vt:lpstr>
      <vt:lpstr>Применение</vt:lpstr>
      <vt:lpstr>Тестовые дублеры (Test Double)</vt:lpstr>
      <vt:lpstr>Model-View-Presenter</vt:lpstr>
      <vt:lpstr>Model-View-Presenter vs MVC</vt:lpstr>
      <vt:lpstr>Роль Presenter</vt:lpstr>
      <vt:lpstr>Подход Presenter First</vt:lpstr>
      <vt:lpstr>MVVM</vt:lpstr>
      <vt:lpstr>Model-View-ViewModel</vt:lpstr>
      <vt:lpstr>Особенности MVVM</vt:lpstr>
      <vt:lpstr>Структура паттерна</vt:lpstr>
      <vt:lpstr>Заключение</vt:lpstr>
      <vt:lpstr>Главный принцип</vt:lpstr>
      <vt:lpstr>Когда View зависит от модели (MVC, Document-View)</vt:lpstr>
      <vt:lpstr>View изолировано от модели (MVP, Passive View, MVVM)</vt:lpstr>
      <vt:lpstr>Выбор подхода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723</cp:revision>
  <dcterms:created xsi:type="dcterms:W3CDTF">2016-02-02T19:36:42Z</dcterms:created>
  <dcterms:modified xsi:type="dcterms:W3CDTF">2025-12-04T17:44:41Z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