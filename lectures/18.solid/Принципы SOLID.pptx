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32" r:id="rId2"/>
    <p:sldId id="363" r:id="rId3"/>
    <p:sldId id="375" r:id="rId4"/>
    <p:sldId id="376" r:id="rId5"/>
    <p:sldId id="377" r:id="rId6"/>
    <p:sldId id="366" r:id="rId7"/>
    <p:sldId id="378" r:id="rId8"/>
    <p:sldId id="379" r:id="rId9"/>
    <p:sldId id="380" r:id="rId10"/>
    <p:sldId id="367" r:id="rId11"/>
    <p:sldId id="381" r:id="rId12"/>
    <p:sldId id="382" r:id="rId13"/>
    <p:sldId id="383" r:id="rId14"/>
    <p:sldId id="368" r:id="rId15"/>
    <p:sldId id="384" r:id="rId16"/>
    <p:sldId id="385" r:id="rId17"/>
    <p:sldId id="386" r:id="rId18"/>
    <p:sldId id="387" r:id="rId19"/>
    <p:sldId id="369" r:id="rId20"/>
    <p:sldId id="388" r:id="rId21"/>
    <p:sldId id="389" r:id="rId22"/>
    <p:sldId id="390" r:id="rId23"/>
    <p:sldId id="391" r:id="rId24"/>
    <p:sldId id="392" r:id="rId25"/>
    <p:sldId id="370" r:id="rId26"/>
    <p:sldId id="393" r:id="rId27"/>
    <p:sldId id="394" r:id="rId28"/>
    <p:sldId id="395" r:id="rId29"/>
    <p:sldId id="401" r:id="rId30"/>
    <p:sldId id="396" r:id="rId31"/>
    <p:sldId id="397" r:id="rId32"/>
    <p:sldId id="398" r:id="rId33"/>
    <p:sldId id="371" r:id="rId34"/>
    <p:sldId id="399" r:id="rId35"/>
    <p:sldId id="400" r:id="rId36"/>
    <p:sldId id="402" r:id="rId37"/>
    <p:sldId id="403" r:id="rId38"/>
    <p:sldId id="404" r:id="rId39"/>
    <p:sldId id="372" r:id="rId40"/>
    <p:sldId id="405" r:id="rId41"/>
    <p:sldId id="406" r:id="rId42"/>
    <p:sldId id="407" r:id="rId43"/>
    <p:sldId id="408" r:id="rId44"/>
    <p:sldId id="409" r:id="rId45"/>
    <p:sldId id="410" r:id="rId46"/>
    <p:sldId id="373" r:id="rId47"/>
    <p:sldId id="411" r:id="rId48"/>
    <p:sldId id="412" r:id="rId49"/>
    <p:sldId id="413" r:id="rId50"/>
    <p:sldId id="374" r:id="rId51"/>
    <p:sldId id="364" r:id="rId52"/>
    <p:sldId id="365" r:id="rId53"/>
    <p:sldId id="414" r:id="rId54"/>
    <p:sldId id="415" r:id="rId55"/>
    <p:sldId id="416" r:id="rId5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89DA28-C9C0-42FE-B6FA-C25EDA060E34}">
          <p14:sldIdLst>
            <p14:sldId id="332"/>
            <p14:sldId id="363"/>
            <p14:sldId id="375"/>
            <p14:sldId id="376"/>
            <p14:sldId id="377"/>
            <p14:sldId id="366"/>
            <p14:sldId id="378"/>
            <p14:sldId id="379"/>
            <p14:sldId id="380"/>
            <p14:sldId id="367"/>
            <p14:sldId id="381"/>
            <p14:sldId id="382"/>
            <p14:sldId id="383"/>
            <p14:sldId id="368"/>
            <p14:sldId id="384"/>
            <p14:sldId id="385"/>
            <p14:sldId id="386"/>
            <p14:sldId id="387"/>
            <p14:sldId id="369"/>
            <p14:sldId id="388"/>
            <p14:sldId id="389"/>
            <p14:sldId id="390"/>
            <p14:sldId id="391"/>
            <p14:sldId id="392"/>
            <p14:sldId id="370"/>
            <p14:sldId id="393"/>
            <p14:sldId id="394"/>
            <p14:sldId id="395"/>
            <p14:sldId id="401"/>
            <p14:sldId id="396"/>
            <p14:sldId id="397"/>
            <p14:sldId id="398"/>
            <p14:sldId id="371"/>
            <p14:sldId id="399"/>
            <p14:sldId id="400"/>
            <p14:sldId id="402"/>
            <p14:sldId id="403"/>
            <p14:sldId id="404"/>
            <p14:sldId id="372"/>
            <p14:sldId id="405"/>
            <p14:sldId id="406"/>
            <p14:sldId id="407"/>
            <p14:sldId id="408"/>
            <p14:sldId id="409"/>
            <p14:sldId id="410"/>
            <p14:sldId id="373"/>
            <p14:sldId id="411"/>
            <p14:sldId id="412"/>
            <p14:sldId id="413"/>
            <p14:sldId id="374"/>
            <p14:sldId id="364"/>
            <p14:sldId id="365"/>
            <p14:sldId id="414"/>
            <p14:sldId id="415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54" clrIdx="0"/>
  <p:cmAuthor id="2" name="Алексей Малов" initials="АМ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9" autoAdjust="0"/>
    <p:restoredTop sz="71065" autoAdjust="0"/>
  </p:normalViewPr>
  <p:slideViewPr>
    <p:cSldViewPr snapToGrid="0">
      <p:cViewPr varScale="1">
        <p:scale>
          <a:sx n="75" d="100"/>
          <a:sy n="75" d="100"/>
        </p:scale>
        <p:origin x="191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52FF6-3607-4C4E-A116-BCC07DF7B9AE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0A773-BC3A-474D-8036-883A816F0F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09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941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прошлой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ситуацией</a:t>
            </a:r>
            <a:r>
              <a:rPr lang="ru-RU" dirty="0"/>
              <a:t>, когда небольшое новое требование потребовало больших изменений в коде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умел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видами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PDF.</a:t>
            </a:r>
          </a:p>
          <a:p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небольшим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посмотрите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</a:t>
            </a:r>
            <a:r>
              <a:rPr lang="en-US" dirty="0" err="1"/>
              <a:t>программой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.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и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правка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/>
              <a:t>«</a:t>
            </a:r>
            <a:r>
              <a:rPr lang="en-US" b="1" dirty="0" err="1"/>
              <a:t>Сколько</a:t>
            </a:r>
            <a:r>
              <a:rPr lang="en-US" b="1" dirty="0"/>
              <a:t> </a:t>
            </a:r>
            <a:r>
              <a:rPr lang="en-US" b="1" dirty="0" err="1"/>
              <a:t>кода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написать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новой</a:t>
            </a:r>
            <a:r>
              <a:rPr lang="en-US" b="1" dirty="0"/>
              <a:t> </a:t>
            </a:r>
            <a:r>
              <a:rPr lang="en-US" b="1" dirty="0" err="1"/>
              <a:t>возможности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/>
              <a:t>«</a:t>
            </a:r>
            <a:r>
              <a:rPr lang="en-US" b="1" dirty="0" err="1"/>
              <a:t>Сколько</a:t>
            </a:r>
            <a:r>
              <a:rPr lang="en-US" b="1" dirty="0"/>
              <a:t> </a:t>
            </a:r>
            <a:r>
              <a:rPr lang="en-US" b="1" dirty="0" err="1"/>
              <a:t>существующего</a:t>
            </a:r>
            <a:r>
              <a:rPr lang="en-US" b="1" dirty="0"/>
              <a:t> </a:t>
            </a:r>
            <a:r>
              <a:rPr lang="en-US" b="1" dirty="0" err="1"/>
              <a:t>кода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затронуть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распространяется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89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взаимодействующих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</a:t>
            </a:r>
            <a:r>
              <a:rPr lang="en-US" dirty="0" err="1"/>
              <a:t>рассчитывает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</a:t>
            </a:r>
            <a:r>
              <a:rPr lang="en-US" dirty="0"/>
              <a:t>.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пойти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неправильный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 </a:t>
            </a:r>
            <a:r>
              <a:rPr lang="en-US" b="1" dirty="0" err="1"/>
              <a:t>Зависимости</a:t>
            </a:r>
            <a:r>
              <a:rPr lang="en-US" b="1" dirty="0"/>
              <a:t> </a:t>
            </a:r>
            <a:r>
              <a:rPr lang="en-US" b="1" dirty="0" err="1"/>
              <a:t>сами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себе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являются</a:t>
            </a:r>
            <a:r>
              <a:rPr lang="en-US" b="1" dirty="0"/>
              <a:t> </a:t>
            </a:r>
            <a:r>
              <a:rPr lang="en-US" b="1" dirty="0" err="1"/>
              <a:t>проблемой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состоять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.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о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аспектах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любого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аспектов</a:t>
            </a:r>
            <a:r>
              <a:rPr lang="en-US" dirty="0"/>
              <a:t> </a:t>
            </a:r>
            <a:r>
              <a:rPr lang="en-US" dirty="0" err="1"/>
              <a:t>затронет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зависимости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необходимы</a:t>
            </a:r>
            <a:r>
              <a:rPr lang="en-US" b="1" dirty="0"/>
              <a:t>, а </a:t>
            </a:r>
            <a:r>
              <a:rPr lang="en-US" b="1" dirty="0" err="1"/>
              <a:t>каких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избежать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290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знала</a:t>
            </a:r>
            <a:r>
              <a:rPr lang="en-US" dirty="0"/>
              <a:t> о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способах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появление</a:t>
            </a:r>
            <a:r>
              <a:rPr lang="en-US" dirty="0"/>
              <a:t> PDF </a:t>
            </a:r>
            <a:r>
              <a:rPr lang="en-US" dirty="0" err="1"/>
              <a:t>затрагивало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ввели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.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.</a:t>
            </a:r>
          </a:p>
          <a:p>
            <a:r>
              <a:rPr lang="en-US" dirty="0" err="1"/>
              <a:t>Появление</a:t>
            </a:r>
            <a:r>
              <a:rPr lang="en-US" dirty="0"/>
              <a:t> PDF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PDF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где-то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локализовано</a:t>
            </a:r>
            <a:r>
              <a:rPr lang="en-US" dirty="0"/>
              <a:t> в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компоненте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устранили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. 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хорошего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аспекта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, </a:t>
            </a:r>
            <a:r>
              <a:rPr lang="en-US" dirty="0" err="1"/>
              <a:t>желательно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аспекта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заставляло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6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держать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?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?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другом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разговора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понадобятся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</a:t>
            </a:r>
          </a:p>
          <a:p>
            <a:r>
              <a:rPr lang="en-US" dirty="0" err="1"/>
              <a:t>Первое</a:t>
            </a:r>
            <a:r>
              <a:rPr lang="en-US" dirty="0"/>
              <a:t> — </a:t>
            </a:r>
            <a:r>
              <a:rPr lang="en-US" b="1" dirty="0"/>
              <a:t>cohesion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связность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.</a:t>
            </a:r>
          </a:p>
          <a:p>
            <a:r>
              <a:rPr lang="en-US" dirty="0" err="1"/>
              <a:t>Второе</a:t>
            </a:r>
            <a:r>
              <a:rPr lang="en-US" dirty="0"/>
              <a:t> — </a:t>
            </a:r>
            <a:r>
              <a:rPr lang="en-US" b="1" dirty="0"/>
              <a:t>coupling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ru-RU" dirty="0"/>
              <a:t>зацепление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и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систематический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качества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23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понятия</a:t>
            </a:r>
            <a:r>
              <a:rPr lang="en-US" dirty="0"/>
              <a:t> cohesion.</a:t>
            </a:r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внутреннюю</a:t>
            </a:r>
            <a:r>
              <a:rPr lang="en-US" dirty="0"/>
              <a:t> </a:t>
            </a:r>
            <a:r>
              <a:rPr lang="en-US" dirty="0" err="1"/>
              <a:t>связность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левый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геометрией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описывать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в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геометрией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объяснить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правый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полезных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</a:t>
            </a:r>
            <a:r>
              <a:rPr lang="en-US" dirty="0" err="1"/>
              <a:t>экспорт</a:t>
            </a:r>
            <a:r>
              <a:rPr lang="en-US" dirty="0"/>
              <a:t> в PDF, </a:t>
            </a:r>
            <a:r>
              <a:rPr lang="en-US" dirty="0" err="1"/>
              <a:t>отправка</a:t>
            </a:r>
            <a:r>
              <a:rPr lang="en-US" dirty="0"/>
              <a:t> </a:t>
            </a:r>
            <a:r>
              <a:rPr lang="en-US" dirty="0" err="1"/>
              <a:t>почты</a:t>
            </a:r>
            <a:r>
              <a:rPr lang="en-US" dirty="0"/>
              <a:t> и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описать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ясным</a:t>
            </a:r>
            <a:r>
              <a:rPr lang="en-US" dirty="0"/>
              <a:t> </a:t>
            </a:r>
            <a:r>
              <a:rPr lang="en-US" dirty="0" err="1"/>
              <a:t>назначением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низкая</a:t>
            </a:r>
            <a:r>
              <a:rPr lang="en-US" dirty="0"/>
              <a:t> </a:t>
            </a:r>
            <a:r>
              <a:rPr lang="en-US" dirty="0" err="1"/>
              <a:t>внутренняя</a:t>
            </a:r>
            <a:r>
              <a:rPr lang="en-US" dirty="0"/>
              <a:t> </a:t>
            </a:r>
            <a:r>
              <a:rPr lang="en-US" dirty="0" err="1"/>
              <a:t>связность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анализе</a:t>
            </a:r>
            <a:r>
              <a:rPr lang="en-US" dirty="0"/>
              <a:t> cohesion </a:t>
            </a:r>
            <a:r>
              <a:rPr lang="en-US" dirty="0" err="1"/>
              <a:t>полезен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элементы</a:t>
            </a:r>
            <a:r>
              <a:rPr lang="en-US" b="1" dirty="0"/>
              <a:t> </a:t>
            </a:r>
            <a:r>
              <a:rPr lang="en-US" b="1" dirty="0" err="1"/>
              <a:t>находятся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опирается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 и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cohesion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высока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куда-то</a:t>
            </a:r>
            <a:r>
              <a:rPr lang="en-US" dirty="0"/>
              <a:t> </a:t>
            </a:r>
            <a:r>
              <a:rPr lang="en-US" dirty="0" err="1"/>
              <a:t>положить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»,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935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Coupling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примеру</a:t>
            </a:r>
            <a:r>
              <a:rPr lang="en-US" dirty="0"/>
              <a:t> с </a:t>
            </a:r>
            <a:r>
              <a:rPr lang="en-US" dirty="0" err="1"/>
              <a:t>графическим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знали</a:t>
            </a:r>
            <a:r>
              <a:rPr lang="en-US" dirty="0"/>
              <a:t> о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способах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знал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SVG.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</a:t>
            </a:r>
            <a:r>
              <a:rPr lang="en-US" dirty="0" err="1"/>
              <a:t>знал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SVG.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знал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SVG.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PDF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прямые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затронуть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сильную</a:t>
            </a:r>
            <a:r>
              <a:rPr lang="en-US" dirty="0"/>
              <a:t> </a:t>
            </a:r>
            <a:r>
              <a:rPr lang="en-US" dirty="0" err="1"/>
              <a:t>связанность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областями</a:t>
            </a:r>
            <a:r>
              <a:rPr lang="en-US" dirty="0"/>
              <a:t>: </a:t>
            </a:r>
            <a:r>
              <a:rPr lang="en-US" dirty="0" err="1"/>
              <a:t>геометрией</a:t>
            </a:r>
            <a:r>
              <a:rPr lang="en-US" dirty="0"/>
              <a:t> и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выводим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в SVG </a:t>
            </a:r>
            <a:r>
              <a:rPr lang="en-US" dirty="0" err="1"/>
              <a:t>или</a:t>
            </a:r>
            <a:r>
              <a:rPr lang="en-US" dirty="0"/>
              <a:t> в PDF.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.</a:t>
            </a:r>
          </a:p>
          <a:p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знаний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уменьшилось</a:t>
            </a:r>
            <a:r>
              <a:rPr lang="en-US" dirty="0"/>
              <a:t>.</a:t>
            </a:r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loose coupling.</a:t>
            </a:r>
          </a:p>
          <a:p>
            <a:endParaRPr lang="en-US" dirty="0"/>
          </a:p>
          <a:p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en-US" dirty="0"/>
              <a:t> coupling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</a:p>
          <a:p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модуль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знать</a:t>
            </a:r>
            <a:r>
              <a:rPr lang="en-US" b="1" dirty="0"/>
              <a:t> о </a:t>
            </a:r>
            <a:r>
              <a:rPr lang="en-US" b="1" dirty="0" err="1"/>
              <a:t>другом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лишних</a:t>
            </a:r>
            <a:r>
              <a:rPr lang="en-US" dirty="0"/>
              <a:t> </a:t>
            </a:r>
            <a:r>
              <a:rPr lang="en-US" dirty="0" err="1"/>
              <a:t>знаний</a:t>
            </a:r>
            <a:r>
              <a:rPr lang="en-US" dirty="0"/>
              <a:t> </a:t>
            </a:r>
            <a:r>
              <a:rPr lang="en-US" dirty="0" err="1"/>
              <a:t>пересекает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локализовать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52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объединим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</a:t>
            </a:r>
          </a:p>
          <a:p>
            <a:r>
              <a:rPr lang="en-US" dirty="0" err="1"/>
              <a:t>Посмотрите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 и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метафора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cohesion.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десятков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вал</a:t>
            </a:r>
            <a:r>
              <a:rPr lang="en-US" dirty="0"/>
              <a:t>.</a:t>
            </a:r>
          </a:p>
          <a:p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механизму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метафора</a:t>
            </a:r>
            <a:r>
              <a:rPr lang="en-US" dirty="0"/>
              <a:t> loose coupling.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программной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стремимся</a:t>
            </a:r>
            <a:r>
              <a:rPr lang="en-US" dirty="0"/>
              <a:t> к </a:t>
            </a:r>
            <a:r>
              <a:rPr lang="en-US" dirty="0" err="1"/>
              <a:t>похожей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.</a:t>
            </a:r>
          </a:p>
          <a:p>
            <a:r>
              <a:rPr lang="en-US" dirty="0" err="1"/>
              <a:t>Элементы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и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держать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 </a:t>
            </a:r>
            <a:r>
              <a:rPr lang="en-US" dirty="0" err="1"/>
              <a:t>желательно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и </a:t>
            </a:r>
            <a:r>
              <a:rPr lang="en-US" dirty="0" err="1"/>
              <a:t>понятный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разбросаны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модулям</a:t>
            </a:r>
            <a:r>
              <a:rPr lang="en-US" dirty="0"/>
              <a:t>,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выбраны</a:t>
            </a:r>
            <a:r>
              <a:rPr lang="en-US" dirty="0"/>
              <a:t> </a:t>
            </a:r>
            <a:r>
              <a:rPr lang="en-US" dirty="0" err="1"/>
              <a:t>удачно</a:t>
            </a:r>
            <a:r>
              <a:rPr lang="en-US" dirty="0"/>
              <a:t>, </a:t>
            </a:r>
            <a:r>
              <a:rPr lang="en-US" dirty="0" err="1"/>
              <a:t>большая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взаимодействий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cohesion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стоит</a:t>
            </a:r>
            <a:r>
              <a:rPr lang="en-US" b="1" dirty="0"/>
              <a:t> </a:t>
            </a:r>
            <a:r>
              <a:rPr lang="en-US" b="1" dirty="0" err="1"/>
              <a:t>объединить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А coupling —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пересекать</a:t>
            </a:r>
            <a:r>
              <a:rPr lang="en-US" b="1" dirty="0"/>
              <a:t> </a:t>
            </a:r>
            <a:r>
              <a:rPr lang="en-US" b="1" dirty="0" err="1"/>
              <a:t>границу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модулями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SOLID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с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свойствами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36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 к </a:t>
            </a:r>
            <a:r>
              <a:rPr lang="en-US" dirty="0" err="1"/>
              <a:t>группе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SOLID.</a:t>
            </a:r>
            <a:endParaRPr lang="ru-RU" dirty="0"/>
          </a:p>
          <a:p>
            <a:endParaRPr lang="en-US" dirty="0"/>
          </a:p>
          <a:p>
            <a:r>
              <a:rPr lang="en-US" dirty="0"/>
              <a:t>SOLID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мнемоническое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пяти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объектно-ориентированного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буква</a:t>
            </a:r>
            <a:r>
              <a:rPr lang="en-US" dirty="0"/>
              <a:t> </a:t>
            </a:r>
            <a:r>
              <a:rPr lang="en-US" dirty="0" err="1"/>
              <a:t>обозначает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dirty="0"/>
              <a:t> —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единственной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</a:t>
            </a:r>
            <a:r>
              <a:rPr lang="en-US" dirty="0"/>
              <a:t> —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открытости</a:t>
            </a:r>
            <a:r>
              <a:rPr lang="en-US" dirty="0"/>
              <a:t> и </a:t>
            </a:r>
            <a:r>
              <a:rPr lang="en-US" dirty="0" err="1"/>
              <a:t>закрытости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</a:t>
            </a:r>
            <a:r>
              <a:rPr lang="en-US" dirty="0"/>
              <a:t> —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подстановки</a:t>
            </a:r>
            <a:r>
              <a:rPr lang="en-US" dirty="0"/>
              <a:t> </a:t>
            </a:r>
            <a:r>
              <a:rPr lang="en-US" dirty="0" err="1"/>
              <a:t>Лисков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dirty="0"/>
              <a:t> —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dirty="0"/>
              <a:t> —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инверсии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рассматривают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ответственностей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—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базовыми</a:t>
            </a:r>
            <a:r>
              <a:rPr lang="en-US" dirty="0"/>
              <a:t> и </a:t>
            </a:r>
            <a:r>
              <a:rPr lang="en-US" dirty="0" err="1"/>
              <a:t>производными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.</a:t>
            </a:r>
          </a:p>
          <a:p>
            <a:r>
              <a:rPr lang="en-US" dirty="0" err="1"/>
              <a:t>Оставшиеся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обращают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и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SOLID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правил</a:t>
            </a:r>
            <a:r>
              <a:rPr lang="en-US" dirty="0"/>
              <a:t> и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хорошую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Полезнее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SOLID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к </a:t>
            </a:r>
            <a:r>
              <a:rPr lang="en-US" dirty="0" err="1"/>
              <a:t>дизайну</a:t>
            </a:r>
            <a:r>
              <a:rPr lang="en-US" dirty="0"/>
              <a:t> и </a:t>
            </a:r>
            <a:r>
              <a:rPr lang="en-US" dirty="0" err="1"/>
              <a:t>заметить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860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превращать</a:t>
            </a:r>
            <a:r>
              <a:rPr lang="en-US" dirty="0"/>
              <a:t> SOLID в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определений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запоминания</a:t>
            </a:r>
            <a:r>
              <a:rPr lang="en-US" dirty="0"/>
              <a:t>, </a:t>
            </a:r>
            <a:r>
              <a:rPr lang="en-US" dirty="0" err="1"/>
              <a:t>свяжем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с </a:t>
            </a:r>
            <a:r>
              <a:rPr lang="en-US" dirty="0" err="1"/>
              <a:t>вопросом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SRP </a:t>
            </a:r>
            <a:r>
              <a:rPr lang="en-US" dirty="0" err="1"/>
              <a:t>спрашивает</a:t>
            </a:r>
            <a:r>
              <a:rPr lang="en-US" dirty="0"/>
              <a:t>:</a:t>
            </a:r>
          </a:p>
          <a:p>
            <a:r>
              <a:rPr lang="en-US" b="1" dirty="0" err="1"/>
              <a:t>что</a:t>
            </a:r>
            <a:r>
              <a:rPr lang="en-US" b="1" dirty="0"/>
              <a:t> в </a:t>
            </a:r>
            <a:r>
              <a:rPr lang="en-US" b="1" dirty="0" err="1"/>
              <a:t>этом</a:t>
            </a:r>
            <a:r>
              <a:rPr lang="en-US" b="1" dirty="0"/>
              <a:t> </a:t>
            </a:r>
            <a:r>
              <a:rPr lang="en-US" b="1" dirty="0" err="1"/>
              <a:t>компоненте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разным</a:t>
            </a:r>
            <a:r>
              <a:rPr lang="en-US" b="1" dirty="0"/>
              <a:t> </a:t>
            </a:r>
            <a:r>
              <a:rPr lang="en-US" b="1" dirty="0" err="1"/>
              <a:t>причинам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OCP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какое</a:t>
            </a:r>
            <a:r>
              <a:rPr lang="en-US" b="1" dirty="0"/>
              <a:t> </a:t>
            </a:r>
            <a:r>
              <a:rPr lang="en-US" b="1" dirty="0" err="1"/>
              <a:t>направление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дешёвым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LSP </a:t>
            </a:r>
            <a:r>
              <a:rPr lang="en-US" dirty="0" err="1"/>
              <a:t>обращает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контракты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:</a:t>
            </a:r>
          </a:p>
          <a:p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клиент</a:t>
            </a:r>
            <a:r>
              <a:rPr lang="en-US" b="1" dirty="0"/>
              <a:t> </a:t>
            </a:r>
            <a:r>
              <a:rPr lang="en-US" b="1" dirty="0" err="1"/>
              <a:t>безопасно</a:t>
            </a:r>
            <a:r>
              <a:rPr lang="en-US" b="1" dirty="0"/>
              <a:t> </a:t>
            </a:r>
            <a:r>
              <a:rPr lang="en-US" b="1" dirty="0" err="1"/>
              <a:t>использовать</a:t>
            </a:r>
            <a:r>
              <a:rPr lang="en-US" b="1" dirty="0"/>
              <a:t> </a:t>
            </a:r>
            <a:r>
              <a:rPr lang="en-US" b="1" dirty="0" err="1"/>
              <a:t>подтип</a:t>
            </a:r>
            <a:r>
              <a:rPr lang="en-US" b="1" dirty="0"/>
              <a:t> </a:t>
            </a:r>
            <a:r>
              <a:rPr lang="en-US" b="1" dirty="0" err="1"/>
              <a:t>там</a:t>
            </a:r>
            <a:r>
              <a:rPr lang="en-US" b="1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ожидается</a:t>
            </a:r>
            <a:r>
              <a:rPr lang="en-US" b="1" dirty="0"/>
              <a:t> </a:t>
            </a:r>
            <a:r>
              <a:rPr lang="en-US" b="1" dirty="0" err="1"/>
              <a:t>базовый</a:t>
            </a:r>
            <a:r>
              <a:rPr lang="en-US" b="1" dirty="0"/>
              <a:t> </a:t>
            </a:r>
            <a:r>
              <a:rPr lang="en-US" b="1" dirty="0" err="1"/>
              <a:t>тип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ISP </a:t>
            </a:r>
            <a:r>
              <a:rPr lang="en-US" dirty="0" err="1"/>
              <a:t>рассматривает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:</a:t>
            </a:r>
          </a:p>
          <a:p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каких</a:t>
            </a:r>
            <a:r>
              <a:rPr lang="en-US" b="1" dirty="0"/>
              <a:t> </a:t>
            </a:r>
            <a:r>
              <a:rPr lang="en-US" b="1" dirty="0" err="1"/>
              <a:t>возможностей</a:t>
            </a:r>
            <a:r>
              <a:rPr lang="en-US" b="1" dirty="0"/>
              <a:t> </a:t>
            </a:r>
            <a:r>
              <a:rPr lang="en-US" b="1" dirty="0" err="1"/>
              <a:t>клиент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DIP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:</a:t>
            </a:r>
          </a:p>
          <a:p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оказалась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важная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зависимой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конкретных</a:t>
            </a:r>
            <a:r>
              <a:rPr lang="en-US" b="1" dirty="0"/>
              <a:t> </a:t>
            </a:r>
            <a:r>
              <a:rPr lang="en-US" b="1" dirty="0" err="1"/>
              <a:t>деталей</a:t>
            </a:r>
            <a:r>
              <a:rPr lang="en-US" b="1" dirty="0"/>
              <a:t> </a:t>
            </a:r>
            <a:r>
              <a:rPr lang="en-US" b="1" dirty="0" err="1"/>
              <a:t>реализации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SOLID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линз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с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линза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заметить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с </a:t>
            </a:r>
            <a:r>
              <a:rPr lang="en-US" dirty="0" err="1"/>
              <a:t>ответственностями</a:t>
            </a:r>
            <a:r>
              <a:rPr lang="en-US" dirty="0"/>
              <a:t>. </a:t>
            </a:r>
            <a:r>
              <a:rPr lang="en-US" dirty="0" err="1"/>
              <a:t>Другая</a:t>
            </a:r>
            <a:r>
              <a:rPr lang="en-US" dirty="0"/>
              <a:t> — с </a:t>
            </a:r>
            <a:r>
              <a:rPr lang="en-US" dirty="0" err="1"/>
              <a:t>расширением</a:t>
            </a:r>
            <a:r>
              <a:rPr lang="en-US" dirty="0"/>
              <a:t>. </a:t>
            </a:r>
            <a:r>
              <a:rPr lang="en-US" dirty="0" err="1"/>
              <a:t>Третья</a:t>
            </a:r>
            <a:r>
              <a:rPr lang="en-US" dirty="0"/>
              <a:t> — с </a:t>
            </a:r>
            <a:r>
              <a:rPr lang="en-US" dirty="0" err="1"/>
              <a:t>контрактом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полного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о </a:t>
            </a:r>
            <a:r>
              <a:rPr lang="en-US" dirty="0" err="1"/>
              <a:t>качестве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067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конкретными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проанализировать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SRP.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спросим</a:t>
            </a:r>
            <a:r>
              <a:rPr lang="en-US" dirty="0"/>
              <a:t>:</a:t>
            </a:r>
          </a:p>
          <a:p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класс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 </a:t>
            </a:r>
            <a:r>
              <a:rPr lang="en-US" b="1" dirty="0" err="1"/>
              <a:t>отвечает</a:t>
            </a:r>
            <a:r>
              <a:rPr lang="en-US" b="1" dirty="0"/>
              <a:t> и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, и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способы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OCP.</a:t>
            </a:r>
          </a:p>
          <a:p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:</a:t>
            </a:r>
          </a:p>
          <a:p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произойдёт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понадобится</a:t>
            </a:r>
            <a:r>
              <a:rPr lang="en-US" b="1" dirty="0"/>
              <a:t> </a:t>
            </a:r>
            <a:r>
              <a:rPr lang="en-US" b="1" dirty="0" err="1"/>
              <a:t>ещё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формат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поддерживается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DIP.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заинтересует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:</a:t>
            </a:r>
          </a:p>
          <a:p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знать</a:t>
            </a:r>
            <a:r>
              <a:rPr lang="en-US" b="1" dirty="0"/>
              <a:t> о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технологии</a:t>
            </a:r>
            <a:r>
              <a:rPr lang="en-US" b="1" dirty="0"/>
              <a:t> </a:t>
            </a:r>
            <a:r>
              <a:rPr lang="en-US" b="1" dirty="0" err="1"/>
              <a:t>экспорта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показывают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аспекта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классифицировать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нарушение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буквы</a:t>
            </a:r>
            <a:r>
              <a:rPr lang="en-US" dirty="0"/>
              <a:t> SOLID.</a:t>
            </a:r>
          </a:p>
          <a:p>
            <a:endParaRPr lang="en-US" dirty="0"/>
          </a:p>
          <a:p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пересекаются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рассуждать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и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693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единственной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— Single Responsibility Principle.</a:t>
            </a:r>
          </a:p>
          <a:p>
            <a:endParaRPr lang="en-US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формулируют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у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«</a:t>
            </a:r>
            <a:r>
              <a:rPr lang="en-US" dirty="0" err="1"/>
              <a:t>ответственность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</a:t>
            </a:r>
            <a:r>
              <a:rPr lang="en-US" dirty="0" err="1"/>
              <a:t>подсчётом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.</a:t>
            </a:r>
          </a:p>
          <a:p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ShapeGeometry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вычислять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,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— к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dirty="0" err="1"/>
              <a:t>приходят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геометрией</a:t>
            </a:r>
            <a:r>
              <a:rPr lang="en-US" dirty="0"/>
              <a:t> —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анализе</a:t>
            </a:r>
            <a:r>
              <a:rPr lang="en-US" dirty="0"/>
              <a:t> SRP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спрашивать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?»</a:t>
            </a:r>
          </a:p>
          <a:p>
            <a:r>
              <a:rPr lang="en-US" dirty="0"/>
              <a:t>А:</a:t>
            </a:r>
          </a:p>
          <a:p>
            <a:r>
              <a:rPr lang="en-US" b="1" dirty="0"/>
              <a:t>«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требований</a:t>
            </a:r>
            <a:r>
              <a:rPr lang="en-US" b="1" dirty="0"/>
              <a:t> </a:t>
            </a:r>
            <a:r>
              <a:rPr lang="en-US" b="1" dirty="0" err="1"/>
              <a:t>могут</a:t>
            </a:r>
            <a:r>
              <a:rPr lang="en-US" b="1" dirty="0"/>
              <a:t> </a:t>
            </a:r>
            <a:r>
              <a:rPr lang="en-US" b="1" dirty="0" err="1"/>
              <a:t>заставить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класс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независимы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компоненте</a:t>
            </a:r>
            <a:r>
              <a:rPr lang="en-US" dirty="0"/>
              <a:t> </a:t>
            </a:r>
            <a:r>
              <a:rPr lang="en-US" dirty="0" err="1"/>
              <a:t>оказались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886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и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</a:t>
            </a:r>
            <a:r>
              <a:rPr lang="en-US" dirty="0"/>
              <a:t> и </a:t>
            </a:r>
            <a:r>
              <a:rPr lang="en-US" dirty="0" err="1"/>
              <a:t>загружать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PDF.</a:t>
            </a:r>
          </a:p>
          <a:p>
            <a:endParaRPr lang="ru-RU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моделью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форматом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сохранённого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версию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PDF.</a:t>
            </a:r>
          </a:p>
          <a:p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экспорту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PDF.</a:t>
            </a:r>
          </a:p>
          <a:p>
            <a:endParaRPr lang="ru-RU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независимы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в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DrawingDocument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главным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 </a:t>
            </a:r>
            <a:r>
              <a:rPr lang="ru-RU" dirty="0"/>
              <a:t>о нарушении</a:t>
            </a:r>
            <a:r>
              <a:rPr lang="en-US" dirty="0"/>
              <a:t> SRP.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количестве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 err="1"/>
              <a:t>несколько</a:t>
            </a:r>
            <a:r>
              <a:rPr lang="en-US" b="1" dirty="0"/>
              <a:t> </a:t>
            </a:r>
            <a:r>
              <a:rPr lang="en-US" b="1" dirty="0" err="1"/>
              <a:t>независимых</a:t>
            </a:r>
            <a:r>
              <a:rPr lang="en-US" b="1" dirty="0"/>
              <a:t> </a:t>
            </a:r>
            <a:r>
              <a:rPr lang="en-US" b="1" dirty="0" err="1"/>
              <a:t>причин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сосредоточены</a:t>
            </a:r>
            <a:r>
              <a:rPr lang="en-US" b="1" dirty="0"/>
              <a:t> в </a:t>
            </a:r>
            <a:r>
              <a:rPr lang="en-US" b="1" dirty="0" err="1"/>
              <a:t>одном</a:t>
            </a:r>
            <a:r>
              <a:rPr lang="en-US" b="1" dirty="0"/>
              <a:t> </a:t>
            </a:r>
            <a:r>
              <a:rPr lang="en-US" b="1" dirty="0" err="1"/>
              <a:t>компоненте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061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 </a:t>
            </a:r>
            <a:r>
              <a:rPr lang="en-US" dirty="0" err="1"/>
              <a:t>оставим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Сохранение</a:t>
            </a:r>
            <a:r>
              <a:rPr lang="en-US" dirty="0"/>
              <a:t> и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вынесем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Экспорт</a:t>
            </a:r>
            <a:r>
              <a:rPr lang="en-US" dirty="0"/>
              <a:t> в PDF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ответственностью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PdfExporter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работаем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сосредоточены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PDF,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PdfExporter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устранили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требованиями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идее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: </a:t>
            </a:r>
            <a:r>
              <a:rPr lang="en-US" b="1" dirty="0" err="1"/>
              <a:t>хороший</a:t>
            </a:r>
            <a:r>
              <a:rPr lang="en-US" b="1" dirty="0"/>
              <a:t> </a:t>
            </a:r>
            <a:r>
              <a:rPr lang="en-US" b="1" dirty="0" err="1"/>
              <a:t>дизайн</a:t>
            </a:r>
            <a:r>
              <a:rPr lang="en-US" b="1" dirty="0"/>
              <a:t> </a:t>
            </a:r>
            <a:r>
              <a:rPr lang="en-US" b="1" dirty="0" err="1"/>
              <a:t>старается</a:t>
            </a:r>
            <a:r>
              <a:rPr lang="en-US" b="1" dirty="0"/>
              <a:t> </a:t>
            </a:r>
            <a:r>
              <a:rPr lang="en-US" b="1" dirty="0" err="1"/>
              <a:t>локализовать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SRP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объединять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и </a:t>
            </a:r>
            <a:r>
              <a:rPr lang="en-US" dirty="0" err="1"/>
              <a:t>связей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379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сохранение</a:t>
            </a:r>
            <a:r>
              <a:rPr lang="en-US" dirty="0"/>
              <a:t> и </a:t>
            </a:r>
            <a:r>
              <a:rPr lang="en-US" dirty="0" err="1"/>
              <a:t>загрузку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DrawingSerializer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?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SRP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согласованно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и </a:t>
            </a:r>
            <a:r>
              <a:rPr lang="en-US" dirty="0" err="1"/>
              <a:t>запись</a:t>
            </a:r>
            <a:r>
              <a:rPr lang="en-US" dirty="0"/>
              <a:t>, и </a:t>
            </a:r>
            <a:r>
              <a:rPr lang="en-US" dirty="0" err="1"/>
              <a:t>чтение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 —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ответственностей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SRP.</a:t>
            </a:r>
          </a:p>
          <a:p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код</a:t>
            </a:r>
            <a:r>
              <a:rPr lang="en-US" b="1" dirty="0"/>
              <a:t> </a:t>
            </a:r>
            <a:r>
              <a:rPr lang="en-US" b="1" dirty="0" err="1"/>
              <a:t>меняется</a:t>
            </a:r>
            <a:r>
              <a:rPr lang="en-US" b="1" dirty="0"/>
              <a:t> в </a:t>
            </a:r>
            <a:r>
              <a:rPr lang="en-US" b="1" dirty="0" err="1"/>
              <a:t>реальной</a:t>
            </a:r>
            <a:r>
              <a:rPr lang="en-US" b="1" dirty="0"/>
              <a:t> </a:t>
            </a:r>
            <a:r>
              <a:rPr lang="en-US" b="1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SRP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диагностический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/>
              <a:t>«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независимые</a:t>
            </a:r>
            <a:r>
              <a:rPr lang="en-US" b="1" dirty="0"/>
              <a:t> </a:t>
            </a:r>
            <a:r>
              <a:rPr lang="en-US" b="1" dirty="0" err="1"/>
              <a:t>источники</a:t>
            </a:r>
            <a:r>
              <a:rPr lang="en-US" b="1" dirty="0"/>
              <a:t> </a:t>
            </a:r>
            <a:r>
              <a:rPr lang="en-US" b="1" dirty="0" err="1"/>
              <a:t>требований</a:t>
            </a:r>
            <a:r>
              <a:rPr lang="en-US" b="1" dirty="0"/>
              <a:t> </a:t>
            </a:r>
            <a:r>
              <a:rPr lang="en-US" b="1" dirty="0" err="1"/>
              <a:t>заставляют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компонент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?»</a:t>
            </a:r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dirty="0" err="1"/>
              <a:t>выполняемых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06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— Open/Closed Principle,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открытости</a:t>
            </a:r>
            <a:r>
              <a:rPr lang="en-US" dirty="0"/>
              <a:t> и </a:t>
            </a:r>
            <a:r>
              <a:rPr lang="en-US" dirty="0" err="1"/>
              <a:t>закрытости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формулировка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b="1" dirty="0" err="1"/>
              <a:t>программная</a:t>
            </a:r>
            <a:r>
              <a:rPr lang="en-US" b="1" dirty="0"/>
              <a:t> </a:t>
            </a:r>
            <a:r>
              <a:rPr lang="en-US" b="1" dirty="0" err="1"/>
              <a:t>сущность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b="1" dirty="0"/>
              <a:t> </a:t>
            </a:r>
            <a:r>
              <a:rPr lang="en-US" b="1" dirty="0" err="1"/>
              <a:t>открыта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r>
              <a:rPr lang="en-US" b="1" dirty="0"/>
              <a:t>, </a:t>
            </a:r>
            <a:r>
              <a:rPr lang="en-US" b="1" dirty="0" err="1"/>
              <a:t>но</a:t>
            </a:r>
            <a:r>
              <a:rPr lang="en-US" b="1" dirty="0"/>
              <a:t> </a:t>
            </a:r>
            <a:r>
              <a:rPr lang="en-US" b="1" dirty="0" err="1"/>
              <a:t>закрыта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.</a:t>
            </a:r>
          </a:p>
          <a:p>
            <a:endParaRPr lang="en-US" dirty="0"/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формулировку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однажды</a:t>
            </a:r>
            <a:r>
              <a:rPr lang="en-US" dirty="0"/>
              <a:t> </a:t>
            </a:r>
            <a:r>
              <a:rPr lang="en-US" dirty="0" err="1"/>
              <a:t>написанный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редактировать</a:t>
            </a:r>
            <a:r>
              <a:rPr lang="en-US" dirty="0"/>
              <a:t>.</a:t>
            </a:r>
          </a:p>
          <a:p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. </a:t>
            </a: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исправляются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и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о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добавлялось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закрыты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какого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закрыта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OCP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990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минимум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Первое</a:t>
            </a:r>
            <a:r>
              <a:rPr lang="en-US" dirty="0"/>
              <a:t> —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, </a:t>
            </a:r>
            <a:r>
              <a:rPr lang="en-US" dirty="0" err="1"/>
              <a:t>многоугольник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кривая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—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рисовали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SVG. </a:t>
            </a:r>
            <a:r>
              <a:rPr lang="en-US" dirty="0" err="1"/>
              <a:t>Затем</a:t>
            </a:r>
            <a:r>
              <a:rPr lang="en-US" dirty="0"/>
              <a:t> PDF.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участвовать</a:t>
            </a:r>
            <a:r>
              <a:rPr lang="en-US" dirty="0"/>
              <a:t> в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нужном</a:t>
            </a:r>
            <a:r>
              <a:rPr lang="en-US" dirty="0"/>
              <a:t> </a:t>
            </a:r>
            <a:r>
              <a:rPr lang="en-US" dirty="0" err="1"/>
              <a:t>способе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</a:p>
          <a:p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поддержать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сложностью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применением</a:t>
            </a:r>
            <a:r>
              <a:rPr lang="en-US" dirty="0"/>
              <a:t> OCP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: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ожидаем</a:t>
            </a:r>
            <a:r>
              <a:rPr lang="en-US" b="1" dirty="0"/>
              <a:t> и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дешёвыми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770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в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SVG,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в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PDF.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изменяем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характер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распространяются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—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типам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обходить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роста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увеличиваться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OCP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и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создать</a:t>
            </a:r>
            <a:r>
              <a:rPr lang="en-US" b="1" dirty="0"/>
              <a:t> </a:t>
            </a:r>
            <a:r>
              <a:rPr lang="en-US" b="1" dirty="0" err="1"/>
              <a:t>отдельную</a:t>
            </a:r>
            <a:r>
              <a:rPr lang="en-US" b="1" dirty="0"/>
              <a:t> </a:t>
            </a:r>
            <a:r>
              <a:rPr lang="en-US" b="1" dirty="0" err="1"/>
              <a:t>точку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способов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113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 о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форматах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Экран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SVG — </a:t>
            </a:r>
            <a:r>
              <a:rPr lang="en-US" dirty="0" err="1"/>
              <a:t>другим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PDF — </a:t>
            </a:r>
            <a:r>
              <a:rPr lang="en-US" dirty="0" err="1"/>
              <a:t>третьим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PostScript.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существующая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закрыта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и </a:t>
            </a:r>
            <a:r>
              <a:rPr lang="en-US" dirty="0" err="1"/>
              <a:t>цену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проследить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бесплатным</a:t>
            </a:r>
            <a:r>
              <a:rPr lang="en-US" dirty="0"/>
              <a:t>.</a:t>
            </a:r>
          </a:p>
          <a:p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заплатили</a:t>
            </a:r>
            <a:r>
              <a:rPr lang="en-US" b="1" dirty="0"/>
              <a:t> </a:t>
            </a:r>
            <a:r>
              <a:rPr lang="en-US" b="1" dirty="0" err="1"/>
              <a:t>сложностью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то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конкретный</a:t>
            </a:r>
            <a:r>
              <a:rPr lang="en-US" b="1" dirty="0"/>
              <a:t> </a:t>
            </a:r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будущих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</a:t>
            </a:r>
            <a:r>
              <a:rPr lang="en-US" b="1" dirty="0" err="1"/>
              <a:t>стал</a:t>
            </a:r>
            <a:r>
              <a:rPr lang="en-US" b="1" dirty="0"/>
              <a:t> </a:t>
            </a:r>
            <a:r>
              <a:rPr lang="en-US" b="1" dirty="0" err="1"/>
              <a:t>дешевле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708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обсудить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OCP.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потребовались</a:t>
            </a:r>
            <a:r>
              <a:rPr lang="en-US" dirty="0"/>
              <a:t> SVG, PDF, PNG и PostScript.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окупаться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SVG.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развитая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подключаемых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лишней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заплатим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воспользуемся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OCP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знаний</a:t>
            </a:r>
            <a:r>
              <a:rPr lang="en-US" dirty="0"/>
              <a:t> о </a:t>
            </a:r>
            <a:r>
              <a:rPr lang="en-US" dirty="0" err="1"/>
              <a:t>требованиях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предположение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считаем</a:t>
            </a:r>
            <a:r>
              <a:rPr lang="en-US" b="1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</a:t>
            </a:r>
            <a:r>
              <a:rPr lang="en-US" b="1" dirty="0" err="1"/>
              <a:t>будет</a:t>
            </a:r>
            <a:r>
              <a:rPr lang="en-US" b="1" dirty="0"/>
              <a:t> </a:t>
            </a:r>
            <a:r>
              <a:rPr lang="en-US" b="1" dirty="0" err="1"/>
              <a:t>достаточно</a:t>
            </a:r>
            <a:r>
              <a:rPr lang="en-US" b="1" dirty="0"/>
              <a:t> </a:t>
            </a:r>
            <a:r>
              <a:rPr lang="en-US" b="1" dirty="0" err="1"/>
              <a:t>важным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дешёвым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введения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закрытой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любых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,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Закрытость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определённой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практический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OCP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«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код</a:t>
            </a:r>
            <a:r>
              <a:rPr lang="en-US" b="1" dirty="0"/>
              <a:t>, </a:t>
            </a:r>
            <a:r>
              <a:rPr lang="en-US" b="1" dirty="0" err="1"/>
              <a:t>который</a:t>
            </a:r>
            <a:r>
              <a:rPr lang="en-US" b="1" dirty="0"/>
              <a:t> </a:t>
            </a:r>
            <a:r>
              <a:rPr lang="en-US" b="1" dirty="0" err="1"/>
              <a:t>никогда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менять</a:t>
            </a:r>
            <a:r>
              <a:rPr lang="en-US" b="1" dirty="0"/>
              <a:t>?»</a:t>
            </a:r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так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«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хотим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дешёвыми</a:t>
            </a:r>
            <a:r>
              <a:rPr lang="en-US" b="1" dirty="0"/>
              <a:t> и </a:t>
            </a:r>
            <a:r>
              <a:rPr lang="en-US" b="1" dirty="0" err="1"/>
              <a:t>стоит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платить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сегодня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220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— </a:t>
            </a:r>
            <a:r>
              <a:rPr lang="en-US" dirty="0" err="1"/>
              <a:t>Liskov</a:t>
            </a:r>
            <a:r>
              <a:rPr lang="en-US" dirty="0"/>
              <a:t> Substitution Principle,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подстановки</a:t>
            </a:r>
            <a:r>
              <a:rPr lang="en-US" dirty="0"/>
              <a:t> </a:t>
            </a:r>
            <a:r>
              <a:rPr lang="en-US" dirty="0" err="1"/>
              <a:t>Лисков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назван</a:t>
            </a:r>
            <a:r>
              <a:rPr lang="en-US" dirty="0"/>
              <a:t> в </a:t>
            </a:r>
            <a:r>
              <a:rPr lang="en-US" dirty="0" err="1"/>
              <a:t>честь</a:t>
            </a:r>
            <a:r>
              <a:rPr lang="en-US" dirty="0"/>
              <a:t> </a:t>
            </a:r>
            <a:r>
              <a:rPr lang="en-US" dirty="0" err="1"/>
              <a:t>Барбары</a:t>
            </a:r>
            <a:r>
              <a:rPr lang="en-US" dirty="0"/>
              <a:t> </a:t>
            </a:r>
            <a:r>
              <a:rPr lang="en-US" dirty="0" err="1"/>
              <a:t>Лисков</a:t>
            </a:r>
            <a:r>
              <a:rPr lang="en-US" dirty="0"/>
              <a:t>. </a:t>
            </a:r>
            <a:r>
              <a:rPr lang="en-US" dirty="0" err="1"/>
              <a:t>Барбара</a:t>
            </a:r>
            <a:r>
              <a:rPr lang="en-US" dirty="0"/>
              <a:t> </a:t>
            </a:r>
            <a:r>
              <a:rPr lang="en-US" dirty="0" err="1"/>
              <a:t>Лисков</a:t>
            </a:r>
            <a:r>
              <a:rPr lang="en-US" dirty="0"/>
              <a:t> — </a:t>
            </a:r>
            <a:r>
              <a:rPr lang="en-US" dirty="0" err="1"/>
              <a:t>женщина</a:t>
            </a:r>
            <a:r>
              <a:rPr lang="en-US" dirty="0"/>
              <a:t>, </a:t>
            </a:r>
            <a:r>
              <a:rPr lang="en-US" dirty="0" err="1"/>
              <a:t>американский</a:t>
            </a:r>
            <a:r>
              <a:rPr lang="en-US" dirty="0"/>
              <a:t> </a:t>
            </a:r>
            <a:r>
              <a:rPr lang="en-US" dirty="0" err="1"/>
              <a:t>учёный</a:t>
            </a:r>
            <a:r>
              <a:rPr lang="en-US" dirty="0"/>
              <a:t> в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информатики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подтипами</a:t>
            </a:r>
            <a:r>
              <a:rPr lang="en-US" dirty="0"/>
              <a:t> и </a:t>
            </a:r>
            <a:r>
              <a:rPr lang="en-US" dirty="0" err="1"/>
              <a:t>полиморфизмом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OCP.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создавали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и </a:t>
            </a:r>
            <a:r>
              <a:rPr lang="en-US" dirty="0" err="1"/>
              <a:t>добавляли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старой</a:t>
            </a:r>
            <a:r>
              <a:rPr lang="en-US" dirty="0"/>
              <a:t>?</a:t>
            </a:r>
          </a:p>
          <a:p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проверит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рассчитывает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рассчитывает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LSP </a:t>
            </a:r>
            <a:r>
              <a:rPr lang="en-US" dirty="0" err="1"/>
              <a:t>тип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задаёт</a:t>
            </a:r>
            <a:r>
              <a:rPr lang="en-US" b="1" dirty="0"/>
              <a:t> </a:t>
            </a:r>
            <a:r>
              <a:rPr lang="en-US" b="1" dirty="0" err="1"/>
              <a:t>контракт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нарушает</a:t>
            </a:r>
            <a:r>
              <a:rPr lang="en-US" dirty="0"/>
              <a:t>,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корректная</a:t>
            </a:r>
            <a:r>
              <a:rPr lang="en-US" dirty="0"/>
              <a:t> </a:t>
            </a:r>
            <a:r>
              <a:rPr lang="en-US" dirty="0" err="1"/>
              <a:t>подстановка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сломать</a:t>
            </a:r>
            <a:r>
              <a:rPr lang="en-US" dirty="0"/>
              <a:t> </a:t>
            </a:r>
            <a:r>
              <a:rPr lang="en-US" dirty="0" err="1"/>
              <a:t>клиентский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33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говорить</a:t>
            </a:r>
            <a:r>
              <a:rPr lang="en-US" dirty="0"/>
              <a:t> о LSP </a:t>
            </a:r>
            <a:r>
              <a:rPr lang="en-US" dirty="0" err="1"/>
              <a:t>точнее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предусловия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требования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масштабирования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положительный</a:t>
            </a:r>
            <a:r>
              <a:rPr lang="en-US" dirty="0"/>
              <a:t> </a:t>
            </a:r>
            <a:r>
              <a:rPr lang="en-US" dirty="0" err="1"/>
              <a:t>коэффициент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постусловия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гарантии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обещать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позиция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переданный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публичными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записан</a:t>
            </a:r>
            <a:r>
              <a:rPr lang="en-US" dirty="0"/>
              <a:t> </a:t>
            </a:r>
            <a:r>
              <a:rPr lang="en-US" dirty="0" err="1"/>
              <a:t>формальным</a:t>
            </a:r>
            <a:r>
              <a:rPr lang="en-US" dirty="0"/>
              <a:t> </a:t>
            </a:r>
            <a:r>
              <a:rPr lang="en-US" dirty="0" err="1"/>
              <a:t>языком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описан</a:t>
            </a:r>
            <a:r>
              <a:rPr lang="en-US" dirty="0"/>
              <a:t> в </a:t>
            </a:r>
            <a:r>
              <a:rPr lang="en-US" dirty="0" err="1"/>
              <a:t>документации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следовать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закреплён</a:t>
            </a:r>
            <a:r>
              <a:rPr lang="en-US" dirty="0"/>
              <a:t> </a:t>
            </a:r>
            <a:r>
              <a:rPr lang="en-US" dirty="0" err="1"/>
              <a:t>тестами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строит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ожиданиях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подтип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3991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LSP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подтипа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предусловий</a:t>
            </a:r>
            <a:r>
              <a:rPr lang="en-US" dirty="0"/>
              <a:t>.</a:t>
            </a:r>
          </a:p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требовал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положительное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коэффициента</a:t>
            </a:r>
            <a:r>
              <a:rPr lang="en-US" dirty="0"/>
              <a:t>.</a:t>
            </a:r>
          </a:p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внезапно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коэффициент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и </a:t>
            </a:r>
            <a:r>
              <a:rPr lang="en-US" dirty="0" err="1"/>
              <a:t>целым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имел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1.5</a:t>
            </a:r>
            <a:r>
              <a:rPr lang="en-US" dirty="0"/>
              <a:t>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С </a:t>
            </a:r>
            <a:r>
              <a:rPr lang="en-US" dirty="0" err="1"/>
              <a:t>постусловиями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обратная</a:t>
            </a:r>
            <a:r>
              <a:rPr lang="en-US" dirty="0"/>
              <a:t>.</a:t>
            </a:r>
          </a:p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давать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слабые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обещает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,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Инварианты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допустимые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отказа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,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—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частный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Нарушение LSP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единого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сменного</a:t>
            </a:r>
            <a:r>
              <a:rPr lang="en-US" dirty="0"/>
              <a:t> </a:t>
            </a:r>
            <a:r>
              <a:rPr lang="en-US" dirty="0" err="1"/>
              <a:t>адаптера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ноутбука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Не достаточно просто иметь подходящие разъемы.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в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, в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работал</a:t>
            </a:r>
            <a:r>
              <a:rPr lang="en-US" dirty="0"/>
              <a:t> </a:t>
            </a:r>
            <a:r>
              <a:rPr lang="en-US" dirty="0" err="1"/>
              <a:t>старый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допустимое</a:t>
            </a:r>
            <a:r>
              <a:rPr lang="en-US" dirty="0"/>
              <a:t> </a:t>
            </a:r>
            <a:r>
              <a:rPr lang="en-US" dirty="0" err="1"/>
              <a:t>напряжение</a:t>
            </a:r>
            <a:r>
              <a:rPr lang="en-US" dirty="0"/>
              <a:t> и </a:t>
            </a:r>
            <a:r>
              <a:rPr lang="en-US" dirty="0" err="1"/>
              <a:t>частоту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окружения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строгих</a:t>
            </a:r>
            <a:r>
              <a:rPr lang="en-US" dirty="0"/>
              <a:t> </a:t>
            </a:r>
            <a:r>
              <a:rPr lang="en-US" dirty="0" err="1"/>
              <a:t>условий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адаптер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давать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сильные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мощность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ноутбуку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корректным</a:t>
            </a:r>
            <a:r>
              <a:rPr lang="en-US" dirty="0"/>
              <a:t>: </a:t>
            </a:r>
            <a:r>
              <a:rPr lang="en-US" dirty="0" err="1"/>
              <a:t>ноутбук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совместимое</a:t>
            </a:r>
            <a:r>
              <a:rPr lang="en-US" dirty="0"/>
              <a:t> </a:t>
            </a:r>
            <a:r>
              <a:rPr lang="en-US" dirty="0" err="1"/>
              <a:t>питание</a:t>
            </a:r>
            <a:r>
              <a:rPr lang="en-US" dirty="0"/>
              <a:t>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иллюстрирует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 LSP: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усиливать</a:t>
            </a:r>
            <a:r>
              <a:rPr lang="en-US" b="1" dirty="0"/>
              <a:t> </a:t>
            </a:r>
            <a:r>
              <a:rPr lang="en-US" b="1" dirty="0" err="1"/>
              <a:t>предусловия</a:t>
            </a:r>
            <a:r>
              <a:rPr lang="en-US" b="1" dirty="0"/>
              <a:t> и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ослаблять</a:t>
            </a:r>
            <a:r>
              <a:rPr lang="en-US" b="1" dirty="0"/>
              <a:t> </a:t>
            </a:r>
            <a:r>
              <a:rPr lang="en-US" b="1" dirty="0" err="1"/>
              <a:t>постусловия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4126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проверке</a:t>
            </a:r>
            <a:r>
              <a:rPr lang="en-US" dirty="0"/>
              <a:t> LSP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и </a:t>
            </a:r>
            <a:r>
              <a:rPr lang="en-US" dirty="0" err="1"/>
              <a:t>исключения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Исключение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наблюдаемого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и </a:t>
            </a:r>
            <a:r>
              <a:rPr lang="en-US" dirty="0" err="1"/>
              <a:t>обещает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строит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обещании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подставим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CanvasBoundShape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приблизилась</a:t>
            </a:r>
            <a:r>
              <a:rPr lang="en-US" dirty="0"/>
              <a:t> к </a:t>
            </a:r>
            <a:r>
              <a:rPr lang="en-US" dirty="0" err="1"/>
              <a:t>границе</a:t>
            </a:r>
            <a:r>
              <a:rPr lang="en-US" dirty="0"/>
              <a:t> </a:t>
            </a:r>
            <a:r>
              <a:rPr lang="en-US" dirty="0" err="1"/>
              <a:t>холста</a:t>
            </a:r>
            <a:r>
              <a:rPr lang="en-US" dirty="0"/>
              <a:t>,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выбросить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OutOfCanvasBounds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C++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допустим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нарушать</a:t>
            </a:r>
            <a:r>
              <a:rPr lang="en-US" dirty="0"/>
              <a:t> LSP.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запоминать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наследникам</a:t>
            </a:r>
            <a:r>
              <a:rPr lang="en-US" dirty="0"/>
              <a:t> </a:t>
            </a:r>
            <a:r>
              <a:rPr lang="en-US" dirty="0" err="1"/>
              <a:t>запрещено</a:t>
            </a:r>
            <a:r>
              <a:rPr lang="en-US" dirty="0"/>
              <a:t> </a:t>
            </a:r>
            <a:r>
              <a:rPr lang="en-US" dirty="0" err="1"/>
              <a:t>выбрасывать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».</a:t>
            </a:r>
          </a:p>
          <a:p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контрактом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допускает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отказ</a:t>
            </a:r>
            <a:r>
              <a:rPr lang="en-US" dirty="0"/>
              <a:t>,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воспользоваться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обещает</a:t>
            </a:r>
            <a:r>
              <a:rPr lang="en-US" dirty="0"/>
              <a:t> </a:t>
            </a:r>
            <a:r>
              <a:rPr lang="en-US" dirty="0" err="1"/>
              <a:t>успешное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входных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заменять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исключением</a:t>
            </a:r>
            <a:r>
              <a:rPr lang="en-US" dirty="0"/>
              <a:t>.</a:t>
            </a:r>
          </a:p>
          <a:p>
            <a:r>
              <a:rPr lang="en-US" dirty="0" err="1"/>
              <a:t>Иными</a:t>
            </a:r>
            <a:r>
              <a:rPr lang="en-US" dirty="0"/>
              <a:t> </a:t>
            </a:r>
            <a:r>
              <a:rPr lang="en-US" dirty="0" err="1"/>
              <a:t>словами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анализе</a:t>
            </a:r>
            <a:r>
              <a:rPr lang="en-US" dirty="0"/>
              <a:t> LSP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спрашивать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:</a:t>
            </a:r>
          </a:p>
          <a:p>
            <a:r>
              <a:rPr lang="en-US" b="1" dirty="0"/>
              <a:t>«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метод</a:t>
            </a:r>
            <a:r>
              <a:rPr lang="en-US" b="1" dirty="0"/>
              <a:t> </a:t>
            </a:r>
            <a:r>
              <a:rPr lang="en-US" b="1" dirty="0" err="1"/>
              <a:t>возвращает</a:t>
            </a:r>
            <a:r>
              <a:rPr lang="en-US" b="1" dirty="0"/>
              <a:t>?»</a:t>
            </a:r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и:</a:t>
            </a:r>
          </a:p>
          <a:p>
            <a:r>
              <a:rPr lang="en-US" b="1" dirty="0"/>
              <a:t>«</a:t>
            </a:r>
            <a:r>
              <a:rPr lang="en-US" b="1" dirty="0" err="1"/>
              <a:t>Какими</a:t>
            </a:r>
            <a:r>
              <a:rPr lang="en-US" b="1" dirty="0"/>
              <a:t> </a:t>
            </a:r>
            <a:r>
              <a:rPr lang="en-US" b="1" dirty="0" err="1"/>
              <a:t>способами</a:t>
            </a:r>
            <a:r>
              <a:rPr lang="en-US" b="1" dirty="0"/>
              <a:t> </a:t>
            </a:r>
            <a:r>
              <a:rPr lang="en-US" b="1" dirty="0" err="1"/>
              <a:t>он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завершиться</a:t>
            </a:r>
            <a:r>
              <a:rPr lang="en-US" b="1" dirty="0"/>
              <a:t>?»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469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движущейся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переданный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CanvasBoundShape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выйти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холста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пикселях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правого</a:t>
            </a:r>
            <a:r>
              <a:rPr lang="en-US" dirty="0"/>
              <a:t> </a:t>
            </a:r>
            <a:r>
              <a:rPr lang="en-US" dirty="0" err="1"/>
              <a:t>края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и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вправо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CanvasBoundShape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Никакого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обещал</a:t>
            </a:r>
            <a:r>
              <a:rPr lang="en-US" dirty="0"/>
              <a:t> </a:t>
            </a:r>
            <a:r>
              <a:rPr lang="en-US" dirty="0" err="1"/>
              <a:t>базовый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и </a:t>
            </a:r>
            <a:r>
              <a:rPr lang="en-US" dirty="0" err="1"/>
              <a:t>ожидать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совпадёт</a:t>
            </a:r>
            <a:r>
              <a:rPr lang="en-US" dirty="0"/>
              <a:t> с </a:t>
            </a:r>
            <a:r>
              <a:rPr lang="en-US" dirty="0" err="1"/>
              <a:t>фактической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CanvasBoundShape</a:t>
            </a:r>
            <a:r>
              <a:rPr lang="en-US" dirty="0"/>
              <a:t> —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нарушил</a:t>
            </a:r>
            <a:r>
              <a:rPr lang="en-US" dirty="0"/>
              <a:t> </a:t>
            </a:r>
            <a:r>
              <a:rPr lang="en-US" dirty="0" err="1"/>
              <a:t>постусловие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нарушение</a:t>
            </a:r>
            <a:r>
              <a:rPr lang="en-US" dirty="0"/>
              <a:t> LSP.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4927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CanvasBoundShape</a:t>
            </a:r>
            <a:r>
              <a:rPr lang="en-US" dirty="0"/>
              <a:t> </a:t>
            </a:r>
            <a:r>
              <a:rPr lang="en-US" dirty="0" err="1"/>
              <a:t>реализован</a:t>
            </a:r>
            <a:r>
              <a:rPr lang="en-US" dirty="0"/>
              <a:t> </a:t>
            </a:r>
            <a:r>
              <a:rPr lang="en-US" dirty="0" err="1"/>
              <a:t>неправильно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ограничена</a:t>
            </a:r>
            <a:r>
              <a:rPr lang="en-US" dirty="0"/>
              <a:t> </a:t>
            </a:r>
            <a:r>
              <a:rPr lang="en-US" dirty="0" err="1"/>
              <a:t>границами</a:t>
            </a:r>
            <a:r>
              <a:rPr lang="en-US" dirty="0"/>
              <a:t> </a:t>
            </a:r>
            <a:r>
              <a:rPr lang="en-US" dirty="0" err="1"/>
              <a:t>холста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дали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исправления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возвращать</a:t>
            </a:r>
            <a:r>
              <a:rPr lang="en-US" dirty="0"/>
              <a:t> </a:t>
            </a:r>
            <a:r>
              <a:rPr lang="en-US" dirty="0" err="1"/>
              <a:t>фактическое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запрошенный</a:t>
            </a:r>
            <a:r>
              <a:rPr lang="en-US" dirty="0"/>
              <a:t> и </a:t>
            </a:r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различаться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признать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точное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с </a:t>
            </a:r>
            <a:r>
              <a:rPr lang="en-US" dirty="0" err="1"/>
              <a:t>ограничениями</a:t>
            </a:r>
            <a:r>
              <a:rPr lang="en-US" dirty="0"/>
              <a:t>.</a:t>
            </a:r>
          </a:p>
          <a:p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нарушение</a:t>
            </a:r>
            <a:r>
              <a:rPr lang="en-US" dirty="0"/>
              <a:t> LSP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локальной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неверно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 </a:t>
            </a:r>
            <a:r>
              <a:rPr lang="en-US" dirty="0" err="1"/>
              <a:t>подтипов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неправильно</a:t>
            </a:r>
            <a:r>
              <a:rPr lang="en-US" dirty="0"/>
              <a:t> </a:t>
            </a:r>
            <a:r>
              <a:rPr lang="en-US" dirty="0" err="1"/>
              <a:t>сформулировали</a:t>
            </a:r>
            <a:r>
              <a:rPr lang="en-US" dirty="0"/>
              <a:t> </a:t>
            </a:r>
            <a:r>
              <a:rPr lang="en-US" dirty="0" err="1"/>
              <a:t>базовую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.</a:t>
            </a:r>
          </a:p>
          <a:p>
            <a:r>
              <a:rPr lang="en-US" dirty="0"/>
              <a:t>LSP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обещал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попытку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в </a:t>
            </a:r>
            <a:r>
              <a:rPr lang="en-US" dirty="0" err="1"/>
              <a:t>нужном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,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нарушать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681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математике</a:t>
            </a:r>
            <a:r>
              <a:rPr lang="en-US" dirty="0"/>
              <a:t> </a:t>
            </a:r>
            <a:r>
              <a:rPr lang="en-US" dirty="0" err="1"/>
              <a:t>квадрат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частным</a:t>
            </a:r>
            <a:r>
              <a:rPr lang="en-US" dirty="0"/>
              <a:t> </a:t>
            </a:r>
            <a:r>
              <a:rPr lang="en-US" dirty="0" err="1"/>
              <a:t>случаем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</a:p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наследоваться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объектной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классификация</a:t>
            </a:r>
            <a:r>
              <a:rPr lang="en-US" dirty="0"/>
              <a:t>.</a:t>
            </a:r>
          </a:p>
          <a:p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ширину</a:t>
            </a:r>
            <a:r>
              <a:rPr lang="en-US" dirty="0"/>
              <a:t> и </a:t>
            </a:r>
            <a:r>
              <a:rPr lang="en-US" dirty="0" err="1"/>
              <a:t>высоту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ширину</a:t>
            </a:r>
            <a:r>
              <a:rPr lang="en-US" dirty="0"/>
              <a:t> 10 и </a:t>
            </a:r>
            <a:r>
              <a:rPr lang="en-US" dirty="0" err="1"/>
              <a:t>высоту</a:t>
            </a:r>
            <a:r>
              <a:rPr lang="en-US" dirty="0"/>
              <a:t> 20.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10 x 20.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квадрата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инвариант</a:t>
            </a:r>
            <a:r>
              <a:rPr lang="en-US" dirty="0"/>
              <a:t>.</a:t>
            </a:r>
          </a:p>
          <a:p>
            <a:r>
              <a:rPr lang="en-US" dirty="0" err="1"/>
              <a:t>Ширина</a:t>
            </a:r>
            <a:r>
              <a:rPr lang="en-US" dirty="0"/>
              <a:t> и </a:t>
            </a:r>
            <a:r>
              <a:rPr lang="en-US" dirty="0" err="1"/>
              <a:t>высота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равны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</a:t>
            </a:r>
            <a:r>
              <a:rPr lang="en-US" dirty="0"/>
              <a:t> </a:t>
            </a:r>
            <a:r>
              <a:rPr lang="en-US" dirty="0" err="1"/>
              <a:t>изменит</a:t>
            </a:r>
            <a:r>
              <a:rPr lang="en-US" dirty="0"/>
              <a:t> </a:t>
            </a:r>
            <a:r>
              <a:rPr lang="en-US" dirty="0" err="1"/>
              <a:t>вторую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первой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нарушит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перестанет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квадратом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математике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изменяемого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несовместим</a:t>
            </a:r>
            <a:r>
              <a:rPr lang="en-US" dirty="0"/>
              <a:t> с </a:t>
            </a:r>
            <a:r>
              <a:rPr lang="en-US" dirty="0" err="1"/>
              <a:t>контрактом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содержал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размеров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площади</a:t>
            </a:r>
            <a:r>
              <a:rPr lang="en-US" dirty="0"/>
              <a:t>,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фраза</a:t>
            </a:r>
            <a:r>
              <a:rPr lang="en-US" dirty="0"/>
              <a:t> «A </a:t>
            </a:r>
            <a:r>
              <a:rPr lang="en-US" dirty="0" err="1"/>
              <a:t>является</a:t>
            </a:r>
            <a:r>
              <a:rPr lang="en-US" dirty="0"/>
              <a:t> B»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доказывает</a:t>
            </a:r>
            <a:r>
              <a:rPr lang="en-US" dirty="0"/>
              <a:t> </a:t>
            </a:r>
            <a:r>
              <a:rPr lang="en-US" dirty="0" err="1"/>
              <a:t>корректность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.</a:t>
            </a:r>
          </a:p>
          <a:p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подтипов</a:t>
            </a:r>
            <a:r>
              <a:rPr lang="en-US" b="1" dirty="0"/>
              <a:t> </a:t>
            </a:r>
            <a:r>
              <a:rPr lang="en-US" b="1" dirty="0" err="1"/>
              <a:t>важна</a:t>
            </a:r>
            <a:r>
              <a:rPr lang="en-US" b="1" dirty="0"/>
              <a:t> </a:t>
            </a:r>
            <a:r>
              <a:rPr lang="en-US" b="1" dirty="0" err="1"/>
              <a:t>совместимость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306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5131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— Interface Segregation Principle,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: </a:t>
            </a:r>
            <a:r>
              <a:rPr lang="en-US" dirty="0" err="1"/>
              <a:t>клиенты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клиентом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понимается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компонентом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рендереру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.</a:t>
            </a:r>
          </a:p>
          <a:p>
            <a:r>
              <a:rPr lang="en-US" dirty="0" err="1"/>
              <a:t>Инструменту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—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различаются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заставляем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,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возможностях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увеличивает</a:t>
            </a:r>
            <a:r>
              <a:rPr lang="en-US" dirty="0"/>
              <a:t> coupling.</a:t>
            </a:r>
          </a:p>
          <a:p>
            <a:r>
              <a:rPr lang="en-US" dirty="0" err="1"/>
              <a:t>Поэтому</a:t>
            </a:r>
            <a:r>
              <a:rPr lang="en-US" dirty="0"/>
              <a:t> ISP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сценарию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5344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,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и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Renderer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SelectionTool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и,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MoveCommand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рендерер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интерфейс</a:t>
            </a:r>
            <a:r>
              <a:rPr lang="en-US" b="1" dirty="0"/>
              <a:t> </a:t>
            </a:r>
            <a:r>
              <a:rPr lang="en-US" b="1" dirty="0" err="1"/>
              <a:t>объединяет</a:t>
            </a:r>
            <a:r>
              <a:rPr lang="en-US" b="1" dirty="0"/>
              <a:t> </a:t>
            </a:r>
            <a:r>
              <a:rPr lang="en-US" b="1" dirty="0" err="1"/>
              <a:t>несколько</a:t>
            </a:r>
            <a:r>
              <a:rPr lang="en-US" b="1" dirty="0"/>
              <a:t> </a:t>
            </a:r>
            <a:r>
              <a:rPr lang="en-US" b="1" dirty="0" err="1"/>
              <a:t>ролей</a:t>
            </a:r>
            <a:r>
              <a:rPr lang="en-US" b="1" dirty="0"/>
              <a:t>, </a:t>
            </a:r>
            <a:r>
              <a:rPr lang="en-US" b="1" dirty="0" err="1"/>
              <a:t>которые</a:t>
            </a:r>
            <a:r>
              <a:rPr lang="en-US" b="1" dirty="0"/>
              <a:t> </a:t>
            </a:r>
            <a:r>
              <a:rPr lang="en-US" b="1" dirty="0" err="1"/>
              <a:t>нужны</a:t>
            </a:r>
            <a:r>
              <a:rPr lang="en-US" b="1" dirty="0"/>
              <a:t> </a:t>
            </a:r>
            <a:r>
              <a:rPr lang="en-US" b="1" dirty="0" err="1"/>
              <a:t>разным</a:t>
            </a:r>
            <a:r>
              <a:rPr lang="en-US" b="1" dirty="0"/>
              <a:t> </a:t>
            </a:r>
            <a:r>
              <a:rPr lang="en-US" b="1" dirty="0" err="1"/>
              <a:t>клиентам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лишнюю</a:t>
            </a:r>
            <a:r>
              <a:rPr lang="en-US" dirty="0"/>
              <a:t> c</a:t>
            </a:r>
            <a:r>
              <a:rPr lang="ru-RU" dirty="0" err="1"/>
              <a:t>цепленность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699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разделим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ролям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Рендереру</a:t>
            </a:r>
            <a:r>
              <a:rPr lang="en-US" dirty="0"/>
              <a:t> </a:t>
            </a:r>
            <a:r>
              <a:rPr lang="en-US" dirty="0" err="1"/>
              <a:t>предоставим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IDrawable</a:t>
            </a:r>
            <a:r>
              <a:rPr lang="en-US" dirty="0"/>
              <a:t>.</a:t>
            </a:r>
          </a:p>
          <a:p>
            <a:r>
              <a:rPr lang="en-US" dirty="0" err="1"/>
              <a:t>Инструменту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IHitTestable</a:t>
            </a:r>
            <a:r>
              <a:rPr lang="en-US" dirty="0"/>
              <a:t>.</a:t>
            </a:r>
          </a:p>
          <a:p>
            <a:r>
              <a:rPr lang="en-US" dirty="0" err="1"/>
              <a:t>Команде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IMovable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функциональной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Изменилась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Renderer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о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MoveCommand</a:t>
            </a:r>
            <a:r>
              <a:rPr lang="en-US" dirty="0"/>
              <a:t>, в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 ISP.</a:t>
            </a:r>
          </a:p>
          <a:p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разделяем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сам</a:t>
            </a:r>
            <a:r>
              <a:rPr lang="en-US" b="1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.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разделяем</a:t>
            </a:r>
            <a:r>
              <a:rPr lang="en-US" b="1" dirty="0"/>
              <a:t> </a:t>
            </a:r>
            <a:r>
              <a:rPr lang="en-US" b="1" dirty="0" err="1"/>
              <a:t>способы</a:t>
            </a:r>
            <a:r>
              <a:rPr lang="en-US" b="1" dirty="0"/>
              <a:t> </a:t>
            </a:r>
            <a:r>
              <a:rPr lang="en-US" b="1" dirty="0" err="1"/>
              <a:t>взаимодействия</a:t>
            </a:r>
            <a:r>
              <a:rPr lang="en-US" b="1" dirty="0"/>
              <a:t> с </a:t>
            </a:r>
            <a:r>
              <a:rPr lang="en-US" b="1" dirty="0" err="1"/>
              <a:t>ним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обязано</a:t>
            </a:r>
            <a:r>
              <a:rPr lang="en-US" dirty="0"/>
              <a:t> </a:t>
            </a:r>
            <a:r>
              <a:rPr lang="en-US" dirty="0" err="1"/>
              <a:t>затрагивать</a:t>
            </a:r>
            <a:r>
              <a:rPr lang="en-US" dirty="0"/>
              <a:t> </a:t>
            </a:r>
            <a:r>
              <a:rPr lang="en-US" dirty="0" err="1"/>
              <a:t>рендерер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ISP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coupling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7559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мышления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интерфейсах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Распространённый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с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, </a:t>
            </a:r>
            <a:r>
              <a:rPr lang="en-US" dirty="0" err="1"/>
              <a:t>перечисляем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публичные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и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копией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ISP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с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вопроса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клиенту</a:t>
            </a:r>
            <a:r>
              <a:rPr lang="en-US" b="1" dirty="0"/>
              <a:t>?</a:t>
            </a:r>
            <a:endParaRPr lang="ru-RU" b="1" dirty="0"/>
          </a:p>
          <a:p>
            <a:endParaRPr lang="en-US" dirty="0"/>
          </a:p>
          <a:p>
            <a:r>
              <a:rPr lang="en-US" dirty="0" err="1"/>
              <a:t>Рендереру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естествен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IDrawable</a:t>
            </a:r>
            <a:r>
              <a:rPr lang="en-US" dirty="0"/>
              <a:t>.</a:t>
            </a:r>
          </a:p>
          <a:p>
            <a:r>
              <a:rPr lang="en-US" dirty="0" err="1"/>
              <a:t>Инструменту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естествен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говорят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физическое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с </a:t>
            </a:r>
            <a:r>
              <a:rPr lang="en-US" dirty="0" err="1"/>
              <a:t>интерфейсом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о </a:t>
            </a:r>
            <a:r>
              <a:rPr lang="en-US" dirty="0" err="1"/>
              <a:t>проектировании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потребностью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полным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363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SOLID, ISP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механически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желание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маленьким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целью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IGeometryQuery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GetBounds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?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понятную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: </a:t>
            </a:r>
            <a:r>
              <a:rPr lang="en-US" dirty="0" err="1"/>
              <a:t>запросы</a:t>
            </a:r>
            <a:r>
              <a:rPr lang="en-US" dirty="0"/>
              <a:t> к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клиенты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и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,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даст</a:t>
            </a:r>
            <a:r>
              <a:rPr lang="en-US" dirty="0"/>
              <a:t> </a:t>
            </a:r>
            <a:r>
              <a:rPr lang="en-US" dirty="0" err="1"/>
              <a:t>заметного</a:t>
            </a:r>
            <a:r>
              <a:rPr lang="en-US" dirty="0"/>
              <a:t> </a:t>
            </a:r>
            <a:r>
              <a:rPr lang="en-US" dirty="0" err="1"/>
              <a:t>выигрыша</a:t>
            </a:r>
            <a:r>
              <a:rPr lang="en-US" dirty="0"/>
              <a:t>.</a:t>
            </a:r>
          </a:p>
          <a:p>
            <a:r>
              <a:rPr lang="en-US" dirty="0" err="1"/>
              <a:t>Зато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и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ISP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».</a:t>
            </a:r>
          </a:p>
          <a:p>
            <a:r>
              <a:rPr lang="en-US" dirty="0" err="1"/>
              <a:t>Полезнее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клиенты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,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клиенты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?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разумную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ISP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разговор</a:t>
            </a:r>
            <a:r>
              <a:rPr lang="en-US" dirty="0"/>
              <a:t> о cohesion и coupling.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стремимся</a:t>
            </a:r>
            <a:r>
              <a:rPr lang="en-US" dirty="0"/>
              <a:t> к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связности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и к </a:t>
            </a:r>
            <a:r>
              <a:rPr lang="en-US" dirty="0" err="1"/>
              <a:t>минимально</a:t>
            </a:r>
            <a:r>
              <a:rPr lang="en-US" dirty="0"/>
              <a:t> </a:t>
            </a:r>
            <a:r>
              <a:rPr lang="en-US" dirty="0" err="1"/>
              <a:t>необходимой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клиентом</a:t>
            </a:r>
            <a:r>
              <a:rPr lang="en-US" dirty="0"/>
              <a:t> и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ролью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405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SOLID — Dependency Inversion Principle,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инверсии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формулировка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о </a:t>
            </a:r>
            <a:r>
              <a:rPr lang="en-US" dirty="0" err="1"/>
              <a:t>модулях</a:t>
            </a:r>
            <a:r>
              <a:rPr lang="en-US" dirty="0"/>
              <a:t> </a:t>
            </a:r>
            <a:r>
              <a:rPr lang="en-US" dirty="0" err="1"/>
              <a:t>верхнего</a:t>
            </a:r>
            <a:r>
              <a:rPr lang="en-US" dirty="0"/>
              <a:t> и </a:t>
            </a:r>
            <a:r>
              <a:rPr lang="en-US" dirty="0" err="1"/>
              <a:t>нижнего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разберёмся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значит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верхнего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выражает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делать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графическом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: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нижнего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записывать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использовать</a:t>
            </a:r>
            <a:r>
              <a:rPr lang="en-US" dirty="0"/>
              <a:t> JSON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DIP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описать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подстроиться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1195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прямую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JsonDrawingWriter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writer,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заголовок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изменились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JSON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.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а в </a:t>
            </a:r>
            <a:r>
              <a:rPr lang="en-US" dirty="0" err="1"/>
              <a:t>облачное</a:t>
            </a:r>
            <a:r>
              <a:rPr lang="en-US" dirty="0"/>
              <a:t> </a:t>
            </a:r>
            <a:r>
              <a:rPr lang="en-US" dirty="0" err="1"/>
              <a:t>хранилище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техническая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править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снизу</a:t>
            </a:r>
            <a:r>
              <a:rPr lang="en-US" dirty="0"/>
              <a:t> </a:t>
            </a:r>
            <a:r>
              <a:rPr lang="en-US" dirty="0" err="1"/>
              <a:t>вверх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Техническое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выражает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DIP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избавиться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1310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: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и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выражать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IDrawingRepository</a:t>
            </a:r>
            <a:r>
              <a:rPr lang="en-US" dirty="0"/>
              <a:t> с </a:t>
            </a:r>
            <a:r>
              <a:rPr lang="en-US" dirty="0" err="1"/>
              <a:t>операцией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язык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 </a:t>
            </a:r>
            <a:r>
              <a:rPr lang="en-US" dirty="0" err="1"/>
              <a:t>интерфейсе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Нет</a:t>
            </a:r>
            <a:r>
              <a:rPr lang="en-US" dirty="0"/>
              <a:t> JSON.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FileDrawingRepository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и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с ISP.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.</a:t>
            </a:r>
          </a:p>
          <a:p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потребность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2845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инвертируется</a:t>
            </a:r>
            <a:r>
              <a:rPr lang="en-US" dirty="0"/>
              <a:t>?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FileDrawingRepository</a:t>
            </a:r>
            <a:r>
              <a:rPr lang="en-US" dirty="0"/>
              <a:t>.</a:t>
            </a:r>
          </a:p>
          <a:p>
            <a:r>
              <a:rPr lang="en-US" dirty="0" err="1"/>
              <a:t>Высокоуровневая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низкоуровневой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рефакторинга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IDrawingRepository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use case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репозиторий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 </a:t>
            </a:r>
            <a:r>
              <a:rPr lang="en-US" dirty="0" err="1"/>
              <a:t>подстраивается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потребность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смешивать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с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FileDrawingRepository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Инвертируется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обязательно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вызовов</a:t>
            </a:r>
            <a:r>
              <a:rPr lang="en-US" b="1" dirty="0"/>
              <a:t>. </a:t>
            </a:r>
            <a:r>
              <a:rPr lang="en-US" dirty="0" err="1"/>
              <a:t>Инвертируется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в </a:t>
            </a:r>
            <a:r>
              <a:rPr lang="en-US" dirty="0" err="1"/>
              <a:t>исходном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зависела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политике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5921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ловушка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DIP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интерфейсом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ISqlDrawingStorage</a:t>
            </a:r>
            <a:r>
              <a:rPr lang="en-US" dirty="0"/>
              <a:t>. Это </a:t>
            </a:r>
            <a:r>
              <a:rPr lang="en-US" dirty="0" err="1"/>
              <a:t>абстракция</a:t>
            </a:r>
            <a:r>
              <a:rPr lang="en-US" dirty="0"/>
              <a:t> в </a:t>
            </a:r>
            <a:r>
              <a:rPr lang="en-US" dirty="0" err="1"/>
              <a:t>синтаксическом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connection string.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SqlResult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технологическая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верхнего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dirty="0" err="1"/>
              <a:t>архитектурную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IDrawingRepository</a:t>
            </a:r>
            <a:r>
              <a:rPr lang="en-US" dirty="0"/>
              <a:t>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сделано</a:t>
            </a:r>
            <a:r>
              <a:rPr lang="en-US" dirty="0"/>
              <a:t>,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DIP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».</a:t>
            </a:r>
          </a:p>
          <a:p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b="1" dirty="0" err="1"/>
              <a:t>правильная</a:t>
            </a:r>
            <a:r>
              <a:rPr lang="en-US" b="1" dirty="0"/>
              <a:t> </a:t>
            </a:r>
            <a:r>
              <a:rPr lang="en-US" b="1" dirty="0" err="1"/>
              <a:t>абстракция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выражать</a:t>
            </a:r>
            <a:r>
              <a:rPr lang="en-US" dirty="0"/>
              <a:t> </a:t>
            </a:r>
            <a:r>
              <a:rPr lang="en-US" dirty="0" err="1"/>
              <a:t>потребность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скрывать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технологию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именем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2559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рефакторинга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FileDrawingRepository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репозиторий</a:t>
            </a:r>
            <a:r>
              <a:rPr lang="en-US" dirty="0"/>
              <a:t>?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?</a:t>
            </a:r>
          </a:p>
          <a:p>
            <a:r>
              <a:rPr lang="en-US" dirty="0"/>
              <a:t>Это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где-то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выделяют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Composition Root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точка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небольшом</a:t>
            </a:r>
            <a:r>
              <a:rPr lang="en-US" dirty="0"/>
              <a:t> C++-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точкой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FileDrawingRepository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SaveDrawingUseCase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use case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пользовательскому</a:t>
            </a:r>
            <a:r>
              <a:rPr lang="en-US" dirty="0"/>
              <a:t> </a:t>
            </a:r>
            <a:r>
              <a:rPr lang="en-US" dirty="0" err="1"/>
              <a:t>интерфейсу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логики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выбираются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DI-</a:t>
            </a:r>
            <a:r>
              <a:rPr lang="en-US" dirty="0" err="1"/>
              <a:t>контейнер</a:t>
            </a:r>
            <a:r>
              <a:rPr lang="en-US" dirty="0"/>
              <a:t>.</a:t>
            </a:r>
          </a:p>
          <a:p>
            <a:r>
              <a:rPr lang="en-US" dirty="0"/>
              <a:t>В C++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конструкторов</a:t>
            </a:r>
            <a:r>
              <a:rPr lang="en-US" dirty="0"/>
              <a:t> и </a:t>
            </a:r>
            <a:r>
              <a:rPr lang="en-US" dirty="0" err="1"/>
              <a:t>явного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.</a:t>
            </a:r>
          </a:p>
          <a:p>
            <a:r>
              <a:rPr lang="en-US" b="1" dirty="0" err="1"/>
              <a:t>Политика</a:t>
            </a:r>
            <a:r>
              <a:rPr lang="en-US" b="1" dirty="0"/>
              <a:t> </a:t>
            </a:r>
            <a:r>
              <a:rPr lang="en-US" b="1" dirty="0" err="1"/>
              <a:t>определяет</a:t>
            </a:r>
            <a:r>
              <a:rPr lang="en-US" b="1" dirty="0"/>
              <a:t> </a:t>
            </a:r>
            <a:r>
              <a:rPr lang="en-US" b="1" dirty="0" err="1"/>
              <a:t>нужный</a:t>
            </a:r>
            <a:r>
              <a:rPr lang="en-US" b="1" dirty="0"/>
              <a:t> </a:t>
            </a:r>
            <a:r>
              <a:rPr lang="en-US" b="1" dirty="0" err="1"/>
              <a:t>ей</a:t>
            </a:r>
            <a:r>
              <a:rPr lang="en-US" b="1" dirty="0"/>
              <a:t> </a:t>
            </a:r>
            <a:r>
              <a:rPr lang="en-US" b="1" dirty="0" err="1"/>
              <a:t>контракт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 err="1"/>
              <a:t>Детали</a:t>
            </a:r>
            <a:r>
              <a:rPr lang="en-US" b="1" dirty="0"/>
              <a:t> </a:t>
            </a:r>
            <a:r>
              <a:rPr lang="en-US" b="1" dirty="0" err="1"/>
              <a:t>реализуют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контракт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/>
              <a:t>Composition Root </a:t>
            </a:r>
            <a:r>
              <a:rPr lang="en-US" b="1" dirty="0" err="1"/>
              <a:t>выбирает</a:t>
            </a:r>
            <a:r>
              <a:rPr lang="en-US" b="1" dirty="0"/>
              <a:t> </a:t>
            </a:r>
            <a:r>
              <a:rPr lang="en-US" b="1" dirty="0" err="1"/>
              <a:t>конкретные</a:t>
            </a:r>
            <a:r>
              <a:rPr lang="en-US" b="1" dirty="0"/>
              <a:t> </a:t>
            </a:r>
            <a:r>
              <a:rPr lang="en-US" b="1" dirty="0" err="1"/>
              <a:t>реализации</a:t>
            </a:r>
            <a:r>
              <a:rPr lang="en-US" b="1" dirty="0"/>
              <a:t> и </a:t>
            </a:r>
            <a:r>
              <a:rPr lang="en-US" b="1" dirty="0" err="1"/>
              <a:t>связывает</a:t>
            </a:r>
            <a:r>
              <a:rPr lang="en-US" b="1" dirty="0"/>
              <a:t> </a:t>
            </a:r>
            <a:r>
              <a:rPr lang="en-US" b="1" dirty="0" err="1"/>
              <a:t>их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/>
              <a:t>Это и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изменчивых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4684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SOLID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знакомому</a:t>
            </a:r>
            <a:r>
              <a:rPr lang="en-US" dirty="0"/>
              <a:t> </a:t>
            </a:r>
            <a:r>
              <a:rPr lang="en-US" dirty="0" err="1"/>
              <a:t>рефакторингу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с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SRP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OCP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DIP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SvgCanvas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Наконец</a:t>
            </a:r>
            <a:r>
              <a:rPr lang="en-US" dirty="0"/>
              <a:t>, ISP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: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клиентам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и </a:t>
            </a:r>
            <a:r>
              <a:rPr lang="en-US" dirty="0" err="1"/>
              <a:t>связь</a:t>
            </a:r>
            <a:r>
              <a:rPr lang="en-US" dirty="0"/>
              <a:t> с LSP.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 </a:t>
            </a:r>
            <a:r>
              <a:rPr lang="en-US" dirty="0" err="1"/>
              <a:t>наличия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безопасное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и к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отношению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OCP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LSP </a:t>
            </a:r>
            <a:r>
              <a:rPr lang="en-US" dirty="0" err="1"/>
              <a:t>требует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подстановка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ломала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рефакторинг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улучшить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направлениям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Принципы</a:t>
            </a:r>
            <a:r>
              <a:rPr lang="en-US" dirty="0"/>
              <a:t> SOLID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5738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SOLID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 к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частям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SRP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спрашивает</a:t>
            </a:r>
            <a:r>
              <a:rPr lang="en-US" dirty="0"/>
              <a:t>: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ISP </a:t>
            </a:r>
            <a:r>
              <a:rPr lang="en-US" dirty="0" err="1"/>
              <a:t>рассматривает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DIP </a:t>
            </a:r>
            <a:r>
              <a:rPr lang="en-US" dirty="0" err="1"/>
              <a:t>обращает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спрашивает</a:t>
            </a:r>
            <a:r>
              <a:rPr lang="en-US" dirty="0"/>
              <a:t>: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OCP и LSP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.</a:t>
            </a:r>
          </a:p>
          <a:p>
            <a:r>
              <a:rPr lang="en-US" dirty="0"/>
              <a:t>OCP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r>
              <a:rPr lang="en-US" dirty="0"/>
              <a:t>LSP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подставлять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видны</a:t>
            </a:r>
            <a:r>
              <a:rPr lang="en-US" dirty="0"/>
              <a:t> </a:t>
            </a:r>
            <a:r>
              <a:rPr lang="en-US" dirty="0" err="1"/>
              <a:t>попарно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SRP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 ISP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широкий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DIP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подходящей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 ISP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OCP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LSP </a:t>
            </a:r>
            <a:r>
              <a:rPr lang="en-US" dirty="0" err="1"/>
              <a:t>требует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сохраняли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4177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вопросу</a:t>
            </a:r>
            <a:r>
              <a:rPr lang="en-US" dirty="0"/>
              <a:t>, с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начиналась</a:t>
            </a:r>
            <a:r>
              <a:rPr lang="en-US" dirty="0"/>
              <a:t> </a:t>
            </a:r>
            <a:r>
              <a:rPr lang="en-US" dirty="0" err="1"/>
              <a:t>лекция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требовании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границах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, </a:t>
            </a:r>
            <a:r>
              <a:rPr lang="en-US" dirty="0" err="1"/>
              <a:t>интерфейсах</a:t>
            </a:r>
            <a:r>
              <a:rPr lang="en-US" dirty="0"/>
              <a:t> и </a:t>
            </a:r>
            <a:r>
              <a:rPr lang="en-US" dirty="0" err="1"/>
              <a:t>зависимостях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SOLID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SRP </a:t>
            </a:r>
            <a:r>
              <a:rPr lang="en-US" dirty="0" err="1"/>
              <a:t>спрашивает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LSP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сохраняют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ISP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лишние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DIP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 в </a:t>
            </a:r>
            <a:r>
              <a:rPr lang="en-US" dirty="0" err="1"/>
              <a:t>духе</a:t>
            </a:r>
            <a:r>
              <a:rPr lang="en-US" dirty="0"/>
              <a:t> «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».</a:t>
            </a:r>
          </a:p>
          <a:p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практическая</a:t>
            </a:r>
            <a:r>
              <a:rPr lang="en-US" dirty="0"/>
              <a:t> </a:t>
            </a:r>
            <a:r>
              <a:rPr lang="en-US" dirty="0" err="1"/>
              <a:t>ценность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затрагивало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, </a:t>
            </a:r>
            <a:r>
              <a:rPr lang="en-US" dirty="0" err="1"/>
              <a:t>интерфейсов</a:t>
            </a:r>
            <a:r>
              <a:rPr lang="en-US" dirty="0"/>
              <a:t> и </a:t>
            </a:r>
            <a:r>
              <a:rPr lang="en-US" dirty="0" err="1"/>
              <a:t>точек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закономерен</a:t>
            </a:r>
            <a:r>
              <a:rPr lang="en-US" dirty="0"/>
              <a:t>: </a:t>
            </a:r>
            <a:r>
              <a:rPr lang="en-US" b="1" dirty="0" err="1"/>
              <a:t>всегда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гибкий</a:t>
            </a:r>
            <a:r>
              <a:rPr lang="en-US" b="1" dirty="0"/>
              <a:t> </a:t>
            </a:r>
            <a:r>
              <a:rPr lang="en-US" b="1" dirty="0" err="1"/>
              <a:t>дизайн</a:t>
            </a:r>
            <a:r>
              <a:rPr lang="en-US" b="1" dirty="0"/>
              <a:t> </a:t>
            </a:r>
            <a:r>
              <a:rPr lang="en-US" b="1" dirty="0" err="1"/>
              <a:t>лучше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простого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365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знакомства</a:t>
            </a:r>
            <a:r>
              <a:rPr lang="en-US" dirty="0"/>
              <a:t> с SOLID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следовать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пяти</a:t>
            </a:r>
            <a:r>
              <a:rPr lang="en-US" dirty="0"/>
              <a:t> </a:t>
            </a:r>
            <a:r>
              <a:rPr lang="en-US" dirty="0" err="1"/>
              <a:t>принципам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.</a:t>
            </a:r>
          </a:p>
          <a:p>
            <a:r>
              <a:rPr lang="en-US" dirty="0"/>
              <a:t>KISS </a:t>
            </a:r>
            <a:r>
              <a:rPr lang="en-US" dirty="0" err="1"/>
              <a:t>напоминает</a:t>
            </a:r>
            <a:r>
              <a:rPr lang="en-US" dirty="0"/>
              <a:t>: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настолько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r>
              <a:rPr lang="en-US" dirty="0"/>
              <a:t>YAGNI </a:t>
            </a:r>
            <a:r>
              <a:rPr lang="en-US" dirty="0" err="1"/>
              <a:t>говорит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противоречие</a:t>
            </a:r>
            <a:r>
              <a:rPr lang="en-US" dirty="0"/>
              <a:t>.</a:t>
            </a:r>
          </a:p>
          <a:p>
            <a:r>
              <a:rPr lang="en-US" dirty="0"/>
              <a:t>SOLID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, </a:t>
            </a:r>
            <a:r>
              <a:rPr lang="en-US" dirty="0" err="1"/>
              <a:t>абстракции</a:t>
            </a:r>
            <a:r>
              <a:rPr lang="en-US" dirty="0"/>
              <a:t> и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r>
              <a:rPr lang="en-US" dirty="0"/>
              <a:t>KISS и YAGNI </a:t>
            </a:r>
            <a:r>
              <a:rPr lang="en-US" dirty="0" err="1"/>
              <a:t>предостерегают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лишней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противоречат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задают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SOLID </a:t>
            </a:r>
            <a:r>
              <a:rPr lang="en-US" dirty="0" err="1"/>
              <a:t>спрашивает</a:t>
            </a:r>
            <a:r>
              <a:rPr lang="en-US" dirty="0"/>
              <a:t>:</a:t>
            </a:r>
          </a:p>
          <a:p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важные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менее</a:t>
            </a:r>
            <a:r>
              <a:rPr lang="en-US" b="1" dirty="0"/>
              <a:t> </a:t>
            </a:r>
            <a:r>
              <a:rPr lang="en-US" b="1" dirty="0" err="1"/>
              <a:t>болезненными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KISS и YAGNI </a:t>
            </a:r>
            <a:r>
              <a:rPr lang="en-US" dirty="0" err="1"/>
              <a:t>спрашивают</a:t>
            </a:r>
            <a:r>
              <a:rPr lang="en-US" dirty="0"/>
              <a:t>:</a:t>
            </a:r>
          </a:p>
          <a:p>
            <a:r>
              <a:rPr lang="en-US" b="1" dirty="0"/>
              <a:t>а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нам</a:t>
            </a:r>
            <a:r>
              <a:rPr lang="en-US" b="1" dirty="0"/>
              <a:t> </a:t>
            </a:r>
            <a:r>
              <a:rPr lang="en-US" b="1" dirty="0" err="1"/>
              <a:t>нужна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гибкость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окупается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SVG, PDF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разумную</a:t>
            </a:r>
            <a:r>
              <a:rPr lang="en-US" dirty="0"/>
              <a:t> </a:t>
            </a:r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гибкости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4241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гибкости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Разработчику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и </a:t>
            </a:r>
            <a:r>
              <a:rPr lang="en-US" dirty="0" err="1"/>
              <a:t>связи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оправдана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Вернёмся</a:t>
            </a:r>
            <a:r>
              <a:rPr lang="en-US" dirty="0"/>
              <a:t> к OCP.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окупаться</a:t>
            </a:r>
            <a:r>
              <a:rPr lang="en-US" dirty="0"/>
              <a:t>.</a:t>
            </a:r>
          </a:p>
          <a:p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следующее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заплатили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воспользовались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и к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принципам</a:t>
            </a:r>
            <a:r>
              <a:rPr lang="en-US" dirty="0"/>
              <a:t>.</a:t>
            </a:r>
          </a:p>
          <a:p>
            <a:r>
              <a:rPr lang="en-US" dirty="0"/>
              <a:t>SRP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r>
              <a:rPr lang="en-US" dirty="0"/>
              <a:t>ISP —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</a:t>
            </a:r>
          </a:p>
          <a:p>
            <a:r>
              <a:rPr lang="en-US" dirty="0"/>
              <a:t>DIP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и </a:t>
            </a:r>
            <a:r>
              <a:rPr lang="en-US" dirty="0" err="1"/>
              <a:t>отдельное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сборки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признаком</a:t>
            </a:r>
            <a:r>
              <a:rPr lang="en-US" dirty="0"/>
              <a:t> </a:t>
            </a:r>
            <a:r>
              <a:rPr lang="en-US" dirty="0" err="1"/>
              <a:t>хорошего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решает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затем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достаточно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проблема</a:t>
            </a:r>
            <a:r>
              <a:rPr lang="en-US" b="1" dirty="0"/>
              <a:t> </a:t>
            </a:r>
            <a:r>
              <a:rPr lang="en-US" b="1" dirty="0" err="1"/>
              <a:t>важна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оправдать</a:t>
            </a:r>
            <a:r>
              <a:rPr lang="en-US" b="1" dirty="0"/>
              <a:t> </a:t>
            </a:r>
            <a:r>
              <a:rPr lang="en-US" b="1" dirty="0" err="1"/>
              <a:t>дополнительную</a:t>
            </a:r>
            <a:r>
              <a:rPr lang="en-US" b="1" dirty="0"/>
              <a:t> </a:t>
            </a:r>
            <a:r>
              <a:rPr lang="en-US" b="1" dirty="0" err="1"/>
              <a:t>сложность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инвестицию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и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приносить</a:t>
            </a:r>
            <a:r>
              <a:rPr lang="en-US" dirty="0"/>
              <a:t> </a:t>
            </a:r>
            <a:r>
              <a:rPr lang="en-US" dirty="0" err="1"/>
              <a:t>пользу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дальнейших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9129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о </a:t>
            </a:r>
            <a:r>
              <a:rPr lang="en-US" dirty="0" err="1"/>
              <a:t>самих</a:t>
            </a:r>
            <a:r>
              <a:rPr lang="en-US" dirty="0"/>
              <a:t> </a:t>
            </a:r>
            <a:r>
              <a:rPr lang="en-US" dirty="0" err="1"/>
              <a:t>принципах</a:t>
            </a:r>
            <a:r>
              <a:rPr lang="en-US" dirty="0"/>
              <a:t> SOLID.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законов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SRP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смешали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OCP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LSP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иерархию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выбранное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 </a:t>
            </a:r>
            <a:r>
              <a:rPr lang="en-US" dirty="0" err="1"/>
              <a:t>подтипов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ISP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соответствовал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DIP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значимых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соблюдение</a:t>
            </a:r>
            <a:r>
              <a:rPr lang="en-US" dirty="0"/>
              <a:t> SOLID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формальных</a:t>
            </a:r>
            <a:r>
              <a:rPr lang="en-US" dirty="0"/>
              <a:t> </a:t>
            </a:r>
            <a:r>
              <a:rPr lang="en-US" dirty="0" err="1"/>
              <a:t>условий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сильная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оправдана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—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b="1" dirty="0" err="1"/>
              <a:t>Принцип</a:t>
            </a:r>
            <a:r>
              <a:rPr lang="en-US" b="1" dirty="0"/>
              <a:t> </a:t>
            </a:r>
            <a:r>
              <a:rPr lang="en-US" b="1" dirty="0" err="1"/>
              <a:t>помогает</a:t>
            </a:r>
            <a:r>
              <a:rPr lang="en-US" b="1" dirty="0"/>
              <a:t> </a:t>
            </a:r>
            <a:r>
              <a:rPr lang="en-US" b="1" dirty="0" err="1"/>
              <a:t>задать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. </a:t>
            </a:r>
            <a:r>
              <a:rPr lang="en-US" b="1" dirty="0" err="1"/>
              <a:t>Ответ</a:t>
            </a:r>
            <a:r>
              <a:rPr lang="en-US" b="1" dirty="0"/>
              <a:t> </a:t>
            </a:r>
            <a:r>
              <a:rPr lang="en-US" b="1" dirty="0" err="1"/>
              <a:t>зависит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контекста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93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Завершим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темой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.</a:t>
            </a:r>
          </a:p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 </a:t>
            </a:r>
            <a:r>
              <a:rPr lang="en-US" dirty="0" err="1"/>
              <a:t>защититься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затронет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SRP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OCP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LSP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подключать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подтипы</a:t>
            </a:r>
            <a:r>
              <a:rPr lang="en-US" dirty="0"/>
              <a:t> и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ISP </a:t>
            </a:r>
            <a:r>
              <a:rPr lang="en-US" dirty="0" err="1"/>
              <a:t>ограничивает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необходимым</a:t>
            </a:r>
            <a:r>
              <a:rPr lang="en-US" dirty="0"/>
              <a:t> </a:t>
            </a:r>
            <a:r>
              <a:rPr lang="en-US" dirty="0" err="1"/>
              <a:t>контрактом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DIP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направить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зависела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изменчивых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KISS и YAGNI </a:t>
            </a:r>
            <a:r>
              <a:rPr lang="en-US" dirty="0" err="1"/>
              <a:t>задают</a:t>
            </a:r>
            <a:r>
              <a:rPr lang="en-US" dirty="0"/>
              <a:t>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стоит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платить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эту</a:t>
            </a:r>
            <a:r>
              <a:rPr lang="en-US" b="1" dirty="0"/>
              <a:t> </a:t>
            </a:r>
            <a:r>
              <a:rPr lang="en-US" b="1" dirty="0" err="1"/>
              <a:t>гибкость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хорошей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воображаемое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невозможно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 </a:t>
            </a:r>
            <a:r>
              <a:rPr lang="en-US" dirty="0" err="1"/>
              <a:t>вероятными</a:t>
            </a:r>
            <a:r>
              <a:rPr lang="en-US" dirty="0"/>
              <a:t> и </a:t>
            </a:r>
            <a:r>
              <a:rPr lang="en-US" dirty="0" err="1"/>
              <a:t>важными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строим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оставались</a:t>
            </a:r>
            <a:r>
              <a:rPr lang="en-US" dirty="0"/>
              <a:t> </a:t>
            </a:r>
            <a:r>
              <a:rPr lang="en-US" dirty="0" err="1"/>
              <a:t>локальными</a:t>
            </a:r>
            <a:r>
              <a:rPr lang="en-US" dirty="0"/>
              <a:t> и </a:t>
            </a:r>
            <a:r>
              <a:rPr lang="en-US" dirty="0" err="1"/>
              <a:t>предсказуемыми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проектирование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b="1" dirty="0" err="1"/>
              <a:t>осознанное</a:t>
            </a:r>
            <a:r>
              <a:rPr lang="en-US" b="1" dirty="0"/>
              <a:t> </a:t>
            </a:r>
            <a:r>
              <a:rPr lang="en-US" b="1" dirty="0" err="1"/>
              <a:t>распределение</a:t>
            </a:r>
            <a:r>
              <a:rPr lang="en-US" b="1" dirty="0"/>
              <a:t> </a:t>
            </a:r>
            <a:r>
              <a:rPr lang="en-US" b="1" dirty="0" err="1"/>
              <a:t>стоимости</a:t>
            </a:r>
            <a:r>
              <a:rPr lang="en-US" b="1" dirty="0"/>
              <a:t> </a:t>
            </a:r>
            <a:r>
              <a:rPr lang="en-US" b="1" dirty="0" err="1"/>
              <a:t>будущих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делаем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оставляем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дорогими</a:t>
            </a:r>
            <a:r>
              <a:rPr lang="en-US" dirty="0"/>
              <a:t>.</a:t>
            </a:r>
          </a:p>
          <a:p>
            <a:r>
              <a:rPr lang="en-US" dirty="0" err="1"/>
              <a:t>Главное</a:t>
            </a:r>
            <a:r>
              <a:rPr lang="en-US" dirty="0"/>
              <a:t> —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следствием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случайным</a:t>
            </a:r>
            <a:r>
              <a:rPr lang="en-US" dirty="0"/>
              <a:t> </a:t>
            </a:r>
            <a:r>
              <a:rPr lang="en-US" dirty="0" err="1"/>
              <a:t>свойством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F0A773-BC3A-474D-8036-883A816F0F99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3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8494-3BC4-476A-8180-C7D531D1BDE9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9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DD36C-E1EE-433A-85C1-8AB557831B59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8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2A6F-751B-4577-A656-6A26D16D5D73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43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4D38-0A16-4A00-84F3-995FB60A1A24}" type="datetime1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572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03171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0986" y="1825625"/>
            <a:ext cx="3129645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4D38-0A16-4A00-84F3-995FB60A1A24}" type="datetime1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8DB3ECF4-928C-5574-CAF0-7FFD42130CF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35686" y="1825625"/>
            <a:ext cx="3418114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7834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1A698-E52A-4D93-9D0B-B26B973770CA}" type="datetime1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9325303" y="6345839"/>
            <a:ext cx="2743200" cy="365125"/>
          </a:xfrm>
        </p:spPr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133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6717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6717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1A698-E52A-4D93-9D0B-B26B973770CA}" type="datetime1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9325303" y="6345839"/>
            <a:ext cx="2743200" cy="365125"/>
          </a:xfrm>
        </p:spPr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7BFD1A0D-2AB2-486D-08D9-9A81DA63B2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612" y="5346067"/>
            <a:ext cx="10515600" cy="823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5526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CB9B2-13AF-492A-A8D5-A78E42E45C90}" type="datetime1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9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E88DF-F7A1-4621-9321-DD92F290BCA2}" type="datetime1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83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670F-7223-45BA-8607-F009D6E07C98}" type="datetime1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3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A463-41EE-4B69-9D4D-FCEF376903A8}" type="datetime1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634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083-5DC9-4DDD-99DA-87E972459BE3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994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A1591-1064-4C12-A3F3-9E222C1602E4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00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8E17F-A256-4882-B4AC-587C535C0026}" type="datetime1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E6F4D-2E97-47CB-8591-066566E4F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53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6800" y="1122362"/>
            <a:ext cx="10058400" cy="3030537"/>
          </a:xfrm>
        </p:spPr>
        <p:txBody>
          <a:bodyPr>
            <a:noAutofit/>
          </a:bodyPr>
          <a:lstStyle/>
          <a:p>
            <a:r>
              <a:rPr lang="en-US" dirty="0" err="1"/>
              <a:t>Проектирование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:</a:t>
            </a:r>
            <a:br>
              <a:rPr lang="ru-RU" dirty="0"/>
            </a:br>
            <a:r>
              <a:rPr lang="en-US" dirty="0"/>
              <a:t>Cohesion, Coupling и SOLID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305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40C15B-BC77-FC6F-8DE5-BCF711EA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распространяются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7C8015-A8A2-15AE-2E54-8EC09468C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78BDC-4062-EE08-521E-6108C090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008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EE1A3E-E041-C455-D5F9-432F8E70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0" dirty="0"/>
              <a:t>Небольшое требование — много изменений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F3FFB-ECEE-C256-75A6-0203B2441B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noProof="0" dirty="0"/>
              <a:t>Новое требование: добавить экспорт рисунка в </a:t>
            </a:r>
            <a:r>
              <a:rPr lang="en-US" noProof="0" dirty="0"/>
              <a:t>SVG/PDF</a:t>
            </a:r>
            <a:endParaRPr lang="ru-RU" noProof="0" dirty="0"/>
          </a:p>
          <a:p>
            <a:r>
              <a:rPr lang="ru-RU" noProof="0" dirty="0"/>
              <a:t>Что приходится изменить?</a:t>
            </a:r>
          </a:p>
          <a:p>
            <a:pPr lvl="1"/>
            <a:r>
              <a:rPr lang="ru-RU" noProof="0" dirty="0" err="1"/>
              <a:t>IShape</a:t>
            </a:r>
            <a:endParaRPr lang="ru-RU" noProof="0" dirty="0"/>
          </a:p>
          <a:p>
            <a:pPr lvl="1"/>
            <a:r>
              <a:rPr lang="ru-RU" noProof="0" dirty="0" err="1"/>
              <a:t>Rectangle</a:t>
            </a:r>
            <a:endParaRPr lang="ru-RU" noProof="0" dirty="0"/>
          </a:p>
          <a:p>
            <a:pPr lvl="1"/>
            <a:r>
              <a:rPr lang="ru-RU" noProof="0" dirty="0" err="1"/>
              <a:t>Ellipse</a:t>
            </a:r>
            <a:endParaRPr lang="ru-RU" noProof="0" dirty="0"/>
          </a:p>
          <a:p>
            <a:pPr lvl="1"/>
            <a:r>
              <a:rPr lang="ru-RU" noProof="0" dirty="0" err="1"/>
              <a:t>Triangle</a:t>
            </a:r>
            <a:endParaRPr lang="ru-RU" noProof="0" dirty="0"/>
          </a:p>
          <a:p>
            <a:pPr lvl="1"/>
            <a:r>
              <a:rPr lang="ru-RU" noProof="0" dirty="0"/>
              <a:t>другие виды фигур</a:t>
            </a:r>
          </a:p>
          <a:p>
            <a:r>
              <a:rPr lang="ru-RU" noProof="0" dirty="0"/>
              <a:t>Одно требование приводит к изменениям во многих местах</a:t>
            </a:r>
          </a:p>
          <a:p>
            <a:endParaRPr lang="ru-RU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D0841-5FBA-F8B1-4FD8-D82C6B10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noProof="0" smtClean="0"/>
              <a:t>3</a:t>
            </a:fld>
            <a:endParaRPr lang="ru-RU" noProof="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18605BE-2F91-3975-C14B-7BC0CF23A4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3735" y="2806995"/>
            <a:ext cx="5903045" cy="212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3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D341-357C-D30B-0F61-27B63D26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0"/>
              <a:t>Изменения распространяются по зависимостям</a:t>
            </a:r>
            <a:endParaRPr lang="ru-R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A52A-DE54-FC43-F3E7-B94B9041D6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noProof="0" dirty="0"/>
              <a:t>Компоненты программы не изолированы.</a:t>
            </a:r>
          </a:p>
          <a:p>
            <a:r>
              <a:rPr lang="ru-RU" noProof="0" dirty="0"/>
              <a:t>Изменение может затронуть другой компонент, если тот:</a:t>
            </a:r>
          </a:p>
          <a:p>
            <a:pPr lvl="1"/>
            <a:r>
              <a:rPr lang="ru-RU" noProof="0" dirty="0"/>
              <a:t>зависит от его интерфейса;</a:t>
            </a:r>
          </a:p>
          <a:p>
            <a:pPr lvl="1"/>
            <a:r>
              <a:rPr lang="ru-RU" noProof="0" dirty="0"/>
              <a:t>знает детали его устройства;</a:t>
            </a:r>
          </a:p>
          <a:p>
            <a:pPr lvl="1"/>
            <a:r>
              <a:rPr lang="ru-RU" noProof="0" dirty="0"/>
              <a:t>использует его конкретное поведение.</a:t>
            </a:r>
          </a:p>
          <a:p>
            <a:r>
              <a:rPr lang="ru-RU" noProof="0" dirty="0"/>
              <a:t>Чем больше таких связей, тем дальше может распространиться изменение.</a:t>
            </a:r>
            <a:endParaRPr lang="en-US" noProof="0" dirty="0"/>
          </a:p>
          <a:p>
            <a:r>
              <a:rPr lang="ru-RU" noProof="0" dirty="0"/>
              <a:t>Сами по себе зависимости – не проблема</a:t>
            </a:r>
          </a:p>
          <a:p>
            <a:pPr lvl="1"/>
            <a:r>
              <a:rPr lang="ru-RU" noProof="0" dirty="0"/>
              <a:t>Какие зависимости необходимы, а каких можно избежать</a:t>
            </a:r>
            <a:r>
              <a:rPr lang="en-US" noProof="0" dirty="0"/>
              <a:t>?</a:t>
            </a:r>
            <a:endParaRPr lang="ru-RU" noProof="0" dirty="0"/>
          </a:p>
          <a:p>
            <a:endParaRPr lang="ru-RU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F9E934-548C-A395-0860-A5B1EB3A5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97357-D278-AC7A-1BAB-CD0D16D5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noProof="0" smtClean="0"/>
              <a:t>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2374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4730-9FCC-975A-56F1-BCA965C5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0" dirty="0"/>
              <a:t>Хороший дизайн локализует изменения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A1217-0C8A-1F90-B944-C861759BFE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noProof="0" dirty="0"/>
              <a:t>Цель — не избавиться от изменений вообще</a:t>
            </a:r>
          </a:p>
          <a:p>
            <a:pPr lvl="1"/>
            <a:r>
              <a:rPr lang="ru-RU" noProof="0" dirty="0"/>
              <a:t>Цель — не дать одному изменению без необходимости затронуть другие части системы.</a:t>
            </a:r>
          </a:p>
          <a:p>
            <a:r>
              <a:rPr lang="ru-RU" noProof="0" dirty="0"/>
              <a:t>Для этого нужно понимать:</a:t>
            </a:r>
          </a:p>
          <a:p>
            <a:pPr lvl="1"/>
            <a:r>
              <a:rPr lang="ru-RU" noProof="0" dirty="0"/>
              <a:t>что должно изменяться вместе;</a:t>
            </a:r>
          </a:p>
          <a:p>
            <a:pPr lvl="1"/>
            <a:r>
              <a:rPr lang="ru-RU" noProof="0" dirty="0"/>
              <a:t>что должно изменяться независимо;</a:t>
            </a:r>
          </a:p>
          <a:p>
            <a:pPr lvl="1"/>
            <a:r>
              <a:rPr lang="ru-RU" noProof="0" dirty="0"/>
              <a:t>какие зависимости действительно необходимы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F855B8-8B18-15BC-761A-65C0BE4A81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199" y="2030278"/>
            <a:ext cx="5895473" cy="414668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F2431-6A17-B355-0413-B0A8EB53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noProof="0" smtClean="0"/>
              <a:t>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8419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BFCB0-2D90-BEF5-C708-5BD5F090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7838F0-BE6C-4717-BD1C-C01A218B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Cohesion</a:t>
            </a:r>
            <a:r>
              <a:rPr lang="ru-RU" dirty="0"/>
              <a:t> (связность)</a:t>
            </a:r>
            <a:br>
              <a:rPr lang="ru-RU" dirty="0"/>
            </a:br>
            <a:r>
              <a:rPr lang="en-US" dirty="0"/>
              <a:t>и coupling </a:t>
            </a:r>
            <a:r>
              <a:rPr lang="ru-RU" dirty="0"/>
              <a:t>(зацепление)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2B84E1-4A4D-643A-D39D-0E7EBBC54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B917-23E5-15F4-7521-C67A0F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8E6F4D-2E97-47CB-8591-066566E4FE4D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13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5EC5E-9C71-AB3E-FE3C-B1178179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Cohesion (</a:t>
            </a:r>
            <a:r>
              <a:rPr lang="ru-RU" b="1" dirty="0"/>
              <a:t>связность)</a:t>
            </a:r>
            <a:br>
              <a:rPr lang="ru-RU" b="1" dirty="0"/>
            </a:br>
            <a:r>
              <a:rPr lang="ru-RU" dirty="0"/>
              <a:t>Ч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9C480-15C5-E69B-19FB-9A577AB255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Cohesion — </a:t>
            </a:r>
            <a:r>
              <a:rPr lang="en-US" dirty="0" err="1"/>
              <a:t>внутренняя</a:t>
            </a:r>
            <a:r>
              <a:rPr lang="en-US" dirty="0"/>
              <a:t> </a:t>
            </a:r>
            <a:r>
              <a:rPr lang="en-US" dirty="0" err="1"/>
              <a:t>связность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endParaRPr lang="en-US" dirty="0"/>
          </a:p>
          <a:p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модуля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связанным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</a:p>
          <a:p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ru-RU" dirty="0"/>
              <a:t>связность</a:t>
            </a:r>
            <a:r>
              <a:rPr lang="en-US" dirty="0"/>
              <a:t> </a:t>
            </a:r>
            <a:r>
              <a:rPr lang="ru-RU" dirty="0"/>
              <a:t>означает, что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ясное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DD3B3D-FE40-A520-A802-D01E916FDB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99312"/>
            <a:ext cx="5181600" cy="40039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D1155-A434-5CA6-5DE1-B74C3165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36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23CA-DF40-E425-E250-6774B0B0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Coupling</a:t>
            </a:r>
            <a:r>
              <a:rPr lang="ru-RU" b="1"/>
              <a:t> (зацепление)</a:t>
            </a:r>
            <a:br>
              <a:rPr lang="ru-RU" b="1"/>
            </a:br>
            <a:r>
              <a:rPr lang="ru-RU"/>
              <a:t>Ч</a:t>
            </a:r>
            <a:r>
              <a:rPr lang="en-US"/>
              <a:t>то один модуль знает о другом?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FA05-4DE7-14FA-B79C-37A3F455C8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Coupling — связанность между модулями</a:t>
            </a:r>
          </a:p>
          <a:p>
            <a:r>
              <a:rPr lang="en-US"/>
              <a:t>Показывает, насколько один модуль зависит от:</a:t>
            </a:r>
          </a:p>
          <a:p>
            <a:pPr lvl="1"/>
            <a:r>
              <a:rPr lang="en-US"/>
              <a:t>устройства другого модуля;</a:t>
            </a:r>
          </a:p>
          <a:p>
            <a:pPr lvl="1"/>
            <a:r>
              <a:rPr lang="en-US"/>
              <a:t>его конкретных типов;</a:t>
            </a:r>
          </a:p>
          <a:p>
            <a:pPr lvl="1"/>
            <a:r>
              <a:rPr lang="en-US"/>
              <a:t>деталей его реализации;</a:t>
            </a:r>
          </a:p>
          <a:p>
            <a:pPr lvl="1"/>
            <a:r>
              <a:rPr lang="en-US"/>
              <a:t>изменений его интерфейса.</a:t>
            </a:r>
          </a:p>
          <a:p>
            <a:r>
              <a:rPr lang="en-US"/>
              <a:t>Чем меньше необходимых знаний — тем слабее coupling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6BB0-415A-D2D7-8270-FEEB36FF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8</a:t>
            </a:fld>
            <a:endParaRPr lang="ru-R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B27BC1-583D-1888-ABB5-EA9243D97D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1825625"/>
            <a:ext cx="5735667" cy="39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62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6C1-C130-5C26-A95D-B76DFB20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Cohesion, Loose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7B48-D979-1410-16E4-EB75C4DCFD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Предпочтительное</a:t>
            </a:r>
            <a:r>
              <a:rPr lang="en-US" b="1" dirty="0"/>
              <a:t> </a:t>
            </a:r>
            <a:r>
              <a:rPr lang="en-US" b="1" dirty="0" err="1"/>
              <a:t>направление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endParaRPr lang="en-US" b="1" dirty="0"/>
          </a:p>
          <a:p>
            <a:r>
              <a:rPr lang="en-US" b="1" dirty="0" err="1"/>
              <a:t>Внутри</a:t>
            </a:r>
            <a:r>
              <a:rPr lang="en-US" b="1" dirty="0"/>
              <a:t> </a:t>
            </a:r>
            <a:r>
              <a:rPr lang="en-US" b="1" dirty="0" err="1"/>
              <a:t>модуля</a:t>
            </a:r>
            <a:r>
              <a:rPr lang="ru-RU" b="1" dirty="0"/>
              <a:t>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endParaRPr lang="en-US" dirty="0"/>
          </a:p>
          <a:p>
            <a:r>
              <a:rPr lang="ru-RU" b="1" dirty="0"/>
              <a:t>М</a:t>
            </a:r>
            <a:r>
              <a:rPr lang="en-US" b="1" dirty="0" err="1"/>
              <a:t>ежду</a:t>
            </a:r>
            <a:r>
              <a:rPr lang="en-US" b="1" dirty="0"/>
              <a:t> </a:t>
            </a:r>
            <a:r>
              <a:rPr lang="en-US" b="1" dirty="0" err="1"/>
              <a:t>модулями</a:t>
            </a:r>
            <a:r>
              <a:rPr lang="ru-RU" b="1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endParaRPr lang="ru-RU" dirty="0"/>
          </a:p>
          <a:p>
            <a:r>
              <a:rPr lang="en-US" dirty="0"/>
              <a:t>Cohesion</a:t>
            </a:r>
            <a:endParaRPr lang="ru-RU" dirty="0"/>
          </a:p>
          <a:p>
            <a:pPr lvl="1"/>
            <a:r>
              <a:rPr lang="ru-RU" dirty="0"/>
              <a:t>Что стоит объединить</a:t>
            </a:r>
            <a:r>
              <a:rPr lang="en-US" dirty="0"/>
              <a:t>?</a:t>
            </a:r>
          </a:p>
          <a:p>
            <a:r>
              <a:rPr lang="en-US" dirty="0"/>
              <a:t>Coupling</a:t>
            </a:r>
          </a:p>
          <a:p>
            <a:pPr lvl="1"/>
            <a:r>
              <a:rPr lang="ru-RU" dirty="0"/>
              <a:t>Что должно пересекать границу между модулями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46FDC-972B-8DF6-BA13-32A4A2BC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9</a:t>
            </a:fld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E7A9CB-13FC-1FF9-ED80-1BD693079B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291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6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46BA9-68DD-9F9B-2CE0-D98B4028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F5B610-0B4E-34E5-E089-0657E086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SOLID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линз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5BFB92-144B-59CA-1FA5-0558C6775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26DF1-447A-E62B-D174-0BF0232D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713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3418CC-ACE1-B9FB-3462-B80CC5A8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SOLID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CC314B-9435-F30B-39B0-89A824CBA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</a:t>
            </a:r>
            <a:r>
              <a:rPr lang="en-US" dirty="0" err="1"/>
              <a:t>ять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объектно-ориентированного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endParaRPr lang="en-US" dirty="0"/>
          </a:p>
          <a:p>
            <a:pPr lvl="1"/>
            <a:r>
              <a:rPr lang="en-US" b="1" dirty="0"/>
              <a:t>S</a:t>
            </a:r>
            <a:r>
              <a:rPr lang="en-US" dirty="0"/>
              <a:t> — Single Responsibility Principle</a:t>
            </a:r>
            <a:endParaRPr lang="ru-RU" dirty="0"/>
          </a:p>
          <a:p>
            <a:pPr lvl="1"/>
            <a:r>
              <a:rPr lang="en-US" b="1" dirty="0"/>
              <a:t>O</a:t>
            </a:r>
            <a:r>
              <a:rPr lang="en-US" dirty="0"/>
              <a:t> — Open/Closed Principle</a:t>
            </a:r>
            <a:endParaRPr lang="ru-RU" dirty="0"/>
          </a:p>
          <a:p>
            <a:pPr lvl="1"/>
            <a:r>
              <a:rPr lang="en-US" b="1" dirty="0"/>
              <a:t>L</a:t>
            </a:r>
            <a:r>
              <a:rPr lang="en-US" dirty="0"/>
              <a:t> — </a:t>
            </a:r>
            <a:r>
              <a:rPr lang="en-US" dirty="0" err="1"/>
              <a:t>Liskov</a:t>
            </a:r>
            <a:r>
              <a:rPr lang="en-US" dirty="0"/>
              <a:t> Substitution Principle</a:t>
            </a:r>
            <a:endParaRPr lang="ru-RU" dirty="0"/>
          </a:p>
          <a:p>
            <a:pPr lvl="1"/>
            <a:r>
              <a:rPr lang="en-US" b="1" dirty="0"/>
              <a:t>I</a:t>
            </a:r>
            <a:r>
              <a:rPr lang="en-US" dirty="0"/>
              <a:t> — Interface Segregation Principle</a:t>
            </a:r>
            <a:endParaRPr lang="ru-RU" dirty="0"/>
          </a:p>
          <a:p>
            <a:pPr lvl="1"/>
            <a:r>
              <a:rPr lang="en-US" b="1" dirty="0"/>
              <a:t>D</a:t>
            </a:r>
            <a:r>
              <a:rPr lang="en-US" dirty="0"/>
              <a:t> — Dependency Inversion Principle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ответственности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расширяемость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контракты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интерфейсы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/>
              <a:t>SOLID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находить</a:t>
            </a:r>
            <a:r>
              <a:rPr lang="en-US" dirty="0"/>
              <a:t> </a:t>
            </a:r>
            <a:r>
              <a:rPr lang="en-US" dirty="0" err="1"/>
              <a:t>слабые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70764-CB43-DE7F-6535-A036BDF6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47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098D-E891-71DD-7D9B-A23F38BE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—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489D5-F727-6E44-7E25-41DBA602A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42336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SRP (Single Responsibility Principle)</a:t>
            </a:r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?</a:t>
            </a:r>
          </a:p>
          <a:p>
            <a:r>
              <a:rPr lang="en-US" dirty="0"/>
              <a:t>OCP (Open/Closed Principle)</a:t>
            </a:r>
          </a:p>
          <a:p>
            <a:pPr lvl="1"/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?</a:t>
            </a:r>
          </a:p>
          <a:p>
            <a:r>
              <a:rPr lang="en-US" dirty="0"/>
              <a:t>LSP (</a:t>
            </a:r>
            <a:r>
              <a:rPr lang="en-US" dirty="0" err="1"/>
              <a:t>Liskov</a:t>
            </a:r>
            <a:r>
              <a:rPr lang="en-US" dirty="0"/>
              <a:t> Substitution Principle)</a:t>
            </a:r>
          </a:p>
          <a:p>
            <a:pPr lvl="1"/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?</a:t>
            </a:r>
          </a:p>
          <a:p>
            <a:r>
              <a:rPr lang="en-US" dirty="0"/>
              <a:t>ISP (Interface Segregation Principle)</a:t>
            </a:r>
          </a:p>
          <a:p>
            <a:pPr lvl="1"/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?</a:t>
            </a:r>
          </a:p>
          <a:p>
            <a:r>
              <a:rPr lang="en-US" dirty="0"/>
              <a:t>DIP (Dependency Inversion Principle)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 </a:t>
            </a:r>
            <a:r>
              <a:rPr lang="en-US" dirty="0" err="1"/>
              <a:t>направлены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?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724ADEF-3744-05CD-169A-ECBC45EC87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564" y="1825624"/>
            <a:ext cx="3939835" cy="39398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06352-D433-484E-AC29-B148A888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25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7AF-A835-1003-9953-B64302FD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взглядов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456F-CB08-2F19-B894-7FB050BBC3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с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endParaRPr lang="ru-RU" dirty="0"/>
          </a:p>
          <a:p>
            <a:pPr lvl="1"/>
            <a:r>
              <a:rPr lang="en-US" b="1" dirty="0"/>
              <a:t>SRP: </a:t>
            </a:r>
            <a:r>
              <a:rPr lang="en-US" dirty="0" err="1"/>
              <a:t>Почему</a:t>
            </a:r>
            <a:r>
              <a:rPr lang="en-US" dirty="0"/>
              <a:t> Shape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способах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b="1" dirty="0"/>
              <a:t>OCP: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b="1" dirty="0"/>
              <a:t>DIP: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 err="1"/>
              <a:t>Принципы</a:t>
            </a:r>
            <a:r>
              <a:rPr lang="en-US" dirty="0"/>
              <a:t> SOLID </a:t>
            </a:r>
            <a:r>
              <a:rPr lang="en-US" dirty="0" err="1"/>
              <a:t>пересекаются</a:t>
            </a:r>
            <a:r>
              <a:rPr lang="en-US" dirty="0"/>
              <a:t> и </a:t>
            </a:r>
            <a:r>
              <a:rPr lang="en-US" dirty="0" err="1"/>
              <a:t>дополняют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843BA8-C37B-43CA-8802-102F7DA8AB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3EDD6-78C7-2464-A378-F9D1DF33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462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F653-D402-80DD-BD31-4EDD5FA1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Principle:</a:t>
            </a:r>
            <a:br>
              <a:rPr lang="ru-RU" dirty="0"/>
            </a:br>
            <a:r>
              <a:rPr lang="ru-RU" dirty="0"/>
              <a:t>Одна причина для изменений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CF99D-83CD-2E3F-1254-69D329B77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61330-4890-0A54-BD05-480F61BD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58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668D86-3FF3-B589-F507-3968F512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SRP: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9A4DA-C64B-5061-A976-51BE2C90B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8057" cy="4351338"/>
          </a:xfrm>
        </p:spPr>
        <p:txBody>
          <a:bodyPr/>
          <a:lstStyle/>
          <a:p>
            <a:r>
              <a:rPr lang="en-US" b="1" dirty="0" err="1"/>
              <a:t>Компонент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иметь</a:t>
            </a:r>
            <a:r>
              <a:rPr lang="en-US" b="1" dirty="0"/>
              <a:t> </a:t>
            </a:r>
            <a:r>
              <a:rPr lang="en-US" b="1" dirty="0" err="1"/>
              <a:t>одну</a:t>
            </a:r>
            <a:r>
              <a:rPr lang="en-US" b="1" dirty="0"/>
              <a:t> </a:t>
            </a:r>
            <a:r>
              <a:rPr lang="en-US" b="1" dirty="0" err="1"/>
              <a:t>причину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endParaRPr lang="en-US" dirty="0"/>
          </a:p>
          <a:p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а с </a:t>
            </a:r>
            <a:r>
              <a:rPr lang="en-US" b="1" dirty="0" err="1"/>
              <a:t>источником</a:t>
            </a:r>
            <a:r>
              <a:rPr lang="en-US" b="1" dirty="0"/>
              <a:t> </a:t>
            </a:r>
            <a:r>
              <a:rPr lang="en-US" b="1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86318-D8AC-E974-7ECF-95B6E1A0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15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3C492-B2FE-CB5B-3265-03E28ADD629A}"/>
              </a:ext>
            </a:extLst>
          </p:cNvPr>
          <p:cNvSpPr txBox="1"/>
          <p:nvPr/>
        </p:nvSpPr>
        <p:spPr>
          <a:xfrm>
            <a:off x="6215744" y="1825626"/>
            <a:ext cx="5138055" cy="2853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ShapeGeometry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29412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E2E4-2C2F-ACC8-90BA-CA9CBB42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63EA-A18B-DB37-4703-4D63915CE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89171" cy="4351338"/>
          </a:xfrm>
        </p:spPr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требования</a:t>
            </a:r>
            <a:r>
              <a:rPr lang="en-US" dirty="0"/>
              <a:t> к PDF. </a:t>
            </a:r>
          </a:p>
          <a:p>
            <a:r>
              <a:rPr lang="ru-RU" dirty="0"/>
              <a:t>Проблема: н</a:t>
            </a:r>
            <a:r>
              <a:rPr lang="en-US" dirty="0" err="1"/>
              <a:t>езависимые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сходятся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классе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6F4BD-C4CD-01B2-3118-1F81EC21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FDBF2-6758-4AAE-C574-7A2A9431DADD}"/>
              </a:ext>
            </a:extLst>
          </p:cNvPr>
          <p:cNvSpPr txBox="1"/>
          <p:nvPr/>
        </p:nvSpPr>
        <p:spPr>
          <a:xfrm>
            <a:off x="6890657" y="1825625"/>
            <a:ext cx="446314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DrawingDocument</a:t>
            </a:r>
            <a:endParaRPr lang="en-US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RemoveShape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  <a:b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endParaRPr lang="en-US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ExportToPdf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04008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5340-1A60-0428-3342-6240535B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Разделяем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4FCF3-B995-7610-ED74-013990E0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17</a:t>
            </a:fld>
            <a:endParaRPr lang="ru-RU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ACDC7F6-4FBD-2D92-CAF2-564D11EF4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84175"/>
            <a:ext cx="10515600" cy="303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7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C21A-5E30-3105-8DE8-1FBDA1A1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80A927-4DD8-4CC6-953B-30B2BABCF4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Save() и Load()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endParaRPr lang="en-US" dirty="0"/>
          </a:p>
          <a:p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причинами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8AFE8E9-61AA-669B-5590-4972DF6D7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225143"/>
            <a:ext cx="10515600" cy="951820"/>
          </a:xfrm>
        </p:spPr>
        <p:txBody>
          <a:bodyPr/>
          <a:lstStyle/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заставляют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56122-D4EC-EAA2-54C1-6C341A00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18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F0DAF-8FA3-3B96-7046-242CFE46ED9A}"/>
              </a:ext>
            </a:extLst>
          </p:cNvPr>
          <p:cNvSpPr txBox="1"/>
          <p:nvPr/>
        </p:nvSpPr>
        <p:spPr>
          <a:xfrm>
            <a:off x="6232636" y="1825626"/>
            <a:ext cx="51211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DrawingSerializer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    std::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(::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34934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C972-342C-7A48-D8D9-56C37FED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Open/Closed Principle:</a:t>
            </a:r>
            <a:br>
              <a:rPr lang="ru-RU" dirty="0"/>
            </a:br>
            <a:r>
              <a:rPr lang="ru-RU" dirty="0"/>
              <a:t>К</a:t>
            </a:r>
            <a:r>
              <a:rPr lang="en-US" dirty="0" err="1"/>
              <a:t>акую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дешёвой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BA41F-23AF-F272-54FC-5D4767CC4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F7213-25ED-43CC-8A87-1FA266CB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454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276EFF-383C-051D-5FA1-476B3C32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Open/Closed Principle (OCP)</a:t>
            </a:r>
            <a:br>
              <a:rPr lang="ru-RU" dirty="0"/>
            </a:b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, </a:t>
            </a:r>
            <a:r>
              <a:rPr lang="en-US" dirty="0" err="1"/>
              <a:t>закрыт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B15AA-C474-3A29-558B-F9E818FFB9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err="1"/>
              <a:t>Программная</a:t>
            </a:r>
            <a:r>
              <a:rPr lang="en-US" b="1" dirty="0"/>
              <a:t> </a:t>
            </a:r>
            <a:r>
              <a:rPr lang="en-US" b="1" dirty="0" err="1"/>
              <a:t>сущность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открыта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расширения</a:t>
            </a:r>
            <a:endParaRPr lang="en-US" b="1" dirty="0"/>
          </a:p>
          <a:p>
            <a:pPr lvl="2"/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;</a:t>
            </a:r>
          </a:p>
          <a:p>
            <a:pPr lvl="1"/>
            <a:r>
              <a:rPr lang="en-US" b="1" dirty="0" err="1"/>
              <a:t>закрыта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endParaRPr lang="en-US" b="1" dirty="0"/>
          </a:p>
          <a:p>
            <a:pPr lvl="2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Закрыта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какого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D48E27-4ABE-07FE-5F6B-384F6749CA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EC86D-C471-5F6C-1342-DF3B99DD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159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8DAE-2533-9CD6-96FA-CCA73144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осей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B2F-1791-E6D0-0ECD-454E25C28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32071" cy="2713718"/>
          </a:xfrm>
        </p:spPr>
        <p:txBody>
          <a:bodyPr>
            <a:normAutofit/>
          </a:bodyPr>
          <a:lstStyle/>
          <a:p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развивается</a:t>
            </a:r>
            <a:r>
              <a:rPr lang="en-US" dirty="0"/>
              <a:t>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endParaRPr lang="ru-RU" dirty="0"/>
          </a:p>
          <a:p>
            <a:pPr lvl="1"/>
            <a:r>
              <a:rPr lang="en-US" b="1" dirty="0" err="1"/>
              <a:t>Ось</a:t>
            </a:r>
            <a:r>
              <a:rPr lang="en-US" b="1" dirty="0"/>
              <a:t> 1: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ru-RU" dirty="0"/>
          </a:p>
          <a:p>
            <a:pPr lvl="1"/>
            <a:r>
              <a:rPr lang="en-US" b="1" dirty="0" err="1"/>
              <a:t>Ось</a:t>
            </a:r>
            <a:r>
              <a:rPr lang="en-US" b="1" dirty="0"/>
              <a:t> 2: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endParaRPr lang="en-US" dirty="0"/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стоимости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8D55F6-28E1-B21E-037B-AF19FC36C6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69154852"/>
              </p:ext>
            </p:extLst>
          </p:nvPr>
        </p:nvGraphicFramePr>
        <p:xfrm>
          <a:off x="7184571" y="1825625"/>
          <a:ext cx="416922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431">
                  <a:extLst>
                    <a:ext uri="{9D8B030D-6E8A-4147-A177-3AD203B41FA5}">
                      <a16:colId xmlns:a16="http://schemas.microsoft.com/office/drawing/2014/main" val="1623232733"/>
                    </a:ext>
                  </a:extLst>
                </a:gridCol>
                <a:gridCol w="853047">
                  <a:extLst>
                    <a:ext uri="{9D8B030D-6E8A-4147-A177-3AD203B41FA5}">
                      <a16:colId xmlns:a16="http://schemas.microsoft.com/office/drawing/2014/main" val="3960397738"/>
                    </a:ext>
                  </a:extLst>
                </a:gridCol>
                <a:gridCol w="818749">
                  <a:extLst>
                    <a:ext uri="{9D8B030D-6E8A-4147-A177-3AD203B41FA5}">
                      <a16:colId xmlns:a16="http://schemas.microsoft.com/office/drawing/2014/main" val="3974973550"/>
                    </a:ext>
                  </a:extLst>
                </a:gridCol>
                <a:gridCol w="797022">
                  <a:extLst>
                    <a:ext uri="{9D8B030D-6E8A-4147-A177-3AD203B41FA5}">
                      <a16:colId xmlns:a16="http://schemas.microsoft.com/office/drawing/2014/main" val="3420174431"/>
                    </a:ext>
                  </a:extLst>
                </a:gridCol>
                <a:gridCol w="584977">
                  <a:extLst>
                    <a:ext uri="{9D8B030D-6E8A-4147-A177-3AD203B41FA5}">
                      <a16:colId xmlns:a16="http://schemas.microsoft.com/office/drawing/2014/main" val="257327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4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51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90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06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26475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15F9F-A256-8B47-C3C2-37EF2467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21</a:t>
            </a:fld>
            <a:endParaRPr lang="ru-R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F381F6-CFC5-1267-77F8-31B14319D89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851399"/>
            <a:ext cx="10515600" cy="1325564"/>
          </a:xfrm>
        </p:spPr>
        <p:txBody>
          <a:bodyPr/>
          <a:lstStyle/>
          <a:p>
            <a:r>
              <a:rPr lang="ru-RU" dirty="0"/>
              <a:t>К</a:t>
            </a:r>
            <a:r>
              <a:rPr lang="en-US" dirty="0" err="1"/>
              <a:t>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и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13390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8AF8E4-9EB7-7A00-760C-3C3EE78B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2AE74A9-24A2-6E72-D47F-92F8A6F4B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05485"/>
            <a:ext cx="10515600" cy="37916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FBB77-A441-ED90-EA1B-5DC75FC4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80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01CF-3E2A-F6CA-85E2-4A006A35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536D35-B441-8864-EA12-770E999B1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86030"/>
            <a:ext cx="10515600" cy="40305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6351F-B240-2CE2-1F4E-623999AF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566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D108-235C-72F3-02FB-97BE94AC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OCP — </a:t>
            </a:r>
            <a:r>
              <a:rPr lang="en-US" dirty="0" err="1"/>
              <a:t>ставка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будущие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AEF43-5220-B7D9-74C8-45AD568F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Сценарий </a:t>
            </a:r>
            <a:r>
              <a:rPr lang="en-US" dirty="0"/>
              <a:t>A: </a:t>
            </a:r>
            <a:r>
              <a:rPr lang="ru-RU" dirty="0"/>
              <a:t>вывод на экран, </a:t>
            </a:r>
            <a:r>
              <a:rPr lang="en-US" dirty="0"/>
              <a:t>SVG, PDF, PNG, PostScript</a:t>
            </a:r>
          </a:p>
          <a:p>
            <a:pPr lvl="1"/>
            <a:r>
              <a:rPr lang="ru-RU" dirty="0"/>
              <a:t>расширяемость используется регулярно</a:t>
            </a:r>
          </a:p>
          <a:p>
            <a:r>
              <a:rPr lang="ru-RU" dirty="0"/>
              <a:t>Сценарий </a:t>
            </a:r>
            <a:r>
              <a:rPr lang="en-US" dirty="0"/>
              <a:t>B: </a:t>
            </a:r>
            <a:r>
              <a:rPr lang="ru-RU" dirty="0"/>
              <a:t>вывод только на экран и в </a:t>
            </a:r>
            <a:r>
              <a:rPr lang="en-US" dirty="0"/>
              <a:t>SVG</a:t>
            </a:r>
          </a:p>
          <a:p>
            <a:pPr lvl="1"/>
            <a:r>
              <a:rPr lang="ru-RU" dirty="0"/>
              <a:t>абстракция может не окупиться</a:t>
            </a:r>
          </a:p>
          <a:p>
            <a:r>
              <a:rPr lang="en-US" dirty="0"/>
              <a:t>OCP </a:t>
            </a:r>
            <a:r>
              <a:rPr lang="ru-RU" dirty="0"/>
              <a:t>имеет смысл для тех изменений, которые действительно важны</a:t>
            </a:r>
            <a:endParaRPr lang="en-US" dirty="0"/>
          </a:p>
          <a:p>
            <a:r>
              <a:rPr lang="ru-RU" dirty="0"/>
              <a:t>Главный вопрос звучит не так:</a:t>
            </a:r>
          </a:p>
          <a:p>
            <a:pPr lvl="1"/>
            <a:r>
              <a:rPr lang="ru-RU" i="1" dirty="0"/>
              <a:t>«Как сделать код, который никогда не придётся менять»</a:t>
            </a:r>
          </a:p>
          <a:p>
            <a:pPr lvl="1"/>
            <a:r>
              <a:rPr lang="ru-RU" dirty="0"/>
              <a:t>а так:</a:t>
            </a:r>
          </a:p>
          <a:p>
            <a:pPr lvl="1"/>
            <a:r>
              <a:rPr lang="ru-RU" i="1" dirty="0"/>
              <a:t>«</a:t>
            </a:r>
            <a:r>
              <a:rPr lang="en-US" i="1" dirty="0" err="1"/>
              <a:t>Какие</a:t>
            </a:r>
            <a:r>
              <a:rPr lang="en-US" i="1" dirty="0"/>
              <a:t> </a:t>
            </a:r>
            <a:r>
              <a:rPr lang="en-US" i="1" dirty="0" err="1"/>
              <a:t>изменения</a:t>
            </a:r>
            <a:r>
              <a:rPr lang="en-US" i="1" dirty="0"/>
              <a:t> </a:t>
            </a:r>
            <a:r>
              <a:rPr lang="en-US" i="1" dirty="0" err="1"/>
              <a:t>мы</a:t>
            </a:r>
            <a:r>
              <a:rPr lang="en-US" i="1" dirty="0"/>
              <a:t> </a:t>
            </a:r>
            <a:r>
              <a:rPr lang="en-US" i="1" dirty="0" err="1"/>
              <a:t>хотим</a:t>
            </a:r>
            <a:r>
              <a:rPr lang="en-US" i="1" dirty="0"/>
              <a:t> </a:t>
            </a:r>
            <a:r>
              <a:rPr lang="en-US" i="1" dirty="0" err="1"/>
              <a:t>сделать</a:t>
            </a:r>
            <a:r>
              <a:rPr lang="en-US" i="1" dirty="0"/>
              <a:t> </a:t>
            </a:r>
            <a:r>
              <a:rPr lang="en-US" i="1" dirty="0" err="1"/>
              <a:t>дешёвыми</a:t>
            </a:r>
            <a:r>
              <a:rPr lang="ru-RU" i="1" dirty="0"/>
              <a:t>,</a:t>
            </a:r>
            <a:r>
              <a:rPr lang="en-US" i="1" dirty="0"/>
              <a:t> и </a:t>
            </a:r>
            <a:r>
              <a:rPr lang="en-US" i="1" dirty="0" err="1"/>
              <a:t>стоит</a:t>
            </a:r>
            <a:r>
              <a:rPr lang="en-US" i="1" dirty="0"/>
              <a:t> </a:t>
            </a:r>
            <a:r>
              <a:rPr lang="en-US" i="1" dirty="0" err="1"/>
              <a:t>ли</a:t>
            </a:r>
            <a:r>
              <a:rPr lang="en-US" i="1" dirty="0"/>
              <a:t> </a:t>
            </a:r>
            <a:r>
              <a:rPr lang="en-US" i="1" dirty="0" err="1"/>
              <a:t>платить</a:t>
            </a:r>
            <a:r>
              <a:rPr lang="en-US" i="1" dirty="0"/>
              <a:t> </a:t>
            </a:r>
            <a:r>
              <a:rPr lang="en-US" i="1" dirty="0" err="1"/>
              <a:t>за</a:t>
            </a:r>
            <a:r>
              <a:rPr lang="en-US" i="1" dirty="0"/>
              <a:t> </a:t>
            </a:r>
            <a:r>
              <a:rPr lang="en-US" i="1" dirty="0" err="1"/>
              <a:t>это</a:t>
            </a:r>
            <a:r>
              <a:rPr lang="en-US" i="1" dirty="0"/>
              <a:t> </a:t>
            </a:r>
            <a:r>
              <a:rPr lang="en-US" i="1" dirty="0" err="1"/>
              <a:t>сегодня</a:t>
            </a:r>
            <a:r>
              <a:rPr lang="en-US" i="1" dirty="0"/>
              <a:t>?</a:t>
            </a:r>
            <a:r>
              <a:rPr lang="ru-RU" i="1" dirty="0"/>
              <a:t>»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DED0-7D32-82DB-E9E2-B111962D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902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BC92-3056-D1D2-55D3-41BAD255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Principle:</a:t>
            </a:r>
            <a:br>
              <a:rPr lang="ru-RU" dirty="0"/>
            </a:br>
            <a:r>
              <a:rPr lang="ru-RU" dirty="0"/>
              <a:t>Т</a:t>
            </a:r>
            <a:r>
              <a:rPr lang="en-US" dirty="0" err="1"/>
              <a:t>ип</a:t>
            </a:r>
            <a:r>
              <a:rPr lang="en-US" dirty="0"/>
              <a:t> —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7147A-1501-A97D-8AB4-0954DE38E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2754E-06B2-EFB2-8610-206D3CE4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451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AE63D3-0FA7-B5FA-D225-64B88456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Liskov</a:t>
            </a:r>
            <a:r>
              <a:rPr lang="en-US" dirty="0"/>
              <a:t> Substitution Principle (LSP):</a:t>
            </a:r>
            <a:br>
              <a:rPr lang="en-US" dirty="0"/>
            </a:br>
            <a:r>
              <a:rPr lang="ru-RU" dirty="0"/>
              <a:t>П</a:t>
            </a:r>
            <a:r>
              <a:rPr lang="en-US" dirty="0" err="1"/>
              <a:t>одтип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5B23F-4A76-CCA6-B416-3154F56DF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078310" cy="233588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подтипа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корректно</a:t>
            </a:r>
            <a:r>
              <a:rPr lang="en-US" b="1" dirty="0"/>
              <a:t> </a:t>
            </a:r>
            <a:r>
              <a:rPr lang="en-US" b="1" dirty="0" err="1"/>
              <a:t>работать</a:t>
            </a:r>
            <a:r>
              <a:rPr lang="en-US" b="1" dirty="0"/>
              <a:t> </a:t>
            </a:r>
            <a:r>
              <a:rPr lang="en-US" b="1" dirty="0" err="1"/>
              <a:t>там</a:t>
            </a:r>
            <a:r>
              <a:rPr lang="en-US" b="1" dirty="0"/>
              <a:t>,</a:t>
            </a:r>
            <a:r>
              <a:rPr lang="ru-RU" b="1" dirty="0"/>
              <a:t>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ожидается</a:t>
            </a:r>
            <a:r>
              <a:rPr lang="en-US" b="1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базового</a:t>
            </a:r>
            <a:r>
              <a:rPr lang="en-US" b="1" dirty="0"/>
              <a:t> </a:t>
            </a:r>
            <a:r>
              <a:rPr lang="en-US" b="1" dirty="0" err="1"/>
              <a:t>типа</a:t>
            </a:r>
            <a:endParaRPr lang="en-US" b="1" dirty="0"/>
          </a:p>
          <a:p>
            <a:pPr lvl="1"/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назван</a:t>
            </a:r>
            <a:r>
              <a:rPr lang="en-US" dirty="0"/>
              <a:t> в </a:t>
            </a:r>
            <a:r>
              <a:rPr lang="en-US" dirty="0" err="1"/>
              <a:t>честь</a:t>
            </a:r>
            <a:r>
              <a:rPr lang="en-US" dirty="0"/>
              <a:t> </a:t>
            </a:r>
            <a:r>
              <a:rPr lang="en-US" dirty="0" err="1"/>
              <a:t>Барбары</a:t>
            </a:r>
            <a:r>
              <a:rPr lang="en-US" dirty="0"/>
              <a:t> </a:t>
            </a:r>
            <a:r>
              <a:rPr lang="en-US" dirty="0" err="1"/>
              <a:t>Лисков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 err="1"/>
              <a:t>Совпадения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ожидаемое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Компилятор проверяет типы</a:t>
            </a:r>
            <a:r>
              <a:rPr lang="en-US" dirty="0"/>
              <a:t>, LSP – </a:t>
            </a:r>
            <a:r>
              <a:rPr lang="ru-RU" dirty="0"/>
              <a:t>совместимость поведения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80CFA5-21D2-5295-DDF9-B843CC10E7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462" y="1760143"/>
            <a:ext cx="1309625" cy="16370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FB0DB-5040-8F02-7A47-26B8402D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26</a:t>
            </a:fld>
            <a:endParaRPr lang="ru-RU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2FDF66EA-10B9-496C-1B4E-174446C3DEBB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4"/>
          <a:stretch>
            <a:fillRect/>
          </a:stretch>
        </p:blipFill>
        <p:spPr>
          <a:xfrm>
            <a:off x="1918824" y="4269872"/>
            <a:ext cx="8354352" cy="23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76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12AE-330A-E1FA-F399-E1924C27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8A72C8-6740-52B4-7CB3-8D46D4BB68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Предусловия</a:t>
            </a:r>
            <a:endParaRPr lang="ru-RU" dirty="0"/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endParaRPr lang="en-US" dirty="0"/>
          </a:p>
          <a:p>
            <a:r>
              <a:rPr lang="en-US" dirty="0" err="1"/>
              <a:t>Постусловия</a:t>
            </a:r>
            <a:endParaRPr lang="ru-RU" dirty="0"/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endParaRPr lang="en-US" dirty="0"/>
          </a:p>
          <a:p>
            <a:r>
              <a:rPr lang="en-US" dirty="0" err="1"/>
              <a:t>Инварианты</a:t>
            </a:r>
            <a:endParaRPr lang="ru-RU" dirty="0"/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истинным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endParaRPr lang="ru-R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4FC022-7DB3-E238-4DDE-2A8E684771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Пример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shape.MoveBy</a:t>
            </a:r>
            <a:r>
              <a:rPr lang="en-US" b="1" dirty="0">
                <a:latin typeface="Consolas" panose="020B0609020204030204" pitchFamily="49" charset="0"/>
              </a:rPr>
              <a:t>(offset);</a:t>
            </a:r>
          </a:p>
          <a:p>
            <a:pPr lvl="1"/>
            <a:r>
              <a:rPr lang="ru-RU" dirty="0"/>
              <a:t>Предусловие:</a:t>
            </a:r>
            <a:endParaRPr lang="en-US" dirty="0"/>
          </a:p>
          <a:p>
            <a:pPr lvl="2"/>
            <a:r>
              <a:rPr lang="en-US" dirty="0"/>
              <a:t>offset </a:t>
            </a:r>
            <a:r>
              <a:rPr lang="ru-RU" dirty="0"/>
              <a:t>допуст</a:t>
            </a:r>
            <a:r>
              <a:rPr lang="ru-RU" b="1" dirty="0"/>
              <a:t>и</a:t>
            </a:r>
            <a:r>
              <a:rPr lang="ru-RU" dirty="0"/>
              <a:t>м</a:t>
            </a:r>
          </a:p>
          <a:p>
            <a:pPr lvl="1"/>
            <a:r>
              <a:rPr lang="ru-RU" dirty="0"/>
              <a:t>Постусловие:</a:t>
            </a:r>
            <a:endParaRPr lang="en-US" dirty="0"/>
          </a:p>
          <a:p>
            <a:pPr lvl="2"/>
            <a:r>
              <a:rPr lang="en-US" dirty="0"/>
              <a:t>position’ = position + offset</a:t>
            </a:r>
            <a:endParaRPr lang="ru-RU" dirty="0"/>
          </a:p>
          <a:p>
            <a:pPr lvl="1"/>
            <a:r>
              <a:rPr lang="ru-RU" dirty="0"/>
              <a:t>Инвариант:</a:t>
            </a:r>
          </a:p>
          <a:p>
            <a:pPr lvl="2"/>
            <a:r>
              <a:rPr lang="en-US" dirty="0"/>
              <a:t>shape </a:t>
            </a:r>
            <a:r>
              <a:rPr lang="ru-RU" dirty="0"/>
              <a:t>остаётся корректной фигурой</a:t>
            </a:r>
          </a:p>
          <a:p>
            <a:r>
              <a:rPr lang="ru-RU" dirty="0"/>
              <a:t>Способы описания контракта</a:t>
            </a:r>
          </a:p>
          <a:p>
            <a:pPr lvl="1"/>
            <a:r>
              <a:rPr lang="ru-RU" dirty="0"/>
              <a:t>Документация</a:t>
            </a:r>
          </a:p>
          <a:p>
            <a:pPr lvl="1"/>
            <a:r>
              <a:rPr lang="ru-RU" dirty="0"/>
              <a:t>Следует из названия операции</a:t>
            </a:r>
          </a:p>
          <a:p>
            <a:pPr lvl="1"/>
            <a:r>
              <a:rPr lang="ru-RU" dirty="0"/>
              <a:t>Тесты</a:t>
            </a:r>
            <a:endParaRPr lang="en-US" dirty="0"/>
          </a:p>
          <a:p>
            <a:pPr lvl="1"/>
            <a:r>
              <a:rPr lang="ru-RU" dirty="0"/>
              <a:t>В некоторых языках можно описать контракт формально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8320F-6C1E-4450-948C-872C8248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027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5ACF-6D33-BF58-B1F8-60BE8DDF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подтипу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23953-54F9-80EC-D02E-5E8484679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ухудшать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ru-RU" dirty="0"/>
          </a:p>
          <a:p>
            <a:pPr lvl="1"/>
            <a:r>
              <a:rPr lang="ru-RU" dirty="0"/>
              <a:t>Предусловия не должны усиливаться</a:t>
            </a:r>
          </a:p>
          <a:p>
            <a:pPr lvl="1"/>
            <a:r>
              <a:rPr lang="ru-RU" dirty="0"/>
              <a:t>Постусловия не должны ослабляться</a:t>
            </a:r>
          </a:p>
          <a:p>
            <a:pPr lvl="1"/>
            <a:r>
              <a:rPr lang="ru-RU" dirty="0"/>
              <a:t>Инвариант должен сохраняться</a:t>
            </a:r>
          </a:p>
          <a:p>
            <a:r>
              <a:rPr lang="ru-RU" dirty="0"/>
              <a:t>Иными словами:</a:t>
            </a:r>
          </a:p>
          <a:p>
            <a:pPr lvl="1"/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endParaRPr lang="ru-RU" dirty="0"/>
          </a:p>
          <a:p>
            <a:pPr lvl="1"/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обещать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54F73D-4D59-9F77-9F34-1384722B49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D24AD-9AA5-DBF0-100F-D8A8353F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011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276F-85A2-72A7-B412-9ED3D51F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Исключения</a:t>
            </a:r>
            <a:r>
              <a:rPr lang="en-US" dirty="0"/>
              <a:t> —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9B92C7-B74D-672C-799F-C3027055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 err="1"/>
              <a:t>Исключение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наблюдаемого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Если подтип выбрасывает исключение, которое не ожидалось от базового типа – это нарушение </a:t>
            </a:r>
            <a:r>
              <a:rPr lang="en-US" dirty="0"/>
              <a:t>LSP</a:t>
            </a:r>
          </a:p>
          <a:p>
            <a:r>
              <a:rPr lang="ru-RU" dirty="0"/>
              <a:t>Важно не только «Что возвращает метод</a:t>
            </a:r>
            <a:r>
              <a:rPr lang="en-US" dirty="0"/>
              <a:t>?</a:t>
            </a:r>
            <a:r>
              <a:rPr lang="ru-RU" dirty="0"/>
              <a:t>», но и «Какими способами он может завершиться»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38DA8-66DA-26D4-18C8-DA3CE39D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29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F28D0-B8C6-458D-AE18-5F2E6468783E}"/>
              </a:ext>
            </a:extLst>
          </p:cNvPr>
          <p:cNvSpPr txBox="1"/>
          <p:nvPr/>
        </p:nvSpPr>
        <p:spPr>
          <a:xfrm>
            <a:off x="6335974" y="1825625"/>
            <a:ext cx="501782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IMovableShape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IMovableShape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CanvasBoundShape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IMovableShape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WouldLeaveCanvas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OutOfCanvasBounds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...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18048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0C4C-16B5-6A32-2CC8-1C953AE7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Нарушение LSP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 и </a:t>
            </a:r>
            <a:r>
              <a:rPr lang="en-US" dirty="0" err="1"/>
              <a:t>исключений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0550461-B5BF-8FA9-DE6C-99D0E5C27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4982" y="1825625"/>
            <a:ext cx="3847710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98034-819C-9B3F-8AEF-916678B4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30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33DF3-70AD-96F4-259B-410256F1F7AC}"/>
              </a:ext>
            </a:extLst>
          </p:cNvPr>
          <p:cNvSpPr txBox="1"/>
          <p:nvPr/>
        </p:nvSpPr>
        <p:spPr>
          <a:xfrm>
            <a:off x="6302266" y="1825625"/>
            <a:ext cx="56322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IMovableShape</a:t>
            </a:r>
            <a:endParaRPr lang="ru-RU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IMovableShape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GetBounds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Переместить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ровно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offset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CanvasBoundShape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IMovableShape</a:t>
            </a:r>
            <a:endParaRPr lang="ru-RU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выходит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границы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холста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71707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81AC-BC4C-4A38-AEEF-208DFA1D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в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E403-C20A-B263-2F18-9BB5007EA8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CanvasBoundShape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en-US" dirty="0" err="1"/>
              <a:t>плохой</a:t>
            </a:r>
            <a:r>
              <a:rPr lang="ru-RU" dirty="0"/>
              <a:t> </a:t>
            </a:r>
            <a:r>
              <a:rPr lang="en-US" dirty="0" err="1"/>
              <a:t>класс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неверен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.</a:t>
            </a:r>
          </a:p>
          <a:p>
            <a:r>
              <a:rPr lang="en-US" dirty="0" err="1"/>
              <a:t>Вариант</a:t>
            </a:r>
            <a:r>
              <a:rPr lang="en-US" dirty="0"/>
              <a:t> 1.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en-US" dirty="0"/>
          </a:p>
          <a:p>
            <a:pPr lvl="1"/>
            <a:r>
              <a:rPr lang="en-US" b="1" dirty="0"/>
              <a:t>Vector </a:t>
            </a:r>
            <a:r>
              <a:rPr lang="en-US" b="1" dirty="0" err="1"/>
              <a:t>MoveBy</a:t>
            </a:r>
            <a:r>
              <a:rPr lang="en-US" b="1" dirty="0"/>
              <a:t>(Vector </a:t>
            </a:r>
            <a:r>
              <a:rPr lang="en-US" b="1" dirty="0" err="1"/>
              <a:t>requestedOffset</a:t>
            </a:r>
            <a:r>
              <a:rPr lang="en-US" b="1" dirty="0"/>
              <a:t>);</a:t>
            </a:r>
          </a:p>
          <a:p>
            <a:pPr lvl="1"/>
            <a:r>
              <a:rPr lang="en-US" dirty="0" err="1"/>
              <a:t>Возвращаем</a:t>
            </a:r>
            <a:r>
              <a:rPr lang="en-US" dirty="0"/>
              <a:t> </a:t>
            </a:r>
            <a:r>
              <a:rPr lang="en-US" dirty="0" err="1"/>
              <a:t>фактическое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.</a:t>
            </a:r>
          </a:p>
          <a:p>
            <a:r>
              <a:rPr lang="en-US" dirty="0" err="1"/>
              <a:t>Вариант</a:t>
            </a:r>
            <a:r>
              <a:rPr lang="en-US" dirty="0"/>
              <a:t> 2.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endParaRPr lang="en-US" dirty="0"/>
          </a:p>
          <a:p>
            <a:pPr lvl="1"/>
            <a:r>
              <a:rPr lang="en-US" b="1" dirty="0" err="1"/>
              <a:t>IExactlyMovable</a:t>
            </a:r>
            <a:endParaRPr lang="en-US" b="1" dirty="0"/>
          </a:p>
          <a:p>
            <a:pPr lvl="1"/>
            <a:r>
              <a:rPr lang="en-US" b="1" dirty="0" err="1"/>
              <a:t>IConstrainedMovable</a:t>
            </a:r>
            <a:endParaRPr lang="en-US" b="1" dirty="0"/>
          </a:p>
          <a:p>
            <a:r>
              <a:rPr lang="en-US" dirty="0"/>
              <a:t>Нарушение LSP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указывает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неверное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 </a:t>
            </a:r>
            <a:r>
              <a:rPr lang="en-US" dirty="0" err="1"/>
              <a:t>подтипов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B78429-8B54-B34A-7BE3-6293C8EF54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1169" y="1825625"/>
            <a:ext cx="5564338" cy="30622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D58D9-408D-FBE5-7E89-E38B6164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899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99E5-4002-10F0-95A2-A2A28C00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Rectangle и Square: </a:t>
            </a:r>
            <a:r>
              <a:rPr lang="ru-RU" dirty="0"/>
              <a:t>отношение </a:t>
            </a:r>
            <a:r>
              <a:rPr lang="en-US" dirty="0"/>
              <a:t>«is-a» </a:t>
            </a:r>
            <a:r>
              <a:rPr lang="en-US" dirty="0" err="1"/>
              <a:t>недостаточно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FEB82-361F-1442-B53E-B1FB754480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Математически</a:t>
            </a:r>
            <a:r>
              <a:rPr lang="ru-RU" dirty="0"/>
              <a:t> к</a:t>
            </a:r>
            <a:r>
              <a:rPr lang="en-US" dirty="0" err="1"/>
              <a:t>вадрат</a:t>
            </a:r>
            <a:r>
              <a:rPr lang="en-US" dirty="0"/>
              <a:t> </a:t>
            </a:r>
            <a:r>
              <a:rPr lang="ru-RU" b="1" dirty="0"/>
              <a:t>является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ru-RU" dirty="0"/>
              <a:t>ом</a:t>
            </a:r>
            <a:endParaRPr lang="en-US" dirty="0"/>
          </a:p>
          <a:p>
            <a:r>
              <a:rPr lang="en-US" b="1" dirty="0" err="1"/>
              <a:t>Но</a:t>
            </a:r>
            <a:r>
              <a:rPr lang="en-US" b="1" dirty="0"/>
              <a:t> у </a:t>
            </a:r>
            <a:r>
              <a:rPr lang="en-US" b="1" dirty="0" err="1"/>
              <a:t>изменяемого</a:t>
            </a:r>
            <a:r>
              <a:rPr lang="en-US" b="1" dirty="0"/>
              <a:t> Rectangle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контракт</a:t>
            </a:r>
            <a:endParaRPr lang="en-US" b="1" dirty="0"/>
          </a:p>
          <a:p>
            <a:pPr lvl="1"/>
            <a:r>
              <a:rPr lang="en-US" dirty="0" err="1"/>
              <a:t>r.SetWidth</a:t>
            </a:r>
            <a:r>
              <a:rPr lang="en-US" dirty="0"/>
              <a:t>(10);</a:t>
            </a:r>
          </a:p>
          <a:p>
            <a:pPr lvl="1"/>
            <a:r>
              <a:rPr lang="en-US" dirty="0" err="1"/>
              <a:t>r.SetHeight</a:t>
            </a:r>
            <a:r>
              <a:rPr lang="en-US" dirty="0"/>
              <a:t>(20);</a:t>
            </a:r>
          </a:p>
          <a:p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Width  = 10</a:t>
            </a:r>
          </a:p>
          <a:p>
            <a:pPr lvl="1"/>
            <a:r>
              <a:rPr lang="en-US" dirty="0"/>
              <a:t>Height = 20</a:t>
            </a:r>
          </a:p>
          <a:p>
            <a:r>
              <a:rPr lang="en-US" dirty="0" err="1"/>
              <a:t>Для</a:t>
            </a:r>
            <a:r>
              <a:rPr lang="en-US" dirty="0"/>
              <a:t> Square</a:t>
            </a:r>
          </a:p>
          <a:p>
            <a:pPr lvl="1"/>
            <a:r>
              <a:rPr lang="en-US" dirty="0"/>
              <a:t>Width == Height</a:t>
            </a:r>
          </a:p>
          <a:p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контракта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Подтип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классификацией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D0A29D-4DAC-7BB2-9156-F9A6E6EECA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90340"/>
            <a:ext cx="5181600" cy="40219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BB1CC-9924-1563-14EB-03E84C53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293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F142-A812-ACDD-8C98-1F913E13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Segregation Principle:</a:t>
            </a:r>
            <a:br>
              <a:rPr lang="en-US" dirty="0"/>
            </a:br>
            <a:r>
              <a:rPr lang="ru-RU" dirty="0"/>
              <a:t>И</a:t>
            </a:r>
            <a:r>
              <a:rPr lang="en-US" dirty="0" err="1"/>
              <a:t>нтерфейс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251E3-6940-B91B-48C6-9B8BB7321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8F1A3-4934-D737-DD09-C69BC348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357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1AB2AE-157A-42FD-0914-559D7350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Segregation Principle (ISP):</a:t>
            </a:r>
            <a:br>
              <a:rPr lang="ru-RU" dirty="0"/>
            </a:br>
            <a:r>
              <a:rPr lang="ru-RU" dirty="0"/>
              <a:t>К</a:t>
            </a:r>
            <a:r>
              <a:rPr lang="en-US" dirty="0" err="1"/>
              <a:t>лиент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лишнего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569E6-412F-DF57-B6FD-BB86117A3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b="1" dirty="0" err="1"/>
              <a:t>Клиенты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методов</a:t>
            </a:r>
            <a:r>
              <a:rPr lang="en-US" b="1" dirty="0"/>
              <a:t>, </a:t>
            </a:r>
            <a:r>
              <a:rPr lang="en-US" b="1" dirty="0" err="1"/>
              <a:t>которые</a:t>
            </a:r>
            <a:r>
              <a:rPr lang="en-US" b="1" dirty="0"/>
              <a:t> </a:t>
            </a:r>
            <a:r>
              <a:rPr lang="en-US" b="1" dirty="0" err="1"/>
              <a:t>они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используют</a:t>
            </a:r>
            <a:endParaRPr lang="en-US" b="1" dirty="0"/>
          </a:p>
          <a:p>
            <a:r>
              <a:rPr lang="en-US" dirty="0" err="1"/>
              <a:t>Клиент</a:t>
            </a:r>
            <a:r>
              <a:rPr lang="en-US" dirty="0"/>
              <a:t> —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 err="1"/>
              <a:t>Интерфейс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9FAC86-F64A-7FA9-2731-6AC9933E3B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198" y="3811937"/>
            <a:ext cx="9878229" cy="23650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9ADB-03FD-BACA-EB18-6AB6FADD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0517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B6F9-90B2-A836-3AF8-41E6BF32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потребности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E30D-B353-86A1-D33E-AFB920EE04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У интерфейса </a:t>
            </a:r>
            <a:r>
              <a:rPr lang="en-US" dirty="0" err="1"/>
              <a:t>IShape</a:t>
            </a:r>
            <a:r>
              <a:rPr lang="ru-RU" dirty="0"/>
              <a:t> несколько клиентов</a:t>
            </a:r>
          </a:p>
          <a:p>
            <a:pPr lvl="1"/>
            <a:r>
              <a:rPr lang="en-US" dirty="0"/>
              <a:t>Renderer </a:t>
            </a:r>
            <a:r>
              <a:rPr lang="ru-RU" dirty="0"/>
              <a:t>использует только </a:t>
            </a:r>
            <a:r>
              <a:rPr lang="en-US" dirty="0"/>
              <a:t>Draw</a:t>
            </a:r>
          </a:p>
          <a:p>
            <a:pPr lvl="1"/>
            <a:r>
              <a:rPr lang="en-US" dirty="0" err="1"/>
              <a:t>SelectionTool</a:t>
            </a:r>
            <a:r>
              <a:rPr lang="en-US" dirty="0"/>
              <a:t> </a:t>
            </a:r>
            <a:r>
              <a:rPr lang="ru-RU" dirty="0"/>
              <a:t>использует только </a:t>
            </a:r>
            <a:r>
              <a:rPr lang="en-US" dirty="0" err="1"/>
              <a:t>HitTest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GetBounds</a:t>
            </a:r>
            <a:endParaRPr lang="ru-RU" dirty="0"/>
          </a:p>
          <a:p>
            <a:pPr lvl="1"/>
            <a:r>
              <a:rPr lang="en-US" dirty="0" err="1"/>
              <a:t>MoveCommand</a:t>
            </a:r>
            <a:r>
              <a:rPr lang="en-US" dirty="0"/>
              <a:t> </a:t>
            </a:r>
            <a:r>
              <a:rPr lang="ru-RU" dirty="0"/>
              <a:t>использует </a:t>
            </a:r>
            <a:r>
              <a:rPr lang="en-US" dirty="0" err="1"/>
              <a:t>MoveBy</a:t>
            </a:r>
            <a:endParaRPr lang="en-US" dirty="0"/>
          </a:p>
          <a:p>
            <a:r>
              <a:rPr lang="ru-RU" dirty="0"/>
              <a:t>Формально все три клиента зависят от всего интерфейса </a:t>
            </a:r>
            <a:r>
              <a:rPr lang="en-US" dirty="0" err="1"/>
              <a:t>IShape</a:t>
            </a:r>
            <a:endParaRPr lang="en-US" dirty="0"/>
          </a:p>
          <a:p>
            <a:r>
              <a:rPr lang="ru-RU" b="1" dirty="0"/>
              <a:t>Один интерфейс объединяет несколько ролей, которые нужны разным клиентам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F9CA6-0265-8E16-2EA7-1AF2B701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35</a:t>
            </a:fld>
            <a:endParaRPr lang="ru-RU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51A9ED-135E-627D-6372-4ED51BB425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59290"/>
            <a:ext cx="5181600" cy="288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41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CE45-1F88-D9A2-B1ED-8E1B1E9E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Разделяем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ролям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A5D91-9DE0-0B1C-03D3-8E28257FBC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Разным клиентам предоставляются разные интерфейсы</a:t>
            </a:r>
          </a:p>
          <a:p>
            <a:r>
              <a:rPr lang="ru-RU" dirty="0"/>
              <a:t>Сам объект не стал менее функциональным</a:t>
            </a:r>
          </a:p>
          <a:p>
            <a:r>
              <a:rPr lang="ru-RU" dirty="0"/>
              <a:t>Изменилась зависимость клиентов</a:t>
            </a:r>
          </a:p>
          <a:p>
            <a:pPr lvl="1"/>
            <a:r>
              <a:rPr lang="ru-RU" dirty="0"/>
              <a:t>Каждый зависит только от своего набора методов</a:t>
            </a:r>
          </a:p>
          <a:p>
            <a:r>
              <a:rPr lang="ru-RU" b="1" dirty="0"/>
              <a:t>Мы разделяем не сам объект, а способы взаимодействия с ним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B4C505-5D6B-DB7A-D38C-7966FDDDBE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851679"/>
            <a:ext cx="5181600" cy="22992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2F6E7-AE67-D62A-72F9-6660B8AB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881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295C-1D03-B1ED-E90E-6AEF782F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F084CA-4860-2BF0-74CD-4A09F6890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Проектирование интерфейса от реализации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E05827-AD28-151F-9335-9809C57E9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 умеет </a:t>
            </a:r>
            <a:r>
              <a:rPr lang="en-US" dirty="0"/>
              <a:t>Shape?</a:t>
            </a:r>
          </a:p>
          <a:p>
            <a:pPr lvl="1"/>
            <a:r>
              <a:rPr lang="en-US" dirty="0"/>
              <a:t>Draw</a:t>
            </a:r>
          </a:p>
          <a:p>
            <a:pPr lvl="1"/>
            <a:r>
              <a:rPr lang="en-US" dirty="0" err="1"/>
              <a:t>HitTest</a:t>
            </a:r>
            <a:endParaRPr lang="en-US" dirty="0"/>
          </a:p>
          <a:p>
            <a:pPr lvl="1"/>
            <a:r>
              <a:rPr lang="en-US" dirty="0" err="1"/>
              <a:t>MoveBy</a:t>
            </a:r>
            <a:endParaRPr lang="en-US" dirty="0"/>
          </a:p>
          <a:p>
            <a:pPr lvl="1"/>
            <a:r>
              <a:rPr lang="en-US" dirty="0" err="1"/>
              <a:t>GetBounds</a:t>
            </a:r>
            <a:endParaRPr lang="en-US" dirty="0"/>
          </a:p>
          <a:p>
            <a:r>
              <a:rPr lang="ru-RU" dirty="0"/>
              <a:t>Создаём интерфейс </a:t>
            </a:r>
            <a:r>
              <a:rPr lang="en-US" dirty="0" err="1"/>
              <a:t>IShape</a:t>
            </a:r>
            <a:r>
              <a:rPr lang="en-US" dirty="0"/>
              <a:t> </a:t>
            </a:r>
            <a:r>
              <a:rPr lang="ru-RU" dirty="0"/>
              <a:t>с этими методами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05EBBE-5E8C-ED96-CA5C-855CCAA3F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Проектирование интерфейса от клиента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F5C5B5-2509-F709-B329-D7782565D6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 нужно </a:t>
            </a:r>
            <a:r>
              <a:rPr lang="en-US" dirty="0"/>
              <a:t>Renderer?</a:t>
            </a:r>
          </a:p>
          <a:p>
            <a:pPr lvl="1"/>
            <a:r>
              <a:rPr lang="ru-RU" dirty="0"/>
              <a:t>Интерфейс </a:t>
            </a:r>
            <a:r>
              <a:rPr lang="en-US" dirty="0" err="1"/>
              <a:t>IDrawable</a:t>
            </a:r>
            <a:endParaRPr lang="en-US" dirty="0"/>
          </a:p>
          <a:p>
            <a:r>
              <a:rPr lang="ru-RU" dirty="0"/>
              <a:t>Что нужно</a:t>
            </a:r>
            <a:r>
              <a:rPr lang="en-US" dirty="0"/>
              <a:t> </a:t>
            </a:r>
            <a:r>
              <a:rPr lang="en-US" dirty="0" err="1"/>
              <a:t>SelectionTool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Интерфейс </a:t>
            </a:r>
            <a:r>
              <a:rPr lang="en-US" dirty="0" err="1"/>
              <a:t>IHitTestable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A2BDA-9DC2-BD09-6778-5B1D7EAD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37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9DD5504-4432-947C-ACCA-8696BEB82F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потребность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0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8C8C-263E-E575-1E2E-C3F8DE34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дробить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C3677B-477B-629E-45B2-2124349CAE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Маленький интерфейс не всегда лучше</a:t>
            </a:r>
          </a:p>
          <a:p>
            <a:pPr lvl="1"/>
            <a:r>
              <a:rPr lang="ru-RU" dirty="0"/>
              <a:t>Какие клиенты используют этот интерфейс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Какие операции им нужны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Есть ли часть интерфейса, от которой некоторые клиенты зависят, но не используют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Есть ли здесь несколько независимых ролей</a:t>
            </a:r>
            <a:r>
              <a:rPr lang="en-US" dirty="0"/>
              <a:t>?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и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клиентам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ru-RU" dirty="0"/>
              <a:t>лучше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endParaRPr lang="ru-RU" dirty="0"/>
          </a:p>
          <a:p>
            <a:pPr lvl="1"/>
            <a:r>
              <a:rPr lang="en-US" dirty="0" err="1"/>
              <a:t>Разделяем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ролям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числу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C1CEC-951F-14BA-F0C2-9ACA90C4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38</a:t>
            </a:fld>
            <a:endParaRPr lang="ru-RU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162C698-3D8F-F8B7-5097-53913730B3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0793" y="1825625"/>
            <a:ext cx="44444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88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8405-578A-1701-BB76-9EA678E3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Principle: </a:t>
            </a:r>
            <a:r>
              <a:rPr lang="ru-RU" dirty="0"/>
              <a:t>П</a:t>
            </a:r>
            <a:r>
              <a:rPr lang="en-US" dirty="0" err="1"/>
              <a:t>олитика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D22C4-D9AF-E89F-B807-284CE7910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A759-CFD8-8766-E95A-D1400061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778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070BC3-59F7-EC56-B9D6-260A5596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Inversion Principle (DIP):</a:t>
            </a:r>
            <a:br>
              <a:rPr lang="ru-RU" dirty="0"/>
            </a:br>
            <a:r>
              <a:rPr lang="ru-RU" dirty="0"/>
              <a:t>П</a:t>
            </a:r>
            <a:r>
              <a:rPr lang="en-US" dirty="0" err="1"/>
              <a:t>олитика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9A2D0-B74E-C448-BB05-B3B006A63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26625" cy="4351338"/>
          </a:xfrm>
        </p:spPr>
        <p:txBody>
          <a:bodyPr>
            <a:normAutofit/>
          </a:bodyPr>
          <a:lstStyle/>
          <a:p>
            <a:r>
              <a:rPr lang="en-US" dirty="0" err="1"/>
              <a:t>Модули</a:t>
            </a:r>
            <a:r>
              <a:rPr lang="en-US" dirty="0"/>
              <a:t> </a:t>
            </a:r>
            <a:r>
              <a:rPr lang="en-US" dirty="0" err="1"/>
              <a:t>верхнего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модулей</a:t>
            </a:r>
            <a:r>
              <a:rPr lang="en-US" dirty="0"/>
              <a:t> </a:t>
            </a:r>
            <a:r>
              <a:rPr lang="en-US" dirty="0" err="1"/>
              <a:t>нижнего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. И </a:t>
            </a:r>
            <a:r>
              <a:rPr lang="en-US" dirty="0" err="1"/>
              <a:t>те</a:t>
            </a:r>
            <a:r>
              <a:rPr lang="en-US" dirty="0"/>
              <a:t>,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.</a:t>
            </a:r>
          </a:p>
          <a:p>
            <a:r>
              <a:rPr lang="ru-RU" dirty="0"/>
              <a:t>Пример:</a:t>
            </a:r>
            <a:endParaRPr lang="en-US" dirty="0"/>
          </a:p>
          <a:p>
            <a:pPr lvl="1"/>
            <a:r>
              <a:rPr lang="en-US" dirty="0" err="1"/>
              <a:t>Политика</a:t>
            </a:r>
            <a:r>
              <a:rPr lang="ru-RU" dirty="0"/>
              <a:t> </a:t>
            </a:r>
            <a:r>
              <a:rPr lang="ru-RU" b="1" dirty="0"/>
              <a:t>– </a:t>
            </a:r>
            <a:r>
              <a:rPr lang="en-US" dirty="0" err="1"/>
              <a:t>cохранить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endParaRPr lang="en-US" dirty="0"/>
          </a:p>
          <a:p>
            <a:pPr lvl="1"/>
            <a:r>
              <a:rPr lang="en-US" dirty="0" err="1"/>
              <a:t>Деталь</a:t>
            </a:r>
            <a:r>
              <a:rPr lang="en-US" dirty="0"/>
              <a:t> – </a:t>
            </a:r>
            <a:r>
              <a:rPr lang="ru-RU" dirty="0"/>
              <a:t>з</a:t>
            </a:r>
            <a:r>
              <a:rPr lang="en-US" dirty="0" err="1"/>
              <a:t>аписать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endParaRPr lang="en-US" dirty="0"/>
          </a:p>
          <a:p>
            <a:pPr lvl="1"/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1E3494-48E6-EEC0-4055-F599075371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62" y="1825625"/>
            <a:ext cx="435133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3EF00-2EA8-ADD8-E462-260D0727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7832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2644-754E-66AA-C8D9-329123EF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BF28C3-C081-9904-5B11-30133F185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62" y="1847850"/>
            <a:ext cx="435133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30A31-F0CB-966F-EE68-33445C3C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41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BFAEB-ED19-2712-6AEB-1A77A02DE4DD}"/>
              </a:ext>
            </a:extLst>
          </p:cNvPr>
          <p:cNvSpPr txBox="1"/>
          <p:nvPr/>
        </p:nvSpPr>
        <p:spPr>
          <a:xfrm>
            <a:off x="838200" y="1847850"/>
            <a:ext cx="60937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SaveDrawingUseCase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JsonDrawingWriter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drawing.json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WriteHeader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writer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1796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3A77-660D-1119-F07B-120C8BCF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84452-8EEF-FB25-6E24-37CF154D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A09DF-5B6D-0BEA-C634-92C86258F158}"/>
              </a:ext>
            </a:extLst>
          </p:cNvPr>
          <p:cNvSpPr txBox="1"/>
          <p:nvPr/>
        </p:nvSpPr>
        <p:spPr>
          <a:xfrm>
            <a:off x="2" y="1847851"/>
            <a:ext cx="499507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IDrawingRepository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IDrawingRepository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SaveDrawingUseCase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SaveDrawingUseCase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IDrawingRepository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repo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m_repository.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IDrawingRepository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m_repository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020D15-1070-AEA4-0D66-7C9E65203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87306" y="1847850"/>
            <a:ext cx="635525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7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D258-EFDE-C312-8B74-66850D59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инвертировалось</a:t>
            </a:r>
            <a:r>
              <a:rPr lang="en-US" dirty="0"/>
              <a:t>?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739B90C-EA0F-9F76-FAC3-47088CED22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625488" y="2632477"/>
            <a:ext cx="8941023" cy="39593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F2A8C-A5BE-7E14-DB4F-52FC1656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06229-380B-B7E4-D387-AA817324A536}"/>
              </a:ext>
            </a:extLst>
          </p:cNvPr>
          <p:cNvSpPr txBox="1"/>
          <p:nvPr/>
        </p:nvSpPr>
        <p:spPr>
          <a:xfrm>
            <a:off x="13255389" y="381662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Инвертируется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43E785-2371-3A9A-80C6-7B69E1C17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671915"/>
          </a:xfrm>
        </p:spPr>
        <p:txBody>
          <a:bodyPr/>
          <a:lstStyle/>
          <a:p>
            <a:r>
              <a:rPr lang="en-US" dirty="0" err="1"/>
              <a:t>Инвертируется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361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A2C1-DF8F-B5C0-39CB-A4FA27EA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DIP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F0772F-6F9A-7A72-01BB-2C33957112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642849" y="1858426"/>
            <a:ext cx="9680152" cy="334137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9C193EC-5CFB-3852-BB36-FF98BACC5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367535"/>
            <a:ext cx="10515600" cy="8094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DIP ≠ «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»</a:t>
            </a:r>
          </a:p>
          <a:p>
            <a:r>
              <a:rPr lang="ru-RU" dirty="0"/>
              <a:t>Нужна правильная абстракция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A7773-5B87-DC6A-1094-9065C895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9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2764-A3C6-E09F-E636-18966E54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E6D1-CF29-45E7-78CC-66B8DD880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endParaRPr lang="ru-RU" dirty="0"/>
          </a:p>
          <a:p>
            <a:r>
              <a:rPr lang="en-US" b="1" dirty="0"/>
              <a:t>Composition Root</a:t>
            </a:r>
            <a:r>
              <a:rPr lang="ru-RU" dirty="0"/>
              <a:t> – м</a:t>
            </a:r>
            <a:r>
              <a:rPr lang="en-US" dirty="0" err="1"/>
              <a:t>есто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выбираются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строится</a:t>
            </a:r>
            <a:r>
              <a:rPr lang="en-US" dirty="0"/>
              <a:t> </a:t>
            </a:r>
            <a:r>
              <a:rPr lang="en-US" dirty="0" err="1"/>
              <a:t>граф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 </a:t>
            </a:r>
          </a:p>
          <a:p>
            <a:r>
              <a:rPr lang="en-US" dirty="0"/>
              <a:t>DIP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DI-</a:t>
            </a:r>
            <a:r>
              <a:rPr lang="en-US" dirty="0" err="1"/>
              <a:t>контейнера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D4D12-A026-33CA-7B53-C2BE7283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CE7D1-666F-259E-B52B-0C645F654476}"/>
              </a:ext>
            </a:extLst>
          </p:cNvPr>
          <p:cNvSpPr txBox="1"/>
          <p:nvPr/>
        </p:nvSpPr>
        <p:spPr>
          <a:xfrm>
            <a:off x="6098276" y="1825625"/>
            <a:ext cx="56933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FileDrawingRepository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repository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{...};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SaveDrawingUseCase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saveDrawing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repository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EditorApplication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saveDrawing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5850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FC82-9F05-C78B-32E5-2E9B82AE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ru-RU" dirty="0"/>
              <a:t> </a:t>
            </a:r>
            <a:r>
              <a:rPr lang="en-US" dirty="0"/>
              <a:t>SOLID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4DD67-C78C-F196-9F02-BF238C41B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188B4-AF72-D1E5-34FE-C55EF27D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8644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37F838-4AA3-1FC3-8310-4BA30638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рефакторинг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98F46-633B-0D2D-EF0B-A24E6D8D8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3399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рефакторинг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с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SRP</a:t>
            </a:r>
            <a:r>
              <a:rPr lang="en-US" dirty="0"/>
              <a:t> — Shape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endParaRPr lang="en-US" dirty="0"/>
          </a:p>
          <a:p>
            <a:pPr lvl="1"/>
            <a:r>
              <a:rPr lang="en-US" b="1" dirty="0"/>
              <a:t>OCP</a:t>
            </a:r>
            <a:r>
              <a:rPr lang="en-US" dirty="0"/>
              <a:t> —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Canvas</a:t>
            </a:r>
          </a:p>
          <a:p>
            <a:pPr lvl="1"/>
            <a:r>
              <a:rPr lang="en-US" b="1" dirty="0"/>
              <a:t>DIP</a:t>
            </a:r>
            <a:r>
              <a:rPr lang="en-US" dirty="0"/>
              <a:t> —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endParaRPr lang="en-US" dirty="0"/>
          </a:p>
          <a:p>
            <a:pPr lvl="1"/>
            <a:r>
              <a:rPr lang="en-US" b="1" dirty="0"/>
              <a:t>ISP</a:t>
            </a:r>
            <a:r>
              <a:rPr lang="en-US" dirty="0"/>
              <a:t> — </a:t>
            </a:r>
            <a:r>
              <a:rPr lang="en-US" dirty="0" err="1"/>
              <a:t>ICanvas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endParaRPr lang="ru-RU" dirty="0"/>
          </a:p>
          <a:p>
            <a:pPr lvl="1"/>
            <a:r>
              <a:rPr lang="en-US" b="1" dirty="0"/>
              <a:t>LSP</a:t>
            </a:r>
            <a:r>
              <a:rPr lang="en-US" dirty="0"/>
              <a:t> —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ICanvas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IShape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ru-RU" dirty="0"/>
              <a:t> интерфейса</a:t>
            </a:r>
            <a:endParaRPr lang="en-US" dirty="0"/>
          </a:p>
          <a:p>
            <a:r>
              <a:rPr lang="en-US" b="1" dirty="0" err="1"/>
              <a:t>Принципы</a:t>
            </a:r>
            <a:r>
              <a:rPr lang="en-US" b="1" dirty="0"/>
              <a:t> </a:t>
            </a:r>
            <a:r>
              <a:rPr lang="en-US" b="1" dirty="0" err="1"/>
              <a:t>дополняют</a:t>
            </a:r>
            <a:r>
              <a:rPr lang="en-US" b="1" dirty="0"/>
              <a:t> </a:t>
            </a:r>
            <a:r>
              <a:rPr lang="en-US" b="1" dirty="0" err="1"/>
              <a:t>друг</a:t>
            </a:r>
            <a:r>
              <a:rPr lang="en-US" b="1" dirty="0"/>
              <a:t> </a:t>
            </a:r>
            <a:r>
              <a:rPr lang="en-US" b="1" dirty="0" err="1"/>
              <a:t>друга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1058-9F77-67A8-6773-C011D7C1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47</a:t>
            </a:fld>
            <a:endParaRPr lang="ru-RU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B2E1A32-1801-18FC-B7A4-30015F593A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6192" y="1825625"/>
            <a:ext cx="51136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08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1825-E506-7D66-9BF2-AF6C2F2A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уровнях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7CDBF-DB7B-3754-8173-098B1660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48</a:t>
            </a:fld>
            <a:endParaRPr lang="ru-R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CDEFB5-E1CE-14DD-69A4-9F95221BB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1770" y="1825625"/>
            <a:ext cx="40484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9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9D60-841B-50F1-0B38-4FD081A2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— </a:t>
            </a:r>
            <a:r>
              <a:rPr lang="en-US" dirty="0" err="1"/>
              <a:t>локализовать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70B18-51A4-78BD-DA74-7EB193BA30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SOLID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спрашивать</a:t>
            </a:r>
            <a:endParaRPr lang="en-US" dirty="0"/>
          </a:p>
          <a:p>
            <a:pPr lvl="1"/>
            <a:r>
              <a:rPr lang="en-US" b="1" dirty="0"/>
              <a:t>SRP</a:t>
            </a:r>
            <a:r>
              <a:rPr lang="en-US" dirty="0"/>
              <a:t> —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?</a:t>
            </a:r>
            <a:br>
              <a:rPr lang="en-US" dirty="0"/>
            </a:br>
            <a:r>
              <a:rPr lang="en-US" b="1" dirty="0"/>
              <a:t>OCP</a:t>
            </a:r>
            <a:r>
              <a:rPr lang="en-US" dirty="0"/>
              <a:t> —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 </a:t>
            </a:r>
            <a:r>
              <a:rPr lang="en-US" dirty="0" err="1"/>
              <a:t>дешёво</a:t>
            </a:r>
            <a:r>
              <a:rPr lang="en-US" dirty="0"/>
              <a:t>?</a:t>
            </a:r>
            <a:br>
              <a:rPr lang="en-US" dirty="0"/>
            </a:br>
            <a:r>
              <a:rPr lang="en-US" b="1" dirty="0"/>
              <a:t>LSP</a:t>
            </a:r>
            <a:r>
              <a:rPr lang="en-US" dirty="0"/>
              <a:t> —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?</a:t>
            </a:r>
            <a:br>
              <a:rPr lang="en-US" dirty="0"/>
            </a:br>
            <a:r>
              <a:rPr lang="en-US" b="1" dirty="0"/>
              <a:t>ISP</a:t>
            </a:r>
            <a:r>
              <a:rPr lang="en-US" dirty="0"/>
              <a:t> —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?</a:t>
            </a:r>
            <a:br>
              <a:rPr lang="en-US" dirty="0"/>
            </a:br>
            <a:r>
              <a:rPr lang="en-US" b="1" dirty="0"/>
              <a:t>DIP</a:t>
            </a:r>
            <a:r>
              <a:rPr lang="en-US" dirty="0"/>
              <a:t> —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направлена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?</a:t>
            </a:r>
          </a:p>
          <a:p>
            <a:r>
              <a:rPr lang="ru-RU" dirty="0"/>
              <a:t>Ц</a:t>
            </a:r>
            <a:r>
              <a:rPr lang="en-US" dirty="0" err="1"/>
              <a:t>ель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устранить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а </a:t>
            </a:r>
            <a:r>
              <a:rPr lang="en-US" dirty="0" err="1"/>
              <a:t>ограничить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endParaRPr lang="en-US" dirty="0"/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B879BDD-E550-2260-0D8F-5F4DF2C18B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641600"/>
            <a:ext cx="5906331" cy="24221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69DAB-62F4-3E71-0683-5A481E21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5464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5E65-450F-4810-CC28-3C18207F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SOLID </a:t>
            </a:r>
            <a:r>
              <a:rPr lang="en-US" dirty="0" err="1"/>
              <a:t>против</a:t>
            </a:r>
            <a:r>
              <a:rPr lang="en-US" dirty="0"/>
              <a:t> KISS/YAGNI?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B774-E5B2-E125-9B88-8C87CC7A1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8272B-2D88-222C-3660-D5F6C409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4977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1911-C0F7-CCB0-EE48-A7972350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</a:t>
            </a:r>
            <a:r>
              <a:rPr lang="en-US" dirty="0" err="1"/>
              <a:t>против</a:t>
            </a:r>
            <a:r>
              <a:rPr lang="en-US" dirty="0"/>
              <a:t> KISS и YAGNI?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8AB8-3038-75B9-1FD8-CBD0044371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противники</a:t>
            </a:r>
            <a:r>
              <a:rPr lang="en-US" dirty="0"/>
              <a:t>, а </a:t>
            </a:r>
            <a:r>
              <a:rPr lang="en-US" dirty="0" err="1"/>
              <a:t>взаимные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endParaRPr lang="en-US" dirty="0"/>
          </a:p>
          <a:p>
            <a:r>
              <a:rPr lang="en-US" dirty="0"/>
              <a:t>SOLID</a:t>
            </a:r>
          </a:p>
          <a:p>
            <a:pPr lvl="1"/>
            <a:r>
              <a:rPr lang="en-US" dirty="0" err="1"/>
              <a:t>локализовать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ослабить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 </a:t>
            </a:r>
          </a:p>
          <a:p>
            <a:r>
              <a:rPr lang="en-US" dirty="0"/>
              <a:t>KISS / YAGNI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усложнять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неизвестное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«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всякий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». </a:t>
            </a:r>
          </a:p>
          <a:p>
            <a:pPr lvl="1"/>
            <a:r>
              <a:rPr lang="en-US" b="1" dirty="0" err="1"/>
              <a:t>Нужна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нам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гибкость</a:t>
            </a:r>
            <a:r>
              <a:rPr lang="en-US" b="1" dirty="0"/>
              <a:t>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4598AD-14EF-BBE6-F6AF-56E2E7AF88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26C82-03FD-1ED6-30A9-F94B6D6E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3412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6FFB-C44A-AEBC-986B-39C10FCF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платят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F941C-6D8A-2E3B-906A-6FEA1354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Абстракция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инвестиция</a:t>
            </a:r>
            <a:endParaRPr lang="en-US" dirty="0"/>
          </a:p>
          <a:p>
            <a:r>
              <a:rPr lang="en-US" dirty="0" err="1"/>
              <a:t>Платим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endParaRPr lang="en-US" dirty="0"/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косвенных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сложнее</a:t>
            </a:r>
            <a:r>
              <a:rPr lang="en-US" dirty="0"/>
              <a:t> </a:t>
            </a:r>
            <a:r>
              <a:rPr lang="en-US" dirty="0" err="1"/>
              <a:t>навигация</a:t>
            </a:r>
            <a:r>
              <a:rPr lang="en-US" dirty="0"/>
              <a:t>. </a:t>
            </a:r>
          </a:p>
          <a:p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потом</a:t>
            </a:r>
            <a:endParaRPr lang="en-US" dirty="0"/>
          </a:p>
          <a:p>
            <a:pPr lvl="1"/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заменяемые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каскадных</a:t>
            </a:r>
            <a:r>
              <a:rPr lang="en-US" dirty="0"/>
              <a:t> </a:t>
            </a:r>
            <a:r>
              <a:rPr lang="en-US" dirty="0" err="1"/>
              <a:t>правок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дешёвое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выбранных</a:t>
            </a:r>
            <a:r>
              <a:rPr lang="en-US" dirty="0"/>
              <a:t> </a:t>
            </a:r>
            <a:r>
              <a:rPr lang="en-US" dirty="0" err="1"/>
              <a:t>направлений</a:t>
            </a:r>
            <a:r>
              <a:rPr lang="en-US" dirty="0"/>
              <a:t>. </a:t>
            </a:r>
          </a:p>
          <a:p>
            <a:r>
              <a:rPr lang="en-US" dirty="0" err="1"/>
              <a:t>Окупится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D30B5-F5D1-C06D-5719-CD68E3DC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2569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DAEC-67D5-E939-A9DF-6717582E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законов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5DF1-CA73-2C2D-5E4F-897EB2A4D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механических</a:t>
            </a:r>
            <a:r>
              <a:rPr lang="en-US" dirty="0"/>
              <a:t> </a:t>
            </a:r>
            <a:r>
              <a:rPr lang="en-US" dirty="0" err="1"/>
              <a:t>правил</a:t>
            </a:r>
            <a:endParaRPr lang="en-US" dirty="0"/>
          </a:p>
          <a:p>
            <a:pPr lvl="1"/>
            <a:r>
              <a:rPr lang="en-US" b="1" dirty="0"/>
              <a:t>SRP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OCP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закрыться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LSP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ru-RU" dirty="0"/>
              <a:t>использовать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ISP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минимального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DIP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</a:p>
          <a:p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86B01-A5ED-CA21-A239-14D4368D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7071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93D5-FFC4-1CBB-D419-4669663F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050D8-C43A-9A40-6F4A-D656376F4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SRP -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?</a:t>
            </a:r>
          </a:p>
          <a:p>
            <a:r>
              <a:rPr lang="en-US" b="1" dirty="0"/>
              <a:t>OCP -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расширение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?</a:t>
            </a:r>
          </a:p>
          <a:p>
            <a:r>
              <a:rPr lang="en-US" b="1" dirty="0"/>
              <a:t>LSP -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?</a:t>
            </a:r>
          </a:p>
          <a:p>
            <a:r>
              <a:rPr lang="en-US" b="1" dirty="0"/>
              <a:t>ISP -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?</a:t>
            </a:r>
          </a:p>
          <a:p>
            <a:r>
              <a:rPr lang="en-US" b="1" dirty="0"/>
              <a:t>DIP -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направить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?</a:t>
            </a:r>
          </a:p>
          <a:p>
            <a:r>
              <a:rPr lang="en-US" b="1" dirty="0"/>
              <a:t>KISS / YAGNI -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92CB0-C955-A299-694F-A3B590FA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4267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6BA0C-5FE0-360B-9EB0-D6B283D8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6F4D-2E97-47CB-8591-066566E4FE4D}" type="slidenum">
              <a:rPr lang="ru-RU" smtClean="0"/>
              <a:t>55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A5B5A-DF34-ED0A-F45C-F5A595834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010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4272</TotalTime>
  <Words>9191</Words>
  <Application>Microsoft Office PowerPoint</Application>
  <PresentationFormat>Widescreen</PresentationFormat>
  <Paragraphs>1426</Paragraphs>
  <Slides>55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Consolas</vt:lpstr>
      <vt:lpstr>Тема Office</vt:lpstr>
      <vt:lpstr>Проектирование изменений: Cohesion, Coupling и SOLID</vt:lpstr>
      <vt:lpstr>Почему изменения распространяются по системе?</vt:lpstr>
      <vt:lpstr>Небольшое требование — много изменений</vt:lpstr>
      <vt:lpstr>Изменения распространяются по зависимостям</vt:lpstr>
      <vt:lpstr>Хороший дизайн локализует изменения</vt:lpstr>
      <vt:lpstr>Cohesion (связность) и coupling (зацепление)</vt:lpstr>
      <vt:lpstr>Cohesion (связность) Что должно находиться вместе?</vt:lpstr>
      <vt:lpstr>Coupling (зацепление) Что один модуль знает о другом?</vt:lpstr>
      <vt:lpstr>High Cohesion, Loose Coupling</vt:lpstr>
      <vt:lpstr>SOLID как пять линз для анализа дизайна</vt:lpstr>
      <vt:lpstr>Что такое SOLID</vt:lpstr>
      <vt:lpstr>Пять принципов — пять вопросов</vt:lpstr>
      <vt:lpstr>Одна проблема — несколько взглядов</vt:lpstr>
      <vt:lpstr>Single Responsibility Principle: Одна причина для изменений</vt:lpstr>
      <vt:lpstr>SRP: одна причина для изменения</vt:lpstr>
      <vt:lpstr>Один класс — несколько причин для изменения</vt:lpstr>
      <vt:lpstr>Разделяем причины изменений</vt:lpstr>
      <vt:lpstr>Разное поведение — не обязательно разные ответственности</vt:lpstr>
      <vt:lpstr>Open/Closed Principle: Какую ось изменений мы хотим сделать дешёвой?</vt:lpstr>
      <vt:lpstr>Open/Closed Principle (OCP) открыт для расширения, закрыт для изменения</vt:lpstr>
      <vt:lpstr>У системы несколько осей изменений</vt:lpstr>
      <vt:lpstr>Одна ось изменений затрагивает другую</vt:lpstr>
      <vt:lpstr>Создаём точку расширения</vt:lpstr>
      <vt:lpstr>OCP — ставка на будущие изменения</vt:lpstr>
      <vt:lpstr>Liskov Substitution Principle: Тип — прежде всего, контракт</vt:lpstr>
      <vt:lpstr>Liskov Substitution Principle (LSP): Подтип должен сохранять контракт</vt:lpstr>
      <vt:lpstr>Из чего состоит контракт</vt:lpstr>
      <vt:lpstr>Что разрешено подтипу</vt:lpstr>
      <vt:lpstr>Исключения — часть контракта</vt:lpstr>
      <vt:lpstr>Нарушение LSP без ошибок и исключений</vt:lpstr>
      <vt:lpstr>Иногда проблема — в самой абстракции</vt:lpstr>
      <vt:lpstr>Rectangle и Square: отношение «is-a» недостаточно</vt:lpstr>
      <vt:lpstr>Interface Segregation Principle: Интерфейс принадлежит клиенту</vt:lpstr>
      <vt:lpstr>Interface Segregation Principle (ISP): Клиент не должен зависеть от лишнего</vt:lpstr>
      <vt:lpstr>Один интерфейс — разные потребности</vt:lpstr>
      <vt:lpstr>Разделяем интерфейс по ролям</vt:lpstr>
      <vt:lpstr>Интерфейс принадлежит клиенту</vt:lpstr>
      <vt:lpstr>ISP не требует дробить интерфейсы бесконечно</vt:lpstr>
      <vt:lpstr>Dependency Inversion Principle: Политика не должна зависеть от деталей</vt:lpstr>
      <vt:lpstr>Dependency Inversion Principle (DIP): Политика не должна зависеть от деталей</vt:lpstr>
      <vt:lpstr>Когда политика знает слишком много</vt:lpstr>
      <vt:lpstr>Политика определяет абстракцию</vt:lpstr>
      <vt:lpstr>Что именно инвертировалось?</vt:lpstr>
      <vt:lpstr>Интерфейс сам по себе ещё не означает DIP</vt:lpstr>
      <vt:lpstr>Кто создаёт конкретные объекты?</vt:lpstr>
      <vt:lpstr>Как принципы SOLID связаны между собой?</vt:lpstr>
      <vt:lpstr>Один рефакторинг — несколько принципов</vt:lpstr>
      <vt:lpstr>Принципы работают на разных уровнях</vt:lpstr>
      <vt:lpstr>Общая цель — локализовать изменения</vt:lpstr>
      <vt:lpstr>SOLID против KISS/YAGNI?</vt:lpstr>
      <vt:lpstr>SOLID против KISS и YAGNI?</vt:lpstr>
      <vt:lpstr>За гибкость платят заранее</vt:lpstr>
      <vt:lpstr>SOLID — не пять законов</vt:lpstr>
      <vt:lpstr>Проектируем стоимость изменений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Алексей Малов</cp:lastModifiedBy>
  <cp:revision>1205</cp:revision>
  <dcterms:created xsi:type="dcterms:W3CDTF">2018-05-09T17:46:14Z</dcterms:created>
  <dcterms:modified xsi:type="dcterms:W3CDTF">2026-09-11T05:48:35Z</dcterms:modified>
</cp:coreProperties>
</file>